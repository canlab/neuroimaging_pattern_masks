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56" r:id="rId1"/>
  </p:sldMasterIdLst>
  <p:notesMasterIdLst>
    <p:notesMasterId r:id="rId9"/>
  </p:notesMasterIdLst>
  <p:sldIdLst>
    <p:sldId id="1044" r:id="rId2"/>
    <p:sldId id="6390" r:id="rId3"/>
    <p:sldId id="6216" r:id="rId4"/>
    <p:sldId id="6389" r:id="rId5"/>
    <p:sldId id="6393" r:id="rId6"/>
    <p:sldId id="6391" r:id="rId7"/>
    <p:sldId id="6392" r:id="rId8"/>
  </p:sldIdLst>
  <p:sldSz cx="9144000" cy="5143500" type="screen16x9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Default Section" id="{C8D715CF-41E9-B840-A172-4212AACB4741}">
          <p14:sldIdLst>
            <p14:sldId id="1044"/>
            <p14:sldId id="6390"/>
            <p14:sldId id="6216"/>
            <p14:sldId id="6389"/>
            <p14:sldId id="6393"/>
            <p14:sldId id="6391"/>
            <p14:sldId id="6392"/>
          </p14:sldIdLst>
        </p14:section>
        <p14:section name="Biomarkers" id="{4B1C522C-8827-CD43-A9AB-2CFC281B9ECC}">
          <p14:sldIdLst/>
        </p14:section>
        <p14:section name="learning" id="{79BC5BB2-A679-1F49-BB1D-25E71780562F}">
          <p14:sldIdLst/>
        </p14:section>
        <p14:section name="meaning" id="{066EC0B9-9D3F-8742-A38D-BEE3CE213553}">
          <p14:sldIdLst/>
        </p14:section>
        <p14:section name="end" id="{56053650-DFF2-2546-8409-50462E183FC5}">
          <p14:sldIdLst/>
        </p14:section>
        <p14:section name="2025" id="{039E393C-2EE6-D849-9932-408E4896CD70}">
          <p14:sldIdLst/>
        </p14:section>
        <p14:section name="extras_cut" id="{DEB73C98-8B08-5943-AAB1-939C12E41A9A}">
          <p14:sldIdLst/>
        </p14:section>
      </p14:sectionLst>
    </p:ext>
    <p:ext uri="{EFAFB233-063F-42B5-8137-9DF3F51BA10A}">
      <p15:sldGuideLst xmlns:p15="http://schemas.microsoft.com/office/powerpoint/2012/main">
        <p15:guide id="1" orient="horz" pos="1602" userDrawn="1">
          <p15:clr>
            <a:srgbClr val="A4A3A4"/>
          </p15:clr>
        </p15:guide>
        <p15:guide id="2" pos="2832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A41F"/>
    <a:srgbClr val="FF3652"/>
    <a:srgbClr val="D8C0F9"/>
    <a:srgbClr val="EAB0F9"/>
    <a:srgbClr val="ECC32A"/>
    <a:srgbClr val="FDF7B1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27227" autoAdjust="0"/>
    <p:restoredTop sz="89178" autoAdjust="0"/>
  </p:normalViewPr>
  <p:slideViewPr>
    <p:cSldViewPr snapToGrid="0" snapToObjects="1">
      <p:cViewPr varScale="1">
        <p:scale>
          <a:sx n="113" d="100"/>
          <a:sy n="113" d="100"/>
        </p:scale>
        <p:origin x="200" y="776"/>
      </p:cViewPr>
      <p:guideLst>
        <p:guide orient="horz" pos="1602"/>
        <p:guide pos="2832"/>
      </p:guideLst>
    </p:cSldViewPr>
  </p:slideViewPr>
  <p:outlineViewPr>
    <p:cViewPr>
      <p:scale>
        <a:sx n="33" d="100"/>
        <a:sy n="33" d="100"/>
      </p:scale>
      <p:origin x="0" y="2080"/>
    </p:cViewPr>
  </p:outlineViewPr>
  <p:notesTextViewPr>
    <p:cViewPr>
      <p:scale>
        <a:sx n="95" d="100"/>
        <a:sy n="95" d="100"/>
      </p:scale>
      <p:origin x="0" y="0"/>
    </p:cViewPr>
  </p:notesTextViewPr>
  <p:sorterViewPr>
    <p:cViewPr varScale="1">
      <p:scale>
        <a:sx n="1" d="1"/>
        <a:sy n="1" d="1"/>
      </p:scale>
      <p:origin x="0" y="-14856"/>
    </p:cViewPr>
  </p:sorter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>
                <a:latin typeface="Helvetica Neue Light" charset="0"/>
              </a:defRPr>
            </a:lvl1pPr>
          </a:lstStyle>
          <a:p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>
                <a:latin typeface="Helvetica Neue Light" charset="0"/>
              </a:defRPr>
            </a:lvl1pPr>
          </a:lstStyle>
          <a:p>
            <a:fld id="{F85A8509-49F6-E24B-9FD2-E75A8E89A7C3}" type="datetimeFigureOut">
              <a:rPr lang="en-US" smtClean="0"/>
              <a:pPr/>
              <a:t>4/7/26</a:t>
            </a:fld>
            <a:endParaRPr lang="en-US" dirty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 dirty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>
                <a:latin typeface="Helvetica Neue Light" charset="0"/>
              </a:defRPr>
            </a:lvl1pPr>
          </a:lstStyle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>
                <a:latin typeface="Helvetica Neue Light" charset="0"/>
              </a:defRPr>
            </a:lvl1pPr>
          </a:lstStyle>
          <a:p>
            <a:fld id="{DAA9CBD1-1F0D-034A-94B6-9921798D1D87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3191310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Helvetica Neue Light" charset="0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Helvetica Neue Light" charset="0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Helvetica Neue Light" charset="0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Helvetica Neue Light" charset="0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Helvetica Neue Light" charset="0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If you’re like me, you want to make the world a better place. I want to understand pain and emotional distress, and design interventions that will help.</a:t>
            </a:r>
          </a:p>
          <a:p>
            <a:r>
              <a:rPr lang="en-US" dirty="0"/>
              <a:t>I believe many of you share the same goal – to help patients with depression, anxiety, substance use problems recover and live healthy lives.</a:t>
            </a:r>
          </a:p>
          <a:p>
            <a:r>
              <a:rPr lang="en-US" dirty="0"/>
              <a:t>But the space of possible interventions is vast… and if we don’t know </a:t>
            </a:r>
            <a:r>
              <a:rPr lang="en-US" b="1" dirty="0"/>
              <a:t>why</a:t>
            </a:r>
            <a:r>
              <a:rPr lang="en-US" dirty="0"/>
              <a:t> symptoms arise, it’s unclear how to treat them. Consider the </a:t>
            </a:r>
            <a:r>
              <a:rPr lang="en-US" dirty="0" err="1"/>
              <a:t>Ebers</a:t>
            </a:r>
            <a:r>
              <a:rPr lang="en-US" dirty="0"/>
              <a:t> Papyrus…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AA9CBD1-1F0D-034A-94B6-9921798D1D87}" type="slidenum">
              <a:rPr lang="en-US" smtClean="0"/>
              <a:pPr/>
              <a:t>1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38770056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A1FF122-A7D5-F81B-34DD-F179130F033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BB6F6E48-51E2-AD91-C9A2-349D2B3269E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FBB3F7A4-A299-A9B0-4A37-A4F002F24F5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3BE48D9-CFEA-1F8D-81A4-111B13DEA211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AA9CBD1-1F0D-034A-94B6-9921798D1D87}" type="slidenum">
              <a:rPr lang="en-US" smtClean="0"/>
              <a:pPr/>
              <a:t>2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06050046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58DA436-407D-C7BA-10EC-2757C3840A2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22415DA0-F35E-EA91-3F37-31557DB0DA8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06C4BA72-3A76-F9F8-D5B6-4DCE11E6F26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FA30924-362D-55C7-2D31-BD5ADD62D318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AA9CBD1-1F0D-034A-94B6-9921798D1D87}" type="slidenum">
              <a:rPr lang="en-US" smtClean="0"/>
              <a:pPr/>
              <a:t>3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073204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sv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4.png"/></Relationships>
</file>

<file path=ppt/slideLayouts/_rels/slideLayout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597819"/>
            <a:ext cx="7772400" cy="1102519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2914650"/>
            <a:ext cx="6400800" cy="131445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3429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685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0287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17145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057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24003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19464A0-24AF-C946-AA02-1A6B0829E1ED}" type="datetimeFigureOut">
              <a:rPr lang="en-US" smtClean="0"/>
              <a:t>4/7/26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D459B6-2E99-EF40-AC78-E1665376518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3753400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4220" y="124336"/>
            <a:ext cx="8229600" cy="411981"/>
          </a:xfrm>
        </p:spPr>
        <p:txBody>
          <a:bodyPr>
            <a:noAutofit/>
          </a:bodyPr>
          <a:lstStyle>
            <a:lvl1pPr>
              <a:defRPr sz="24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19464A0-24AF-C946-AA02-1A6B0829E1ED}" type="datetimeFigureOut">
              <a:rPr lang="en-US" smtClean="0"/>
              <a:t>4/7/26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D459B6-2E99-EF40-AC78-E16653765182}" type="slidenum">
              <a:rPr lang="en-US" smtClean="0"/>
              <a:t>‹#›</a:t>
            </a:fld>
            <a:endParaRPr lang="en-US"/>
          </a:p>
        </p:txBody>
      </p:sp>
      <p:cxnSp>
        <p:nvCxnSpPr>
          <p:cNvPr id="7" name="Straight Connector 6"/>
          <p:cNvCxnSpPr/>
          <p:nvPr userDrawn="1"/>
        </p:nvCxnSpPr>
        <p:spPr>
          <a:xfrm>
            <a:off x="362758" y="757672"/>
            <a:ext cx="8398925" cy="0"/>
          </a:xfrm>
          <a:prstGeom prst="line">
            <a:avLst/>
          </a:prstGeom>
          <a:ln w="12700" cmpd="sng"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8" name="Graphic 7">
            <a:extLst>
              <a:ext uri="{FF2B5EF4-FFF2-40B4-BE49-F238E27FC236}">
                <a16:creationId xmlns:a16="http://schemas.microsoft.com/office/drawing/2014/main" id="{3F588AC3-4D9A-8DF3-CCFA-2391EC7FC30B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8469535" y="59074"/>
            <a:ext cx="434529" cy="63290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0441680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FE0686E-611C-8640-B583-7DD527C43D51}" type="datetimeFigureOut">
              <a:rPr lang="en-US" smtClean="0"/>
              <a:t>4/7/26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E28FED8-0C84-684F-A4AD-B8CC363EB5D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2208770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1" y="204787"/>
            <a:ext cx="3008313" cy="871538"/>
          </a:xfrm>
        </p:spPr>
        <p:txBody>
          <a:bodyPr anchor="b"/>
          <a:lstStyle>
            <a:lvl1pPr algn="l">
              <a:defRPr sz="15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04788"/>
            <a:ext cx="5111750" cy="4389835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1" y="1076326"/>
            <a:ext cx="3008313" cy="3518297"/>
          </a:xfrm>
        </p:spPr>
        <p:txBody>
          <a:bodyPr/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19464A0-24AF-C946-AA02-1A6B0829E1ED}" type="datetimeFigureOut">
              <a:rPr lang="en-US" smtClean="0"/>
              <a:t>4/7/26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D459B6-2E99-EF40-AC78-E1665376518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7667164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3600450"/>
            <a:ext cx="5486400" cy="425054"/>
          </a:xfrm>
        </p:spPr>
        <p:txBody>
          <a:bodyPr anchor="b"/>
          <a:lstStyle>
            <a:lvl1pPr algn="l">
              <a:defRPr sz="15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459581"/>
            <a:ext cx="5486400" cy="3086100"/>
          </a:xfrm>
        </p:spPr>
        <p:txBody>
          <a:bodyPr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4025503"/>
            <a:ext cx="5486400" cy="603647"/>
          </a:xfrm>
        </p:spPr>
        <p:txBody>
          <a:bodyPr/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19464A0-24AF-C946-AA02-1A6B0829E1ED}" type="datetimeFigureOut">
              <a:rPr lang="en-US" smtClean="0"/>
              <a:t>4/7/26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D459B6-2E99-EF40-AC78-E1665376518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3349726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7" name="Straight Connector 6"/>
          <p:cNvCxnSpPr>
            <a:cxnSpLocks/>
          </p:cNvCxnSpPr>
          <p:nvPr userDrawn="1"/>
        </p:nvCxnSpPr>
        <p:spPr>
          <a:xfrm>
            <a:off x="224969" y="2448469"/>
            <a:ext cx="8718064" cy="0"/>
          </a:xfrm>
          <a:prstGeom prst="line">
            <a:avLst/>
          </a:prstGeom>
          <a:ln w="12700" cmpd="sng"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Title 8"/>
          <p:cNvSpPr>
            <a:spLocks noGrp="1"/>
          </p:cNvSpPr>
          <p:nvPr>
            <p:ph type="title"/>
          </p:nvPr>
        </p:nvSpPr>
        <p:spPr>
          <a:xfrm>
            <a:off x="835185" y="940321"/>
            <a:ext cx="7512449" cy="1274618"/>
          </a:xfrm>
          <a:prstGeom prst="rect">
            <a:avLst/>
          </a:prstGeom>
        </p:spPr>
        <p:txBody>
          <a:bodyPr vert="horz" anchor="ctr">
            <a:normAutofit/>
          </a:bodyPr>
          <a:lstStyle>
            <a:lvl1pPr algn="ctr">
              <a:defRPr sz="2400" b="0" i="0">
                <a:latin typeface="Helvetica Neue"/>
                <a:cs typeface="Helvetica Neue"/>
              </a:defRPr>
            </a:lvl1pPr>
          </a:lstStyle>
          <a:p>
            <a:endParaRPr lang="en-US" dirty="0"/>
          </a:p>
        </p:txBody>
      </p:sp>
      <p:sp>
        <p:nvSpPr>
          <p:cNvPr id="6" name="Content Placeholder 5"/>
          <p:cNvSpPr>
            <a:spLocks noGrp="1"/>
          </p:cNvSpPr>
          <p:nvPr>
            <p:ph sz="quarter" idx="10"/>
          </p:nvPr>
        </p:nvSpPr>
        <p:spPr>
          <a:xfrm>
            <a:off x="815434" y="2656508"/>
            <a:ext cx="7513131" cy="1670393"/>
          </a:xfrm>
          <a:prstGeom prst="rect">
            <a:avLst/>
          </a:prstGeom>
        </p:spPr>
        <p:txBody>
          <a:bodyPr vert="horz"/>
          <a:lstStyle>
            <a:lvl1pPr marL="0" indent="0" algn="ctr">
              <a:buFontTx/>
              <a:buNone/>
              <a:defRPr sz="1800">
                <a:latin typeface="Helvetica Neue"/>
                <a:cs typeface="Helvetica Neue"/>
              </a:defRPr>
            </a:lvl1pPr>
            <a:lvl2pPr marL="342900" indent="0" algn="ctr">
              <a:buNone/>
              <a:defRPr sz="1400">
                <a:latin typeface="Helvetica Neue"/>
                <a:cs typeface="Helvetica Neue"/>
              </a:defRPr>
            </a:lvl2pPr>
            <a:lvl3pPr marL="685800" indent="0" algn="ctr">
              <a:buNone/>
              <a:defRPr sz="1200">
                <a:latin typeface="Helvetica Neue"/>
                <a:cs typeface="Helvetica Neue"/>
              </a:defRPr>
            </a:lvl3pPr>
            <a:lvl4pPr marL="1028700" indent="0" algn="ctr">
              <a:buNone/>
              <a:defRPr sz="1050">
                <a:latin typeface="Helvetica Neue"/>
                <a:cs typeface="Helvetica Neue"/>
              </a:defRPr>
            </a:lvl4pPr>
            <a:lvl5pPr marL="1371600" indent="0" algn="ctr">
              <a:buNone/>
              <a:defRPr sz="1050">
                <a:latin typeface="Helvetica Neue"/>
                <a:cs typeface="Helvetica Neue"/>
              </a:defRPr>
            </a:lvl5pPr>
          </a:lstStyle>
          <a:p>
            <a:pPr marL="257175" marR="0" lvl="0" indent="-257175" algn="l" defTabSz="3429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/>
              <a:buChar char="•"/>
              <a:tabLst/>
              <a:defRPr/>
            </a:pPr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pic>
        <p:nvPicPr>
          <p:cNvPr id="10" name="Picture 31"/>
          <p:cNvPicPr>
            <a:picLocks noChangeAspect="1" noChangeArrowheads="1"/>
          </p:cNvPicPr>
          <p:nvPr userDrawn="1"/>
        </p:nvPicPr>
        <p:blipFill>
          <a:blip r:embed="rId2" cstate="screen">
            <a:clrChange>
              <a:clrFrom>
                <a:srgbClr val="7F7F7F"/>
              </a:clrFrom>
              <a:clrTo>
                <a:srgbClr val="7F7F7F">
                  <a:alpha val="0"/>
                </a:srgbClr>
              </a:clrTo>
            </a:clrChange>
            <a:alphaModFix amt="30000"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l="3699" t="3685" r="5052" b="5066"/>
          <a:stretch>
            <a:fillRect/>
          </a:stretch>
        </p:blipFill>
        <p:spPr bwMode="auto">
          <a:xfrm rot="16200000">
            <a:off x="2481121" y="535876"/>
            <a:ext cx="4050500" cy="407174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grpSp>
        <p:nvGrpSpPr>
          <p:cNvPr id="8" name="Group 7">
            <a:extLst>
              <a:ext uri="{FF2B5EF4-FFF2-40B4-BE49-F238E27FC236}">
                <a16:creationId xmlns:a16="http://schemas.microsoft.com/office/drawing/2014/main" id="{BBCFCAB8-9627-2343-975B-E1EE4DEBF88F}"/>
              </a:ext>
            </a:extLst>
          </p:cNvPr>
          <p:cNvGrpSpPr/>
          <p:nvPr userDrawn="1"/>
        </p:nvGrpSpPr>
        <p:grpSpPr>
          <a:xfrm>
            <a:off x="7634679" y="4747176"/>
            <a:ext cx="1570651" cy="400106"/>
            <a:chOff x="7581056" y="6357945"/>
            <a:chExt cx="1570651" cy="446276"/>
          </a:xfrm>
        </p:grpSpPr>
        <p:pic>
          <p:nvPicPr>
            <p:cNvPr id="11" name="Picture 3">
              <a:extLst>
                <a:ext uri="{FF2B5EF4-FFF2-40B4-BE49-F238E27FC236}">
                  <a16:creationId xmlns:a16="http://schemas.microsoft.com/office/drawing/2014/main" id="{A81E6036-B28B-254B-A18F-EFE2B5816DEB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7581056" y="6357945"/>
              <a:ext cx="446276" cy="44627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12" name="TextBox 11">
              <a:extLst>
                <a:ext uri="{FF2B5EF4-FFF2-40B4-BE49-F238E27FC236}">
                  <a16:creationId xmlns:a16="http://schemas.microsoft.com/office/drawing/2014/main" id="{8D993DC6-7AB9-8E43-85E5-7364DD72AEF2}"/>
                </a:ext>
              </a:extLst>
            </p:cNvPr>
            <p:cNvSpPr txBox="1"/>
            <p:nvPr/>
          </p:nvSpPr>
          <p:spPr>
            <a:xfrm>
              <a:off x="7684477" y="6381697"/>
              <a:ext cx="1467230" cy="338554"/>
            </a:xfrm>
            <a:prstGeom prst="rect">
              <a:avLst/>
            </a:prstGeom>
          </p:spPr>
          <p:txBody>
            <a:bodyPr wrap="square" rtlCol="0">
              <a:spAutoFit/>
            </a:bodyPr>
            <a:lstStyle>
              <a:defPPr>
                <a:defRPr lang="en-US"/>
              </a:defPPr>
              <a:lvl1pPr lvl="0" algn="ctr">
                <a:spcBef>
                  <a:spcPts val="0"/>
                </a:spcBef>
                <a:defRPr sz="2000">
                  <a:solidFill>
                    <a:prstClr val="black"/>
                  </a:solidFill>
                  <a:effectLst>
                    <a:glow rad="63500">
                      <a:schemeClr val="bg1">
                        <a:alpha val="92000"/>
                      </a:schemeClr>
                    </a:glow>
                  </a:effectLst>
                  <a:latin typeface="Helvetica Neue Light"/>
                  <a:cs typeface="Helvetica Neue Light"/>
                </a:defRPr>
              </a:lvl1pPr>
            </a:lstStyle>
            <a:p>
              <a:r>
                <a:rPr lang="en-US" sz="1600" dirty="0"/>
                <a:t>@</a:t>
              </a:r>
              <a:r>
                <a:rPr lang="en-US" sz="1600" dirty="0" err="1"/>
                <a:t>torwager</a:t>
              </a:r>
              <a:endParaRPr lang="en-US" sz="1600" dirty="0"/>
            </a:p>
          </p:txBody>
        </p:sp>
      </p:grpSp>
      <p:sp>
        <p:nvSpPr>
          <p:cNvPr id="13" name="TextBox 12">
            <a:extLst>
              <a:ext uri="{FF2B5EF4-FFF2-40B4-BE49-F238E27FC236}">
                <a16:creationId xmlns:a16="http://schemas.microsoft.com/office/drawing/2014/main" id="{C920E6FB-6FE1-C44C-9B77-7686F5D622C8}"/>
              </a:ext>
            </a:extLst>
          </p:cNvPr>
          <p:cNvSpPr txBox="1"/>
          <p:nvPr userDrawn="1"/>
        </p:nvSpPr>
        <p:spPr>
          <a:xfrm>
            <a:off x="0" y="4747176"/>
            <a:ext cx="2884933" cy="338554"/>
          </a:xfrm>
          <a:prstGeom prst="rect">
            <a:avLst/>
          </a:prstGeom>
        </p:spPr>
        <p:txBody>
          <a:bodyPr wrap="square" rtlCol="0">
            <a:spAutoFit/>
          </a:bodyPr>
          <a:lstStyle>
            <a:defPPr>
              <a:defRPr lang="en-US"/>
            </a:defPPr>
            <a:lvl1pPr lvl="0" algn="ctr">
              <a:spcBef>
                <a:spcPts val="0"/>
              </a:spcBef>
              <a:defRPr sz="2000">
                <a:solidFill>
                  <a:prstClr val="black"/>
                </a:solidFill>
                <a:effectLst>
                  <a:glow rad="63500">
                    <a:schemeClr val="bg1">
                      <a:alpha val="92000"/>
                    </a:schemeClr>
                  </a:glow>
                </a:effectLst>
                <a:latin typeface="Helvetica Neue Light"/>
                <a:cs typeface="Helvetica Neue Light"/>
              </a:defRPr>
            </a:lvl1pPr>
          </a:lstStyle>
          <a:p>
            <a:r>
              <a:rPr lang="en-US" sz="1600" dirty="0" err="1"/>
              <a:t>sites.dartmouth.edu</a:t>
            </a:r>
            <a:r>
              <a:rPr lang="en-US" sz="1600" dirty="0"/>
              <a:t>/</a:t>
            </a:r>
            <a:r>
              <a:rPr lang="en-US" sz="1600" dirty="0" err="1"/>
              <a:t>canlab</a:t>
            </a:r>
            <a:endParaRPr lang="en-US" sz="1600" dirty="0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15AD7AC4-4EF1-5F46-B2BC-F15E32946722}"/>
              </a:ext>
            </a:extLst>
          </p:cNvPr>
          <p:cNvSpPr txBox="1"/>
          <p:nvPr userDrawn="1"/>
        </p:nvSpPr>
        <p:spPr>
          <a:xfrm>
            <a:off x="2651122" y="5200582"/>
            <a:ext cx="3880576" cy="338554"/>
          </a:xfrm>
          <a:prstGeom prst="rect">
            <a:avLst/>
          </a:prstGeom>
        </p:spPr>
        <p:txBody>
          <a:bodyPr wrap="square" rtlCol="0">
            <a:spAutoFit/>
          </a:bodyPr>
          <a:lstStyle>
            <a:defPPr>
              <a:defRPr lang="en-US"/>
            </a:defPPr>
            <a:lvl1pPr lvl="0" algn="ctr">
              <a:spcBef>
                <a:spcPts val="0"/>
              </a:spcBef>
              <a:defRPr sz="2000">
                <a:solidFill>
                  <a:prstClr val="black"/>
                </a:solidFill>
                <a:effectLst>
                  <a:glow rad="63500">
                    <a:schemeClr val="bg1">
                      <a:alpha val="92000"/>
                    </a:schemeClr>
                  </a:glow>
                </a:effectLst>
                <a:latin typeface="Helvetica Neue Light"/>
                <a:cs typeface="Helvetica Neue Light"/>
              </a:defRPr>
            </a:lvl1pPr>
          </a:lstStyle>
          <a:p>
            <a:r>
              <a:rPr lang="en-US" sz="1600" b="1" dirty="0"/>
              <a:t>Data and code</a:t>
            </a:r>
            <a:r>
              <a:rPr lang="en-US" sz="1600" dirty="0"/>
              <a:t>: </a:t>
            </a:r>
            <a:r>
              <a:rPr lang="en-US" sz="1600" dirty="0" err="1"/>
              <a:t>canlab.github.io</a:t>
            </a:r>
            <a:endParaRPr lang="en-US" sz="1600" dirty="0"/>
          </a:p>
        </p:txBody>
      </p:sp>
    </p:spTree>
    <p:extLst>
      <p:ext uri="{BB962C8B-B14F-4D97-AF65-F5344CB8AC3E}">
        <p14:creationId xmlns:p14="http://schemas.microsoft.com/office/powerpoint/2010/main" val="173764571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7" name="Straight Connector 6"/>
          <p:cNvCxnSpPr/>
          <p:nvPr userDrawn="1"/>
        </p:nvCxnSpPr>
        <p:spPr>
          <a:xfrm>
            <a:off x="750489" y="2458517"/>
            <a:ext cx="7513131" cy="0"/>
          </a:xfrm>
          <a:prstGeom prst="line">
            <a:avLst/>
          </a:prstGeom>
          <a:ln w="12700" cmpd="sng"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Title 8"/>
          <p:cNvSpPr>
            <a:spLocks noGrp="1"/>
          </p:cNvSpPr>
          <p:nvPr>
            <p:ph type="title"/>
          </p:nvPr>
        </p:nvSpPr>
        <p:spPr>
          <a:xfrm>
            <a:off x="750489" y="895823"/>
            <a:ext cx="7512449" cy="1274618"/>
          </a:xfrm>
          <a:prstGeom prst="rect">
            <a:avLst/>
          </a:prstGeom>
        </p:spPr>
        <p:txBody>
          <a:bodyPr vert="horz" anchor="ctr">
            <a:normAutofit/>
          </a:bodyPr>
          <a:lstStyle>
            <a:lvl1pPr algn="ctr">
              <a:defRPr sz="2400" b="0" i="0">
                <a:latin typeface="Helvetica Neue"/>
                <a:cs typeface="Helvetica Neue"/>
              </a:defRPr>
            </a:lvl1pPr>
          </a:lstStyle>
          <a:p>
            <a:endParaRPr lang="en-US" dirty="0"/>
          </a:p>
        </p:txBody>
      </p:sp>
      <p:pic>
        <p:nvPicPr>
          <p:cNvPr id="10" name="Picture 31"/>
          <p:cNvPicPr>
            <a:picLocks noChangeAspect="1" noChangeArrowheads="1"/>
          </p:cNvPicPr>
          <p:nvPr userDrawn="1"/>
        </p:nvPicPr>
        <p:blipFill>
          <a:blip r:embed="rId2" cstate="screen">
            <a:clrChange>
              <a:clrFrom>
                <a:srgbClr val="7F7F7F"/>
              </a:clrFrom>
              <a:clrTo>
                <a:srgbClr val="7F7F7F">
                  <a:alpha val="0"/>
                </a:srgbClr>
              </a:clrTo>
            </a:clrChange>
            <a:alphaModFix amt="30000"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l="3699" t="3685" r="5052" b="5066"/>
          <a:stretch>
            <a:fillRect/>
          </a:stretch>
        </p:blipFill>
        <p:spPr bwMode="auto">
          <a:xfrm rot="16200000">
            <a:off x="2481663" y="494204"/>
            <a:ext cx="4050500" cy="407174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grpSp>
        <p:nvGrpSpPr>
          <p:cNvPr id="8" name="Group 7">
            <a:extLst>
              <a:ext uri="{FF2B5EF4-FFF2-40B4-BE49-F238E27FC236}">
                <a16:creationId xmlns:a16="http://schemas.microsoft.com/office/drawing/2014/main" id="{BBCFCAB8-9627-2343-975B-E1EE4DEBF88F}"/>
              </a:ext>
            </a:extLst>
          </p:cNvPr>
          <p:cNvGrpSpPr/>
          <p:nvPr userDrawn="1"/>
        </p:nvGrpSpPr>
        <p:grpSpPr>
          <a:xfrm>
            <a:off x="7573349" y="4743394"/>
            <a:ext cx="1570651" cy="400106"/>
            <a:chOff x="7581056" y="6357945"/>
            <a:chExt cx="1570651" cy="446276"/>
          </a:xfrm>
        </p:grpSpPr>
        <p:pic>
          <p:nvPicPr>
            <p:cNvPr id="11" name="Picture 3">
              <a:extLst>
                <a:ext uri="{FF2B5EF4-FFF2-40B4-BE49-F238E27FC236}">
                  <a16:creationId xmlns:a16="http://schemas.microsoft.com/office/drawing/2014/main" id="{A81E6036-B28B-254B-A18F-EFE2B5816DEB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7581056" y="6357945"/>
              <a:ext cx="446276" cy="44627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12" name="TextBox 11">
              <a:extLst>
                <a:ext uri="{FF2B5EF4-FFF2-40B4-BE49-F238E27FC236}">
                  <a16:creationId xmlns:a16="http://schemas.microsoft.com/office/drawing/2014/main" id="{8D993DC6-7AB9-8E43-85E5-7364DD72AEF2}"/>
                </a:ext>
              </a:extLst>
            </p:cNvPr>
            <p:cNvSpPr txBox="1"/>
            <p:nvPr/>
          </p:nvSpPr>
          <p:spPr>
            <a:xfrm>
              <a:off x="7684477" y="6381697"/>
              <a:ext cx="1467230" cy="338554"/>
            </a:xfrm>
            <a:prstGeom prst="rect">
              <a:avLst/>
            </a:prstGeom>
          </p:spPr>
          <p:txBody>
            <a:bodyPr wrap="square" rtlCol="0">
              <a:spAutoFit/>
            </a:bodyPr>
            <a:lstStyle>
              <a:defPPr>
                <a:defRPr lang="en-US"/>
              </a:defPPr>
              <a:lvl1pPr lvl="0" algn="ctr">
                <a:spcBef>
                  <a:spcPts val="0"/>
                </a:spcBef>
                <a:defRPr sz="2000">
                  <a:solidFill>
                    <a:prstClr val="black"/>
                  </a:solidFill>
                  <a:effectLst>
                    <a:glow rad="63500">
                      <a:schemeClr val="bg1">
                        <a:alpha val="92000"/>
                      </a:schemeClr>
                    </a:glow>
                  </a:effectLst>
                  <a:latin typeface="Helvetica Neue Light"/>
                  <a:cs typeface="Helvetica Neue Light"/>
                </a:defRPr>
              </a:lvl1pPr>
            </a:lstStyle>
            <a:p>
              <a:r>
                <a:rPr lang="en-US" sz="1600" dirty="0"/>
                <a:t>@</a:t>
              </a:r>
              <a:r>
                <a:rPr lang="en-US" sz="1600" dirty="0" err="1"/>
                <a:t>torwager</a:t>
              </a:r>
              <a:endParaRPr lang="en-US" sz="1600" dirty="0"/>
            </a:p>
          </p:txBody>
        </p:sp>
      </p:grpSp>
      <p:sp>
        <p:nvSpPr>
          <p:cNvPr id="13" name="TextBox 12">
            <a:extLst>
              <a:ext uri="{FF2B5EF4-FFF2-40B4-BE49-F238E27FC236}">
                <a16:creationId xmlns:a16="http://schemas.microsoft.com/office/drawing/2014/main" id="{C920E6FB-6FE1-C44C-9B77-7686F5D622C8}"/>
              </a:ext>
            </a:extLst>
          </p:cNvPr>
          <p:cNvSpPr txBox="1"/>
          <p:nvPr userDrawn="1"/>
        </p:nvSpPr>
        <p:spPr>
          <a:xfrm>
            <a:off x="-140677" y="4747176"/>
            <a:ext cx="2884933" cy="338554"/>
          </a:xfrm>
          <a:prstGeom prst="rect">
            <a:avLst/>
          </a:prstGeom>
        </p:spPr>
        <p:txBody>
          <a:bodyPr wrap="square" rtlCol="0">
            <a:spAutoFit/>
          </a:bodyPr>
          <a:lstStyle>
            <a:defPPr>
              <a:defRPr lang="en-US"/>
            </a:defPPr>
            <a:lvl1pPr lvl="0" algn="ctr">
              <a:spcBef>
                <a:spcPts val="0"/>
              </a:spcBef>
              <a:defRPr sz="2000">
                <a:solidFill>
                  <a:prstClr val="black"/>
                </a:solidFill>
                <a:effectLst>
                  <a:glow rad="63500">
                    <a:schemeClr val="bg1">
                      <a:alpha val="92000"/>
                    </a:schemeClr>
                  </a:glow>
                </a:effectLst>
                <a:latin typeface="Helvetica Neue Light"/>
                <a:cs typeface="Helvetica Neue Light"/>
              </a:defRPr>
            </a:lvl1pPr>
          </a:lstStyle>
          <a:p>
            <a:r>
              <a:rPr lang="en-US" sz="1600" dirty="0" err="1"/>
              <a:t>wagerlab.colorado.edu</a:t>
            </a:r>
            <a:endParaRPr lang="en-US" sz="1600" dirty="0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15AD7AC4-4EF1-5F46-B2BC-F15E32946722}"/>
              </a:ext>
            </a:extLst>
          </p:cNvPr>
          <p:cNvSpPr txBox="1"/>
          <p:nvPr userDrawn="1"/>
        </p:nvSpPr>
        <p:spPr>
          <a:xfrm>
            <a:off x="2651122" y="5200582"/>
            <a:ext cx="3880576" cy="338554"/>
          </a:xfrm>
          <a:prstGeom prst="rect">
            <a:avLst/>
          </a:prstGeom>
        </p:spPr>
        <p:txBody>
          <a:bodyPr wrap="square" rtlCol="0">
            <a:spAutoFit/>
          </a:bodyPr>
          <a:lstStyle>
            <a:defPPr>
              <a:defRPr lang="en-US"/>
            </a:defPPr>
            <a:lvl1pPr lvl="0" algn="ctr">
              <a:spcBef>
                <a:spcPts val="0"/>
              </a:spcBef>
              <a:defRPr sz="2000">
                <a:solidFill>
                  <a:prstClr val="black"/>
                </a:solidFill>
                <a:effectLst>
                  <a:glow rad="63500">
                    <a:schemeClr val="bg1">
                      <a:alpha val="92000"/>
                    </a:schemeClr>
                  </a:glow>
                </a:effectLst>
                <a:latin typeface="Helvetica Neue Light"/>
                <a:cs typeface="Helvetica Neue Light"/>
              </a:defRPr>
            </a:lvl1pPr>
          </a:lstStyle>
          <a:p>
            <a:r>
              <a:rPr lang="en-US" sz="1600" b="1" dirty="0"/>
              <a:t>Data and code</a:t>
            </a:r>
            <a:r>
              <a:rPr lang="en-US" sz="1600" dirty="0"/>
              <a:t>: </a:t>
            </a:r>
            <a:r>
              <a:rPr lang="en-US" sz="1600" dirty="0" err="1"/>
              <a:t>canlab.github.io</a:t>
            </a:r>
            <a:endParaRPr lang="en-US" sz="1600" dirty="0"/>
          </a:p>
        </p:txBody>
      </p:sp>
      <p:pic>
        <p:nvPicPr>
          <p:cNvPr id="15" name="Picture 14" descr="A close up of a logo&#10;&#10;Description automatically generated">
            <a:extLst>
              <a:ext uri="{FF2B5EF4-FFF2-40B4-BE49-F238E27FC236}">
                <a16:creationId xmlns:a16="http://schemas.microsoft.com/office/drawing/2014/main" id="{0A677E17-18D8-EA45-A1C0-4D66B1E2F879}"/>
              </a:ext>
            </a:extLst>
          </p:cNvPr>
          <p:cNvPicPr>
            <a:picLocks noChangeAspect="1"/>
          </p:cNvPicPr>
          <p:nvPr userDrawn="1"/>
        </p:nvPicPr>
        <p:blipFill>
          <a:blip r:embed="rId4"/>
          <a:stretch>
            <a:fillRect/>
          </a:stretch>
        </p:blipFill>
        <p:spPr>
          <a:xfrm>
            <a:off x="548162" y="3175864"/>
            <a:ext cx="1507253" cy="107181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1294731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Content Placeholder 13"/>
          <p:cNvSpPr>
            <a:spLocks noGrp="1"/>
          </p:cNvSpPr>
          <p:nvPr>
            <p:ph sz="quarter" idx="10"/>
          </p:nvPr>
        </p:nvSpPr>
        <p:spPr>
          <a:xfrm>
            <a:off x="163551" y="840581"/>
            <a:ext cx="8854069" cy="3853742"/>
          </a:xfrm>
          <a:prstGeom prst="rect">
            <a:avLst/>
          </a:prstGeom>
        </p:spPr>
        <p:txBody>
          <a:bodyPr vert="horz"/>
          <a:lstStyle>
            <a:lvl1pPr marL="303610" indent="-173831">
              <a:defRPr sz="1800" b="0" i="0">
                <a:latin typeface="Helvetica Neue"/>
                <a:cs typeface="Helvetica Neue"/>
              </a:defRPr>
            </a:lvl1pPr>
            <a:lvl2pPr marL="642938" indent="-172641">
              <a:buFont typeface="Arial"/>
              <a:buChar char="•"/>
              <a:defRPr sz="1400" b="0" i="0">
                <a:latin typeface="Helvetica Neue Light"/>
                <a:cs typeface="Helvetica Neue Light"/>
              </a:defRPr>
            </a:lvl2pPr>
            <a:lvl3pPr marL="857250" indent="-127397">
              <a:defRPr sz="1200" b="0" i="0">
                <a:latin typeface="Helvetica Neue"/>
                <a:cs typeface="Helvetica Neue"/>
              </a:defRPr>
            </a:lvl3pPr>
            <a:lvl4pPr marL="1113235" indent="-129779">
              <a:buFont typeface="Arial"/>
              <a:buChar char="•"/>
              <a:defRPr sz="1050" b="0" i="0">
                <a:latin typeface="Helvetica Neue Light"/>
                <a:cs typeface="Helvetica Neue Light"/>
              </a:defRPr>
            </a:lvl4pPr>
            <a:lvl5pPr marL="1329929" indent="-129779">
              <a:buFont typeface="Arial"/>
              <a:buChar char="•"/>
              <a:defRPr sz="1050" b="0" i="0">
                <a:latin typeface="Helvetica Neue"/>
                <a:cs typeface="Helvetica Neue"/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CD082AC9-E971-C449-8CA8-DB2AA5694D06}"/>
              </a:ext>
            </a:extLst>
          </p:cNvPr>
          <p:cNvCxnSpPr>
            <a:cxnSpLocks/>
          </p:cNvCxnSpPr>
          <p:nvPr userDrawn="1"/>
        </p:nvCxnSpPr>
        <p:spPr>
          <a:xfrm>
            <a:off x="109281" y="754560"/>
            <a:ext cx="9034719" cy="0"/>
          </a:xfrm>
          <a:prstGeom prst="line">
            <a:avLst/>
          </a:prstGeom>
          <a:ln w="12700" cmpd="sng"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Title 8">
            <a:extLst>
              <a:ext uri="{FF2B5EF4-FFF2-40B4-BE49-F238E27FC236}">
                <a16:creationId xmlns:a16="http://schemas.microsoft.com/office/drawing/2014/main" id="{D06BE43F-CDF6-5E49-A01A-6BB910A4F7E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9280" y="0"/>
            <a:ext cx="8302921" cy="754551"/>
          </a:xfrm>
          <a:prstGeom prst="rect">
            <a:avLst/>
          </a:prstGeom>
        </p:spPr>
        <p:txBody>
          <a:bodyPr vert="horz" anchor="ctr">
            <a:normAutofit/>
          </a:bodyPr>
          <a:lstStyle>
            <a:lvl1pPr algn="l">
              <a:defRPr sz="2200" b="0" i="0">
                <a:latin typeface="Helvetica Neue Light"/>
                <a:cs typeface="Helvetica Neue Light"/>
              </a:defRPr>
            </a:lvl1pPr>
          </a:lstStyle>
          <a:p>
            <a:endParaRPr lang="en-US" dirty="0"/>
          </a:p>
        </p:txBody>
      </p:sp>
      <p:pic>
        <p:nvPicPr>
          <p:cNvPr id="13" name="Picture 12" descr="A close up of a logo&#10;&#10;Description automatically generated">
            <a:extLst>
              <a:ext uri="{FF2B5EF4-FFF2-40B4-BE49-F238E27FC236}">
                <a16:creationId xmlns:a16="http://schemas.microsoft.com/office/drawing/2014/main" id="{0D5EC5B9-9F1C-9D46-AFBA-B96978ACDA82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/>
          <a:srcRect l="18062" t="8265" r="14937" b="9085"/>
          <a:stretch/>
        </p:blipFill>
        <p:spPr>
          <a:xfrm>
            <a:off x="8407996" y="9274"/>
            <a:ext cx="736004" cy="736001"/>
          </a:xfrm>
          <a:prstGeom prst="rect">
            <a:avLst/>
          </a:prstGeom>
        </p:spPr>
      </p:pic>
      <p:pic>
        <p:nvPicPr>
          <p:cNvPr id="15" name="Picture 14">
            <a:extLst>
              <a:ext uri="{FF2B5EF4-FFF2-40B4-BE49-F238E27FC236}">
                <a16:creationId xmlns:a16="http://schemas.microsoft.com/office/drawing/2014/main" id="{E1CF16DD-0D23-F94E-9A65-C8FA544068AB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9238193" y="24807"/>
            <a:ext cx="731798" cy="77311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0178948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1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19511843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10" Type="http://schemas.openxmlformats.org/officeDocument/2006/relationships/theme" Target="../theme/theme1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05979"/>
            <a:ext cx="8229600" cy="85725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200151"/>
            <a:ext cx="8229600" cy="339447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4767263"/>
            <a:ext cx="21336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  <a:latin typeface="Helvetica Neue Light" charset="0"/>
              </a:defRPr>
            </a:lvl1pPr>
          </a:lstStyle>
          <a:p>
            <a:fld id="{F19464A0-24AF-C946-AA02-1A6B0829E1ED}" type="datetimeFigureOut">
              <a:rPr lang="en-US" smtClean="0"/>
              <a:pPr/>
              <a:t>4/7/26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4767263"/>
            <a:ext cx="28956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>
                <a:solidFill>
                  <a:schemeClr val="tx1">
                    <a:tint val="75000"/>
                  </a:schemeClr>
                </a:solidFill>
                <a:latin typeface="Helvetica Neue Light" charset="0"/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4767263"/>
            <a:ext cx="21336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  <a:latin typeface="Helvetica Neue Light" charset="0"/>
              </a:defRPr>
            </a:lvl1pPr>
          </a:lstStyle>
          <a:p>
            <a:fld id="{94D459B6-2E99-EF40-AC78-E16653765182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9279591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57" r:id="rId1"/>
    <p:sldLayoutId id="2147483658" r:id="rId2"/>
    <p:sldLayoutId id="2147483663" r:id="rId3"/>
    <p:sldLayoutId id="2147483664" r:id="rId4"/>
    <p:sldLayoutId id="2147483665" r:id="rId5"/>
    <p:sldLayoutId id="2147483668" r:id="rId6"/>
    <p:sldLayoutId id="2147483673" r:id="rId7"/>
    <p:sldLayoutId id="2147483650" r:id="rId8"/>
    <p:sldLayoutId id="2147483674" r:id="rId9"/>
  </p:sldLayoutIdLst>
  <p:txStyles>
    <p:titleStyle>
      <a:lvl1pPr algn="l" defTabSz="342900" rtl="0" eaLnBrk="1" latinLnBrk="0" hangingPunct="1">
        <a:spcBef>
          <a:spcPct val="0"/>
        </a:spcBef>
        <a:buNone/>
        <a:defRPr sz="3200" kern="1200">
          <a:solidFill>
            <a:schemeClr val="tx1"/>
          </a:solidFill>
          <a:latin typeface="Helvetica Neue Light" charset="0"/>
          <a:ea typeface="+mj-ea"/>
          <a:cs typeface="+mj-cs"/>
        </a:defRPr>
      </a:lvl1pPr>
    </p:titleStyle>
    <p:bodyStyle>
      <a:lvl1pPr marL="257175" indent="-257175" algn="l" defTabSz="3429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Helvetica Neue Light" charset="0"/>
          <a:ea typeface="+mn-ea"/>
          <a:cs typeface="+mn-cs"/>
        </a:defRPr>
      </a:lvl1pPr>
      <a:lvl2pPr marL="557213" indent="-214313" algn="l" defTabSz="342900" rtl="0" eaLnBrk="1" latinLnBrk="0" hangingPunct="1">
        <a:spcBef>
          <a:spcPct val="20000"/>
        </a:spcBef>
        <a:buFont typeface="Arial"/>
        <a:buChar char="–"/>
        <a:defRPr sz="2100" kern="1200">
          <a:solidFill>
            <a:schemeClr val="tx1"/>
          </a:solidFill>
          <a:latin typeface="Helvetica Neue Light" charset="0"/>
          <a:ea typeface="+mn-ea"/>
          <a:cs typeface="+mn-cs"/>
        </a:defRPr>
      </a:lvl2pPr>
      <a:lvl3pPr marL="857250" indent="-171450" algn="l" defTabSz="342900" rtl="0" eaLnBrk="1" latinLnBrk="0" hangingPunct="1">
        <a:spcBef>
          <a:spcPct val="20000"/>
        </a:spcBef>
        <a:buFont typeface="Arial"/>
        <a:buChar char="•"/>
        <a:defRPr sz="1800" kern="1200">
          <a:solidFill>
            <a:schemeClr val="tx1"/>
          </a:solidFill>
          <a:latin typeface="Helvetica Neue Light" charset="0"/>
          <a:ea typeface="+mn-ea"/>
          <a:cs typeface="+mn-cs"/>
        </a:defRPr>
      </a:lvl3pPr>
      <a:lvl4pPr marL="1200150" indent="-171450" algn="l" defTabSz="342900" rtl="0" eaLnBrk="1" latinLnBrk="0" hangingPunct="1">
        <a:spcBef>
          <a:spcPct val="20000"/>
        </a:spcBef>
        <a:buFont typeface="Arial"/>
        <a:buChar char="–"/>
        <a:defRPr sz="1500" kern="1200">
          <a:solidFill>
            <a:schemeClr val="tx1"/>
          </a:solidFill>
          <a:latin typeface="Helvetica Neue Light" charset="0"/>
          <a:ea typeface="+mn-ea"/>
          <a:cs typeface="+mn-cs"/>
        </a:defRPr>
      </a:lvl4pPr>
      <a:lvl5pPr marL="1543050" indent="-171450" algn="l" defTabSz="342900" rtl="0" eaLnBrk="1" latinLnBrk="0" hangingPunct="1">
        <a:spcBef>
          <a:spcPct val="20000"/>
        </a:spcBef>
        <a:buFont typeface="Arial"/>
        <a:buChar char="»"/>
        <a:defRPr sz="1500" kern="1200">
          <a:solidFill>
            <a:schemeClr val="tx1"/>
          </a:solidFill>
          <a:latin typeface="Helvetica Neue Light" charset="0"/>
          <a:ea typeface="+mn-ea"/>
          <a:cs typeface="+mn-cs"/>
        </a:defRPr>
      </a:lvl5pPr>
      <a:lvl6pPr marL="1885950" indent="-171450" algn="l" defTabSz="342900" rtl="0" eaLnBrk="1" latinLnBrk="0" hangingPunct="1">
        <a:spcBef>
          <a:spcPct val="20000"/>
        </a:spcBef>
        <a:buFont typeface="Arial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indent="-171450" algn="l" defTabSz="342900" rtl="0" eaLnBrk="1" latinLnBrk="0" hangingPunct="1">
        <a:spcBef>
          <a:spcPct val="20000"/>
        </a:spcBef>
        <a:buFont typeface="Arial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7pPr>
      <a:lvl8pPr marL="2571750" indent="-171450" algn="l" defTabSz="342900" rtl="0" eaLnBrk="1" latinLnBrk="0" hangingPunct="1">
        <a:spcBef>
          <a:spcPct val="20000"/>
        </a:spcBef>
        <a:buFont typeface="Arial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1450" algn="l" defTabSz="342900" rtl="0" eaLnBrk="1" latinLnBrk="0" hangingPunct="1">
        <a:spcBef>
          <a:spcPct val="20000"/>
        </a:spcBef>
        <a:buFont typeface="Arial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6.xml"/><Relationship Id="rId5" Type="http://schemas.openxmlformats.org/officeDocument/2006/relationships/image" Target="../media/image1.svg"/><Relationship Id="rId4" Type="http://schemas.openxmlformats.org/officeDocument/2006/relationships/image" Target="../media/image4.pn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9.xml"/><Relationship Id="rId4" Type="http://schemas.openxmlformats.org/officeDocument/2006/relationships/image" Target="../media/image9.pn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9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526625" y="1177311"/>
            <a:ext cx="5977261" cy="806932"/>
          </a:xfrm>
        </p:spPr>
        <p:txBody>
          <a:bodyPr vert="horz" lIns="91440" tIns="45720" rIns="91440" bIns="45720" rtlCol="0">
            <a:noAutofit/>
          </a:bodyPr>
          <a:lstStyle/>
          <a:p>
            <a:pPr>
              <a:spcBef>
                <a:spcPts val="0"/>
              </a:spcBef>
            </a:pPr>
            <a:r>
              <a:rPr lang="en-US" sz="2800" b="1" dirty="0">
                <a:solidFill>
                  <a:prstClr val="black"/>
                </a:solidFill>
                <a:effectLst>
                  <a:glow rad="101600">
                    <a:schemeClr val="bg1">
                      <a:alpha val="97000"/>
                    </a:schemeClr>
                  </a:glow>
                </a:effectLst>
                <a:latin typeface="Helvetica Neue Light" panose="02000403000000020004" pitchFamily="2" charset="0"/>
                <a:ea typeface="Helvetica Neue Light" panose="02000403000000020004" pitchFamily="2" charset="0"/>
              </a:rPr>
              <a:t>2026 </a:t>
            </a:r>
            <a:r>
              <a:rPr lang="en-US" sz="2800" b="1" dirty="0" err="1">
                <a:solidFill>
                  <a:prstClr val="black"/>
                </a:solidFill>
                <a:effectLst>
                  <a:glow rad="101600">
                    <a:schemeClr val="bg1">
                      <a:alpha val="97000"/>
                    </a:schemeClr>
                  </a:glow>
                </a:effectLst>
                <a:latin typeface="Helvetica Neue Light" panose="02000403000000020004" pitchFamily="2" charset="0"/>
                <a:ea typeface="Helvetica Neue Light" panose="02000403000000020004" pitchFamily="2" charset="0"/>
              </a:rPr>
              <a:t>Neurosynth</a:t>
            </a:r>
            <a:r>
              <a:rPr lang="en-US" sz="2800" b="1" dirty="0">
                <a:solidFill>
                  <a:prstClr val="black"/>
                </a:solidFill>
                <a:effectLst>
                  <a:glow rad="101600">
                    <a:schemeClr val="bg1">
                      <a:alpha val="97000"/>
                    </a:schemeClr>
                  </a:glow>
                </a:effectLst>
                <a:latin typeface="Helvetica Neue Light" panose="02000403000000020004" pitchFamily="2" charset="0"/>
                <a:ea typeface="Helvetica Neue Light" panose="02000403000000020004" pitchFamily="2" charset="0"/>
              </a:rPr>
              <a:t> topics vector embedding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quarter" idx="10"/>
          </p:nvPr>
        </p:nvSpPr>
        <p:spPr>
          <a:xfrm>
            <a:off x="1754981" y="2562600"/>
            <a:ext cx="5634038" cy="490329"/>
          </a:xfrm>
        </p:spPr>
        <p:txBody>
          <a:bodyPr>
            <a:noAutofit/>
          </a:bodyPr>
          <a:lstStyle/>
          <a:p>
            <a:pPr>
              <a:spcBef>
                <a:spcPts val="0"/>
              </a:spcBef>
            </a:pPr>
            <a:r>
              <a:rPr lang="en-US" sz="2800" dirty="0">
                <a:solidFill>
                  <a:prstClr val="black"/>
                </a:solidFill>
                <a:effectLst>
                  <a:glow rad="101600">
                    <a:schemeClr val="bg1">
                      <a:alpha val="97000"/>
                    </a:schemeClr>
                  </a:glow>
                </a:effectLst>
                <a:latin typeface="Helvetica Neue Light"/>
                <a:cs typeface="Helvetica Neue Light"/>
              </a:rPr>
              <a:t>Tor D. Wager</a:t>
            </a:r>
            <a:endParaRPr lang="en-US" sz="2800" dirty="0">
              <a:solidFill>
                <a:prstClr val="black"/>
              </a:solidFill>
              <a:latin typeface="Helvetica Neue Light"/>
              <a:cs typeface="Helvetica Neue Light"/>
            </a:endParaRPr>
          </a:p>
          <a:p>
            <a:pPr>
              <a:spcBef>
                <a:spcPts val="0"/>
              </a:spcBef>
            </a:pPr>
            <a:endParaRPr lang="en-US" sz="2800" dirty="0">
              <a:solidFill>
                <a:prstClr val="black"/>
              </a:solidFill>
              <a:latin typeface="Helvetica Neue Light"/>
              <a:cs typeface="Helvetica Neue Light"/>
            </a:endParaRPr>
          </a:p>
          <a:p>
            <a:endParaRPr lang="en-US" sz="2800" dirty="0"/>
          </a:p>
        </p:txBody>
      </p:sp>
      <p:sp>
        <p:nvSpPr>
          <p:cNvPr id="4" name="TextBox 3"/>
          <p:cNvSpPr txBox="1"/>
          <p:nvPr/>
        </p:nvSpPr>
        <p:spPr>
          <a:xfrm>
            <a:off x="1869038" y="3142606"/>
            <a:ext cx="5634848" cy="707886"/>
          </a:xfrm>
          <a:prstGeom prst="rect">
            <a:avLst/>
          </a:prstGeom>
        </p:spPr>
        <p:txBody>
          <a:bodyPr wrap="square" rtlCol="0">
            <a:spAutoFit/>
          </a:bodyPr>
          <a:lstStyle/>
          <a:p>
            <a:pPr algn="ctr"/>
            <a:r>
              <a:rPr lang="en-US" sz="2000" dirty="0">
                <a:solidFill>
                  <a:prstClr val="black"/>
                </a:solidFill>
                <a:effectLst>
                  <a:glow rad="63500">
                    <a:schemeClr val="bg1">
                      <a:alpha val="92000"/>
                    </a:schemeClr>
                  </a:glow>
                </a:effectLst>
                <a:latin typeface="Helvetica Neue Light"/>
                <a:cs typeface="Helvetica Neue Light"/>
              </a:rPr>
              <a:t>Department of Psychological and Brain Sciences</a:t>
            </a:r>
          </a:p>
          <a:p>
            <a:pPr algn="ctr"/>
            <a:r>
              <a:rPr lang="en-US" sz="2000" dirty="0">
                <a:solidFill>
                  <a:prstClr val="black"/>
                </a:solidFill>
                <a:effectLst>
                  <a:glow rad="63500">
                    <a:schemeClr val="bg1">
                      <a:alpha val="92000"/>
                    </a:schemeClr>
                  </a:glow>
                </a:effectLst>
                <a:latin typeface="Helvetica Neue Light"/>
                <a:cs typeface="Helvetica Neue Light"/>
              </a:rPr>
              <a:t>Dartmouth College</a:t>
            </a:r>
          </a:p>
        </p:txBody>
      </p:sp>
      <p:pic>
        <p:nvPicPr>
          <p:cNvPr id="6" name="Picture 5" descr="A close up of a logo&#10;&#10;Description automatically generated">
            <a:extLst>
              <a:ext uri="{FF2B5EF4-FFF2-40B4-BE49-F238E27FC236}">
                <a16:creationId xmlns:a16="http://schemas.microsoft.com/office/drawing/2014/main" id="{3F320816-97CD-304B-BE99-F4718EA2D5E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261568" y="3956712"/>
            <a:ext cx="1100925" cy="898416"/>
          </a:xfrm>
          <a:prstGeom prst="rect">
            <a:avLst/>
          </a:prstGeom>
        </p:spPr>
      </p:pic>
      <p:pic>
        <p:nvPicPr>
          <p:cNvPr id="7" name="Picture 6" descr="A close up of a logo&#10;&#10;Description automatically generated">
            <a:extLst>
              <a:ext uri="{FF2B5EF4-FFF2-40B4-BE49-F238E27FC236}">
                <a16:creationId xmlns:a16="http://schemas.microsoft.com/office/drawing/2014/main" id="{CCA97156-DE14-124F-9373-A2E4DDD6D0C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196555" y="3979796"/>
            <a:ext cx="1230949" cy="875332"/>
          </a:xfrm>
          <a:prstGeom prst="rect">
            <a:avLst/>
          </a:prstGeom>
        </p:spPr>
      </p:pic>
      <p:pic>
        <p:nvPicPr>
          <p:cNvPr id="72" name="Graphic 71">
            <a:extLst>
              <a:ext uri="{FF2B5EF4-FFF2-40B4-BE49-F238E27FC236}">
                <a16:creationId xmlns:a16="http://schemas.microsoft.com/office/drawing/2014/main" id="{A83D5E78-0C6E-C70A-A5A0-F629D7714855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3642360" y="3943350"/>
            <a:ext cx="655320" cy="95448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8296431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1555F5C-C950-4680-B18F-ACA17A18D8B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3F30939F-3645-5383-F8BC-18A460AC3C4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Workflow</a:t>
            </a:r>
          </a:p>
        </p:txBody>
      </p:sp>
      <p:sp>
        <p:nvSpPr>
          <p:cNvPr id="15" name="Content Placeholder 14">
            <a:extLst>
              <a:ext uri="{FF2B5EF4-FFF2-40B4-BE49-F238E27FC236}">
                <a16:creationId xmlns:a16="http://schemas.microsoft.com/office/drawing/2014/main" id="{78AF8C83-D786-8470-0281-87D532CFA0E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199" y="1200151"/>
            <a:ext cx="8229600" cy="3394472"/>
          </a:xfrm>
        </p:spPr>
        <p:txBody>
          <a:bodyPr>
            <a:normAutofit/>
          </a:bodyPr>
          <a:lstStyle/>
          <a:p>
            <a:r>
              <a:rPr lang="en-US" sz="1400" dirty="0"/>
              <a:t> </a:t>
            </a:r>
            <a:r>
              <a:rPr lang="en-US" sz="1400" dirty="0" err="1"/>
              <a:t>neurosynth_data_obj.mat</a:t>
            </a:r>
            <a:r>
              <a:rPr lang="en-US" sz="1400" dirty="0"/>
              <a:t> -&gt; write text files with topics in </a:t>
            </a:r>
            <a:r>
              <a:rPr lang="en-US" sz="1400" dirty="0" err="1"/>
              <a:t>topic_terms_csv</a:t>
            </a:r>
            <a:r>
              <a:rPr lang="en-US" sz="1400" dirty="0"/>
              <a:t>/</a:t>
            </a:r>
          </a:p>
          <a:p>
            <a:endParaRPr lang="en-US" sz="1400" dirty="0"/>
          </a:p>
          <a:p>
            <a:r>
              <a:rPr lang="en-US" sz="1400" dirty="0"/>
              <a:t>Use codex to extract embeddings with </a:t>
            </a:r>
            <a:r>
              <a:rPr lang="en-US" sz="1400" dirty="0" err="1"/>
              <a:t>codex_embedding_instructions.txt</a:t>
            </a:r>
            <a:endParaRPr lang="en-US" sz="1400" dirty="0"/>
          </a:p>
          <a:p>
            <a:endParaRPr lang="en-US" sz="1400" dirty="0"/>
          </a:p>
          <a:p>
            <a:r>
              <a:rPr lang="en-US" sz="1400" dirty="0"/>
              <a:t>Save topic_embeddings_text-embedding-3-large.csv / .mat</a:t>
            </a:r>
          </a:p>
          <a:p>
            <a:endParaRPr lang="en-US" sz="1400" dirty="0"/>
          </a:p>
          <a:p>
            <a:r>
              <a:rPr lang="en-US" sz="1400" dirty="0"/>
              <a:t>Analyze/visualize with </a:t>
            </a:r>
            <a:r>
              <a:rPr lang="en-US" sz="1400" dirty="0" err="1"/>
              <a:t>topic_embedding_similarity_analysis.m</a:t>
            </a:r>
            <a:endParaRPr lang="en-US" sz="1400" dirty="0"/>
          </a:p>
          <a:p>
            <a:pPr lvl="1"/>
            <a:r>
              <a:rPr lang="en-US" sz="1100" dirty="0"/>
              <a:t>Plots sorted matrix based on dendrogram/hierarchical clustering</a:t>
            </a:r>
          </a:p>
          <a:p>
            <a:pPr lvl="1"/>
            <a:r>
              <a:rPr lang="en-US" sz="1100" dirty="0"/>
              <a:t>Plots brain similarity</a:t>
            </a:r>
          </a:p>
          <a:p>
            <a:pPr lvl="1"/>
            <a:endParaRPr lang="en-US" sz="1100" dirty="0"/>
          </a:p>
          <a:p>
            <a:pPr lvl="1"/>
            <a:endParaRPr lang="en-US" sz="1100" dirty="0"/>
          </a:p>
        </p:txBody>
      </p:sp>
    </p:spTree>
    <p:extLst>
      <p:ext uri="{BB962C8B-B14F-4D97-AF65-F5344CB8AC3E}">
        <p14:creationId xmlns:p14="http://schemas.microsoft.com/office/powerpoint/2010/main" val="297813920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595A5B3-7BBB-97FE-C568-ED42F831D19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EBBABE39-7D8D-6842-3B49-E2BECDDEA0E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Embedding model</a:t>
            </a:r>
          </a:p>
        </p:txBody>
      </p:sp>
      <p:sp>
        <p:nvSpPr>
          <p:cNvPr id="15" name="Content Placeholder 14">
            <a:extLst>
              <a:ext uri="{FF2B5EF4-FFF2-40B4-BE49-F238E27FC236}">
                <a16:creationId xmlns:a16="http://schemas.microsoft.com/office/drawing/2014/main" id="{17DC86B3-FEE1-904D-5B03-DC0C78CAB2D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199" y="1200151"/>
            <a:ext cx="8229600" cy="3394472"/>
          </a:xfrm>
        </p:spPr>
        <p:txBody>
          <a:bodyPr>
            <a:normAutofit fontScale="77500" lnSpcReduction="20000"/>
          </a:bodyPr>
          <a:lstStyle/>
          <a:p>
            <a:r>
              <a:rPr lang="en-US" dirty="0"/>
              <a:t>  - Model name: text-embedding-3-large</a:t>
            </a:r>
          </a:p>
          <a:p>
            <a:r>
              <a:rPr lang="en-US" dirty="0"/>
              <a:t>  - Provider/API: OpenAI Embeddings API</a:t>
            </a:r>
          </a:p>
          <a:p>
            <a:r>
              <a:rPr lang="en-US" dirty="0"/>
              <a:t>  - Use in this workflow: text embeddings for each topic-term document</a:t>
            </a:r>
          </a:p>
          <a:p>
            <a:r>
              <a:rPr lang="en-US" dirty="0"/>
              <a:t>  - Output dimensionality in this run: 3072</a:t>
            </a:r>
          </a:p>
          <a:p>
            <a:r>
              <a:rPr lang="en-US" dirty="0"/>
              <a:t>  - Documents embedded: 50</a:t>
            </a:r>
          </a:p>
          <a:p>
            <a:pPr marL="0" indent="0">
              <a:buNone/>
            </a:pPr>
            <a:r>
              <a:rPr lang="en-US" dirty="0"/>
              <a:t>  </a:t>
            </a:r>
          </a:p>
          <a:p>
            <a:r>
              <a:rPr lang="en-US" dirty="0"/>
              <a:t>CSV shape: 3073 rows by 50 columns</a:t>
            </a:r>
          </a:p>
          <a:p>
            <a:r>
              <a:rPr lang="en-US" dirty="0"/>
              <a:t>  That corresponds to 3072 embedding dimensions plus 1 header row, across 50 documents</a:t>
            </a:r>
          </a:p>
          <a:p>
            <a:r>
              <a:rPr lang="en-US" dirty="0"/>
              <a:t>  Header order starts with 0_Sensory_Stimulation, 2_Substance_Abuse, 4_Trauma_Stress, 5_Cognitive_Impairment,</a:t>
            </a:r>
          </a:p>
          <a:p>
            <a:r>
              <a:rPr lang="en-US" dirty="0"/>
              <a:t>  6_Object_Recognition</a:t>
            </a:r>
          </a:p>
        </p:txBody>
      </p:sp>
    </p:spTree>
    <p:extLst>
      <p:ext uri="{BB962C8B-B14F-4D97-AF65-F5344CB8AC3E}">
        <p14:creationId xmlns:p14="http://schemas.microsoft.com/office/powerpoint/2010/main" val="122541848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 descr="A close-up of a graph&#10;&#10;AI-generated content may be incorrect.">
            <a:extLst>
              <a:ext uri="{FF2B5EF4-FFF2-40B4-BE49-F238E27FC236}">
                <a16:creationId xmlns:a16="http://schemas.microsoft.com/office/drawing/2014/main" id="{FE9C8A70-6DB9-6D28-1B8C-087682AD86E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195078" y="2706482"/>
            <a:ext cx="2593438" cy="2437018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C225DAC2-D90B-D4BE-4739-6982B5139F0B}"/>
              </a:ext>
            </a:extLst>
          </p:cNvPr>
          <p:cNvSpPr txBox="1"/>
          <p:nvPr/>
        </p:nvSpPr>
        <p:spPr>
          <a:xfrm>
            <a:off x="1701800" y="152989"/>
            <a:ext cx="1758815" cy="461665"/>
          </a:xfrm>
          <a:prstGeom prst="rect">
            <a:avLst/>
          </a:prstGeom>
        </p:spPr>
        <p:txBody>
          <a:bodyPr wrap="none" rtlCol="0">
            <a:spAutoFit/>
          </a:bodyPr>
          <a:lstStyle/>
          <a:p>
            <a:pPr algn="l"/>
            <a:r>
              <a:rPr lang="en-US" sz="1200" dirty="0">
                <a:latin typeface="Helvetica Neue Light" panose="02000403000000020004" pitchFamily="2" charset="0"/>
                <a:ea typeface="Helvetica Neue Light" panose="02000403000000020004" pitchFamily="2" charset="0"/>
                <a:cs typeface="Helvetica" charset="0"/>
              </a:rPr>
              <a:t>Semantic similarity</a:t>
            </a:r>
          </a:p>
          <a:p>
            <a:pPr algn="l"/>
            <a:r>
              <a:rPr lang="en-US" sz="1200" dirty="0">
                <a:latin typeface="Helvetica Neue Light" panose="02000403000000020004" pitchFamily="2" charset="0"/>
                <a:ea typeface="Helvetica Neue Light" panose="02000403000000020004" pitchFamily="2" charset="0"/>
                <a:cs typeface="Helvetica" charset="0"/>
              </a:rPr>
              <a:t>text-embedding-3-large</a:t>
            </a:r>
          </a:p>
        </p:txBody>
      </p:sp>
      <p:pic>
        <p:nvPicPr>
          <p:cNvPr id="8" name="Picture 7" descr="A colorful squares with text overlay&#10;&#10;AI-generated content may be incorrect.">
            <a:extLst>
              <a:ext uri="{FF2B5EF4-FFF2-40B4-BE49-F238E27FC236}">
                <a16:creationId xmlns:a16="http://schemas.microsoft.com/office/drawing/2014/main" id="{83537AFD-6C72-B14E-B875-54666E258C7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384800" y="519472"/>
            <a:ext cx="2403716" cy="2143314"/>
          </a:xfrm>
          <a:prstGeom prst="rect">
            <a:avLst/>
          </a:prstGeom>
        </p:spPr>
      </p:pic>
      <p:pic>
        <p:nvPicPr>
          <p:cNvPr id="10" name="Picture 9" descr="A diagram of a cosine&#10;&#10;AI-generated content may be incorrect.">
            <a:extLst>
              <a:ext uri="{FF2B5EF4-FFF2-40B4-BE49-F238E27FC236}">
                <a16:creationId xmlns:a16="http://schemas.microsoft.com/office/drawing/2014/main" id="{1B50E406-A74F-E9BE-E398-5B4076E5B1B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614654"/>
            <a:ext cx="4645185" cy="3914191"/>
          </a:xfrm>
          <a:prstGeom prst="rect">
            <a:avLst/>
          </a:prstGeom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7C5A319D-C1EB-1AAF-9F01-30EF51C65213}"/>
              </a:ext>
            </a:extLst>
          </p:cNvPr>
          <p:cNvSpPr txBox="1"/>
          <p:nvPr/>
        </p:nvSpPr>
        <p:spPr>
          <a:xfrm>
            <a:off x="5384800" y="14111"/>
            <a:ext cx="2612959" cy="461665"/>
          </a:xfrm>
          <a:prstGeom prst="rect">
            <a:avLst/>
          </a:prstGeom>
        </p:spPr>
        <p:txBody>
          <a:bodyPr wrap="none" rtlCol="0">
            <a:spAutoFit/>
          </a:bodyPr>
          <a:lstStyle/>
          <a:p>
            <a:pPr algn="l"/>
            <a:r>
              <a:rPr lang="en-US" sz="1200" dirty="0">
                <a:latin typeface="Helvetica Neue Light" panose="02000403000000020004" pitchFamily="2" charset="0"/>
                <a:ea typeface="Helvetica Neue Light" panose="02000403000000020004" pitchFamily="2" charset="0"/>
                <a:cs typeface="Helvetica" charset="0"/>
              </a:rPr>
              <a:t>Brain pattern similarity</a:t>
            </a:r>
          </a:p>
          <a:p>
            <a:pPr algn="l"/>
            <a:r>
              <a:rPr lang="en-US" sz="1200" dirty="0">
                <a:latin typeface="Helvetica Neue Light" panose="02000403000000020004" pitchFamily="2" charset="0"/>
                <a:ea typeface="Helvetica Neue Light" panose="02000403000000020004" pitchFamily="2" charset="0"/>
                <a:cs typeface="Helvetica" charset="0"/>
              </a:rPr>
              <a:t>Forward inference (same topic order)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D04783D7-EF7F-E78B-799E-F59CBFEF1491}"/>
              </a:ext>
            </a:extLst>
          </p:cNvPr>
          <p:cNvSpPr txBox="1"/>
          <p:nvPr/>
        </p:nvSpPr>
        <p:spPr>
          <a:xfrm>
            <a:off x="5367867" y="2554111"/>
            <a:ext cx="2604496" cy="276999"/>
          </a:xfrm>
          <a:prstGeom prst="rect">
            <a:avLst/>
          </a:prstGeom>
        </p:spPr>
        <p:txBody>
          <a:bodyPr wrap="none" rtlCol="0">
            <a:spAutoFit/>
          </a:bodyPr>
          <a:lstStyle/>
          <a:p>
            <a:pPr algn="l"/>
            <a:r>
              <a:rPr lang="en-US" sz="1200" dirty="0">
                <a:latin typeface="Helvetica Neue Light" panose="02000403000000020004" pitchFamily="2" charset="0"/>
                <a:ea typeface="Helvetica Neue Light" panose="02000403000000020004" pitchFamily="2" charset="0"/>
                <a:cs typeface="Helvetica" charset="0"/>
              </a:rPr>
              <a:t>Reverse inference (same topic order)</a:t>
            </a:r>
          </a:p>
        </p:txBody>
      </p:sp>
    </p:spTree>
    <p:extLst>
      <p:ext uri="{BB962C8B-B14F-4D97-AF65-F5344CB8AC3E}">
        <p14:creationId xmlns:p14="http://schemas.microsoft.com/office/powerpoint/2010/main" val="257664606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02B5144-E6BA-3452-CA78-D689F8E6899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>
            <a:extLst>
              <a:ext uri="{FF2B5EF4-FFF2-40B4-BE49-F238E27FC236}">
                <a16:creationId xmlns:a16="http://schemas.microsoft.com/office/drawing/2014/main" id="{68030B1A-3AB1-B12E-93F3-AFFCE2580CFE}"/>
              </a:ext>
            </a:extLst>
          </p:cNvPr>
          <p:cNvSpPr txBox="1"/>
          <p:nvPr/>
        </p:nvSpPr>
        <p:spPr>
          <a:xfrm>
            <a:off x="279400" y="164278"/>
            <a:ext cx="1758815" cy="461665"/>
          </a:xfrm>
          <a:prstGeom prst="rect">
            <a:avLst/>
          </a:prstGeom>
        </p:spPr>
        <p:txBody>
          <a:bodyPr wrap="none" rtlCol="0">
            <a:spAutoFit/>
          </a:bodyPr>
          <a:lstStyle/>
          <a:p>
            <a:pPr algn="l"/>
            <a:r>
              <a:rPr lang="en-US" sz="1200" dirty="0">
                <a:latin typeface="Helvetica Neue Light" panose="02000403000000020004" pitchFamily="2" charset="0"/>
                <a:ea typeface="Helvetica Neue Light" panose="02000403000000020004" pitchFamily="2" charset="0"/>
                <a:cs typeface="Helvetica" charset="0"/>
              </a:rPr>
              <a:t>Semantic similarity</a:t>
            </a:r>
          </a:p>
          <a:p>
            <a:pPr algn="l"/>
            <a:r>
              <a:rPr lang="en-US" sz="1200" dirty="0">
                <a:latin typeface="Helvetica Neue Light" panose="02000403000000020004" pitchFamily="2" charset="0"/>
                <a:ea typeface="Helvetica Neue Light" panose="02000403000000020004" pitchFamily="2" charset="0"/>
                <a:cs typeface="Helvetica" charset="0"/>
              </a:rPr>
              <a:t>text-embedding-3-large</a:t>
            </a:r>
          </a:p>
        </p:txBody>
      </p:sp>
      <p:pic>
        <p:nvPicPr>
          <p:cNvPr id="3" name="Picture 2" descr="A diagram of a body mass index&#10;&#10;AI-generated content may be incorrect.">
            <a:extLst>
              <a:ext uri="{FF2B5EF4-FFF2-40B4-BE49-F238E27FC236}">
                <a16:creationId xmlns:a16="http://schemas.microsoft.com/office/drawing/2014/main" id="{95BB9D27-69AE-3B58-2A50-862A29557BF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192569" y="0"/>
            <a:ext cx="5423038" cy="51435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6951239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FA2B021-976D-7BA3-EBB3-8C7D44CC63B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Semantic similarity does not correlate with brain similarity</a:t>
            </a:r>
          </a:p>
        </p:txBody>
      </p:sp>
      <p:pic>
        <p:nvPicPr>
          <p:cNvPr id="5" name="Picture 4" descr="A screenshot of a graph&#10;&#10;AI-generated content may be incorrect.">
            <a:extLst>
              <a:ext uri="{FF2B5EF4-FFF2-40B4-BE49-F238E27FC236}">
                <a16:creationId xmlns:a16="http://schemas.microsoft.com/office/drawing/2014/main" id="{219CF060-E08C-1D8A-4165-DFA6E0652F6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9668" y="1261534"/>
            <a:ext cx="3833541" cy="3670300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B23EEDEC-35AC-B30B-1A30-2AD012C4ABCC}"/>
              </a:ext>
            </a:extLst>
          </p:cNvPr>
          <p:cNvSpPr txBox="1"/>
          <p:nvPr/>
        </p:nvSpPr>
        <p:spPr>
          <a:xfrm>
            <a:off x="889000" y="953757"/>
            <a:ext cx="881973" cy="307777"/>
          </a:xfrm>
          <a:prstGeom prst="rect">
            <a:avLst/>
          </a:prstGeom>
        </p:spPr>
        <p:txBody>
          <a:bodyPr wrap="none" rtlCol="0">
            <a:spAutoFit/>
          </a:bodyPr>
          <a:lstStyle/>
          <a:p>
            <a:pPr algn="l"/>
            <a:r>
              <a:rPr lang="en-US" sz="1400" dirty="0">
                <a:latin typeface="Helvetica Neue Light" panose="02000403000000020004" pitchFamily="2" charset="0"/>
                <a:ea typeface="Helvetica Neue Light" panose="02000403000000020004" pitchFamily="2" charset="0"/>
                <a:cs typeface="Helvetica" charset="0"/>
              </a:rPr>
              <a:t>semantic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76DBCDD2-4D17-C540-3DC9-2B1173D3F2A4}"/>
              </a:ext>
            </a:extLst>
          </p:cNvPr>
          <p:cNvSpPr txBox="1"/>
          <p:nvPr/>
        </p:nvSpPr>
        <p:spPr>
          <a:xfrm>
            <a:off x="2023533" y="953757"/>
            <a:ext cx="768159" cy="307777"/>
          </a:xfrm>
          <a:prstGeom prst="rect">
            <a:avLst/>
          </a:prstGeom>
        </p:spPr>
        <p:txBody>
          <a:bodyPr wrap="none" rtlCol="0">
            <a:spAutoFit/>
          </a:bodyPr>
          <a:lstStyle/>
          <a:p>
            <a:pPr algn="l"/>
            <a:r>
              <a:rPr lang="en-US" sz="1400" dirty="0">
                <a:latin typeface="Helvetica Neue Light" panose="02000403000000020004" pitchFamily="2" charset="0"/>
                <a:ea typeface="Helvetica Neue Light" panose="02000403000000020004" pitchFamily="2" charset="0"/>
                <a:cs typeface="Helvetica" charset="0"/>
              </a:rPr>
              <a:t>forward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3172DC02-F07D-236A-0F2F-5B6F2B906AB3}"/>
              </a:ext>
            </a:extLst>
          </p:cNvPr>
          <p:cNvSpPr txBox="1"/>
          <p:nvPr/>
        </p:nvSpPr>
        <p:spPr>
          <a:xfrm>
            <a:off x="3293533" y="953757"/>
            <a:ext cx="742511" cy="307777"/>
          </a:xfrm>
          <a:prstGeom prst="rect">
            <a:avLst/>
          </a:prstGeom>
        </p:spPr>
        <p:txBody>
          <a:bodyPr wrap="none" rtlCol="0">
            <a:spAutoFit/>
          </a:bodyPr>
          <a:lstStyle/>
          <a:p>
            <a:pPr algn="l"/>
            <a:r>
              <a:rPr lang="en-US" sz="1400" dirty="0">
                <a:latin typeface="Helvetica Neue Light" panose="02000403000000020004" pitchFamily="2" charset="0"/>
                <a:ea typeface="Helvetica Neue Light" panose="02000403000000020004" pitchFamily="2" charset="0"/>
                <a:cs typeface="Helvetica" charset="0"/>
              </a:rPr>
              <a:t>reverse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003CD8F6-1A06-CD87-1A14-244E66936B58}"/>
              </a:ext>
            </a:extLst>
          </p:cNvPr>
          <p:cNvSpPr txBox="1"/>
          <p:nvPr/>
        </p:nvSpPr>
        <p:spPr>
          <a:xfrm>
            <a:off x="5012267" y="2156362"/>
            <a:ext cx="3831820" cy="94032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254"/>
              </a:lnSpc>
              <a:buNone/>
            </a:pPr>
            <a:r>
              <a:rPr lang="en-US" b="0" i="0" dirty="0">
                <a:effectLst/>
                <a:latin typeface="Menlo" panose="020B0609030804020204" pitchFamily="49" charset="0"/>
              </a:rPr>
              <a:t>1.0000 -0.0515 0.0153</a:t>
            </a:r>
          </a:p>
          <a:p>
            <a:pPr algn="l">
              <a:lnSpc>
                <a:spcPts val="1254"/>
              </a:lnSpc>
              <a:buNone/>
            </a:pPr>
            <a:br>
              <a:rPr lang="en-US" b="0" i="0" dirty="0">
                <a:effectLst/>
                <a:latin typeface="Menlo" panose="020B0609030804020204" pitchFamily="49" charset="0"/>
              </a:rPr>
            </a:br>
            <a:r>
              <a:rPr lang="en-US" b="0" i="0" dirty="0">
                <a:effectLst/>
                <a:latin typeface="Menlo" panose="020B0609030804020204" pitchFamily="49" charset="0"/>
              </a:rPr>
              <a:t>-0.0515 1.0000 -0.0080</a:t>
            </a:r>
          </a:p>
          <a:p>
            <a:pPr algn="l">
              <a:lnSpc>
                <a:spcPts val="1254"/>
              </a:lnSpc>
              <a:buNone/>
            </a:pPr>
            <a:br>
              <a:rPr lang="en-US" b="0" i="0" dirty="0">
                <a:effectLst/>
                <a:latin typeface="Menlo" panose="020B0609030804020204" pitchFamily="49" charset="0"/>
              </a:rPr>
            </a:br>
            <a:r>
              <a:rPr lang="en-US" b="0" i="0" dirty="0">
                <a:effectLst/>
                <a:latin typeface="Menlo" panose="020B0609030804020204" pitchFamily="49" charset="0"/>
              </a:rPr>
              <a:t>0.0153 -0.0080 1.0000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DD16BA05-1056-EB8F-734E-7164D337A5E5}"/>
              </a:ext>
            </a:extLst>
          </p:cNvPr>
          <p:cNvSpPr txBox="1"/>
          <p:nvPr/>
        </p:nvSpPr>
        <p:spPr>
          <a:xfrm>
            <a:off x="5469467" y="1684867"/>
            <a:ext cx="2126095" cy="400110"/>
          </a:xfrm>
          <a:prstGeom prst="rect">
            <a:avLst/>
          </a:prstGeom>
        </p:spPr>
        <p:txBody>
          <a:bodyPr wrap="none" rtlCol="0">
            <a:spAutoFit/>
          </a:bodyPr>
          <a:lstStyle/>
          <a:p>
            <a:pPr algn="l"/>
            <a:r>
              <a:rPr lang="en-US" sz="2000" dirty="0">
                <a:latin typeface="Helvetica Neue Light" panose="02000403000000020004" pitchFamily="2" charset="0"/>
                <a:ea typeface="Helvetica Neue Light" panose="02000403000000020004" pitchFamily="2" charset="0"/>
                <a:cs typeface="Helvetica" charset="0"/>
              </a:rPr>
              <a:t>Correlation matrix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F6E1C284-0705-7B67-4558-FEA048EA3173}"/>
              </a:ext>
            </a:extLst>
          </p:cNvPr>
          <p:cNvSpPr txBox="1"/>
          <p:nvPr/>
        </p:nvSpPr>
        <p:spPr>
          <a:xfrm>
            <a:off x="4770793" y="4316619"/>
            <a:ext cx="3849131" cy="400110"/>
          </a:xfrm>
          <a:prstGeom prst="rect">
            <a:avLst/>
          </a:prstGeom>
        </p:spPr>
        <p:txBody>
          <a:bodyPr wrap="none" rtlCol="0">
            <a:spAutoFit/>
          </a:bodyPr>
          <a:lstStyle/>
          <a:p>
            <a:pPr algn="l"/>
            <a:r>
              <a:rPr lang="en-US" sz="2000" dirty="0">
                <a:latin typeface="Helvetica Neue Light" panose="02000403000000020004" pitchFamily="2" charset="0"/>
                <a:ea typeface="Helvetica Neue Light" panose="02000403000000020004" pitchFamily="2" charset="0"/>
                <a:cs typeface="Helvetica" charset="0"/>
              </a:rPr>
              <a:t>Note: did not do brain cosine sim</a:t>
            </a:r>
          </a:p>
        </p:txBody>
      </p:sp>
    </p:spTree>
    <p:extLst>
      <p:ext uri="{BB962C8B-B14F-4D97-AF65-F5344CB8AC3E}">
        <p14:creationId xmlns:p14="http://schemas.microsoft.com/office/powerpoint/2010/main" val="368327323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FB26FB9-7ECE-FCCB-BA6B-2B761268932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Brain topic similarity shows meaningful structure for both forward and reverse inference maps</a:t>
            </a:r>
          </a:p>
        </p:txBody>
      </p:sp>
      <p:pic>
        <p:nvPicPr>
          <p:cNvPr id="5" name="Picture 4" descr="A screen shot of a data visualization&#10;&#10;AI-generated content may be incorrect.">
            <a:extLst>
              <a:ext uri="{FF2B5EF4-FFF2-40B4-BE49-F238E27FC236}">
                <a16:creationId xmlns:a16="http://schemas.microsoft.com/office/drawing/2014/main" id="{7952066E-75C4-0D1A-BF50-6965C022E8F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3565" y="846508"/>
            <a:ext cx="4418435" cy="4172656"/>
          </a:xfrm>
          <a:prstGeom prst="rect">
            <a:avLst/>
          </a:prstGeom>
        </p:spPr>
      </p:pic>
      <p:pic>
        <p:nvPicPr>
          <p:cNvPr id="7" name="Picture 6" descr="A close-up of a graph&#10;&#10;AI-generated content may be incorrect.">
            <a:extLst>
              <a:ext uri="{FF2B5EF4-FFF2-40B4-BE49-F238E27FC236}">
                <a16:creationId xmlns:a16="http://schemas.microsoft.com/office/drawing/2014/main" id="{65F7126C-8E5E-3855-A4CF-986AFBADFE4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400797" y="784340"/>
            <a:ext cx="4793657" cy="429699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284453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ln>
          <a:solidFill>
            <a:schemeClr val="tx1">
              <a:lumMod val="50000"/>
              <a:lumOff val="50000"/>
            </a:schemeClr>
          </a:solidFill>
        </a:ln>
      </a:spPr>
      <a:bodyPr wrap="square" rtlCol="0" anchor="ctr">
        <a:spAutoFit/>
      </a:bodyPr>
      <a:lstStyle>
        <a:defPPr algn="ctr">
          <a:defRPr sz="1200" dirty="0" smtClean="0">
            <a:solidFill>
              <a:prstClr val="black"/>
            </a:solidFill>
            <a:latin typeface="Helvetica Neue Light" charset="0"/>
          </a:defRPr>
        </a:defPPr>
      </a:lstStyle>
      <a:style>
        <a:lnRef idx="2">
          <a:schemeClr val="dk1"/>
        </a:lnRef>
        <a:fillRef idx="1">
          <a:schemeClr val="lt1"/>
        </a:fillRef>
        <a:effectRef idx="0">
          <a:schemeClr val="dk1"/>
        </a:effectRef>
        <a:fontRef idx="minor">
          <a:schemeClr val="dk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  <a:txDef>
      <a:spPr/>
      <a:bodyPr wrap="none" rtlCol="0">
        <a:spAutoFit/>
      </a:bodyPr>
      <a:lstStyle>
        <a:defPPr algn="l">
          <a:defRPr sz="2000" dirty="0" smtClean="0">
            <a:latin typeface="Helvetica Neue Light" panose="02000403000000020004" pitchFamily="2" charset="0"/>
            <a:ea typeface="Helvetica Neue Light" panose="02000403000000020004" pitchFamily="2" charset="0"/>
            <a:cs typeface="Helvetica" charset="0"/>
          </a:defRPr>
        </a:defPPr>
      </a:lstStyle>
    </a:tx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28074</TotalTime>
  <Words>355</Words>
  <Application>Microsoft Macintosh PowerPoint</Application>
  <PresentationFormat>On-screen Show (16:9)</PresentationFormat>
  <Paragraphs>48</Paragraphs>
  <Slides>7</Slides>
  <Notes>3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2" baseType="lpstr">
      <vt:lpstr>Arial</vt:lpstr>
      <vt:lpstr>Helvetica Neue</vt:lpstr>
      <vt:lpstr>Helvetica Neue Light</vt:lpstr>
      <vt:lpstr>Menlo</vt:lpstr>
      <vt:lpstr>Office Theme</vt:lpstr>
      <vt:lpstr>2026 Neurosynth topics vector embedding</vt:lpstr>
      <vt:lpstr>Workflow</vt:lpstr>
      <vt:lpstr>Embedding model</vt:lpstr>
      <vt:lpstr>PowerPoint Presentation</vt:lpstr>
      <vt:lpstr>PowerPoint Presentation</vt:lpstr>
      <vt:lpstr>Semantic similarity does not correlate with brain similarity</vt:lpstr>
      <vt:lpstr>Brain topic similarity shows meaningful structure for both forward and reverse inference maps</vt:lpstr>
    </vt:vector>
  </TitlesOfParts>
  <Company>The University of Colorado Boulder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ChoongWan Woo</dc:creator>
  <cp:lastModifiedBy>Tor D. Wager</cp:lastModifiedBy>
  <cp:revision>1135</cp:revision>
  <cp:lastPrinted>2017-10-19T16:19:42Z</cp:lastPrinted>
  <dcterms:created xsi:type="dcterms:W3CDTF">2013-04-03T17:34:10Z</dcterms:created>
  <dcterms:modified xsi:type="dcterms:W3CDTF">2026-04-07T20:45:51Z</dcterms:modified>
</cp:coreProperties>
</file>