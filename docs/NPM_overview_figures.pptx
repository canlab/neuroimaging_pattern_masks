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6465" r:id="rId2"/>
    <p:sldId id="6470" r:id="rId3"/>
    <p:sldId id="6471" r:id="rId4"/>
    <p:sldId id="6466" r:id="rId5"/>
    <p:sldId id="6467" r:id="rId6"/>
    <p:sldId id="6116" r:id="rId7"/>
    <p:sldId id="646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13"/>
    <p:restoredTop sz="94668"/>
  </p:normalViewPr>
  <p:slideViewPr>
    <p:cSldViewPr snapToGrid="0">
      <p:cViewPr>
        <p:scale>
          <a:sx n="104" d="100"/>
          <a:sy n="104" d="100"/>
        </p:scale>
        <p:origin x="880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EB9553-2855-D145-9FFC-5E31D373F49E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A60466-9CD0-9743-8E67-3484F9172E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14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Max correlation =</a:t>
            </a:r>
            <a:r>
              <a:rPr lang="en-US" baseline="0" dirty="0"/>
              <a:t> 0.2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A9CBD1-1F0D-034A-94B6-9921798D1D87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635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1F159-E871-3A92-D541-32E00EF7E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70EE2D-B41C-503A-56F2-C5F250CC20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EAA69-B129-8207-3EB6-89FC35EA4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6870B-0072-8A4C-B9A5-4F7EF709F657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FF154-3D85-9016-019E-D40BF71D0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23C58-ED7A-0021-F6C9-9EFE29235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40A0B-E38C-D041-8443-FA69F6898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50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E915E-EDBF-1B4F-206C-B37BEB982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36157-813F-34FC-2DDC-E7419F922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4A2DC-1302-F0C1-806B-50EF77925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6870B-0072-8A4C-B9A5-4F7EF709F657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9D6E9-5376-A575-52CD-A908E6861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803B2-FF18-6195-35EA-71109501E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40A0B-E38C-D041-8443-FA69F6898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669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2D2B2-CD94-8A58-BCF2-DE09416C1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81F4B3-593E-F707-F99C-CC6F828FB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6DAC3-A37C-960E-C545-2E7854C53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6870B-0072-8A4C-B9A5-4F7EF709F657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F1171-0666-C698-4426-E009D271B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7B545-1982-6DD8-6D40-C8BCDEFD6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40A0B-E38C-D041-8443-FA69F6898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504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E7331-1D90-4BD4-95D0-E4BA4083F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645E8-92E8-924D-EA88-2CEC986EE1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4FF27C-E835-F9E6-12F5-3BC521B743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5C6B77-DE91-6AE9-F429-A23D713BF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6870B-0072-8A4C-B9A5-4F7EF709F657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7701E-DFA2-78A0-880B-F873057E5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B1FAC7-9104-F02A-65CE-7103E8739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40A0B-E38C-D041-8443-FA69F6898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754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6ECD8-E31F-137B-2926-E833CD971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49EA92-7145-E899-5E87-996F27296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09048-22E6-C1D8-443B-AD5B47FCCD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B96A0D-942F-B12C-7F09-CFFF02DE7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50746D-7CD6-9B83-62ED-2602C660AC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9DE55F-7644-F5AB-5172-FD7833272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6870B-0072-8A4C-B9A5-4F7EF709F657}" type="datetimeFigureOut">
              <a:rPr lang="en-US" smtClean="0"/>
              <a:t>7/16/26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C5A586-387D-BD7F-8471-62679FA8A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2DCB15-3152-31EF-ABA8-CC109CB22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40A0B-E38C-D041-8443-FA69F6898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61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FE5E4-2856-2120-BFF4-4770EEF8F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B2FBF2-824A-58D9-04FB-4938A9A57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6870B-0072-8A4C-B9A5-4F7EF709F657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7482D-66BD-C398-F40C-1D2F2B990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B6B912-F6F3-521B-2E2A-F3A491459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40A0B-E38C-D041-8443-FA69F6898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049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82E719-958B-F413-139A-1D750F512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6870B-0072-8A4C-B9A5-4F7EF709F657}" type="datetimeFigureOut">
              <a:rPr lang="en-US" smtClean="0"/>
              <a:t>7/16/26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7D2DF1-4FF0-EACD-4CCB-F43809105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590FA-C38B-DF0C-BB87-4E86D30D7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40A0B-E38C-D041-8443-FA69F6898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175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466AD-1B7A-BD37-A0D6-F318F00B9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B3657-D95A-FF46-941A-4E2C314A3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9D1AC1-36E3-E301-8227-26681DC325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A8848D-5603-1987-7386-4D90458E2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6870B-0072-8A4C-B9A5-4F7EF709F657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7602DC-F320-6E35-193A-59FCB0742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9376A6-6E82-75D7-183C-778F47865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40A0B-E38C-D041-8443-FA69F6898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760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0F200-507E-BFA5-EC83-BC2FA0884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9D3B03-5474-C8AB-A630-29CFCE4205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4CAAC6-FA59-17E7-0ED4-FD75C20AE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0644B0-CE2E-57CF-D102-B9A1A2B37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6870B-0072-8A4C-B9A5-4F7EF709F657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D58211-38BF-AC87-DBFD-6AAFB0588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213F55-FA73-53E4-1A3F-58D46369D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40A0B-E38C-D041-8443-FA69F6898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152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5A0AA-F29A-3917-9C8A-3ED042B93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57E239-C956-1E36-6627-278FD6D5BB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56785-6575-68FF-17DD-E192FE1ED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6870B-0072-8A4C-B9A5-4F7EF709F657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D5B3E-75B9-B0AD-F2EE-FFF718E5B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A8F0B-1F7F-0A8D-6B60-B6A71A456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40A0B-E38C-D041-8443-FA69F6898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016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676154-DBB5-9950-EFD6-99279EF13D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6FB4BD-C047-8989-257C-17EBD73972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9175E-E4A9-BCB6-AA82-A2920EACE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6870B-0072-8A4C-B9A5-4F7EF709F657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EC2D0-4027-4322-9D0A-E468F569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FF955-096A-AFB7-2390-3A7C535FC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40A0B-E38C-D041-8443-FA69F6898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65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54281B-5AA3-02AC-E7AE-5F839C7EA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233AE-F250-F935-1EF3-3CE7D12CF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CAA6E-E13B-C2E0-913E-2864528C8E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56870B-0072-8A4C-B9A5-4F7EF709F657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94B94-D4E1-AFF7-2148-5EADC3608C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FD28B-5DBF-D9D5-B89A-DFC70B0C76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B40A0B-E38C-D041-8443-FA69F68989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38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34" Type="http://schemas.openxmlformats.org/officeDocument/2006/relationships/image" Target="../media/image38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33" Type="http://schemas.openxmlformats.org/officeDocument/2006/relationships/image" Target="../media/image37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29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32" Type="http://schemas.openxmlformats.org/officeDocument/2006/relationships/image" Target="../media/image36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31" Type="http://schemas.openxmlformats.org/officeDocument/2006/relationships/image" Target="../media/image35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Relationship Id="rId8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49.jpe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7.jpeg"/><Relationship Id="rId5" Type="http://schemas.openxmlformats.org/officeDocument/2006/relationships/image" Target="../media/image42.png"/><Relationship Id="rId15" Type="http://schemas.openxmlformats.org/officeDocument/2006/relationships/image" Target="../media/image51.jpeg"/><Relationship Id="rId10" Type="http://schemas.openxmlformats.org/officeDocument/2006/relationships/image" Target="../media/image46.jpeg"/><Relationship Id="rId4" Type="http://schemas.openxmlformats.org/officeDocument/2006/relationships/image" Target="../media/image41.png"/><Relationship Id="rId9" Type="http://schemas.openxmlformats.org/officeDocument/2006/relationships/hyperlink" Target="https://sites.dartmouth.edu/canlab/publications/" TargetMode="External"/><Relationship Id="rId14" Type="http://schemas.openxmlformats.org/officeDocument/2006/relationships/image" Target="../media/image50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8">
            <a:extLst>
              <a:ext uri="{FF2B5EF4-FFF2-40B4-BE49-F238E27FC236}">
                <a16:creationId xmlns:a16="http://schemas.microsoft.com/office/drawing/2014/main" id="{4B42759D-0977-8F41-D453-08030F3B8D40}"/>
              </a:ext>
            </a:extLst>
          </p:cNvPr>
          <p:cNvSpPr/>
          <p:nvPr/>
        </p:nvSpPr>
        <p:spPr>
          <a:xfrm>
            <a:off x="4048835" y="3011605"/>
            <a:ext cx="850207" cy="542024"/>
          </a:xfrm>
          <a:custGeom>
            <a:avLst/>
            <a:gdLst>
              <a:gd name="csX0" fmla="*/ 957650 w 957650"/>
              <a:gd name="csY0" fmla="*/ 557067 h 557067"/>
              <a:gd name="csX1" fmla="*/ 0 w 957650"/>
              <a:gd name="csY1" fmla="*/ 0 h 55706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7650" h="557067">
                <a:moveTo>
                  <a:pt x="957650" y="557067"/>
                </a:moveTo>
                <a:cubicBezTo>
                  <a:pt x="555324" y="512171"/>
                  <a:pt x="402326" y="44461"/>
                  <a:pt x="0" y="0"/>
                </a:cubicBezTo>
              </a:path>
            </a:pathLst>
          </a:custGeom>
          <a:noFill/>
          <a:ln w="21791" cap="rnd">
            <a:gradFill>
              <a:gsLst>
                <a:gs pos="0">
                  <a:srgbClr val="E36A5C">
                    <a:alpha val="29804"/>
                  </a:srgbClr>
                </a:gs>
                <a:gs pos="50000">
                  <a:srgbClr val="E36A5C">
                    <a:alpha val="62353"/>
                  </a:srgbClr>
                </a:gs>
                <a:gs pos="100000">
                  <a:srgbClr val="E36A5C">
                    <a:alpha val="94902"/>
                  </a:srgbClr>
                </a:gs>
              </a:gsLst>
              <a:lin ang="0" scaled="1"/>
            </a:gradFill>
            <a:prstDash val="solid"/>
            <a:miter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711834-52B3-C3B2-1148-FE400DE5FA02}"/>
              </a:ext>
            </a:extLst>
          </p:cNvPr>
          <p:cNvSpPr/>
          <p:nvPr/>
        </p:nvSpPr>
        <p:spPr>
          <a:xfrm>
            <a:off x="4867078" y="3521666"/>
            <a:ext cx="63929" cy="63929"/>
          </a:xfrm>
          <a:prstGeom prst="ellipse">
            <a:avLst/>
          </a:prstGeom>
          <a:solidFill>
            <a:srgbClr val="E36A5C"/>
          </a:solidFill>
          <a:ln w="4358" cap="flat">
            <a:noFill/>
            <a:prstDash val="solid"/>
            <a:miter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DCD4D5CB-564F-9D07-234A-3D210BF4B2EE}"/>
              </a:ext>
            </a:extLst>
          </p:cNvPr>
          <p:cNvSpPr/>
          <p:nvPr/>
        </p:nvSpPr>
        <p:spPr>
          <a:xfrm>
            <a:off x="5371547" y="2171569"/>
            <a:ext cx="5811" cy="1110065"/>
          </a:xfrm>
          <a:custGeom>
            <a:avLst/>
            <a:gdLst>
              <a:gd name="csX0" fmla="*/ 0 w 4358"/>
              <a:gd name="csY0" fmla="*/ 832550 h 832549"/>
              <a:gd name="csX1" fmla="*/ 0 w 4358"/>
              <a:gd name="csY1" fmla="*/ 0 h 83254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58" h="832549">
                <a:moveTo>
                  <a:pt x="0" y="832550"/>
                </a:moveTo>
                <a:cubicBezTo>
                  <a:pt x="0" y="765859"/>
                  <a:pt x="0" y="66691"/>
                  <a:pt x="0" y="0"/>
                </a:cubicBezTo>
              </a:path>
            </a:pathLst>
          </a:custGeom>
          <a:noFill/>
          <a:ln w="21791" cap="rnd">
            <a:gradFill>
              <a:gsLst>
                <a:gs pos="0">
                  <a:srgbClr val="2FA4A0">
                    <a:alpha val="29804"/>
                  </a:srgbClr>
                </a:gs>
                <a:gs pos="50000">
                  <a:srgbClr val="2FA4A0">
                    <a:alpha val="62353"/>
                  </a:srgbClr>
                </a:gs>
                <a:gs pos="100000">
                  <a:srgbClr val="2FA4A0">
                    <a:alpha val="94902"/>
                  </a:srgbClr>
                </a:gs>
              </a:gsLst>
              <a:lin ang="0" scaled="1"/>
            </a:gradFill>
            <a:prstDash val="solid"/>
            <a:miter/>
          </a:ln>
        </p:spPr>
        <p:txBody>
          <a:bodyPr/>
          <a:lstStyle/>
          <a:p>
            <a:endParaRPr lang="en-US" sz="240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B3E4722-C20D-AF55-BD33-BC5D9D129FA7}"/>
              </a:ext>
            </a:extLst>
          </p:cNvPr>
          <p:cNvSpPr/>
          <p:nvPr/>
        </p:nvSpPr>
        <p:spPr>
          <a:xfrm>
            <a:off x="5339582" y="3249670"/>
            <a:ext cx="63929" cy="63929"/>
          </a:xfrm>
          <a:prstGeom prst="ellipse">
            <a:avLst/>
          </a:prstGeom>
          <a:solidFill>
            <a:srgbClr val="2FA4A0"/>
          </a:solidFill>
          <a:ln w="4358" cap="flat">
            <a:noFill/>
            <a:prstDash val="solid"/>
            <a:miter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BA5EA020-195B-6879-0493-FEE337605B29}"/>
              </a:ext>
            </a:extLst>
          </p:cNvPr>
          <p:cNvSpPr/>
          <p:nvPr/>
        </p:nvSpPr>
        <p:spPr>
          <a:xfrm>
            <a:off x="5844052" y="2984204"/>
            <a:ext cx="925344" cy="569425"/>
          </a:xfrm>
          <a:custGeom>
            <a:avLst/>
            <a:gdLst>
              <a:gd name="csX0" fmla="*/ 0 w 957650"/>
              <a:gd name="csY0" fmla="*/ 557067 h 557067"/>
              <a:gd name="csX1" fmla="*/ 957650 w 957650"/>
              <a:gd name="csY1" fmla="*/ 0 h 55706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57650" h="557067">
                <a:moveTo>
                  <a:pt x="0" y="557067"/>
                </a:moveTo>
                <a:cubicBezTo>
                  <a:pt x="402326" y="512171"/>
                  <a:pt x="555324" y="44461"/>
                  <a:pt x="957650" y="0"/>
                </a:cubicBezTo>
              </a:path>
            </a:pathLst>
          </a:custGeom>
          <a:noFill/>
          <a:ln w="21791" cap="rnd">
            <a:gradFill>
              <a:gsLst>
                <a:gs pos="0">
                  <a:srgbClr val="E0A44E">
                    <a:alpha val="29804"/>
                  </a:srgbClr>
                </a:gs>
                <a:gs pos="50000">
                  <a:srgbClr val="E0A44E">
                    <a:alpha val="62353"/>
                  </a:srgbClr>
                </a:gs>
                <a:gs pos="100000">
                  <a:srgbClr val="E0A44E">
                    <a:alpha val="94902"/>
                  </a:srgbClr>
                </a:gs>
              </a:gsLst>
              <a:lin ang="0" scaled="1"/>
            </a:gradFill>
            <a:prstDash val="solid"/>
            <a:miter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F5C6415-3B18-6E69-D331-ECA906CBAEBE}"/>
              </a:ext>
            </a:extLst>
          </p:cNvPr>
          <p:cNvSpPr/>
          <p:nvPr/>
        </p:nvSpPr>
        <p:spPr>
          <a:xfrm>
            <a:off x="5812086" y="3521666"/>
            <a:ext cx="63929" cy="63929"/>
          </a:xfrm>
          <a:prstGeom prst="ellipse">
            <a:avLst/>
          </a:prstGeom>
          <a:solidFill>
            <a:srgbClr val="E0A44E"/>
          </a:solidFill>
          <a:ln w="4358" cap="flat">
            <a:noFill/>
            <a:prstDash val="solid"/>
            <a:miter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FB6387D-20FC-FABB-DAE1-1E138BD80785}"/>
              </a:ext>
            </a:extLst>
          </p:cNvPr>
          <p:cNvSpPr/>
          <p:nvPr/>
        </p:nvSpPr>
        <p:spPr>
          <a:xfrm>
            <a:off x="6781247" y="2960301"/>
            <a:ext cx="69741" cy="69741"/>
          </a:xfrm>
          <a:prstGeom prst="ellipse">
            <a:avLst/>
          </a:prstGeom>
          <a:solidFill>
            <a:srgbClr val="FFFFFF"/>
          </a:solidFill>
          <a:ln w="13075" cap="flat">
            <a:solidFill>
              <a:srgbClr val="E0A44E"/>
            </a:solidFill>
            <a:prstDash val="solid"/>
            <a:miter/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A0E62E0-6A65-FCAF-1578-68CC2E860569}"/>
              </a:ext>
            </a:extLst>
          </p:cNvPr>
          <p:cNvSpPr/>
          <p:nvPr/>
        </p:nvSpPr>
        <p:spPr>
          <a:xfrm>
            <a:off x="4799118" y="3888292"/>
            <a:ext cx="63929" cy="63929"/>
          </a:xfrm>
          <a:prstGeom prst="ellipse">
            <a:avLst/>
          </a:prstGeom>
          <a:solidFill>
            <a:srgbClr val="7E6BC4"/>
          </a:solidFill>
          <a:ln w="4358" cap="flat">
            <a:noFill/>
            <a:prstDash val="solid"/>
            <a:miter/>
          </a:ln>
        </p:spPr>
        <p:txBody>
          <a:bodyPr/>
          <a:lstStyle/>
          <a:p>
            <a:endParaRPr lang="en-US" sz="2400"/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62EE97DA-D739-D862-5020-4FEC031A9C98}"/>
              </a:ext>
            </a:extLst>
          </p:cNvPr>
          <p:cNvGrpSpPr/>
          <p:nvPr/>
        </p:nvGrpSpPr>
        <p:grpSpPr>
          <a:xfrm>
            <a:off x="3811977" y="3930514"/>
            <a:ext cx="1014407" cy="260236"/>
            <a:chOff x="2858988" y="2947916"/>
            <a:chExt cx="760807" cy="195179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142BDB24-6E28-41D4-97E5-090750BA6322}"/>
                </a:ext>
              </a:extLst>
            </p:cNvPr>
            <p:cNvSpPr/>
            <p:nvPr/>
          </p:nvSpPr>
          <p:spPr>
            <a:xfrm>
              <a:off x="2893741" y="2947916"/>
              <a:ext cx="726054" cy="171638"/>
            </a:xfrm>
            <a:custGeom>
              <a:avLst/>
              <a:gdLst>
                <a:gd name="csX0" fmla="*/ 1465462 w 1465461"/>
                <a:gd name="csY0" fmla="*/ 0 h 96767"/>
                <a:gd name="csX1" fmla="*/ 0 w 1465461"/>
                <a:gd name="csY1" fmla="*/ 96768 h 967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65461" h="96767">
                  <a:moveTo>
                    <a:pt x="1465462" y="0"/>
                  </a:moveTo>
                  <a:cubicBezTo>
                    <a:pt x="849985" y="7846"/>
                    <a:pt x="615477" y="89357"/>
                    <a:pt x="0" y="96768"/>
                  </a:cubicBezTo>
                </a:path>
              </a:pathLst>
            </a:custGeom>
            <a:noFill/>
            <a:ln w="21791" cap="rnd">
              <a:gradFill>
                <a:gsLst>
                  <a:gs pos="0">
                    <a:srgbClr val="7E6BC4">
                      <a:alpha val="29804"/>
                    </a:srgbClr>
                  </a:gs>
                  <a:gs pos="50000">
                    <a:srgbClr val="7E6BC4">
                      <a:alpha val="62353"/>
                    </a:srgbClr>
                  </a:gs>
                  <a:gs pos="100000">
                    <a:srgbClr val="7E6BC4">
                      <a:alpha val="94902"/>
                    </a:srgbClr>
                  </a:gs>
                </a:gsLst>
                <a:lin ang="0" scaled="1"/>
              </a:gradFill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AD6217B-EEA3-C2A0-0077-4B591A43D325}"/>
                </a:ext>
              </a:extLst>
            </p:cNvPr>
            <p:cNvSpPr/>
            <p:nvPr/>
          </p:nvSpPr>
          <p:spPr>
            <a:xfrm>
              <a:off x="2858988" y="3090789"/>
              <a:ext cx="52306" cy="52306"/>
            </a:xfrm>
            <a:prstGeom prst="ellipse">
              <a:avLst/>
            </a:prstGeom>
            <a:solidFill>
              <a:srgbClr val="FFFFFF"/>
            </a:solidFill>
            <a:ln w="13075" cap="flat">
              <a:solidFill>
                <a:srgbClr val="7E6BC4"/>
              </a:solidFill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</p:grpSp>
      <p:sp>
        <p:nvSpPr>
          <p:cNvPr id="21" name="Freeform 20">
            <a:extLst>
              <a:ext uri="{FF2B5EF4-FFF2-40B4-BE49-F238E27FC236}">
                <a16:creationId xmlns:a16="http://schemas.microsoft.com/office/drawing/2014/main" id="{0A0D06C1-4344-0C45-E7A7-D4EC5EC31B0B}"/>
              </a:ext>
            </a:extLst>
          </p:cNvPr>
          <p:cNvSpPr/>
          <p:nvPr/>
        </p:nvSpPr>
        <p:spPr>
          <a:xfrm>
            <a:off x="5916703" y="3918857"/>
            <a:ext cx="1286986" cy="262850"/>
          </a:xfrm>
          <a:custGeom>
            <a:avLst/>
            <a:gdLst>
              <a:gd name="csX0" fmla="*/ 0 w 1465461"/>
              <a:gd name="csY0" fmla="*/ 0 h 96767"/>
              <a:gd name="csX1" fmla="*/ 1465462 w 1465461"/>
              <a:gd name="csY1" fmla="*/ 96768 h 9676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65461" h="96767">
                <a:moveTo>
                  <a:pt x="0" y="0"/>
                </a:moveTo>
                <a:cubicBezTo>
                  <a:pt x="615477" y="7846"/>
                  <a:pt x="849985" y="89357"/>
                  <a:pt x="1465462" y="96768"/>
                </a:cubicBezTo>
              </a:path>
            </a:pathLst>
          </a:custGeom>
          <a:noFill/>
          <a:ln w="21791" cap="rnd">
            <a:gradFill>
              <a:gsLst>
                <a:gs pos="0">
                  <a:srgbClr val="4C86C6">
                    <a:alpha val="29804"/>
                  </a:srgbClr>
                </a:gs>
                <a:gs pos="50000">
                  <a:srgbClr val="4C86C6">
                    <a:alpha val="62353"/>
                  </a:srgbClr>
                </a:gs>
                <a:gs pos="100000">
                  <a:srgbClr val="4C86C6">
                    <a:alpha val="94902"/>
                  </a:srgbClr>
                </a:gs>
              </a:gsLst>
              <a:lin ang="0" scaled="1"/>
            </a:gradFill>
            <a:prstDash val="solid"/>
            <a:miter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CC2E995-5A82-0394-001D-9D530520C96F}"/>
              </a:ext>
            </a:extLst>
          </p:cNvPr>
          <p:cNvSpPr/>
          <p:nvPr/>
        </p:nvSpPr>
        <p:spPr>
          <a:xfrm>
            <a:off x="5884736" y="3832020"/>
            <a:ext cx="63929" cy="63929"/>
          </a:xfrm>
          <a:prstGeom prst="ellipse">
            <a:avLst/>
          </a:prstGeom>
          <a:solidFill>
            <a:srgbClr val="4C86C6"/>
          </a:solidFill>
          <a:ln w="4358" cap="flat">
            <a:noFill/>
            <a:prstDash val="solid"/>
            <a:miter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111D853-7655-4840-BE0B-80C0C21C09A8}"/>
              </a:ext>
            </a:extLst>
          </p:cNvPr>
          <p:cNvSpPr/>
          <p:nvPr/>
        </p:nvSpPr>
        <p:spPr>
          <a:xfrm>
            <a:off x="7175118" y="4145633"/>
            <a:ext cx="69741" cy="69741"/>
          </a:xfrm>
          <a:prstGeom prst="ellipse">
            <a:avLst/>
          </a:prstGeom>
          <a:solidFill>
            <a:srgbClr val="FFFFFF"/>
          </a:solidFill>
          <a:ln w="13075" cap="flat">
            <a:solidFill>
              <a:srgbClr val="4C86C6"/>
            </a:solidFill>
            <a:prstDash val="solid"/>
            <a:miter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0FC523F-A000-AD9A-D500-8AFBA273E199}"/>
              </a:ext>
            </a:extLst>
          </p:cNvPr>
          <p:cNvSpPr/>
          <p:nvPr/>
        </p:nvSpPr>
        <p:spPr>
          <a:xfrm>
            <a:off x="4974016" y="4201654"/>
            <a:ext cx="63929" cy="63929"/>
          </a:xfrm>
          <a:prstGeom prst="ellipse">
            <a:avLst/>
          </a:prstGeom>
          <a:solidFill>
            <a:srgbClr val="5AAE7A"/>
          </a:solidFill>
          <a:ln w="4358" cap="flat">
            <a:noFill/>
            <a:prstDash val="solid"/>
            <a:miter/>
          </a:ln>
        </p:spPr>
        <p:txBody>
          <a:bodyPr/>
          <a:lstStyle/>
          <a:p>
            <a:endParaRPr lang="en-US" sz="2400"/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5A5CAE9-680B-460D-1067-544C264635E2}"/>
              </a:ext>
            </a:extLst>
          </p:cNvPr>
          <p:cNvGrpSpPr/>
          <p:nvPr/>
        </p:nvGrpSpPr>
        <p:grpSpPr>
          <a:xfrm>
            <a:off x="3924353" y="4233619"/>
            <a:ext cx="1081627" cy="1211032"/>
            <a:chOff x="2943265" y="3175214"/>
            <a:chExt cx="811220" cy="908274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84520FCA-3301-0039-BAB6-09EE5CBD65B3}"/>
                </a:ext>
              </a:extLst>
            </p:cNvPr>
            <p:cNvSpPr/>
            <p:nvPr/>
          </p:nvSpPr>
          <p:spPr>
            <a:xfrm>
              <a:off x="3002507" y="3175214"/>
              <a:ext cx="751978" cy="857699"/>
            </a:xfrm>
            <a:custGeom>
              <a:avLst/>
              <a:gdLst>
                <a:gd name="csX0" fmla="*/ 826011 w 826011"/>
                <a:gd name="csY0" fmla="*/ 0 h 916240"/>
                <a:gd name="csX1" fmla="*/ 0 w 826011"/>
                <a:gd name="csY1" fmla="*/ 916241 h 9162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26011" h="916240">
                  <a:moveTo>
                    <a:pt x="826011" y="0"/>
                  </a:moveTo>
                  <a:cubicBezTo>
                    <a:pt x="479043" y="73229"/>
                    <a:pt x="346968" y="843011"/>
                    <a:pt x="0" y="916241"/>
                  </a:cubicBezTo>
                </a:path>
              </a:pathLst>
            </a:custGeom>
            <a:noFill/>
            <a:ln w="21791" cap="rnd">
              <a:gradFill>
                <a:gsLst>
                  <a:gs pos="0">
                    <a:srgbClr val="5AAE7A">
                      <a:alpha val="29804"/>
                    </a:srgbClr>
                  </a:gs>
                  <a:gs pos="50000">
                    <a:srgbClr val="5AAE7A">
                      <a:alpha val="62353"/>
                    </a:srgbClr>
                  </a:gs>
                  <a:gs pos="100000">
                    <a:srgbClr val="5AAE7A">
                      <a:alpha val="94902"/>
                    </a:srgbClr>
                  </a:gs>
                </a:gsLst>
                <a:lin ang="0" scaled="1"/>
              </a:gradFill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1EA0126-5D13-854E-E3E6-67594B6F173F}"/>
                </a:ext>
              </a:extLst>
            </p:cNvPr>
            <p:cNvSpPr/>
            <p:nvPr/>
          </p:nvSpPr>
          <p:spPr>
            <a:xfrm>
              <a:off x="2943265" y="4031182"/>
              <a:ext cx="52306" cy="52306"/>
            </a:xfrm>
            <a:prstGeom prst="ellipse">
              <a:avLst/>
            </a:prstGeom>
            <a:solidFill>
              <a:srgbClr val="FFFFFF"/>
            </a:solidFill>
            <a:ln w="13075" cap="flat">
              <a:solidFill>
                <a:srgbClr val="5AAE7A"/>
              </a:solidFill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</p:grpSp>
      <p:sp>
        <p:nvSpPr>
          <p:cNvPr id="27" name="Freeform 26">
            <a:extLst>
              <a:ext uri="{FF2B5EF4-FFF2-40B4-BE49-F238E27FC236}">
                <a16:creationId xmlns:a16="http://schemas.microsoft.com/office/drawing/2014/main" id="{C3B77763-F0D4-AFEE-BB3B-FB674B9C9496}"/>
              </a:ext>
            </a:extLst>
          </p:cNvPr>
          <p:cNvSpPr/>
          <p:nvPr/>
        </p:nvSpPr>
        <p:spPr>
          <a:xfrm>
            <a:off x="5737114" y="4233619"/>
            <a:ext cx="1101348" cy="1221653"/>
          </a:xfrm>
          <a:custGeom>
            <a:avLst/>
            <a:gdLst>
              <a:gd name="csX0" fmla="*/ 0 w 826011"/>
              <a:gd name="csY0" fmla="*/ 0 h 916240"/>
              <a:gd name="csX1" fmla="*/ 826011 w 826011"/>
              <a:gd name="csY1" fmla="*/ 916241 h 91624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26011" h="916240">
                <a:moveTo>
                  <a:pt x="0" y="0"/>
                </a:moveTo>
                <a:cubicBezTo>
                  <a:pt x="346968" y="73229"/>
                  <a:pt x="479043" y="843011"/>
                  <a:pt x="826011" y="916241"/>
                </a:cubicBezTo>
              </a:path>
            </a:pathLst>
          </a:custGeom>
          <a:noFill/>
          <a:ln w="21791" cap="rnd">
            <a:gradFill>
              <a:gsLst>
                <a:gs pos="0">
                  <a:srgbClr val="8792A6">
                    <a:alpha val="29804"/>
                  </a:srgbClr>
                </a:gs>
                <a:gs pos="50000">
                  <a:srgbClr val="8792A6">
                    <a:alpha val="62353"/>
                  </a:srgbClr>
                </a:gs>
                <a:gs pos="100000">
                  <a:srgbClr val="8792A6">
                    <a:alpha val="94902"/>
                  </a:srgbClr>
                </a:gs>
              </a:gsLst>
              <a:lin ang="0" scaled="1"/>
            </a:gradFill>
            <a:prstDash val="solid"/>
            <a:miter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8D47D47-0599-CD26-60AE-F4870C42882A}"/>
              </a:ext>
            </a:extLst>
          </p:cNvPr>
          <p:cNvSpPr/>
          <p:nvPr/>
        </p:nvSpPr>
        <p:spPr>
          <a:xfrm>
            <a:off x="5705149" y="4201654"/>
            <a:ext cx="63929" cy="63929"/>
          </a:xfrm>
          <a:prstGeom prst="ellipse">
            <a:avLst/>
          </a:prstGeom>
          <a:solidFill>
            <a:srgbClr val="8792A6"/>
          </a:solidFill>
          <a:ln w="4358" cap="flat">
            <a:noFill/>
            <a:prstDash val="solid"/>
            <a:miter/>
          </a:ln>
        </p:spPr>
        <p:txBody>
          <a:bodyPr/>
          <a:lstStyle/>
          <a:p>
            <a:endParaRPr lang="en-US" sz="240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D548783-0F99-3FC3-5278-156BBBA133A0}"/>
              </a:ext>
            </a:extLst>
          </p:cNvPr>
          <p:cNvSpPr/>
          <p:nvPr/>
        </p:nvSpPr>
        <p:spPr>
          <a:xfrm>
            <a:off x="6803591" y="5420402"/>
            <a:ext cx="69741" cy="69741"/>
          </a:xfrm>
          <a:prstGeom prst="ellipse">
            <a:avLst/>
          </a:prstGeom>
          <a:solidFill>
            <a:srgbClr val="FFFFFF"/>
          </a:solidFill>
          <a:ln w="13075" cap="flat">
            <a:solidFill>
              <a:srgbClr val="8792A6"/>
            </a:solidFill>
            <a:prstDash val="solid"/>
            <a:miter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BDC3E42-5A46-9992-487A-8CBC0A644E3F}"/>
              </a:ext>
            </a:extLst>
          </p:cNvPr>
          <p:cNvSpPr txBox="1"/>
          <p:nvPr/>
        </p:nvSpPr>
        <p:spPr>
          <a:xfrm>
            <a:off x="239706" y="0"/>
            <a:ext cx="7385996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00" b="1" dirty="0">
                <a:ln/>
                <a:solidFill>
                  <a:srgbClr val="22314A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Neuroimaging Pattern Masks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550E43C-6D49-804B-C4A8-37D059C01E2E}"/>
              </a:ext>
            </a:extLst>
          </p:cNvPr>
          <p:cNvSpPr txBox="1"/>
          <p:nvPr/>
        </p:nvSpPr>
        <p:spPr>
          <a:xfrm>
            <a:off x="288878" y="661653"/>
            <a:ext cx="8102987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900" dirty="0">
                <a:ln/>
                <a:solidFill>
                  <a:srgbClr val="6B7089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A CANlab open library of brain signatures, atlases &amp; meta-analytic maps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8C4CF9E-88E6-A6F3-AD76-0E65424E8C65}"/>
              </a:ext>
            </a:extLst>
          </p:cNvPr>
          <p:cNvSpPr/>
          <p:nvPr/>
        </p:nvSpPr>
        <p:spPr>
          <a:xfrm>
            <a:off x="3978547" y="2976166"/>
            <a:ext cx="69741" cy="69741"/>
          </a:xfrm>
          <a:prstGeom prst="ellipse">
            <a:avLst/>
          </a:prstGeom>
          <a:solidFill>
            <a:srgbClr val="FFFFFF"/>
          </a:solidFill>
          <a:ln w="13075" cap="flat">
            <a:solidFill>
              <a:srgbClr val="E36A5C"/>
            </a:solidFill>
            <a:prstDash val="solid"/>
            <a:miter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7202F1F-73B2-E9B0-CF6C-AE379C0AFBE3}"/>
              </a:ext>
            </a:extLst>
          </p:cNvPr>
          <p:cNvSpPr/>
          <p:nvPr/>
        </p:nvSpPr>
        <p:spPr>
          <a:xfrm>
            <a:off x="5336676" y="2100303"/>
            <a:ext cx="69741" cy="69741"/>
          </a:xfrm>
          <a:prstGeom prst="ellipse">
            <a:avLst/>
          </a:prstGeom>
          <a:solidFill>
            <a:srgbClr val="FFFFFF"/>
          </a:solidFill>
          <a:ln w="13075" cap="flat">
            <a:solidFill>
              <a:srgbClr val="2FA4A0"/>
            </a:solidFill>
            <a:prstDash val="solid"/>
            <a:miter/>
          </a:ln>
        </p:spPr>
        <p:txBody>
          <a:bodyPr/>
          <a:lstStyle/>
          <a:p>
            <a:endParaRPr lang="en-US" sz="2400"/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F83A473B-0041-62EB-1FA7-961C7E4F62B9}"/>
              </a:ext>
            </a:extLst>
          </p:cNvPr>
          <p:cNvGrpSpPr/>
          <p:nvPr/>
        </p:nvGrpSpPr>
        <p:grpSpPr>
          <a:xfrm>
            <a:off x="206038" y="2334457"/>
            <a:ext cx="4004069" cy="979276"/>
            <a:chOff x="74518" y="1613682"/>
            <a:chExt cx="3003052" cy="734457"/>
          </a:xfrm>
        </p:grpSpPr>
        <p:grpSp>
          <p:nvGrpSpPr>
            <p:cNvPr id="32" name="Graphic 4">
              <a:extLst>
                <a:ext uri="{FF2B5EF4-FFF2-40B4-BE49-F238E27FC236}">
                  <a16:creationId xmlns:a16="http://schemas.microsoft.com/office/drawing/2014/main" id="{4C51E74C-C4EB-B4F7-E857-6FB17F753496}"/>
                </a:ext>
              </a:extLst>
            </p:cNvPr>
            <p:cNvGrpSpPr/>
            <p:nvPr/>
          </p:nvGrpSpPr>
          <p:grpSpPr>
            <a:xfrm>
              <a:off x="74518" y="1679509"/>
              <a:ext cx="1525614" cy="653834"/>
              <a:chOff x="1934866" y="1242286"/>
              <a:chExt cx="1525614" cy="653834"/>
            </a:xfrm>
          </p:grpSpPr>
          <p:sp>
            <p:nvSpPr>
              <p:cNvPr id="33" name="Rounded Rectangle 32">
                <a:extLst>
                  <a:ext uri="{FF2B5EF4-FFF2-40B4-BE49-F238E27FC236}">
                    <a16:creationId xmlns:a16="http://schemas.microsoft.com/office/drawing/2014/main" id="{FD7A209C-2222-04E9-6E4B-0D038815D165}"/>
                  </a:ext>
                </a:extLst>
              </p:cNvPr>
              <p:cNvSpPr/>
              <p:nvPr/>
            </p:nvSpPr>
            <p:spPr>
              <a:xfrm>
                <a:off x="1934866" y="1242286"/>
                <a:ext cx="1525614" cy="653834"/>
              </a:xfrm>
              <a:prstGeom prst="roundRect">
                <a:avLst>
                  <a:gd name="adj" fmla="val 14666"/>
                </a:avLst>
              </a:prstGeom>
              <a:solidFill>
                <a:srgbClr val="FFFFFF"/>
              </a:solidFill>
              <a:ln w="435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34" name="Rounded Rectangle 33">
                <a:extLst>
                  <a:ext uri="{FF2B5EF4-FFF2-40B4-BE49-F238E27FC236}">
                    <a16:creationId xmlns:a16="http://schemas.microsoft.com/office/drawing/2014/main" id="{14E43234-EB3A-2937-5428-49E1B28A5C51}"/>
                  </a:ext>
                </a:extLst>
              </p:cNvPr>
              <p:cNvSpPr/>
              <p:nvPr/>
            </p:nvSpPr>
            <p:spPr>
              <a:xfrm>
                <a:off x="1934866" y="1242286"/>
                <a:ext cx="43588" cy="653834"/>
              </a:xfrm>
              <a:prstGeom prst="roundRect">
                <a:avLst>
                  <a:gd name="adj" fmla="val 50000"/>
                </a:avLst>
              </a:prstGeom>
              <a:solidFill>
                <a:srgbClr val="E36A5C"/>
              </a:solidFill>
              <a:ln w="435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2400"/>
              </a:p>
            </p:txBody>
          </p:sp>
        </p:grp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E312974-16CF-C64A-9B68-34518EA69A58}"/>
                </a:ext>
              </a:extLst>
            </p:cNvPr>
            <p:cNvSpPr/>
            <p:nvPr/>
          </p:nvSpPr>
          <p:spPr>
            <a:xfrm>
              <a:off x="131183" y="1757969"/>
              <a:ext cx="496914" cy="496914"/>
            </a:xfrm>
            <a:prstGeom prst="ellipse">
              <a:avLst/>
            </a:prstGeom>
            <a:solidFill>
              <a:srgbClr val="E36A5C">
                <a:alpha val="14000"/>
              </a:srgbClr>
            </a:solidFill>
            <a:ln w="435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2AD3C34B-5AF4-7C0C-FBC4-AF76DD320A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2978" y="1779763"/>
              <a:ext cx="453325" cy="453325"/>
            </a:xfrm>
            <a:custGeom>
              <a:avLst/>
              <a:gdLst>
                <a:gd name="csX0" fmla="*/ 0 w 453325"/>
                <a:gd name="csY0" fmla="*/ 0 h 453325"/>
                <a:gd name="csX1" fmla="*/ 453325 w 453325"/>
                <a:gd name="csY1" fmla="*/ 0 h 453325"/>
                <a:gd name="csX2" fmla="*/ 453325 w 453325"/>
                <a:gd name="csY2" fmla="*/ 453325 h 453325"/>
                <a:gd name="csX3" fmla="*/ 0 w 453325"/>
                <a:gd name="csY3" fmla="*/ 453325 h 453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53325" h="453325">
                  <a:moveTo>
                    <a:pt x="0" y="0"/>
                  </a:moveTo>
                  <a:lnTo>
                    <a:pt x="453325" y="0"/>
                  </a:lnTo>
                  <a:lnTo>
                    <a:pt x="453325" y="453325"/>
                  </a:lnTo>
                  <a:lnTo>
                    <a:pt x="0" y="453325"/>
                  </a:lnTo>
                  <a:close/>
                </a:path>
              </a:pathLst>
            </a:custGeom>
          </p:spPr>
        </p:pic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218593C9-3789-391F-657C-C8E18D8FB7B0}"/>
                </a:ext>
              </a:extLst>
            </p:cNvPr>
            <p:cNvSpPr/>
            <p:nvPr/>
          </p:nvSpPr>
          <p:spPr>
            <a:xfrm>
              <a:off x="131183" y="1757969"/>
              <a:ext cx="496914" cy="496914"/>
            </a:xfrm>
            <a:prstGeom prst="ellipse">
              <a:avLst/>
            </a:prstGeom>
            <a:noFill/>
            <a:ln w="13075" cap="flat">
              <a:solidFill>
                <a:srgbClr val="E36A5C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A2DBB1B-C34C-BFD7-8D3A-0E9E151A6F04}"/>
                </a:ext>
              </a:extLst>
            </p:cNvPr>
            <p:cNvSpPr txBox="1"/>
            <p:nvPr/>
          </p:nvSpPr>
          <p:spPr>
            <a:xfrm>
              <a:off x="600898" y="1613682"/>
              <a:ext cx="2476672" cy="33470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100" b="1" dirty="0">
                  <a:ln/>
                  <a:solidFill>
                    <a:srgbClr val="22314A"/>
                  </a:solidFill>
                  <a:latin typeface="Helvetica Neue"/>
                  <a:ea typeface="Helvetica Neue"/>
                  <a:cs typeface="Helvetica Neue"/>
                  <a:sym typeface="Helvetica Neue"/>
                  <a:rtl val="0"/>
                </a:rPr>
                <a:t>Multivariate Signatures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069CADB-A1CA-8318-4B2F-EB533B416228}"/>
                </a:ext>
              </a:extLst>
            </p:cNvPr>
            <p:cNvSpPr txBox="1"/>
            <p:nvPr/>
          </p:nvSpPr>
          <p:spPr>
            <a:xfrm>
              <a:off x="621370" y="1888651"/>
              <a:ext cx="2012090" cy="25978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121920" tIns="60960" rIns="121920" bIns="6096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451" b="1" dirty="0">
                  <a:ln/>
                  <a:solidFill>
                    <a:srgbClr val="B8463B"/>
                  </a:solidFill>
                  <a:latin typeface="Helvetica Neue"/>
                  <a:ea typeface="Helvetica Neue"/>
                  <a:cs typeface="Helvetica Neue"/>
                  <a:sym typeface="Helvetica Neue"/>
                  <a:rtl val="0"/>
                </a:rPr>
                <a:t>29 predictive brain patterns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7E7ECF1-D93D-6552-1812-7DF9D5DF968C}"/>
                </a:ext>
              </a:extLst>
            </p:cNvPr>
            <p:cNvSpPr txBox="1"/>
            <p:nvPr/>
          </p:nvSpPr>
          <p:spPr>
            <a:xfrm>
              <a:off x="621370" y="2105765"/>
              <a:ext cx="2142302" cy="24237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300" dirty="0">
                  <a:ln/>
                  <a:solidFill>
                    <a:srgbClr val="8A93A6"/>
                  </a:solidFill>
                  <a:latin typeface="Helvetica Neue"/>
                  <a:ea typeface="Helvetica Neue"/>
                  <a:cs typeface="Helvetica Neue"/>
                  <a:sym typeface="Helvetica Neue"/>
                  <a:rtl val="0"/>
                </a:rPr>
                <a:t>NPS · SIIPS1 · PINES </a:t>
              </a:r>
              <a:r>
                <a:rPr lang="en-US" sz="1300" dirty="0">
                  <a:ln/>
                  <a:solidFill>
                    <a:srgbClr val="8A93A6"/>
                  </a:solidFill>
                  <a:latin typeface="Helvetica Neue"/>
                  <a:ea typeface="Helvetica Neue"/>
                  <a:cs typeface="Helvetica Neue"/>
                  <a:sym typeface="Helvetica Neue"/>
                  <a:rtl val="0"/>
                </a:rPr>
                <a:t>· </a:t>
              </a:r>
              <a:r>
                <a:rPr lang="en-US" sz="1300" dirty="0">
                  <a:ln/>
                  <a:solidFill>
                    <a:srgbClr val="8A93A6"/>
                  </a:solidFill>
                  <a:latin typeface="Helvetica Neue"/>
                  <a:ea typeface="Helvetica Neue"/>
                  <a:cs typeface="Helvetica Neue"/>
                  <a:sym typeface="Helvetica Neue"/>
                  <a:rtl val="0"/>
                </a:rPr>
                <a:t>VPS · FEPS</a:t>
              </a: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A458C231-4056-19CB-D811-A314609347A0}"/>
              </a:ext>
            </a:extLst>
          </p:cNvPr>
          <p:cNvGrpSpPr/>
          <p:nvPr/>
        </p:nvGrpSpPr>
        <p:grpSpPr>
          <a:xfrm>
            <a:off x="3741576" y="1084003"/>
            <a:ext cx="3882979" cy="897390"/>
            <a:chOff x="3300451" y="847601"/>
            <a:chExt cx="2912235" cy="673042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37A6C05A-CD0F-204E-3346-A39A6F3AF732}"/>
                </a:ext>
              </a:extLst>
            </p:cNvPr>
            <p:cNvSpPr/>
            <p:nvPr/>
          </p:nvSpPr>
          <p:spPr>
            <a:xfrm>
              <a:off x="3357116" y="944562"/>
              <a:ext cx="496914" cy="496914"/>
            </a:xfrm>
            <a:prstGeom prst="ellipse">
              <a:avLst/>
            </a:prstGeom>
            <a:solidFill>
              <a:srgbClr val="2FA4A0">
                <a:alpha val="14000"/>
              </a:srgbClr>
            </a:solidFill>
            <a:ln w="435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0EF3846-3206-15EC-2F62-1D4359699CAD}"/>
                </a:ext>
              </a:extLst>
            </p:cNvPr>
            <p:cNvSpPr/>
            <p:nvPr/>
          </p:nvSpPr>
          <p:spPr>
            <a:xfrm>
              <a:off x="3357116" y="944562"/>
              <a:ext cx="496914" cy="496914"/>
            </a:xfrm>
            <a:prstGeom prst="ellipse">
              <a:avLst/>
            </a:prstGeom>
            <a:noFill/>
            <a:ln w="13075" cap="flat">
              <a:solidFill>
                <a:srgbClr val="2FA4A0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3" name="Rounded Rectangle 42">
              <a:extLst>
                <a:ext uri="{FF2B5EF4-FFF2-40B4-BE49-F238E27FC236}">
                  <a16:creationId xmlns:a16="http://schemas.microsoft.com/office/drawing/2014/main" id="{3C5F852B-E926-13FB-2D9F-3DC96D78D44F}"/>
                </a:ext>
              </a:extLst>
            </p:cNvPr>
            <p:cNvSpPr/>
            <p:nvPr/>
          </p:nvSpPr>
          <p:spPr>
            <a:xfrm>
              <a:off x="3300451" y="866102"/>
              <a:ext cx="43588" cy="653834"/>
            </a:xfrm>
            <a:prstGeom prst="roundRect">
              <a:avLst>
                <a:gd name="adj" fmla="val 50000"/>
              </a:avLst>
            </a:prstGeom>
            <a:solidFill>
              <a:srgbClr val="2FA4A0"/>
            </a:solidFill>
            <a:ln w="435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B0BDE1F1-D226-86A4-7719-146E99182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90341" y="954926"/>
              <a:ext cx="453325" cy="453325"/>
            </a:xfrm>
            <a:custGeom>
              <a:avLst/>
              <a:gdLst>
                <a:gd name="csX0" fmla="*/ 0 w 453325"/>
                <a:gd name="csY0" fmla="*/ 0 h 453325"/>
                <a:gd name="csX1" fmla="*/ 453325 w 453325"/>
                <a:gd name="csY1" fmla="*/ 0 h 453325"/>
                <a:gd name="csX2" fmla="*/ 453325 w 453325"/>
                <a:gd name="csY2" fmla="*/ 453325 h 453325"/>
                <a:gd name="csX3" fmla="*/ 0 w 453325"/>
                <a:gd name="csY3" fmla="*/ 453325 h 453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53325" h="453325">
                  <a:moveTo>
                    <a:pt x="0" y="0"/>
                  </a:moveTo>
                  <a:lnTo>
                    <a:pt x="453325" y="0"/>
                  </a:lnTo>
                  <a:lnTo>
                    <a:pt x="453325" y="453325"/>
                  </a:lnTo>
                  <a:lnTo>
                    <a:pt x="0" y="453325"/>
                  </a:lnTo>
                  <a:close/>
                </a:path>
              </a:pathLst>
            </a:cu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6F66D87-5E47-4340-419F-B364129A3907}"/>
                </a:ext>
              </a:extLst>
            </p:cNvPr>
            <p:cNvSpPr txBox="1"/>
            <p:nvPr/>
          </p:nvSpPr>
          <p:spPr>
            <a:xfrm>
              <a:off x="3819530" y="847601"/>
              <a:ext cx="2393156" cy="33470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121920" tIns="60960" rIns="121920" bIns="6096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100" b="1" dirty="0">
                  <a:ln/>
                  <a:solidFill>
                    <a:srgbClr val="22314A"/>
                  </a:solidFill>
                  <a:latin typeface="Helvetica Neue"/>
                  <a:ea typeface="Helvetica Neue"/>
                  <a:cs typeface="Helvetica Neue"/>
                  <a:sym typeface="Helvetica Neue"/>
                  <a:rtl val="0"/>
                </a:rPr>
                <a:t>Atlases &amp; Parcellations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78DDD8C-E871-A16B-61B8-599880B5B793}"/>
                </a:ext>
              </a:extLst>
            </p:cNvPr>
            <p:cNvSpPr txBox="1"/>
            <p:nvPr/>
          </p:nvSpPr>
          <p:spPr>
            <a:xfrm>
              <a:off x="3819530" y="1088449"/>
              <a:ext cx="2171990" cy="25978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121920" tIns="60960" rIns="121920" bIns="6096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451" b="1" dirty="0">
                  <a:ln/>
                  <a:solidFill>
                    <a:srgbClr val="1F6E6B"/>
                  </a:solidFill>
                  <a:latin typeface="Helvetica Neue"/>
                  <a:ea typeface="Helvetica Neue"/>
                  <a:cs typeface="Helvetica Neue"/>
                  <a:sym typeface="Helvetica Neue"/>
                  <a:rtl val="0"/>
                </a:rPr>
                <a:t>33 labeled atlases &amp; networks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5C32782-5C88-C335-DBF9-0BA659C1F23D}"/>
                </a:ext>
              </a:extLst>
            </p:cNvPr>
            <p:cNvSpPr txBox="1"/>
            <p:nvPr/>
          </p:nvSpPr>
          <p:spPr>
            <a:xfrm>
              <a:off x="3812706" y="1278269"/>
              <a:ext cx="2089034" cy="24237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121920" tIns="60960" rIns="121920" bIns="6096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300" dirty="0">
                  <a:ln/>
                  <a:solidFill>
                    <a:srgbClr val="8A93A6"/>
                  </a:solidFill>
                  <a:latin typeface="Helvetica Neue"/>
                  <a:ea typeface="Helvetica Neue"/>
                  <a:cs typeface="Helvetica Neue"/>
                  <a:sym typeface="Helvetica Neue"/>
                  <a:rtl val="0"/>
                </a:rPr>
                <a:t>CANlab · Glasser · Schaefer · Tian</a:t>
              </a: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56DB865B-FCA0-781D-0F5C-35D5125AEA11}"/>
              </a:ext>
            </a:extLst>
          </p:cNvPr>
          <p:cNvGrpSpPr/>
          <p:nvPr/>
        </p:nvGrpSpPr>
        <p:grpSpPr>
          <a:xfrm>
            <a:off x="7078806" y="2290707"/>
            <a:ext cx="3776781" cy="932943"/>
            <a:chOff x="5140179" y="1408448"/>
            <a:chExt cx="2832586" cy="699707"/>
          </a:xfrm>
        </p:grpSpPr>
        <p:grpSp>
          <p:nvGrpSpPr>
            <p:cNvPr id="50" name="Graphic 4">
              <a:extLst>
                <a:ext uri="{FF2B5EF4-FFF2-40B4-BE49-F238E27FC236}">
                  <a16:creationId xmlns:a16="http://schemas.microsoft.com/office/drawing/2014/main" id="{4D7B2985-9014-E535-5E71-0D711830A0A2}"/>
                </a:ext>
              </a:extLst>
            </p:cNvPr>
            <p:cNvGrpSpPr/>
            <p:nvPr/>
          </p:nvGrpSpPr>
          <p:grpSpPr>
            <a:xfrm>
              <a:off x="5140179" y="1454321"/>
              <a:ext cx="1525614" cy="653834"/>
              <a:chOff x="5683518" y="1242286"/>
              <a:chExt cx="1525614" cy="653834"/>
            </a:xfrm>
          </p:grpSpPr>
          <p:sp>
            <p:nvSpPr>
              <p:cNvPr id="51" name="Rounded Rectangle 50">
                <a:extLst>
                  <a:ext uri="{FF2B5EF4-FFF2-40B4-BE49-F238E27FC236}">
                    <a16:creationId xmlns:a16="http://schemas.microsoft.com/office/drawing/2014/main" id="{79822C06-BAB5-7F3D-68B0-5BE0CA820875}"/>
                  </a:ext>
                </a:extLst>
              </p:cNvPr>
              <p:cNvSpPr/>
              <p:nvPr/>
            </p:nvSpPr>
            <p:spPr>
              <a:xfrm>
                <a:off x="5683518" y="1242286"/>
                <a:ext cx="1525614" cy="653834"/>
              </a:xfrm>
              <a:prstGeom prst="roundRect">
                <a:avLst>
                  <a:gd name="adj" fmla="val 14666"/>
                </a:avLst>
              </a:prstGeom>
              <a:solidFill>
                <a:srgbClr val="FFFFFF"/>
              </a:solidFill>
              <a:ln w="435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52" name="Rounded Rectangle 51">
                <a:extLst>
                  <a:ext uri="{FF2B5EF4-FFF2-40B4-BE49-F238E27FC236}">
                    <a16:creationId xmlns:a16="http://schemas.microsoft.com/office/drawing/2014/main" id="{997C1B8E-EE85-2E46-3605-A57B8940922F}"/>
                  </a:ext>
                </a:extLst>
              </p:cNvPr>
              <p:cNvSpPr/>
              <p:nvPr/>
            </p:nvSpPr>
            <p:spPr>
              <a:xfrm>
                <a:off x="5683518" y="1242286"/>
                <a:ext cx="43588" cy="653834"/>
              </a:xfrm>
              <a:prstGeom prst="roundRect">
                <a:avLst>
                  <a:gd name="adj" fmla="val 50000"/>
                </a:avLst>
              </a:prstGeom>
              <a:solidFill>
                <a:srgbClr val="E0A44E"/>
              </a:solidFill>
              <a:ln w="435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2400"/>
              </a:p>
            </p:txBody>
          </p:sp>
        </p:grp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6ED6FA5E-DC8B-58A6-A528-6FABD8C3310B}"/>
                </a:ext>
              </a:extLst>
            </p:cNvPr>
            <p:cNvSpPr/>
            <p:nvPr/>
          </p:nvSpPr>
          <p:spPr>
            <a:xfrm>
              <a:off x="5196845" y="1532781"/>
              <a:ext cx="496914" cy="496914"/>
            </a:xfrm>
            <a:prstGeom prst="ellipse">
              <a:avLst/>
            </a:prstGeom>
            <a:solidFill>
              <a:srgbClr val="E0A44E">
                <a:alpha val="14000"/>
              </a:srgbClr>
            </a:solidFill>
            <a:ln w="435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6BEF1010-6F76-DA0D-3775-A1815B9454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18639" y="1554575"/>
              <a:ext cx="453325" cy="453325"/>
            </a:xfrm>
            <a:custGeom>
              <a:avLst/>
              <a:gdLst>
                <a:gd name="csX0" fmla="*/ 0 w 453325"/>
                <a:gd name="csY0" fmla="*/ 0 h 453325"/>
                <a:gd name="csX1" fmla="*/ 453325 w 453325"/>
                <a:gd name="csY1" fmla="*/ 0 h 453325"/>
                <a:gd name="csX2" fmla="*/ 453325 w 453325"/>
                <a:gd name="csY2" fmla="*/ 453325 h 453325"/>
                <a:gd name="csX3" fmla="*/ 0 w 453325"/>
                <a:gd name="csY3" fmla="*/ 453325 h 453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53325" h="453325">
                  <a:moveTo>
                    <a:pt x="0" y="0"/>
                  </a:moveTo>
                  <a:lnTo>
                    <a:pt x="453325" y="0"/>
                  </a:lnTo>
                  <a:lnTo>
                    <a:pt x="453325" y="453325"/>
                  </a:lnTo>
                  <a:lnTo>
                    <a:pt x="0" y="453325"/>
                  </a:lnTo>
                  <a:close/>
                </a:path>
              </a:pathLst>
            </a:custGeom>
          </p:spPr>
        </p:pic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5EA98ACA-5A61-58C7-6AC0-C4F24C92E03F}"/>
                </a:ext>
              </a:extLst>
            </p:cNvPr>
            <p:cNvSpPr/>
            <p:nvPr/>
          </p:nvSpPr>
          <p:spPr>
            <a:xfrm>
              <a:off x="5196845" y="1532781"/>
              <a:ext cx="496914" cy="496914"/>
            </a:xfrm>
            <a:prstGeom prst="ellipse">
              <a:avLst/>
            </a:prstGeom>
            <a:noFill/>
            <a:ln w="13075" cap="flat">
              <a:solidFill>
                <a:srgbClr val="E0A44E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088EBA2-A7BD-4A3C-074C-E973A51F22D7}"/>
                </a:ext>
              </a:extLst>
            </p:cNvPr>
            <p:cNvSpPr txBox="1"/>
            <p:nvPr/>
          </p:nvSpPr>
          <p:spPr>
            <a:xfrm>
              <a:off x="5687132" y="1408448"/>
              <a:ext cx="2135922" cy="33470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121920" tIns="60960" rIns="121920" bIns="6096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100" b="1" dirty="0">
                  <a:ln/>
                  <a:solidFill>
                    <a:srgbClr val="22314A"/>
                  </a:solidFill>
                  <a:latin typeface="Helvetica Neue"/>
                  <a:ea typeface="Helvetica Neue"/>
                  <a:cs typeface="Helvetica Neue"/>
                  <a:sym typeface="Helvetica Neue"/>
                  <a:rtl val="0"/>
                </a:rPr>
                <a:t>Meta-Analysis Maps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0ED9907-1DBA-7E43-339B-6006853DE643}"/>
                </a:ext>
              </a:extLst>
            </p:cNvPr>
            <p:cNvSpPr txBox="1"/>
            <p:nvPr/>
          </p:nvSpPr>
          <p:spPr>
            <a:xfrm>
              <a:off x="5692074" y="1652617"/>
              <a:ext cx="1746392" cy="25978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121920" tIns="60960" rIns="121920" bIns="6096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451" b="1" dirty="0">
                  <a:ln/>
                  <a:solidFill>
                    <a:srgbClr val="B57C25"/>
                  </a:solidFill>
                  <a:latin typeface="Helvetica Neue"/>
                  <a:ea typeface="Helvetica Neue"/>
                  <a:cs typeface="Helvetica Neue"/>
                  <a:sym typeface="Helvetica Neue"/>
                  <a:rtl val="0"/>
                </a:rPr>
                <a:t>23 consensus map sets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0C2A061-7F2D-0BDC-D011-0E4E7E2AB663}"/>
                </a:ext>
              </a:extLst>
            </p:cNvPr>
            <p:cNvSpPr txBox="1"/>
            <p:nvPr/>
          </p:nvSpPr>
          <p:spPr>
            <a:xfrm>
              <a:off x="5706904" y="1864346"/>
              <a:ext cx="2265861" cy="24237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121920" tIns="60960" rIns="121920" bIns="6096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300" dirty="0">
                  <a:ln/>
                  <a:solidFill>
                    <a:srgbClr val="8A93A6"/>
                  </a:solidFill>
                  <a:latin typeface="Helvetica Neue"/>
                  <a:ea typeface="Helvetica Neue"/>
                  <a:cs typeface="Helvetica Neue"/>
                  <a:sym typeface="Helvetica Neue"/>
                  <a:rtl val="0"/>
                </a:rPr>
                <a:t>Emotion · Working memory · Placebo</a:t>
              </a: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BFAA4399-8BD5-7221-7DAA-88BF2F0B242A}"/>
              </a:ext>
            </a:extLst>
          </p:cNvPr>
          <p:cNvGrpSpPr/>
          <p:nvPr/>
        </p:nvGrpSpPr>
        <p:grpSpPr>
          <a:xfrm>
            <a:off x="118683" y="3809490"/>
            <a:ext cx="3754575" cy="970178"/>
            <a:chOff x="178343" y="2932354"/>
            <a:chExt cx="2815931" cy="727633"/>
          </a:xfrm>
        </p:grpSpPr>
        <p:grpSp>
          <p:nvGrpSpPr>
            <p:cNvPr id="59" name="Graphic 4">
              <a:extLst>
                <a:ext uri="{FF2B5EF4-FFF2-40B4-BE49-F238E27FC236}">
                  <a16:creationId xmlns:a16="http://schemas.microsoft.com/office/drawing/2014/main" id="{D879A24F-FC40-F916-E91C-A5F7A05BC2B9}"/>
                </a:ext>
              </a:extLst>
            </p:cNvPr>
            <p:cNvGrpSpPr/>
            <p:nvPr/>
          </p:nvGrpSpPr>
          <p:grpSpPr>
            <a:xfrm>
              <a:off x="178343" y="2991356"/>
              <a:ext cx="1525614" cy="653834"/>
              <a:chOff x="1172058" y="2506366"/>
              <a:chExt cx="1525614" cy="653834"/>
            </a:xfrm>
          </p:grpSpPr>
          <p:sp>
            <p:nvSpPr>
              <p:cNvPr id="60" name="Rounded Rectangle 59">
                <a:extLst>
                  <a:ext uri="{FF2B5EF4-FFF2-40B4-BE49-F238E27FC236}">
                    <a16:creationId xmlns:a16="http://schemas.microsoft.com/office/drawing/2014/main" id="{621A5463-F1C5-503E-520B-9C472741D678}"/>
                  </a:ext>
                </a:extLst>
              </p:cNvPr>
              <p:cNvSpPr/>
              <p:nvPr/>
            </p:nvSpPr>
            <p:spPr>
              <a:xfrm>
                <a:off x="1172058" y="2506366"/>
                <a:ext cx="1525614" cy="653834"/>
              </a:xfrm>
              <a:prstGeom prst="roundRect">
                <a:avLst>
                  <a:gd name="adj" fmla="val 14666"/>
                </a:avLst>
              </a:prstGeom>
              <a:solidFill>
                <a:srgbClr val="FFFFFF"/>
              </a:solidFill>
              <a:ln w="435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61" name="Rounded Rectangle 60">
                <a:extLst>
                  <a:ext uri="{FF2B5EF4-FFF2-40B4-BE49-F238E27FC236}">
                    <a16:creationId xmlns:a16="http://schemas.microsoft.com/office/drawing/2014/main" id="{9720B42D-A5F1-D438-2FA1-0EF522BE542B}"/>
                  </a:ext>
                </a:extLst>
              </p:cNvPr>
              <p:cNvSpPr/>
              <p:nvPr/>
            </p:nvSpPr>
            <p:spPr>
              <a:xfrm>
                <a:off x="1172058" y="2506366"/>
                <a:ext cx="43588" cy="653834"/>
              </a:xfrm>
              <a:prstGeom prst="roundRect">
                <a:avLst>
                  <a:gd name="adj" fmla="val 50000"/>
                </a:avLst>
              </a:prstGeom>
              <a:solidFill>
                <a:srgbClr val="7E6BC4"/>
              </a:solidFill>
              <a:ln w="435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2400"/>
              </a:p>
            </p:txBody>
          </p:sp>
        </p:grp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6B24FF2D-B8AB-AA92-4539-F641871D2249}"/>
                </a:ext>
              </a:extLst>
            </p:cNvPr>
            <p:cNvSpPr/>
            <p:nvPr/>
          </p:nvSpPr>
          <p:spPr>
            <a:xfrm>
              <a:off x="235009" y="3069816"/>
              <a:ext cx="496914" cy="496914"/>
            </a:xfrm>
            <a:prstGeom prst="ellipse">
              <a:avLst/>
            </a:prstGeom>
            <a:solidFill>
              <a:srgbClr val="7E6BC4">
                <a:alpha val="14000"/>
              </a:srgbClr>
            </a:solidFill>
            <a:ln w="435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BDABFB9C-2CAF-4F38-D418-2C573E1B87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6804" y="3091611"/>
              <a:ext cx="453325" cy="453325"/>
            </a:xfrm>
            <a:custGeom>
              <a:avLst/>
              <a:gdLst>
                <a:gd name="csX0" fmla="*/ 0 w 453325"/>
                <a:gd name="csY0" fmla="*/ 0 h 453325"/>
                <a:gd name="csX1" fmla="*/ 453325 w 453325"/>
                <a:gd name="csY1" fmla="*/ 0 h 453325"/>
                <a:gd name="csX2" fmla="*/ 453325 w 453325"/>
                <a:gd name="csY2" fmla="*/ 453325 h 453325"/>
                <a:gd name="csX3" fmla="*/ 0 w 453325"/>
                <a:gd name="csY3" fmla="*/ 453325 h 453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53325" h="453325">
                  <a:moveTo>
                    <a:pt x="0" y="0"/>
                  </a:moveTo>
                  <a:lnTo>
                    <a:pt x="453325" y="0"/>
                  </a:lnTo>
                  <a:lnTo>
                    <a:pt x="453325" y="453325"/>
                  </a:lnTo>
                  <a:lnTo>
                    <a:pt x="0" y="453325"/>
                  </a:lnTo>
                  <a:close/>
                </a:path>
              </a:pathLst>
            </a:custGeom>
          </p:spPr>
        </p:pic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4438489F-BFCD-8CE7-D9AA-EABECB998C4C}"/>
                </a:ext>
              </a:extLst>
            </p:cNvPr>
            <p:cNvSpPr/>
            <p:nvPr/>
          </p:nvSpPr>
          <p:spPr>
            <a:xfrm>
              <a:off x="235009" y="3069816"/>
              <a:ext cx="496914" cy="496914"/>
            </a:xfrm>
            <a:prstGeom prst="ellipse">
              <a:avLst/>
            </a:prstGeom>
            <a:noFill/>
            <a:ln w="13075" cap="flat">
              <a:solidFill>
                <a:srgbClr val="7E6BC4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332797C-C500-BADA-2BA9-9DD69D38406D}"/>
                </a:ext>
              </a:extLst>
            </p:cNvPr>
            <p:cNvSpPr txBox="1"/>
            <p:nvPr/>
          </p:nvSpPr>
          <p:spPr>
            <a:xfrm>
              <a:off x="718372" y="2932354"/>
              <a:ext cx="1878591" cy="33470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121920" tIns="60960" rIns="121920" bIns="6096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100" b="1" dirty="0">
                  <a:ln/>
                  <a:solidFill>
                    <a:srgbClr val="22314A"/>
                  </a:solidFill>
                  <a:latin typeface="Helvetica Neue"/>
                  <a:ea typeface="Helvetica Neue"/>
                  <a:cs typeface="Helvetica Neue"/>
                  <a:sym typeface="Helvetica Neue"/>
                  <a:rtl val="0"/>
                </a:rPr>
                <a:t>Neurosynth Maps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0006C1E-D22B-DA0E-153F-BE56B4C85FC8}"/>
                </a:ext>
              </a:extLst>
            </p:cNvPr>
            <p:cNvSpPr txBox="1"/>
            <p:nvPr/>
          </p:nvSpPr>
          <p:spPr>
            <a:xfrm>
              <a:off x="718373" y="3193674"/>
              <a:ext cx="2210461" cy="25978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121920" tIns="60960" rIns="121920" bIns="6096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451" b="1" dirty="0">
                  <a:ln/>
                  <a:solidFill>
                    <a:srgbClr val="584A91"/>
                  </a:solidFill>
                  <a:latin typeface="Helvetica Neue"/>
                  <a:ea typeface="Helvetica Neue"/>
                  <a:cs typeface="Helvetica Neue"/>
                  <a:sym typeface="Helvetica Neue"/>
                  <a:rtl val="0"/>
                </a:rPr>
                <a:t>100 topics + MKDA term maps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A90E213-EE4F-B148-78BB-A59E0EF1F304}"/>
                </a:ext>
              </a:extLst>
            </p:cNvPr>
            <p:cNvSpPr txBox="1"/>
            <p:nvPr/>
          </p:nvSpPr>
          <p:spPr>
            <a:xfrm>
              <a:off x="732020" y="3417613"/>
              <a:ext cx="2262254" cy="24237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121920" tIns="60960" rIns="121920" bIns="6096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300" dirty="0">
                  <a:ln/>
                  <a:solidFill>
                    <a:srgbClr val="8A93A6"/>
                  </a:solidFill>
                  <a:latin typeface="Helvetica Neue"/>
                  <a:ea typeface="Helvetica Neue"/>
                  <a:cs typeface="Helvetica Neue"/>
                  <a:sym typeface="Helvetica Neue"/>
                  <a:rtl val="0"/>
                </a:rPr>
                <a:t>Automated large-scale meta-analysis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3CCDF17-C7A1-2CBE-7BCE-3AD930C06829}"/>
              </a:ext>
            </a:extLst>
          </p:cNvPr>
          <p:cNvGrpSpPr/>
          <p:nvPr/>
        </p:nvGrpSpPr>
        <p:grpSpPr>
          <a:xfrm>
            <a:off x="7548560" y="3789919"/>
            <a:ext cx="3798382" cy="920342"/>
            <a:chOff x="7870648" y="3575972"/>
            <a:chExt cx="3798382" cy="920342"/>
          </a:xfrm>
        </p:grpSpPr>
        <p:grpSp>
          <p:nvGrpSpPr>
            <p:cNvPr id="68" name="Graphic 4">
              <a:extLst>
                <a:ext uri="{FF2B5EF4-FFF2-40B4-BE49-F238E27FC236}">
                  <a16:creationId xmlns:a16="http://schemas.microsoft.com/office/drawing/2014/main" id="{E7760776-2E0E-BAD5-E7AD-AFF2FC3A8277}"/>
                </a:ext>
              </a:extLst>
            </p:cNvPr>
            <p:cNvGrpSpPr/>
            <p:nvPr/>
          </p:nvGrpSpPr>
          <p:grpSpPr>
            <a:xfrm>
              <a:off x="7870648" y="3624535"/>
              <a:ext cx="2034152" cy="871779"/>
              <a:chOff x="6446325" y="2506366"/>
              <a:chExt cx="1525614" cy="653834"/>
            </a:xfrm>
          </p:grpSpPr>
          <p:sp>
            <p:nvSpPr>
              <p:cNvPr id="69" name="Rounded Rectangle 68">
                <a:extLst>
                  <a:ext uri="{FF2B5EF4-FFF2-40B4-BE49-F238E27FC236}">
                    <a16:creationId xmlns:a16="http://schemas.microsoft.com/office/drawing/2014/main" id="{2A4A275A-C730-7EC1-7991-FE664ADFA163}"/>
                  </a:ext>
                </a:extLst>
              </p:cNvPr>
              <p:cNvSpPr/>
              <p:nvPr/>
            </p:nvSpPr>
            <p:spPr>
              <a:xfrm>
                <a:off x="6446325" y="2506366"/>
                <a:ext cx="1525614" cy="653834"/>
              </a:xfrm>
              <a:prstGeom prst="roundRect">
                <a:avLst>
                  <a:gd name="adj" fmla="val 14666"/>
                </a:avLst>
              </a:prstGeom>
              <a:solidFill>
                <a:srgbClr val="FFFFFF"/>
              </a:solidFill>
              <a:ln w="435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70" name="Rounded Rectangle 69">
                <a:extLst>
                  <a:ext uri="{FF2B5EF4-FFF2-40B4-BE49-F238E27FC236}">
                    <a16:creationId xmlns:a16="http://schemas.microsoft.com/office/drawing/2014/main" id="{4A2D74D9-34A8-D465-2F57-67210B0196E9}"/>
                  </a:ext>
                </a:extLst>
              </p:cNvPr>
              <p:cNvSpPr/>
              <p:nvPr/>
            </p:nvSpPr>
            <p:spPr>
              <a:xfrm>
                <a:off x="6446325" y="2506366"/>
                <a:ext cx="43588" cy="653834"/>
              </a:xfrm>
              <a:prstGeom prst="roundRect">
                <a:avLst>
                  <a:gd name="adj" fmla="val 50000"/>
                </a:avLst>
              </a:prstGeom>
              <a:solidFill>
                <a:srgbClr val="4C86C6"/>
              </a:solidFill>
              <a:ln w="435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2400"/>
              </a:p>
            </p:txBody>
          </p:sp>
        </p:grp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131C8E7C-2E68-B5C1-BFF8-5C89B7AA592A}"/>
                </a:ext>
              </a:extLst>
            </p:cNvPr>
            <p:cNvSpPr/>
            <p:nvPr/>
          </p:nvSpPr>
          <p:spPr>
            <a:xfrm>
              <a:off x="7946203" y="3729148"/>
              <a:ext cx="662552" cy="662552"/>
            </a:xfrm>
            <a:prstGeom prst="ellipse">
              <a:avLst/>
            </a:prstGeom>
            <a:solidFill>
              <a:srgbClr val="4C86C6">
                <a:alpha val="14000"/>
              </a:srgbClr>
            </a:solidFill>
            <a:ln w="435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E023E82C-EBB8-A7A4-DD8C-EAFAC7B691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75262" y="3758209"/>
              <a:ext cx="604433" cy="604433"/>
            </a:xfrm>
            <a:custGeom>
              <a:avLst/>
              <a:gdLst>
                <a:gd name="csX0" fmla="*/ 0 w 453325"/>
                <a:gd name="csY0" fmla="*/ 0 h 453325"/>
                <a:gd name="csX1" fmla="*/ 453325 w 453325"/>
                <a:gd name="csY1" fmla="*/ 0 h 453325"/>
                <a:gd name="csX2" fmla="*/ 453325 w 453325"/>
                <a:gd name="csY2" fmla="*/ 453325 h 453325"/>
                <a:gd name="csX3" fmla="*/ 0 w 453325"/>
                <a:gd name="csY3" fmla="*/ 453325 h 4533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53325" h="453325">
                  <a:moveTo>
                    <a:pt x="0" y="0"/>
                  </a:moveTo>
                  <a:lnTo>
                    <a:pt x="453325" y="0"/>
                  </a:lnTo>
                  <a:lnTo>
                    <a:pt x="453325" y="453325"/>
                  </a:lnTo>
                  <a:lnTo>
                    <a:pt x="0" y="453325"/>
                  </a:lnTo>
                  <a:close/>
                </a:path>
              </a:pathLst>
            </a:custGeom>
          </p:spPr>
        </p:pic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D37BA3D8-463F-7B79-302B-4F5BF8E3067F}"/>
                </a:ext>
              </a:extLst>
            </p:cNvPr>
            <p:cNvSpPr/>
            <p:nvPr/>
          </p:nvSpPr>
          <p:spPr>
            <a:xfrm>
              <a:off x="7946203" y="3729148"/>
              <a:ext cx="662552" cy="662552"/>
            </a:xfrm>
            <a:prstGeom prst="ellipse">
              <a:avLst/>
            </a:prstGeom>
            <a:noFill/>
            <a:ln w="13075" cap="flat">
              <a:solidFill>
                <a:srgbClr val="4C86C6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CC094E3-B3FB-9C7C-F345-95CB2DC045DE}"/>
                </a:ext>
              </a:extLst>
            </p:cNvPr>
            <p:cNvSpPr txBox="1"/>
            <p:nvPr/>
          </p:nvSpPr>
          <p:spPr>
            <a:xfrm>
              <a:off x="8599920" y="3575972"/>
              <a:ext cx="3069110" cy="44627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121920" tIns="60960" rIns="121920" bIns="6096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100" b="1" dirty="0">
                  <a:ln/>
                  <a:solidFill>
                    <a:srgbClr val="22314A"/>
                  </a:solidFill>
                  <a:latin typeface="Helvetica Neue"/>
                  <a:ea typeface="Helvetica Neue"/>
                  <a:cs typeface="Helvetica Neue"/>
                  <a:sym typeface="Helvetica Neue"/>
                  <a:rtl val="0"/>
                </a:rPr>
                <a:t>Individual Study Maps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173C65A-5E4C-19E7-924D-148E4B5AFD97}"/>
                </a:ext>
              </a:extLst>
            </p:cNvPr>
            <p:cNvSpPr txBox="1"/>
            <p:nvPr/>
          </p:nvSpPr>
          <p:spPr>
            <a:xfrm>
              <a:off x="8608884" y="3913162"/>
              <a:ext cx="2201115" cy="3463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121920" tIns="60960" rIns="121920" bIns="6096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451" b="1" dirty="0">
                  <a:ln/>
                  <a:solidFill>
                    <a:srgbClr val="2F5E93"/>
                  </a:solidFill>
                  <a:latin typeface="Helvetica Neue"/>
                  <a:ea typeface="Helvetica Neue"/>
                  <a:cs typeface="Helvetica Neue"/>
                  <a:sym typeface="Helvetica Neue"/>
                  <a:rtl val="0"/>
                </a:rPr>
                <a:t>Per-study effect maps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01DF314E-E03A-0DA7-FB1E-059E92D0F992}"/>
                </a:ext>
              </a:extLst>
            </p:cNvPr>
            <p:cNvSpPr txBox="1"/>
            <p:nvPr/>
          </p:nvSpPr>
          <p:spPr>
            <a:xfrm>
              <a:off x="8608884" y="4155683"/>
              <a:ext cx="2384627" cy="3231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121920" tIns="60960" rIns="121920" bIns="6096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300" dirty="0">
                  <a:ln/>
                  <a:solidFill>
                    <a:srgbClr val="8A93A6"/>
                  </a:solidFill>
                  <a:latin typeface="Helvetica Neue"/>
                  <a:ea typeface="Helvetica Neue"/>
                  <a:cs typeface="Helvetica Neue"/>
                  <a:sym typeface="Helvetica Neue"/>
                  <a:rtl val="0"/>
                </a:rPr>
                <a:t>Bayes-factor evidence maps</a:t>
              </a:r>
            </a:p>
          </p:txBody>
        </p:sp>
      </p:grpSp>
      <p:sp>
        <p:nvSpPr>
          <p:cNvPr id="80" name="Oval 79">
            <a:extLst>
              <a:ext uri="{FF2B5EF4-FFF2-40B4-BE49-F238E27FC236}">
                <a16:creationId xmlns:a16="http://schemas.microsoft.com/office/drawing/2014/main" id="{FE69A4FE-AC9E-664D-4547-D5A5A4EC7CA0}"/>
              </a:ext>
            </a:extLst>
          </p:cNvPr>
          <p:cNvSpPr/>
          <p:nvPr/>
        </p:nvSpPr>
        <p:spPr>
          <a:xfrm>
            <a:off x="661079" y="5659969"/>
            <a:ext cx="662552" cy="662552"/>
          </a:xfrm>
          <a:prstGeom prst="ellipse">
            <a:avLst/>
          </a:prstGeom>
          <a:solidFill>
            <a:srgbClr val="5AAE7A">
              <a:alpha val="14000"/>
            </a:srgbClr>
          </a:solidFill>
          <a:ln w="4358" cap="flat">
            <a:noFill/>
            <a:prstDash val="solid"/>
            <a:miter/>
          </a:ln>
        </p:spPr>
        <p:txBody>
          <a:bodyPr/>
          <a:lstStyle/>
          <a:p>
            <a:endParaRPr lang="en-US" sz="2400"/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08F85601-3F70-DAAC-5954-22F1DA58C1B8}"/>
              </a:ext>
            </a:extLst>
          </p:cNvPr>
          <p:cNvGrpSpPr/>
          <p:nvPr/>
        </p:nvGrpSpPr>
        <p:grpSpPr>
          <a:xfrm>
            <a:off x="611283" y="5476688"/>
            <a:ext cx="4006635" cy="964863"/>
            <a:chOff x="915662" y="4107514"/>
            <a:chExt cx="3004977" cy="723647"/>
          </a:xfrm>
        </p:grpSpPr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7DB5B7FD-A2DC-F9FC-D7F2-7795EC17C8F0}"/>
                </a:ext>
              </a:extLst>
            </p:cNvPr>
            <p:cNvSpPr/>
            <p:nvPr/>
          </p:nvSpPr>
          <p:spPr>
            <a:xfrm>
              <a:off x="972328" y="4244977"/>
              <a:ext cx="496914" cy="496914"/>
            </a:xfrm>
            <a:prstGeom prst="ellipse">
              <a:avLst/>
            </a:prstGeom>
            <a:noFill/>
            <a:ln w="13075" cap="flat">
              <a:solidFill>
                <a:srgbClr val="5AAE7A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A9E02187-CFD9-DB60-161E-CBC7B0E24DA8}"/>
                </a:ext>
              </a:extLst>
            </p:cNvPr>
            <p:cNvGrpSpPr/>
            <p:nvPr/>
          </p:nvGrpSpPr>
          <p:grpSpPr>
            <a:xfrm>
              <a:off x="915662" y="4107514"/>
              <a:ext cx="3004977" cy="723647"/>
              <a:chOff x="915662" y="4107514"/>
              <a:chExt cx="3004977" cy="723647"/>
            </a:xfrm>
          </p:grpSpPr>
          <p:grpSp>
            <p:nvGrpSpPr>
              <p:cNvPr id="81" name="Graphic 4">
                <a:extLst>
                  <a:ext uri="{FF2B5EF4-FFF2-40B4-BE49-F238E27FC236}">
                    <a16:creationId xmlns:a16="http://schemas.microsoft.com/office/drawing/2014/main" id="{FCFF3FDD-6408-3DF0-FCE6-DF3A1B95C838}"/>
                  </a:ext>
                </a:extLst>
              </p:cNvPr>
              <p:cNvGrpSpPr/>
              <p:nvPr/>
            </p:nvGrpSpPr>
            <p:grpSpPr>
              <a:xfrm>
                <a:off x="1042245" y="4339827"/>
                <a:ext cx="370942" cy="311966"/>
                <a:chOff x="2540927" y="4052729"/>
                <a:chExt cx="370942" cy="311966"/>
              </a:xfrm>
            </p:grpSpPr>
            <p:sp>
              <p:nvSpPr>
                <p:cNvPr id="82" name="Freeform 81">
                  <a:extLst>
                    <a:ext uri="{FF2B5EF4-FFF2-40B4-BE49-F238E27FC236}">
                      <a16:creationId xmlns:a16="http://schemas.microsoft.com/office/drawing/2014/main" id="{B22C0000-2E25-2F9F-8732-A386414C2862}"/>
                    </a:ext>
                  </a:extLst>
                </p:cNvPr>
                <p:cNvSpPr/>
                <p:nvPr/>
              </p:nvSpPr>
              <p:spPr>
                <a:xfrm>
                  <a:off x="2540927" y="4052729"/>
                  <a:ext cx="370942" cy="311966"/>
                </a:xfrm>
                <a:custGeom>
                  <a:avLst/>
                  <a:gdLst>
                    <a:gd name="csX0" fmla="*/ 362355 w 370942"/>
                    <a:gd name="csY0" fmla="*/ 153608 h 311966"/>
                    <a:gd name="csX1" fmla="*/ 368022 w 370942"/>
                    <a:gd name="csY1" fmla="*/ 139223 h 311966"/>
                    <a:gd name="csX2" fmla="*/ 370942 w 370942"/>
                    <a:gd name="csY2" fmla="*/ 124185 h 311966"/>
                    <a:gd name="csX3" fmla="*/ 370463 w 370942"/>
                    <a:gd name="csY3" fmla="*/ 108972 h 311966"/>
                    <a:gd name="csX4" fmla="*/ 366235 w 370942"/>
                    <a:gd name="csY4" fmla="*/ 94327 h 311966"/>
                    <a:gd name="csX5" fmla="*/ 358432 w 370942"/>
                    <a:gd name="csY5" fmla="*/ 80814 h 311966"/>
                    <a:gd name="csX6" fmla="*/ 347622 w 370942"/>
                    <a:gd name="csY6" fmla="*/ 68871 h 311966"/>
                    <a:gd name="csX7" fmla="*/ 334545 w 370942"/>
                    <a:gd name="csY7" fmla="*/ 58801 h 311966"/>
                    <a:gd name="csX8" fmla="*/ 320205 w 370942"/>
                    <a:gd name="csY8" fmla="*/ 50432 h 311966"/>
                    <a:gd name="csX9" fmla="*/ 305428 w 370942"/>
                    <a:gd name="csY9" fmla="*/ 43502 h 311966"/>
                    <a:gd name="csX10" fmla="*/ 290826 w 370942"/>
                    <a:gd name="csY10" fmla="*/ 37443 h 311966"/>
                    <a:gd name="csX11" fmla="*/ 276790 w 370942"/>
                    <a:gd name="csY11" fmla="*/ 31820 h 311966"/>
                    <a:gd name="csX12" fmla="*/ 263277 w 370942"/>
                    <a:gd name="csY12" fmla="*/ 26241 h 311966"/>
                    <a:gd name="csX13" fmla="*/ 250026 w 370942"/>
                    <a:gd name="csY13" fmla="*/ 20530 h 311966"/>
                    <a:gd name="csX14" fmla="*/ 236775 w 370942"/>
                    <a:gd name="csY14" fmla="*/ 14777 h 311966"/>
                    <a:gd name="csX15" fmla="*/ 223088 w 370942"/>
                    <a:gd name="csY15" fmla="*/ 9371 h 311966"/>
                    <a:gd name="csX16" fmla="*/ 208791 w 370942"/>
                    <a:gd name="csY16" fmla="*/ 4795 h 311966"/>
                    <a:gd name="csX17" fmla="*/ 193884 w 370942"/>
                    <a:gd name="csY17" fmla="*/ 1526 h 311966"/>
                    <a:gd name="csX18" fmla="*/ 178540 w 370942"/>
                    <a:gd name="csY18" fmla="*/ 0 h 311966"/>
                    <a:gd name="csX19" fmla="*/ 163110 w 370942"/>
                    <a:gd name="csY19" fmla="*/ 436 h 311966"/>
                    <a:gd name="csX20" fmla="*/ 147897 w 370942"/>
                    <a:gd name="csY20" fmla="*/ 2746 h 311966"/>
                    <a:gd name="csX21" fmla="*/ 133208 w 370942"/>
                    <a:gd name="csY21" fmla="*/ 6713 h 311966"/>
                    <a:gd name="csX22" fmla="*/ 119085 w 370942"/>
                    <a:gd name="csY22" fmla="*/ 11856 h 311966"/>
                    <a:gd name="csX23" fmla="*/ 105573 w 370942"/>
                    <a:gd name="csY23" fmla="*/ 17784 h 311966"/>
                    <a:gd name="csX24" fmla="*/ 92409 w 370942"/>
                    <a:gd name="csY24" fmla="*/ 24105 h 311966"/>
                    <a:gd name="csX25" fmla="*/ 79376 w 370942"/>
                    <a:gd name="csY25" fmla="*/ 30687 h 311966"/>
                    <a:gd name="csX26" fmla="*/ 66299 w 370942"/>
                    <a:gd name="csY26" fmla="*/ 37486 h 311966"/>
                    <a:gd name="csX27" fmla="*/ 53178 w 370942"/>
                    <a:gd name="csY27" fmla="*/ 44809 h 311966"/>
                    <a:gd name="csX28" fmla="*/ 40320 w 370942"/>
                    <a:gd name="csY28" fmla="*/ 52960 h 311966"/>
                    <a:gd name="csX29" fmla="*/ 28202 w 370942"/>
                    <a:gd name="csY29" fmla="*/ 62245 h 311966"/>
                    <a:gd name="csX30" fmla="*/ 17479 w 370942"/>
                    <a:gd name="csY30" fmla="*/ 72881 h 311966"/>
                    <a:gd name="csX31" fmla="*/ 8892 w 370942"/>
                    <a:gd name="csY31" fmla="*/ 84955 h 311966"/>
                    <a:gd name="csX32" fmla="*/ 2964 w 370942"/>
                    <a:gd name="csY32" fmla="*/ 98119 h 311966"/>
                    <a:gd name="csX33" fmla="*/ 0 w 370942"/>
                    <a:gd name="csY33" fmla="*/ 112111 h 311966"/>
                    <a:gd name="csX34" fmla="*/ 0 w 370942"/>
                    <a:gd name="csY34" fmla="*/ 126277 h 311966"/>
                    <a:gd name="csX35" fmla="*/ 2484 w 370942"/>
                    <a:gd name="csY35" fmla="*/ 140226 h 311966"/>
                    <a:gd name="csX36" fmla="*/ 6756 w 370942"/>
                    <a:gd name="csY36" fmla="*/ 153608 h 311966"/>
                    <a:gd name="csX37" fmla="*/ 11943 w 370942"/>
                    <a:gd name="csY37" fmla="*/ 166248 h 311966"/>
                    <a:gd name="csX38" fmla="*/ 17174 w 370942"/>
                    <a:gd name="csY38" fmla="*/ 178322 h 311966"/>
                    <a:gd name="csX39" fmla="*/ 21838 w 370942"/>
                    <a:gd name="csY39" fmla="*/ 190048 h 311966"/>
                    <a:gd name="csX40" fmla="*/ 25630 w 370942"/>
                    <a:gd name="csY40" fmla="*/ 201904 h 311966"/>
                    <a:gd name="csX41" fmla="*/ 28769 w 370942"/>
                    <a:gd name="csY41" fmla="*/ 214240 h 311966"/>
                    <a:gd name="csX42" fmla="*/ 31646 w 370942"/>
                    <a:gd name="csY42" fmla="*/ 227229 h 311966"/>
                    <a:gd name="csX43" fmla="*/ 35045 w 370942"/>
                    <a:gd name="csY43" fmla="*/ 240829 h 311966"/>
                    <a:gd name="csX44" fmla="*/ 39753 w 370942"/>
                    <a:gd name="csY44" fmla="*/ 254690 h 311966"/>
                    <a:gd name="csX45" fmla="*/ 46422 w 370942"/>
                    <a:gd name="csY45" fmla="*/ 268247 h 311966"/>
                    <a:gd name="csX46" fmla="*/ 55532 w 370942"/>
                    <a:gd name="csY46" fmla="*/ 280844 h 311966"/>
                    <a:gd name="csX47" fmla="*/ 67083 w 370942"/>
                    <a:gd name="csY47" fmla="*/ 291741 h 311966"/>
                    <a:gd name="csX48" fmla="*/ 80858 w 370942"/>
                    <a:gd name="csY48" fmla="*/ 300459 h 311966"/>
                    <a:gd name="csX49" fmla="*/ 96332 w 370942"/>
                    <a:gd name="csY49" fmla="*/ 306648 h 311966"/>
                    <a:gd name="csX50" fmla="*/ 112808 w 370942"/>
                    <a:gd name="csY50" fmla="*/ 310397 h 311966"/>
                    <a:gd name="csX51" fmla="*/ 129677 w 370942"/>
                    <a:gd name="csY51" fmla="*/ 311966 h 311966"/>
                    <a:gd name="csX52" fmla="*/ 146415 w 370942"/>
                    <a:gd name="csY52" fmla="*/ 311836 h 311966"/>
                    <a:gd name="csX53" fmla="*/ 162718 w 370942"/>
                    <a:gd name="csY53" fmla="*/ 310572 h 311966"/>
                    <a:gd name="csX54" fmla="*/ 178540 w 370942"/>
                    <a:gd name="csY54" fmla="*/ 308610 h 311966"/>
                    <a:gd name="csX55" fmla="*/ 193927 w 370942"/>
                    <a:gd name="csY55" fmla="*/ 306256 h 311966"/>
                    <a:gd name="csX56" fmla="*/ 209009 w 370942"/>
                    <a:gd name="csY56" fmla="*/ 303554 h 311966"/>
                    <a:gd name="csX57" fmla="*/ 223829 w 370942"/>
                    <a:gd name="csY57" fmla="*/ 300328 h 311966"/>
                    <a:gd name="csX58" fmla="*/ 238388 w 370942"/>
                    <a:gd name="csY58" fmla="*/ 296274 h 311966"/>
                    <a:gd name="csX59" fmla="*/ 252380 w 370942"/>
                    <a:gd name="csY59" fmla="*/ 291087 h 311966"/>
                    <a:gd name="csX60" fmla="*/ 265588 w 370942"/>
                    <a:gd name="csY60" fmla="*/ 284462 h 311966"/>
                    <a:gd name="csX61" fmla="*/ 277575 w 370942"/>
                    <a:gd name="csY61" fmla="*/ 276354 h 311966"/>
                    <a:gd name="csX62" fmla="*/ 288080 w 370942"/>
                    <a:gd name="csY62" fmla="*/ 266939 h 311966"/>
                    <a:gd name="csX63" fmla="*/ 297059 w 370942"/>
                    <a:gd name="csY63" fmla="*/ 256477 h 311966"/>
                    <a:gd name="csX64" fmla="*/ 304643 w 370942"/>
                    <a:gd name="csY64" fmla="*/ 245450 h 311966"/>
                    <a:gd name="csX65" fmla="*/ 311269 w 370942"/>
                    <a:gd name="csY65" fmla="*/ 234247 h 311966"/>
                    <a:gd name="csX66" fmla="*/ 317415 w 370942"/>
                    <a:gd name="csY66" fmla="*/ 223219 h 311966"/>
                    <a:gd name="csX67" fmla="*/ 323735 w 370942"/>
                    <a:gd name="csY67" fmla="*/ 212365 h 311966"/>
                    <a:gd name="csX68" fmla="*/ 330666 w 370942"/>
                    <a:gd name="csY68" fmla="*/ 201643 h 311966"/>
                    <a:gd name="csX69" fmla="*/ 338338 w 370942"/>
                    <a:gd name="csY69" fmla="*/ 190789 h 311966"/>
                    <a:gd name="csX70" fmla="*/ 346620 w 370942"/>
                    <a:gd name="csY70" fmla="*/ 179325 h 311966"/>
                    <a:gd name="csX71" fmla="*/ 354901 w 370942"/>
                    <a:gd name="csY71" fmla="*/ 166989 h 31196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  <a:cxn ang="0">
                      <a:pos x="csX68" y="csY68"/>
                    </a:cxn>
                    <a:cxn ang="0">
                      <a:pos x="csX69" y="csY69"/>
                    </a:cxn>
                    <a:cxn ang="0">
                      <a:pos x="csX70" y="csY70"/>
                    </a:cxn>
                    <a:cxn ang="0">
                      <a:pos x="csX71" y="csY71"/>
                    </a:cxn>
                  </a:cxnLst>
                  <a:rect l="l" t="t" r="r" b="b"/>
                  <a:pathLst>
                    <a:path w="370942" h="311966">
                      <a:moveTo>
                        <a:pt x="362355" y="153608"/>
                      </a:moveTo>
                      <a:lnTo>
                        <a:pt x="368022" y="139223"/>
                      </a:lnTo>
                      <a:lnTo>
                        <a:pt x="370942" y="124185"/>
                      </a:lnTo>
                      <a:lnTo>
                        <a:pt x="370463" y="108972"/>
                      </a:lnTo>
                      <a:lnTo>
                        <a:pt x="366235" y="94327"/>
                      </a:lnTo>
                      <a:lnTo>
                        <a:pt x="358432" y="80814"/>
                      </a:lnTo>
                      <a:lnTo>
                        <a:pt x="347622" y="68871"/>
                      </a:lnTo>
                      <a:lnTo>
                        <a:pt x="334545" y="58801"/>
                      </a:lnTo>
                      <a:lnTo>
                        <a:pt x="320205" y="50432"/>
                      </a:lnTo>
                      <a:lnTo>
                        <a:pt x="305428" y="43502"/>
                      </a:lnTo>
                      <a:lnTo>
                        <a:pt x="290826" y="37443"/>
                      </a:lnTo>
                      <a:lnTo>
                        <a:pt x="276790" y="31820"/>
                      </a:lnTo>
                      <a:lnTo>
                        <a:pt x="263277" y="26241"/>
                      </a:lnTo>
                      <a:lnTo>
                        <a:pt x="250026" y="20530"/>
                      </a:lnTo>
                      <a:lnTo>
                        <a:pt x="236775" y="14777"/>
                      </a:lnTo>
                      <a:lnTo>
                        <a:pt x="223088" y="9371"/>
                      </a:lnTo>
                      <a:lnTo>
                        <a:pt x="208791" y="4795"/>
                      </a:lnTo>
                      <a:lnTo>
                        <a:pt x="193884" y="1526"/>
                      </a:lnTo>
                      <a:lnTo>
                        <a:pt x="178540" y="0"/>
                      </a:lnTo>
                      <a:lnTo>
                        <a:pt x="163110" y="436"/>
                      </a:lnTo>
                      <a:lnTo>
                        <a:pt x="147897" y="2746"/>
                      </a:lnTo>
                      <a:lnTo>
                        <a:pt x="133208" y="6713"/>
                      </a:lnTo>
                      <a:lnTo>
                        <a:pt x="119085" y="11856"/>
                      </a:lnTo>
                      <a:lnTo>
                        <a:pt x="105573" y="17784"/>
                      </a:lnTo>
                      <a:lnTo>
                        <a:pt x="92409" y="24105"/>
                      </a:lnTo>
                      <a:lnTo>
                        <a:pt x="79376" y="30687"/>
                      </a:lnTo>
                      <a:lnTo>
                        <a:pt x="66299" y="37486"/>
                      </a:lnTo>
                      <a:lnTo>
                        <a:pt x="53178" y="44809"/>
                      </a:lnTo>
                      <a:lnTo>
                        <a:pt x="40320" y="52960"/>
                      </a:lnTo>
                      <a:lnTo>
                        <a:pt x="28202" y="62245"/>
                      </a:lnTo>
                      <a:lnTo>
                        <a:pt x="17479" y="72881"/>
                      </a:lnTo>
                      <a:lnTo>
                        <a:pt x="8892" y="84955"/>
                      </a:lnTo>
                      <a:lnTo>
                        <a:pt x="2964" y="98119"/>
                      </a:lnTo>
                      <a:lnTo>
                        <a:pt x="0" y="112111"/>
                      </a:lnTo>
                      <a:lnTo>
                        <a:pt x="0" y="126277"/>
                      </a:lnTo>
                      <a:lnTo>
                        <a:pt x="2484" y="140226"/>
                      </a:lnTo>
                      <a:lnTo>
                        <a:pt x="6756" y="153608"/>
                      </a:lnTo>
                      <a:lnTo>
                        <a:pt x="11943" y="166248"/>
                      </a:lnTo>
                      <a:lnTo>
                        <a:pt x="17174" y="178322"/>
                      </a:lnTo>
                      <a:lnTo>
                        <a:pt x="21838" y="190048"/>
                      </a:lnTo>
                      <a:lnTo>
                        <a:pt x="25630" y="201904"/>
                      </a:lnTo>
                      <a:lnTo>
                        <a:pt x="28769" y="214240"/>
                      </a:lnTo>
                      <a:lnTo>
                        <a:pt x="31646" y="227229"/>
                      </a:lnTo>
                      <a:lnTo>
                        <a:pt x="35045" y="240829"/>
                      </a:lnTo>
                      <a:lnTo>
                        <a:pt x="39753" y="254690"/>
                      </a:lnTo>
                      <a:lnTo>
                        <a:pt x="46422" y="268247"/>
                      </a:lnTo>
                      <a:lnTo>
                        <a:pt x="55532" y="280844"/>
                      </a:lnTo>
                      <a:lnTo>
                        <a:pt x="67083" y="291741"/>
                      </a:lnTo>
                      <a:lnTo>
                        <a:pt x="80858" y="300459"/>
                      </a:lnTo>
                      <a:lnTo>
                        <a:pt x="96332" y="306648"/>
                      </a:lnTo>
                      <a:lnTo>
                        <a:pt x="112808" y="310397"/>
                      </a:lnTo>
                      <a:lnTo>
                        <a:pt x="129677" y="311966"/>
                      </a:lnTo>
                      <a:lnTo>
                        <a:pt x="146415" y="311836"/>
                      </a:lnTo>
                      <a:lnTo>
                        <a:pt x="162718" y="310572"/>
                      </a:lnTo>
                      <a:lnTo>
                        <a:pt x="178540" y="308610"/>
                      </a:lnTo>
                      <a:lnTo>
                        <a:pt x="193927" y="306256"/>
                      </a:lnTo>
                      <a:lnTo>
                        <a:pt x="209009" y="303554"/>
                      </a:lnTo>
                      <a:lnTo>
                        <a:pt x="223829" y="300328"/>
                      </a:lnTo>
                      <a:lnTo>
                        <a:pt x="238388" y="296274"/>
                      </a:lnTo>
                      <a:lnTo>
                        <a:pt x="252380" y="291087"/>
                      </a:lnTo>
                      <a:lnTo>
                        <a:pt x="265588" y="284462"/>
                      </a:lnTo>
                      <a:lnTo>
                        <a:pt x="277575" y="276354"/>
                      </a:lnTo>
                      <a:lnTo>
                        <a:pt x="288080" y="266939"/>
                      </a:lnTo>
                      <a:lnTo>
                        <a:pt x="297059" y="256477"/>
                      </a:lnTo>
                      <a:lnTo>
                        <a:pt x="304643" y="245450"/>
                      </a:lnTo>
                      <a:lnTo>
                        <a:pt x="311269" y="234247"/>
                      </a:lnTo>
                      <a:lnTo>
                        <a:pt x="317415" y="223219"/>
                      </a:lnTo>
                      <a:lnTo>
                        <a:pt x="323735" y="212365"/>
                      </a:lnTo>
                      <a:lnTo>
                        <a:pt x="330666" y="201643"/>
                      </a:lnTo>
                      <a:lnTo>
                        <a:pt x="338338" y="190789"/>
                      </a:lnTo>
                      <a:lnTo>
                        <a:pt x="346620" y="179325"/>
                      </a:lnTo>
                      <a:lnTo>
                        <a:pt x="354901" y="166989"/>
                      </a:lnTo>
                      <a:close/>
                    </a:path>
                  </a:pathLst>
                </a:custGeom>
                <a:solidFill>
                  <a:srgbClr val="5AAE7A"/>
                </a:solidFill>
                <a:ln w="15080" cap="flat">
                  <a:solidFill>
                    <a:srgbClr val="3B7E54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83" name="Freeform 82">
                  <a:extLst>
                    <a:ext uri="{FF2B5EF4-FFF2-40B4-BE49-F238E27FC236}">
                      <a16:creationId xmlns:a16="http://schemas.microsoft.com/office/drawing/2014/main" id="{7BB884E5-E720-7BBD-DA71-348AC7A2CBA9}"/>
                    </a:ext>
                  </a:extLst>
                </p:cNvPr>
                <p:cNvSpPr/>
                <p:nvPr/>
              </p:nvSpPr>
              <p:spPr>
                <a:xfrm>
                  <a:off x="2714623" y="4062100"/>
                  <a:ext cx="9688" cy="281759"/>
                </a:xfrm>
                <a:custGeom>
                  <a:avLst/>
                  <a:gdLst>
                    <a:gd name="csX0" fmla="*/ 4844 w 9688"/>
                    <a:gd name="csY0" fmla="*/ 0 h 281759"/>
                    <a:gd name="csX1" fmla="*/ 4844 w 9688"/>
                    <a:gd name="csY1" fmla="*/ 281759 h 2817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9688" h="281759">
                      <a:moveTo>
                        <a:pt x="4844" y="0"/>
                      </a:moveTo>
                      <a:cubicBezTo>
                        <a:pt x="21626" y="93934"/>
                        <a:pt x="-11937" y="194538"/>
                        <a:pt x="4844" y="281759"/>
                      </a:cubicBezTo>
                    </a:path>
                  </a:pathLst>
                </a:custGeom>
                <a:noFill/>
                <a:ln w="12813" cap="rnd">
                  <a:solidFill>
                    <a:srgbClr val="FFFFFF">
                      <a:alpha val="85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84" name="Freeform 83">
                  <a:extLst>
                    <a:ext uri="{FF2B5EF4-FFF2-40B4-BE49-F238E27FC236}">
                      <a16:creationId xmlns:a16="http://schemas.microsoft.com/office/drawing/2014/main" id="{120E0E74-53C0-E9BF-F9CE-9225C73FE980}"/>
                    </a:ext>
                  </a:extLst>
                </p:cNvPr>
                <p:cNvSpPr/>
                <p:nvPr/>
              </p:nvSpPr>
              <p:spPr>
                <a:xfrm>
                  <a:off x="2588657" y="4139253"/>
                  <a:ext cx="100603" cy="30200"/>
                </a:xfrm>
                <a:custGeom>
                  <a:avLst/>
                  <a:gdLst>
                    <a:gd name="csX0" fmla="*/ 0 w 100603"/>
                    <a:gd name="csY0" fmla="*/ 13425 h 30200"/>
                    <a:gd name="csX1" fmla="*/ 50302 w 100603"/>
                    <a:gd name="csY1" fmla="*/ 13425 h 30200"/>
                    <a:gd name="csX2" fmla="*/ 100603 w 100603"/>
                    <a:gd name="csY2" fmla="*/ 24148 h 302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100603" h="30200">
                      <a:moveTo>
                        <a:pt x="0" y="13425"/>
                      </a:moveTo>
                      <a:cubicBezTo>
                        <a:pt x="33534" y="-4475"/>
                        <a:pt x="50302" y="-4475"/>
                        <a:pt x="50302" y="13425"/>
                      </a:cubicBezTo>
                      <a:cubicBezTo>
                        <a:pt x="50302" y="31326"/>
                        <a:pt x="67069" y="34900"/>
                        <a:pt x="100603" y="24148"/>
                      </a:cubicBezTo>
                    </a:path>
                  </a:pathLst>
                </a:custGeom>
                <a:noFill/>
                <a:ln w="11331" cap="rnd">
                  <a:solidFill>
                    <a:srgbClr val="FFFFFF">
                      <a:alpha val="7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85" name="Freeform 84">
                  <a:extLst>
                    <a:ext uri="{FF2B5EF4-FFF2-40B4-BE49-F238E27FC236}">
                      <a16:creationId xmlns:a16="http://schemas.microsoft.com/office/drawing/2014/main" id="{FEDF7CE4-B83C-67C3-72A0-E844BB5C3A30}"/>
                    </a:ext>
                  </a:extLst>
                </p:cNvPr>
                <p:cNvSpPr/>
                <p:nvPr/>
              </p:nvSpPr>
              <p:spPr>
                <a:xfrm>
                  <a:off x="2598682" y="4231509"/>
                  <a:ext cx="87221" cy="26421"/>
                </a:xfrm>
                <a:custGeom>
                  <a:avLst/>
                  <a:gdLst>
                    <a:gd name="csX0" fmla="*/ 0 w 87221"/>
                    <a:gd name="csY0" fmla="*/ 11747 h 26421"/>
                    <a:gd name="csX1" fmla="*/ 43632 w 87221"/>
                    <a:gd name="csY1" fmla="*/ 11747 h 26421"/>
                    <a:gd name="csX2" fmla="*/ 87221 w 87221"/>
                    <a:gd name="csY2" fmla="*/ 21119 h 2642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87221" h="26421">
                      <a:moveTo>
                        <a:pt x="0" y="11747"/>
                      </a:moveTo>
                      <a:cubicBezTo>
                        <a:pt x="29088" y="-3916"/>
                        <a:pt x="43632" y="-3916"/>
                        <a:pt x="43632" y="11747"/>
                      </a:cubicBezTo>
                      <a:cubicBezTo>
                        <a:pt x="43632" y="27410"/>
                        <a:pt x="58162" y="30534"/>
                        <a:pt x="87221" y="21119"/>
                      </a:cubicBezTo>
                    </a:path>
                  </a:pathLst>
                </a:custGeom>
                <a:noFill/>
                <a:ln w="11331" cap="rnd">
                  <a:solidFill>
                    <a:srgbClr val="FFFFFF">
                      <a:alpha val="7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86" name="Freeform 85">
                  <a:extLst>
                    <a:ext uri="{FF2B5EF4-FFF2-40B4-BE49-F238E27FC236}">
                      <a16:creationId xmlns:a16="http://schemas.microsoft.com/office/drawing/2014/main" id="{0482AC78-CC80-0DB0-47DA-B0B6E68E698F}"/>
                    </a:ext>
                  </a:extLst>
                </p:cNvPr>
                <p:cNvSpPr/>
                <p:nvPr/>
              </p:nvSpPr>
              <p:spPr>
                <a:xfrm>
                  <a:off x="2749674" y="4142609"/>
                  <a:ext cx="100603" cy="30200"/>
                </a:xfrm>
                <a:custGeom>
                  <a:avLst/>
                  <a:gdLst>
                    <a:gd name="csX0" fmla="*/ 0 w 100603"/>
                    <a:gd name="csY0" fmla="*/ 13425 h 30200"/>
                    <a:gd name="csX1" fmla="*/ 50302 w 100603"/>
                    <a:gd name="csY1" fmla="*/ 13425 h 30200"/>
                    <a:gd name="csX2" fmla="*/ 100603 w 100603"/>
                    <a:gd name="csY2" fmla="*/ 24148 h 302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100603" h="30200">
                      <a:moveTo>
                        <a:pt x="0" y="13425"/>
                      </a:moveTo>
                      <a:cubicBezTo>
                        <a:pt x="33534" y="-4475"/>
                        <a:pt x="50302" y="-4475"/>
                        <a:pt x="50302" y="13425"/>
                      </a:cubicBezTo>
                      <a:cubicBezTo>
                        <a:pt x="50302" y="31326"/>
                        <a:pt x="67069" y="34900"/>
                        <a:pt x="100603" y="24148"/>
                      </a:cubicBezTo>
                    </a:path>
                  </a:pathLst>
                </a:custGeom>
                <a:noFill/>
                <a:ln w="11331" cap="rnd">
                  <a:solidFill>
                    <a:srgbClr val="FFFFFF">
                      <a:alpha val="7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2400"/>
                </a:p>
              </p:txBody>
            </p:sp>
            <p:sp>
              <p:nvSpPr>
                <p:cNvPr id="87" name="Freeform 86">
                  <a:extLst>
                    <a:ext uri="{FF2B5EF4-FFF2-40B4-BE49-F238E27FC236}">
                      <a16:creationId xmlns:a16="http://schemas.microsoft.com/office/drawing/2014/main" id="{63E97128-D3FE-498C-BDC2-450BD81F24BC}"/>
                    </a:ext>
                  </a:extLst>
                </p:cNvPr>
                <p:cNvSpPr/>
                <p:nvPr/>
              </p:nvSpPr>
              <p:spPr>
                <a:xfrm>
                  <a:off x="2753031" y="4234865"/>
                  <a:ext cx="87221" cy="26421"/>
                </a:xfrm>
                <a:custGeom>
                  <a:avLst/>
                  <a:gdLst>
                    <a:gd name="csX0" fmla="*/ 0 w 87221"/>
                    <a:gd name="csY0" fmla="*/ 11747 h 26421"/>
                    <a:gd name="csX1" fmla="*/ 43589 w 87221"/>
                    <a:gd name="csY1" fmla="*/ 11747 h 26421"/>
                    <a:gd name="csX2" fmla="*/ 87221 w 87221"/>
                    <a:gd name="csY2" fmla="*/ 21119 h 2642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87221" h="26421">
                      <a:moveTo>
                        <a:pt x="0" y="11747"/>
                      </a:moveTo>
                      <a:cubicBezTo>
                        <a:pt x="29059" y="-3916"/>
                        <a:pt x="43589" y="-3916"/>
                        <a:pt x="43589" y="11747"/>
                      </a:cubicBezTo>
                      <a:cubicBezTo>
                        <a:pt x="43589" y="27410"/>
                        <a:pt x="58133" y="30534"/>
                        <a:pt x="87221" y="21119"/>
                      </a:cubicBezTo>
                    </a:path>
                  </a:pathLst>
                </a:custGeom>
                <a:noFill/>
                <a:ln w="11331" cap="rnd">
                  <a:solidFill>
                    <a:srgbClr val="FFFFFF">
                      <a:alpha val="70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2400"/>
                </a:p>
              </p:txBody>
            </p:sp>
          </p:grpSp>
          <p:sp>
            <p:nvSpPr>
              <p:cNvPr id="79" name="Rounded Rectangle 78">
                <a:extLst>
                  <a:ext uri="{FF2B5EF4-FFF2-40B4-BE49-F238E27FC236}">
                    <a16:creationId xmlns:a16="http://schemas.microsoft.com/office/drawing/2014/main" id="{FAC4B1E3-48BD-F0D4-6906-3C15DE6FB2DB}"/>
                  </a:ext>
                </a:extLst>
              </p:cNvPr>
              <p:cNvSpPr/>
              <p:nvPr/>
            </p:nvSpPr>
            <p:spPr>
              <a:xfrm>
                <a:off x="915662" y="4166517"/>
                <a:ext cx="43588" cy="653834"/>
              </a:xfrm>
              <a:prstGeom prst="roundRect">
                <a:avLst>
                  <a:gd name="adj" fmla="val 50000"/>
                </a:avLst>
              </a:prstGeom>
              <a:solidFill>
                <a:srgbClr val="5AAE7A"/>
              </a:solidFill>
              <a:ln w="435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F83FD540-83F6-B7BC-6659-37464E6FBCAB}"/>
                  </a:ext>
                </a:extLst>
              </p:cNvPr>
              <p:cNvSpPr txBox="1"/>
              <p:nvPr/>
            </p:nvSpPr>
            <p:spPr>
              <a:xfrm>
                <a:off x="1462515" y="4107514"/>
                <a:ext cx="2434080" cy="334707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121920" tIns="60960" rIns="121920" bIns="6096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2100" b="1" dirty="0">
                    <a:ln/>
                    <a:solidFill>
                      <a:srgbClr val="22314A"/>
                    </a:solidFill>
                    <a:latin typeface="Helvetica Neue"/>
                    <a:ea typeface="Helvetica Neue"/>
                    <a:cs typeface="Helvetica Neue"/>
                    <a:sym typeface="Helvetica Neue"/>
                    <a:rtl val="0"/>
                  </a:rPr>
                  <a:t>Spatial Basis Functions</a:t>
                </a: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D910EA71-B493-23CC-3618-654DA789C106}"/>
                  </a:ext>
                </a:extLst>
              </p:cNvPr>
              <p:cNvSpPr txBox="1"/>
              <p:nvPr/>
            </p:nvSpPr>
            <p:spPr>
              <a:xfrm>
                <a:off x="1469339" y="4375660"/>
                <a:ext cx="1872628" cy="259783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121920" tIns="60960" rIns="121920" bIns="6096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451" b="1" dirty="0">
                    <a:ln/>
                    <a:solidFill>
                      <a:srgbClr val="3B7E54"/>
                    </a:solidFill>
                    <a:latin typeface="Helvetica Neue"/>
                    <a:ea typeface="Helvetica Neue"/>
                    <a:cs typeface="Helvetica Neue"/>
                    <a:sym typeface="Helvetica Neue"/>
                    <a:rtl val="0"/>
                  </a:rPr>
                  <a:t>5 gradient / ICA map sets</a:t>
                </a: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79C885A-CEFF-BE87-1246-4EB08F7AF933}"/>
                  </a:ext>
                </a:extLst>
              </p:cNvPr>
              <p:cNvSpPr txBox="1"/>
              <p:nvPr/>
            </p:nvSpPr>
            <p:spPr>
              <a:xfrm>
                <a:off x="1462514" y="4588787"/>
                <a:ext cx="2458125" cy="24237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121920" tIns="60960" rIns="121920" bIns="6096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300" dirty="0">
                    <a:ln/>
                    <a:solidFill>
                      <a:srgbClr val="8A93A6"/>
                    </a:solidFill>
                    <a:latin typeface="Helvetica Neue"/>
                    <a:ea typeface="Helvetica Neue"/>
                    <a:cs typeface="Helvetica Neue"/>
                    <a:sym typeface="Helvetica Neue"/>
                    <a:rtl val="0"/>
                  </a:rPr>
                  <a:t>Cortical gradients · ICAs · transcriptomic</a:t>
                </a:r>
              </a:p>
            </p:txBody>
          </p:sp>
        </p:grp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2762597E-6053-38B6-2DB5-63F014806C06}"/>
              </a:ext>
            </a:extLst>
          </p:cNvPr>
          <p:cNvGrpSpPr/>
          <p:nvPr/>
        </p:nvGrpSpPr>
        <p:grpSpPr>
          <a:xfrm>
            <a:off x="7092808" y="5419416"/>
            <a:ext cx="3836557" cy="917064"/>
            <a:chOff x="4660700" y="4091454"/>
            <a:chExt cx="2877418" cy="687798"/>
          </a:xfrm>
        </p:grpSpPr>
        <p:grpSp>
          <p:nvGrpSpPr>
            <p:cNvPr id="92" name="Graphic 4">
              <a:extLst>
                <a:ext uri="{FF2B5EF4-FFF2-40B4-BE49-F238E27FC236}">
                  <a16:creationId xmlns:a16="http://schemas.microsoft.com/office/drawing/2014/main" id="{F44575C1-8552-73C1-6E1E-6C31652DAB2A}"/>
                </a:ext>
              </a:extLst>
            </p:cNvPr>
            <p:cNvGrpSpPr/>
            <p:nvPr/>
          </p:nvGrpSpPr>
          <p:grpSpPr>
            <a:xfrm>
              <a:off x="4660700" y="4091454"/>
              <a:ext cx="1525614" cy="653834"/>
              <a:chOff x="5204039" y="3879419"/>
              <a:chExt cx="1525614" cy="653834"/>
            </a:xfrm>
          </p:grpSpPr>
          <p:sp>
            <p:nvSpPr>
              <p:cNvPr id="93" name="Rounded Rectangle 92">
                <a:extLst>
                  <a:ext uri="{FF2B5EF4-FFF2-40B4-BE49-F238E27FC236}">
                    <a16:creationId xmlns:a16="http://schemas.microsoft.com/office/drawing/2014/main" id="{00AE657F-E305-3AA7-C539-FA2ED2F4A747}"/>
                  </a:ext>
                </a:extLst>
              </p:cNvPr>
              <p:cNvSpPr/>
              <p:nvPr/>
            </p:nvSpPr>
            <p:spPr>
              <a:xfrm>
                <a:off x="5204039" y="3879419"/>
                <a:ext cx="1525614" cy="653834"/>
              </a:xfrm>
              <a:prstGeom prst="roundRect">
                <a:avLst>
                  <a:gd name="adj" fmla="val 14666"/>
                </a:avLst>
              </a:prstGeom>
              <a:solidFill>
                <a:srgbClr val="FFFFFF"/>
              </a:solidFill>
              <a:ln w="435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94" name="Rounded Rectangle 93">
                <a:extLst>
                  <a:ext uri="{FF2B5EF4-FFF2-40B4-BE49-F238E27FC236}">
                    <a16:creationId xmlns:a16="http://schemas.microsoft.com/office/drawing/2014/main" id="{8FE1961B-D907-D790-FCBC-FD4366E522F0}"/>
                  </a:ext>
                </a:extLst>
              </p:cNvPr>
              <p:cNvSpPr/>
              <p:nvPr/>
            </p:nvSpPr>
            <p:spPr>
              <a:xfrm>
                <a:off x="5204039" y="3879419"/>
                <a:ext cx="43588" cy="653834"/>
              </a:xfrm>
              <a:prstGeom prst="roundRect">
                <a:avLst>
                  <a:gd name="adj" fmla="val 50000"/>
                </a:avLst>
              </a:prstGeom>
              <a:solidFill>
                <a:srgbClr val="8792A6"/>
              </a:solidFill>
              <a:ln w="435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2400"/>
              </a:p>
            </p:txBody>
          </p: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AF98540B-1A3A-E3E4-897C-2B9C070A595A}"/>
                </a:ext>
              </a:extLst>
            </p:cNvPr>
            <p:cNvGrpSpPr/>
            <p:nvPr/>
          </p:nvGrpSpPr>
          <p:grpSpPr>
            <a:xfrm>
              <a:off x="4717366" y="4102095"/>
              <a:ext cx="2820752" cy="677157"/>
              <a:chOff x="4717366" y="4102095"/>
              <a:chExt cx="2820752" cy="677157"/>
            </a:xfrm>
          </p:grpSpPr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9690F95B-306F-86A7-8AC4-2D0C85FF1F63}"/>
                  </a:ext>
                </a:extLst>
              </p:cNvPr>
              <p:cNvGrpSpPr/>
              <p:nvPr/>
            </p:nvGrpSpPr>
            <p:grpSpPr>
              <a:xfrm>
                <a:off x="4717366" y="4169914"/>
                <a:ext cx="496914" cy="496914"/>
                <a:chOff x="4717366" y="4169914"/>
                <a:chExt cx="496914" cy="496914"/>
              </a:xfrm>
            </p:grpSpPr>
            <p:sp>
              <p:nvSpPr>
                <p:cNvPr id="95" name="Oval 94">
                  <a:extLst>
                    <a:ext uri="{FF2B5EF4-FFF2-40B4-BE49-F238E27FC236}">
                      <a16:creationId xmlns:a16="http://schemas.microsoft.com/office/drawing/2014/main" id="{071C011D-3B40-BD56-AB19-BD4CE059DABA}"/>
                    </a:ext>
                  </a:extLst>
                </p:cNvPr>
                <p:cNvSpPr/>
                <p:nvPr/>
              </p:nvSpPr>
              <p:spPr>
                <a:xfrm>
                  <a:off x="4717366" y="4169914"/>
                  <a:ext cx="496914" cy="496914"/>
                </a:xfrm>
                <a:prstGeom prst="ellipse">
                  <a:avLst/>
                </a:prstGeom>
                <a:solidFill>
                  <a:srgbClr val="8792A6">
                    <a:alpha val="14000"/>
                  </a:srgbClr>
                </a:solidFill>
                <a:ln w="4358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2400"/>
                </a:p>
              </p:txBody>
            </p:sp>
            <p:grpSp>
              <p:nvGrpSpPr>
                <p:cNvPr id="96" name="Graphic 4">
                  <a:extLst>
                    <a:ext uri="{FF2B5EF4-FFF2-40B4-BE49-F238E27FC236}">
                      <a16:creationId xmlns:a16="http://schemas.microsoft.com/office/drawing/2014/main" id="{E1247CB9-5510-FF9E-F7EC-74514F97B7A8}"/>
                    </a:ext>
                  </a:extLst>
                </p:cNvPr>
                <p:cNvGrpSpPr/>
                <p:nvPr/>
              </p:nvGrpSpPr>
              <p:grpSpPr>
                <a:xfrm>
                  <a:off x="4787283" y="4264764"/>
                  <a:ext cx="370942" cy="311966"/>
                  <a:chOff x="5330622" y="4052729"/>
                  <a:chExt cx="370942" cy="311966"/>
                </a:xfrm>
              </p:grpSpPr>
              <p:sp>
                <p:nvSpPr>
                  <p:cNvPr id="97" name="Freeform 96">
                    <a:extLst>
                      <a:ext uri="{FF2B5EF4-FFF2-40B4-BE49-F238E27FC236}">
                        <a16:creationId xmlns:a16="http://schemas.microsoft.com/office/drawing/2014/main" id="{CBE15A23-E8AA-F3C9-2522-E21CE5220F35}"/>
                      </a:ext>
                    </a:extLst>
                  </p:cNvPr>
                  <p:cNvSpPr/>
                  <p:nvPr/>
                </p:nvSpPr>
                <p:spPr>
                  <a:xfrm>
                    <a:off x="5330622" y="4052729"/>
                    <a:ext cx="370942" cy="311966"/>
                  </a:xfrm>
                  <a:custGeom>
                    <a:avLst/>
                    <a:gdLst>
                      <a:gd name="csX0" fmla="*/ 362355 w 370942"/>
                      <a:gd name="csY0" fmla="*/ 153608 h 311966"/>
                      <a:gd name="csX1" fmla="*/ 368021 w 370942"/>
                      <a:gd name="csY1" fmla="*/ 139223 h 311966"/>
                      <a:gd name="csX2" fmla="*/ 370942 w 370942"/>
                      <a:gd name="csY2" fmla="*/ 124185 h 311966"/>
                      <a:gd name="csX3" fmla="*/ 370463 w 370942"/>
                      <a:gd name="csY3" fmla="*/ 108972 h 311966"/>
                      <a:gd name="csX4" fmla="*/ 366235 w 370942"/>
                      <a:gd name="csY4" fmla="*/ 94327 h 311966"/>
                      <a:gd name="csX5" fmla="*/ 358432 w 370942"/>
                      <a:gd name="csY5" fmla="*/ 80814 h 311966"/>
                      <a:gd name="csX6" fmla="*/ 347622 w 370942"/>
                      <a:gd name="csY6" fmla="*/ 68871 h 311966"/>
                      <a:gd name="csX7" fmla="*/ 334545 w 370942"/>
                      <a:gd name="csY7" fmla="*/ 58801 h 311966"/>
                      <a:gd name="csX8" fmla="*/ 320205 w 370942"/>
                      <a:gd name="csY8" fmla="*/ 50432 h 311966"/>
                      <a:gd name="csX9" fmla="*/ 305428 w 370942"/>
                      <a:gd name="csY9" fmla="*/ 43502 h 311966"/>
                      <a:gd name="csX10" fmla="*/ 290826 w 370942"/>
                      <a:gd name="csY10" fmla="*/ 37443 h 311966"/>
                      <a:gd name="csX11" fmla="*/ 276790 w 370942"/>
                      <a:gd name="csY11" fmla="*/ 31820 h 311966"/>
                      <a:gd name="csX12" fmla="*/ 263277 w 370942"/>
                      <a:gd name="csY12" fmla="*/ 26241 h 311966"/>
                      <a:gd name="csX13" fmla="*/ 250026 w 370942"/>
                      <a:gd name="csY13" fmla="*/ 20530 h 311966"/>
                      <a:gd name="csX14" fmla="*/ 236775 w 370942"/>
                      <a:gd name="csY14" fmla="*/ 14777 h 311966"/>
                      <a:gd name="csX15" fmla="*/ 223088 w 370942"/>
                      <a:gd name="csY15" fmla="*/ 9371 h 311966"/>
                      <a:gd name="csX16" fmla="*/ 208791 w 370942"/>
                      <a:gd name="csY16" fmla="*/ 4795 h 311966"/>
                      <a:gd name="csX17" fmla="*/ 193884 w 370942"/>
                      <a:gd name="csY17" fmla="*/ 1526 h 311966"/>
                      <a:gd name="csX18" fmla="*/ 178540 w 370942"/>
                      <a:gd name="csY18" fmla="*/ 0 h 311966"/>
                      <a:gd name="csX19" fmla="*/ 163110 w 370942"/>
                      <a:gd name="csY19" fmla="*/ 436 h 311966"/>
                      <a:gd name="csX20" fmla="*/ 147897 w 370942"/>
                      <a:gd name="csY20" fmla="*/ 2746 h 311966"/>
                      <a:gd name="csX21" fmla="*/ 133208 w 370942"/>
                      <a:gd name="csY21" fmla="*/ 6713 h 311966"/>
                      <a:gd name="csX22" fmla="*/ 119085 w 370942"/>
                      <a:gd name="csY22" fmla="*/ 11856 h 311966"/>
                      <a:gd name="csX23" fmla="*/ 105572 w 370942"/>
                      <a:gd name="csY23" fmla="*/ 17784 h 311966"/>
                      <a:gd name="csX24" fmla="*/ 92408 w 370942"/>
                      <a:gd name="csY24" fmla="*/ 24105 h 311966"/>
                      <a:gd name="csX25" fmla="*/ 79375 w 370942"/>
                      <a:gd name="csY25" fmla="*/ 30687 h 311966"/>
                      <a:gd name="csX26" fmla="*/ 66299 w 370942"/>
                      <a:gd name="csY26" fmla="*/ 37486 h 311966"/>
                      <a:gd name="csX27" fmla="*/ 53178 w 370942"/>
                      <a:gd name="csY27" fmla="*/ 44809 h 311966"/>
                      <a:gd name="csX28" fmla="*/ 40320 w 370942"/>
                      <a:gd name="csY28" fmla="*/ 52960 h 311966"/>
                      <a:gd name="csX29" fmla="*/ 28202 w 370942"/>
                      <a:gd name="csY29" fmla="*/ 62245 h 311966"/>
                      <a:gd name="csX30" fmla="*/ 17479 w 370942"/>
                      <a:gd name="csY30" fmla="*/ 72881 h 311966"/>
                      <a:gd name="csX31" fmla="*/ 8892 w 370942"/>
                      <a:gd name="csY31" fmla="*/ 84955 h 311966"/>
                      <a:gd name="csX32" fmla="*/ 2964 w 370942"/>
                      <a:gd name="csY32" fmla="*/ 98119 h 311966"/>
                      <a:gd name="csX33" fmla="*/ 0 w 370942"/>
                      <a:gd name="csY33" fmla="*/ 112111 h 311966"/>
                      <a:gd name="csX34" fmla="*/ 0 w 370942"/>
                      <a:gd name="csY34" fmla="*/ 126277 h 311966"/>
                      <a:gd name="csX35" fmla="*/ 2484 w 370942"/>
                      <a:gd name="csY35" fmla="*/ 140226 h 311966"/>
                      <a:gd name="csX36" fmla="*/ 6756 w 370942"/>
                      <a:gd name="csY36" fmla="*/ 153608 h 311966"/>
                      <a:gd name="csX37" fmla="*/ 11943 w 370942"/>
                      <a:gd name="csY37" fmla="*/ 166248 h 311966"/>
                      <a:gd name="csX38" fmla="*/ 17174 w 370942"/>
                      <a:gd name="csY38" fmla="*/ 178322 h 311966"/>
                      <a:gd name="csX39" fmla="*/ 21838 w 370942"/>
                      <a:gd name="csY39" fmla="*/ 190048 h 311966"/>
                      <a:gd name="csX40" fmla="*/ 25630 w 370942"/>
                      <a:gd name="csY40" fmla="*/ 201904 h 311966"/>
                      <a:gd name="csX41" fmla="*/ 28769 w 370942"/>
                      <a:gd name="csY41" fmla="*/ 214240 h 311966"/>
                      <a:gd name="csX42" fmla="*/ 31646 w 370942"/>
                      <a:gd name="csY42" fmla="*/ 227229 h 311966"/>
                      <a:gd name="csX43" fmla="*/ 35045 w 370942"/>
                      <a:gd name="csY43" fmla="*/ 240829 h 311966"/>
                      <a:gd name="csX44" fmla="*/ 39753 w 370942"/>
                      <a:gd name="csY44" fmla="*/ 254690 h 311966"/>
                      <a:gd name="csX45" fmla="*/ 46422 w 370942"/>
                      <a:gd name="csY45" fmla="*/ 268247 h 311966"/>
                      <a:gd name="csX46" fmla="*/ 55532 w 370942"/>
                      <a:gd name="csY46" fmla="*/ 280844 h 311966"/>
                      <a:gd name="csX47" fmla="*/ 67084 w 370942"/>
                      <a:gd name="csY47" fmla="*/ 291741 h 311966"/>
                      <a:gd name="csX48" fmla="*/ 80857 w 370942"/>
                      <a:gd name="csY48" fmla="*/ 300459 h 311966"/>
                      <a:gd name="csX49" fmla="*/ 96332 w 370942"/>
                      <a:gd name="csY49" fmla="*/ 306648 h 311966"/>
                      <a:gd name="csX50" fmla="*/ 112808 w 370942"/>
                      <a:gd name="csY50" fmla="*/ 310397 h 311966"/>
                      <a:gd name="csX51" fmla="*/ 129677 w 370942"/>
                      <a:gd name="csY51" fmla="*/ 311966 h 311966"/>
                      <a:gd name="csX52" fmla="*/ 146415 w 370942"/>
                      <a:gd name="csY52" fmla="*/ 311836 h 311966"/>
                      <a:gd name="csX53" fmla="*/ 162717 w 370942"/>
                      <a:gd name="csY53" fmla="*/ 310572 h 311966"/>
                      <a:gd name="csX54" fmla="*/ 178540 w 370942"/>
                      <a:gd name="csY54" fmla="*/ 308610 h 311966"/>
                      <a:gd name="csX55" fmla="*/ 193927 w 370942"/>
                      <a:gd name="csY55" fmla="*/ 306256 h 311966"/>
                      <a:gd name="csX56" fmla="*/ 209009 w 370942"/>
                      <a:gd name="csY56" fmla="*/ 303554 h 311966"/>
                      <a:gd name="csX57" fmla="*/ 223829 w 370942"/>
                      <a:gd name="csY57" fmla="*/ 300328 h 311966"/>
                      <a:gd name="csX58" fmla="*/ 238388 w 370942"/>
                      <a:gd name="csY58" fmla="*/ 296274 h 311966"/>
                      <a:gd name="csX59" fmla="*/ 252380 w 370942"/>
                      <a:gd name="csY59" fmla="*/ 291087 h 311966"/>
                      <a:gd name="csX60" fmla="*/ 265587 w 370942"/>
                      <a:gd name="csY60" fmla="*/ 284462 h 311966"/>
                      <a:gd name="csX61" fmla="*/ 277574 w 370942"/>
                      <a:gd name="csY61" fmla="*/ 276354 h 311966"/>
                      <a:gd name="csX62" fmla="*/ 288079 w 370942"/>
                      <a:gd name="csY62" fmla="*/ 266939 h 311966"/>
                      <a:gd name="csX63" fmla="*/ 297059 w 370942"/>
                      <a:gd name="csY63" fmla="*/ 256477 h 311966"/>
                      <a:gd name="csX64" fmla="*/ 304643 w 370942"/>
                      <a:gd name="csY64" fmla="*/ 245450 h 311966"/>
                      <a:gd name="csX65" fmla="*/ 311269 w 370942"/>
                      <a:gd name="csY65" fmla="*/ 234247 h 311966"/>
                      <a:gd name="csX66" fmla="*/ 317415 w 370942"/>
                      <a:gd name="csY66" fmla="*/ 223219 h 311966"/>
                      <a:gd name="csX67" fmla="*/ 323735 w 370942"/>
                      <a:gd name="csY67" fmla="*/ 212365 h 311966"/>
                      <a:gd name="csX68" fmla="*/ 330666 w 370942"/>
                      <a:gd name="csY68" fmla="*/ 201643 h 311966"/>
                      <a:gd name="csX69" fmla="*/ 338338 w 370942"/>
                      <a:gd name="csY69" fmla="*/ 190789 h 311966"/>
                      <a:gd name="csX70" fmla="*/ 346620 w 370942"/>
                      <a:gd name="csY70" fmla="*/ 179325 h 311966"/>
                      <a:gd name="csX71" fmla="*/ 354901 w 370942"/>
                      <a:gd name="csY71" fmla="*/ 166989 h 31196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  <a:cxn ang="0">
                        <a:pos x="csX48" y="csY48"/>
                      </a:cxn>
                      <a:cxn ang="0">
                        <a:pos x="csX49" y="csY49"/>
                      </a:cxn>
                      <a:cxn ang="0">
                        <a:pos x="csX50" y="csY50"/>
                      </a:cxn>
                      <a:cxn ang="0">
                        <a:pos x="csX51" y="csY51"/>
                      </a:cxn>
                      <a:cxn ang="0">
                        <a:pos x="csX52" y="csY52"/>
                      </a:cxn>
                      <a:cxn ang="0">
                        <a:pos x="csX53" y="csY53"/>
                      </a:cxn>
                      <a:cxn ang="0">
                        <a:pos x="csX54" y="csY54"/>
                      </a:cxn>
                      <a:cxn ang="0">
                        <a:pos x="csX55" y="csY55"/>
                      </a:cxn>
                      <a:cxn ang="0">
                        <a:pos x="csX56" y="csY56"/>
                      </a:cxn>
                      <a:cxn ang="0">
                        <a:pos x="csX57" y="csY57"/>
                      </a:cxn>
                      <a:cxn ang="0">
                        <a:pos x="csX58" y="csY58"/>
                      </a:cxn>
                      <a:cxn ang="0">
                        <a:pos x="csX59" y="csY59"/>
                      </a:cxn>
                      <a:cxn ang="0">
                        <a:pos x="csX60" y="csY60"/>
                      </a:cxn>
                      <a:cxn ang="0">
                        <a:pos x="csX61" y="csY61"/>
                      </a:cxn>
                      <a:cxn ang="0">
                        <a:pos x="csX62" y="csY62"/>
                      </a:cxn>
                      <a:cxn ang="0">
                        <a:pos x="csX63" y="csY63"/>
                      </a:cxn>
                      <a:cxn ang="0">
                        <a:pos x="csX64" y="csY64"/>
                      </a:cxn>
                      <a:cxn ang="0">
                        <a:pos x="csX65" y="csY65"/>
                      </a:cxn>
                      <a:cxn ang="0">
                        <a:pos x="csX66" y="csY66"/>
                      </a:cxn>
                      <a:cxn ang="0">
                        <a:pos x="csX67" y="csY67"/>
                      </a:cxn>
                      <a:cxn ang="0">
                        <a:pos x="csX68" y="csY68"/>
                      </a:cxn>
                      <a:cxn ang="0">
                        <a:pos x="csX69" y="csY69"/>
                      </a:cxn>
                      <a:cxn ang="0">
                        <a:pos x="csX70" y="csY70"/>
                      </a:cxn>
                      <a:cxn ang="0">
                        <a:pos x="csX71" y="csY71"/>
                      </a:cxn>
                    </a:cxnLst>
                    <a:rect l="l" t="t" r="r" b="b"/>
                    <a:pathLst>
                      <a:path w="370942" h="311966">
                        <a:moveTo>
                          <a:pt x="362355" y="153608"/>
                        </a:moveTo>
                        <a:lnTo>
                          <a:pt x="368021" y="139223"/>
                        </a:lnTo>
                        <a:lnTo>
                          <a:pt x="370942" y="124185"/>
                        </a:lnTo>
                        <a:lnTo>
                          <a:pt x="370463" y="108972"/>
                        </a:lnTo>
                        <a:lnTo>
                          <a:pt x="366235" y="94327"/>
                        </a:lnTo>
                        <a:lnTo>
                          <a:pt x="358432" y="80814"/>
                        </a:lnTo>
                        <a:lnTo>
                          <a:pt x="347622" y="68871"/>
                        </a:lnTo>
                        <a:lnTo>
                          <a:pt x="334545" y="58801"/>
                        </a:lnTo>
                        <a:lnTo>
                          <a:pt x="320205" y="50432"/>
                        </a:lnTo>
                        <a:lnTo>
                          <a:pt x="305428" y="43502"/>
                        </a:lnTo>
                        <a:lnTo>
                          <a:pt x="290826" y="37443"/>
                        </a:lnTo>
                        <a:lnTo>
                          <a:pt x="276790" y="31820"/>
                        </a:lnTo>
                        <a:lnTo>
                          <a:pt x="263277" y="26241"/>
                        </a:lnTo>
                        <a:lnTo>
                          <a:pt x="250026" y="20530"/>
                        </a:lnTo>
                        <a:lnTo>
                          <a:pt x="236775" y="14777"/>
                        </a:lnTo>
                        <a:lnTo>
                          <a:pt x="223088" y="9371"/>
                        </a:lnTo>
                        <a:lnTo>
                          <a:pt x="208791" y="4795"/>
                        </a:lnTo>
                        <a:lnTo>
                          <a:pt x="193884" y="1526"/>
                        </a:lnTo>
                        <a:lnTo>
                          <a:pt x="178540" y="0"/>
                        </a:lnTo>
                        <a:lnTo>
                          <a:pt x="163110" y="436"/>
                        </a:lnTo>
                        <a:lnTo>
                          <a:pt x="147897" y="2746"/>
                        </a:lnTo>
                        <a:lnTo>
                          <a:pt x="133208" y="6713"/>
                        </a:lnTo>
                        <a:lnTo>
                          <a:pt x="119085" y="11856"/>
                        </a:lnTo>
                        <a:lnTo>
                          <a:pt x="105572" y="17784"/>
                        </a:lnTo>
                        <a:lnTo>
                          <a:pt x="92408" y="24105"/>
                        </a:lnTo>
                        <a:lnTo>
                          <a:pt x="79375" y="30687"/>
                        </a:lnTo>
                        <a:lnTo>
                          <a:pt x="66299" y="37486"/>
                        </a:lnTo>
                        <a:lnTo>
                          <a:pt x="53178" y="44809"/>
                        </a:lnTo>
                        <a:lnTo>
                          <a:pt x="40320" y="52960"/>
                        </a:lnTo>
                        <a:lnTo>
                          <a:pt x="28202" y="62245"/>
                        </a:lnTo>
                        <a:lnTo>
                          <a:pt x="17479" y="72881"/>
                        </a:lnTo>
                        <a:lnTo>
                          <a:pt x="8892" y="84955"/>
                        </a:lnTo>
                        <a:lnTo>
                          <a:pt x="2964" y="98119"/>
                        </a:lnTo>
                        <a:lnTo>
                          <a:pt x="0" y="112111"/>
                        </a:lnTo>
                        <a:lnTo>
                          <a:pt x="0" y="126277"/>
                        </a:lnTo>
                        <a:lnTo>
                          <a:pt x="2484" y="140226"/>
                        </a:lnTo>
                        <a:lnTo>
                          <a:pt x="6756" y="153608"/>
                        </a:lnTo>
                        <a:lnTo>
                          <a:pt x="11943" y="166248"/>
                        </a:lnTo>
                        <a:lnTo>
                          <a:pt x="17174" y="178322"/>
                        </a:lnTo>
                        <a:lnTo>
                          <a:pt x="21838" y="190048"/>
                        </a:lnTo>
                        <a:lnTo>
                          <a:pt x="25630" y="201904"/>
                        </a:lnTo>
                        <a:lnTo>
                          <a:pt x="28769" y="214240"/>
                        </a:lnTo>
                        <a:lnTo>
                          <a:pt x="31646" y="227229"/>
                        </a:lnTo>
                        <a:lnTo>
                          <a:pt x="35045" y="240829"/>
                        </a:lnTo>
                        <a:lnTo>
                          <a:pt x="39753" y="254690"/>
                        </a:lnTo>
                        <a:lnTo>
                          <a:pt x="46422" y="268247"/>
                        </a:lnTo>
                        <a:lnTo>
                          <a:pt x="55532" y="280844"/>
                        </a:lnTo>
                        <a:lnTo>
                          <a:pt x="67084" y="291741"/>
                        </a:lnTo>
                        <a:lnTo>
                          <a:pt x="80857" y="300459"/>
                        </a:lnTo>
                        <a:lnTo>
                          <a:pt x="96332" y="306648"/>
                        </a:lnTo>
                        <a:lnTo>
                          <a:pt x="112808" y="310397"/>
                        </a:lnTo>
                        <a:lnTo>
                          <a:pt x="129677" y="311966"/>
                        </a:lnTo>
                        <a:lnTo>
                          <a:pt x="146415" y="311836"/>
                        </a:lnTo>
                        <a:lnTo>
                          <a:pt x="162717" y="310572"/>
                        </a:lnTo>
                        <a:lnTo>
                          <a:pt x="178540" y="308610"/>
                        </a:lnTo>
                        <a:lnTo>
                          <a:pt x="193927" y="306256"/>
                        </a:lnTo>
                        <a:lnTo>
                          <a:pt x="209009" y="303554"/>
                        </a:lnTo>
                        <a:lnTo>
                          <a:pt x="223829" y="300328"/>
                        </a:lnTo>
                        <a:lnTo>
                          <a:pt x="238388" y="296274"/>
                        </a:lnTo>
                        <a:lnTo>
                          <a:pt x="252380" y="291087"/>
                        </a:lnTo>
                        <a:lnTo>
                          <a:pt x="265587" y="284462"/>
                        </a:lnTo>
                        <a:lnTo>
                          <a:pt x="277574" y="276354"/>
                        </a:lnTo>
                        <a:lnTo>
                          <a:pt x="288079" y="266939"/>
                        </a:lnTo>
                        <a:lnTo>
                          <a:pt x="297059" y="256477"/>
                        </a:lnTo>
                        <a:lnTo>
                          <a:pt x="304643" y="245450"/>
                        </a:lnTo>
                        <a:lnTo>
                          <a:pt x="311269" y="234247"/>
                        </a:lnTo>
                        <a:lnTo>
                          <a:pt x="317415" y="223219"/>
                        </a:lnTo>
                        <a:lnTo>
                          <a:pt x="323735" y="212365"/>
                        </a:lnTo>
                        <a:lnTo>
                          <a:pt x="330666" y="201643"/>
                        </a:lnTo>
                        <a:lnTo>
                          <a:pt x="338338" y="190789"/>
                        </a:lnTo>
                        <a:lnTo>
                          <a:pt x="346620" y="179325"/>
                        </a:lnTo>
                        <a:lnTo>
                          <a:pt x="354901" y="166989"/>
                        </a:lnTo>
                        <a:close/>
                      </a:path>
                    </a:pathLst>
                  </a:custGeom>
                  <a:solidFill>
                    <a:srgbClr val="8792A6"/>
                  </a:solidFill>
                  <a:ln w="15080" cap="flat">
                    <a:solidFill>
                      <a:srgbClr val="5B6070"/>
                    </a:solidFill>
                    <a:prstDash val="solid"/>
                    <a:round/>
                  </a:ln>
                </p:spPr>
                <p:txBody>
                  <a:bodyPr/>
                  <a:lstStyle/>
                  <a:p>
                    <a:endParaRPr lang="en-US" sz="2400"/>
                  </a:p>
                </p:txBody>
              </p:sp>
              <p:sp>
                <p:nvSpPr>
                  <p:cNvPr id="98" name="Freeform 97">
                    <a:extLst>
                      <a:ext uri="{FF2B5EF4-FFF2-40B4-BE49-F238E27FC236}">
                        <a16:creationId xmlns:a16="http://schemas.microsoft.com/office/drawing/2014/main" id="{D6251CB8-B969-BCEF-A06B-A880397BFB0A}"/>
                      </a:ext>
                    </a:extLst>
                  </p:cNvPr>
                  <p:cNvSpPr/>
                  <p:nvPr/>
                </p:nvSpPr>
                <p:spPr>
                  <a:xfrm>
                    <a:off x="5504318" y="4062100"/>
                    <a:ext cx="9688" cy="281759"/>
                  </a:xfrm>
                  <a:custGeom>
                    <a:avLst/>
                    <a:gdLst>
                      <a:gd name="csX0" fmla="*/ 4844 w 9688"/>
                      <a:gd name="csY0" fmla="*/ 0 h 281759"/>
                      <a:gd name="csX1" fmla="*/ 4844 w 9688"/>
                      <a:gd name="csY1" fmla="*/ 281759 h 28175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9688" h="281759">
                        <a:moveTo>
                          <a:pt x="4844" y="0"/>
                        </a:moveTo>
                        <a:cubicBezTo>
                          <a:pt x="21626" y="93934"/>
                          <a:pt x="-11937" y="194538"/>
                          <a:pt x="4844" y="281759"/>
                        </a:cubicBezTo>
                      </a:path>
                    </a:pathLst>
                  </a:custGeom>
                  <a:noFill/>
                  <a:ln w="12813" cap="rnd">
                    <a:solidFill>
                      <a:srgbClr val="FFFFFF">
                        <a:alpha val="85000"/>
                      </a:srgbClr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US" sz="2400"/>
                  </a:p>
                </p:txBody>
              </p:sp>
              <p:sp>
                <p:nvSpPr>
                  <p:cNvPr id="99" name="Freeform 98">
                    <a:extLst>
                      <a:ext uri="{FF2B5EF4-FFF2-40B4-BE49-F238E27FC236}">
                        <a16:creationId xmlns:a16="http://schemas.microsoft.com/office/drawing/2014/main" id="{92D4A753-DB73-C5BD-DDCE-7C19CC43338F}"/>
                      </a:ext>
                    </a:extLst>
                  </p:cNvPr>
                  <p:cNvSpPr/>
                  <p:nvPr/>
                </p:nvSpPr>
                <p:spPr>
                  <a:xfrm>
                    <a:off x="5378352" y="4139253"/>
                    <a:ext cx="100603" cy="30200"/>
                  </a:xfrm>
                  <a:custGeom>
                    <a:avLst/>
                    <a:gdLst>
                      <a:gd name="csX0" fmla="*/ 0 w 100603"/>
                      <a:gd name="csY0" fmla="*/ 13425 h 30200"/>
                      <a:gd name="csX1" fmla="*/ 50302 w 100603"/>
                      <a:gd name="csY1" fmla="*/ 13425 h 30200"/>
                      <a:gd name="csX2" fmla="*/ 100603 w 100603"/>
                      <a:gd name="csY2" fmla="*/ 24148 h 302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100603" h="30200">
                        <a:moveTo>
                          <a:pt x="0" y="13425"/>
                        </a:moveTo>
                        <a:cubicBezTo>
                          <a:pt x="33535" y="-4475"/>
                          <a:pt x="50302" y="-4475"/>
                          <a:pt x="50302" y="13425"/>
                        </a:cubicBezTo>
                        <a:cubicBezTo>
                          <a:pt x="50302" y="31326"/>
                          <a:pt x="67069" y="34900"/>
                          <a:pt x="100603" y="24148"/>
                        </a:cubicBezTo>
                      </a:path>
                    </a:pathLst>
                  </a:custGeom>
                  <a:noFill/>
                  <a:ln w="11331" cap="rnd">
                    <a:solidFill>
                      <a:srgbClr val="FFFFFF">
                        <a:alpha val="70000"/>
                      </a:srgbClr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US" sz="2400"/>
                  </a:p>
                </p:txBody>
              </p:sp>
              <p:sp>
                <p:nvSpPr>
                  <p:cNvPr id="100" name="Freeform 99">
                    <a:extLst>
                      <a:ext uri="{FF2B5EF4-FFF2-40B4-BE49-F238E27FC236}">
                        <a16:creationId xmlns:a16="http://schemas.microsoft.com/office/drawing/2014/main" id="{F9A32495-4653-BBB9-0F60-EFBB788A5766}"/>
                      </a:ext>
                    </a:extLst>
                  </p:cNvPr>
                  <p:cNvSpPr/>
                  <p:nvPr/>
                </p:nvSpPr>
                <p:spPr>
                  <a:xfrm>
                    <a:off x="5388377" y="4231509"/>
                    <a:ext cx="87221" cy="26421"/>
                  </a:xfrm>
                  <a:custGeom>
                    <a:avLst/>
                    <a:gdLst>
                      <a:gd name="csX0" fmla="*/ 0 w 87221"/>
                      <a:gd name="csY0" fmla="*/ 11747 h 26421"/>
                      <a:gd name="csX1" fmla="*/ 43633 w 87221"/>
                      <a:gd name="csY1" fmla="*/ 11747 h 26421"/>
                      <a:gd name="csX2" fmla="*/ 87222 w 87221"/>
                      <a:gd name="csY2" fmla="*/ 21119 h 2642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87221" h="26421">
                        <a:moveTo>
                          <a:pt x="0" y="11747"/>
                        </a:moveTo>
                        <a:cubicBezTo>
                          <a:pt x="29088" y="-3916"/>
                          <a:pt x="43633" y="-3916"/>
                          <a:pt x="43633" y="11747"/>
                        </a:cubicBezTo>
                        <a:cubicBezTo>
                          <a:pt x="43633" y="27410"/>
                          <a:pt x="58162" y="30534"/>
                          <a:pt x="87222" y="21119"/>
                        </a:cubicBezTo>
                      </a:path>
                    </a:pathLst>
                  </a:custGeom>
                  <a:noFill/>
                  <a:ln w="11331" cap="rnd">
                    <a:solidFill>
                      <a:srgbClr val="FFFFFF">
                        <a:alpha val="70000"/>
                      </a:srgbClr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US" sz="2400"/>
                  </a:p>
                </p:txBody>
              </p:sp>
              <p:sp>
                <p:nvSpPr>
                  <p:cNvPr id="101" name="Freeform 100">
                    <a:extLst>
                      <a:ext uri="{FF2B5EF4-FFF2-40B4-BE49-F238E27FC236}">
                        <a16:creationId xmlns:a16="http://schemas.microsoft.com/office/drawing/2014/main" id="{B31514A6-E58F-4FBB-CDC2-C0A6F5221C77}"/>
                      </a:ext>
                    </a:extLst>
                  </p:cNvPr>
                  <p:cNvSpPr/>
                  <p:nvPr/>
                </p:nvSpPr>
                <p:spPr>
                  <a:xfrm>
                    <a:off x="5539370" y="4142609"/>
                    <a:ext cx="100603" cy="30200"/>
                  </a:xfrm>
                  <a:custGeom>
                    <a:avLst/>
                    <a:gdLst>
                      <a:gd name="csX0" fmla="*/ 0 w 100603"/>
                      <a:gd name="csY0" fmla="*/ 13425 h 30200"/>
                      <a:gd name="csX1" fmla="*/ 50301 w 100603"/>
                      <a:gd name="csY1" fmla="*/ 13425 h 30200"/>
                      <a:gd name="csX2" fmla="*/ 100603 w 100603"/>
                      <a:gd name="csY2" fmla="*/ 24148 h 302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100603" h="30200">
                        <a:moveTo>
                          <a:pt x="0" y="13425"/>
                        </a:moveTo>
                        <a:cubicBezTo>
                          <a:pt x="33534" y="-4475"/>
                          <a:pt x="50301" y="-4475"/>
                          <a:pt x="50301" y="13425"/>
                        </a:cubicBezTo>
                        <a:cubicBezTo>
                          <a:pt x="50301" y="31326"/>
                          <a:pt x="67069" y="34900"/>
                          <a:pt x="100603" y="24148"/>
                        </a:cubicBezTo>
                      </a:path>
                    </a:pathLst>
                  </a:custGeom>
                  <a:noFill/>
                  <a:ln w="11331" cap="rnd">
                    <a:solidFill>
                      <a:srgbClr val="FFFFFF">
                        <a:alpha val="70000"/>
                      </a:srgbClr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US" sz="2400"/>
                  </a:p>
                </p:txBody>
              </p:sp>
              <p:sp>
                <p:nvSpPr>
                  <p:cNvPr id="102" name="Freeform 101">
                    <a:extLst>
                      <a:ext uri="{FF2B5EF4-FFF2-40B4-BE49-F238E27FC236}">
                        <a16:creationId xmlns:a16="http://schemas.microsoft.com/office/drawing/2014/main" id="{82C41523-A24D-239C-5EF6-EEDC24C4B480}"/>
                      </a:ext>
                    </a:extLst>
                  </p:cNvPr>
                  <p:cNvSpPr/>
                  <p:nvPr/>
                </p:nvSpPr>
                <p:spPr>
                  <a:xfrm>
                    <a:off x="5542725" y="4234865"/>
                    <a:ext cx="87221" cy="26421"/>
                  </a:xfrm>
                  <a:custGeom>
                    <a:avLst/>
                    <a:gdLst>
                      <a:gd name="csX0" fmla="*/ 0 w 87221"/>
                      <a:gd name="csY0" fmla="*/ 11747 h 26421"/>
                      <a:gd name="csX1" fmla="*/ 43589 w 87221"/>
                      <a:gd name="csY1" fmla="*/ 11747 h 26421"/>
                      <a:gd name="csX2" fmla="*/ 87222 w 87221"/>
                      <a:gd name="csY2" fmla="*/ 21119 h 2642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</a:cxnLst>
                    <a:rect l="l" t="t" r="r" b="b"/>
                    <a:pathLst>
                      <a:path w="87221" h="26421">
                        <a:moveTo>
                          <a:pt x="0" y="11747"/>
                        </a:moveTo>
                        <a:cubicBezTo>
                          <a:pt x="29060" y="-3916"/>
                          <a:pt x="43589" y="-3916"/>
                          <a:pt x="43589" y="11747"/>
                        </a:cubicBezTo>
                        <a:cubicBezTo>
                          <a:pt x="43589" y="27410"/>
                          <a:pt x="58133" y="30534"/>
                          <a:pt x="87222" y="21119"/>
                        </a:cubicBezTo>
                      </a:path>
                    </a:pathLst>
                  </a:custGeom>
                  <a:noFill/>
                  <a:ln w="11331" cap="rnd">
                    <a:solidFill>
                      <a:srgbClr val="FFFFFF">
                        <a:alpha val="70000"/>
                      </a:srgbClr>
                    </a:solidFill>
                    <a:prstDash val="solid"/>
                    <a:miter/>
                  </a:ln>
                </p:spPr>
                <p:txBody>
                  <a:bodyPr/>
                  <a:lstStyle/>
                  <a:p>
                    <a:endParaRPr lang="en-US" sz="2400"/>
                  </a:p>
                </p:txBody>
              </p:sp>
            </p:grpSp>
            <p:sp>
              <p:nvSpPr>
                <p:cNvPr id="103" name="Oval 102">
                  <a:extLst>
                    <a:ext uri="{FF2B5EF4-FFF2-40B4-BE49-F238E27FC236}">
                      <a16:creationId xmlns:a16="http://schemas.microsoft.com/office/drawing/2014/main" id="{EC81F69F-9353-E87E-0245-59ED55CBA045}"/>
                    </a:ext>
                  </a:extLst>
                </p:cNvPr>
                <p:cNvSpPr/>
                <p:nvPr/>
              </p:nvSpPr>
              <p:spPr>
                <a:xfrm>
                  <a:off x="4717366" y="4169914"/>
                  <a:ext cx="496914" cy="496914"/>
                </a:xfrm>
                <a:prstGeom prst="ellipse">
                  <a:avLst/>
                </a:prstGeom>
                <a:noFill/>
                <a:ln w="13075" cap="flat">
                  <a:solidFill>
                    <a:srgbClr val="8792A6">
                      <a:alpha val="85000"/>
                    </a:srgb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2400"/>
                </a:p>
              </p:txBody>
            </p:sp>
          </p:grp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2D886995-4A94-10A7-F966-E925A0BD020A}"/>
                  </a:ext>
                </a:extLst>
              </p:cNvPr>
              <p:cNvSpPr txBox="1"/>
              <p:nvPr/>
            </p:nvSpPr>
            <p:spPr>
              <a:xfrm>
                <a:off x="5187483" y="4102095"/>
                <a:ext cx="1169744" cy="334707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121920" tIns="60960" rIns="121920" bIns="6096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2100" b="1" dirty="0">
                    <a:ln/>
                    <a:solidFill>
                      <a:srgbClr val="22314A"/>
                    </a:solidFill>
                    <a:latin typeface="Helvetica Neue"/>
                    <a:ea typeface="Helvetica Neue"/>
                    <a:cs typeface="Helvetica Neue"/>
                    <a:sym typeface="Helvetica Neue"/>
                    <a:rtl val="0"/>
                  </a:rPr>
                  <a:t>Templates</a:t>
                </a: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454EF22-F7CE-899A-D8D0-5048F71E0A54}"/>
                  </a:ext>
                </a:extLst>
              </p:cNvPr>
              <p:cNvSpPr txBox="1"/>
              <p:nvPr/>
            </p:nvSpPr>
            <p:spPr>
              <a:xfrm>
                <a:off x="5194206" y="4341539"/>
                <a:ext cx="1581491" cy="259783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121920" tIns="60960" rIns="121920" bIns="6096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451" b="1" dirty="0">
                    <a:ln/>
                    <a:solidFill>
                      <a:srgbClr val="5B6070"/>
                    </a:solidFill>
                    <a:latin typeface="Helvetica Neue"/>
                    <a:ea typeface="Helvetica Neue"/>
                    <a:cs typeface="Helvetica Neue"/>
                    <a:sym typeface="Helvetica Neue"/>
                    <a:rtl val="0"/>
                  </a:rPr>
                  <a:t>MNI reference brains</a:t>
                </a:r>
              </a:p>
            </p:txBody>
          </p: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7BCBAE5E-ED05-2D70-B896-B9DBFE88214B}"/>
                  </a:ext>
                </a:extLst>
              </p:cNvPr>
              <p:cNvSpPr txBox="1"/>
              <p:nvPr/>
            </p:nvSpPr>
            <p:spPr>
              <a:xfrm>
                <a:off x="5194207" y="4536878"/>
                <a:ext cx="2343911" cy="24237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121920" tIns="60960" rIns="121920" bIns="6096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300" dirty="0">
                    <a:ln/>
                    <a:solidFill>
                      <a:srgbClr val="8A93A6"/>
                    </a:solidFill>
                    <a:latin typeface="Helvetica Neue"/>
                    <a:ea typeface="Helvetica Neue"/>
                    <a:cs typeface="Helvetica Neue"/>
                    <a:sym typeface="Helvetica Neue"/>
                    <a:rtl val="0"/>
                  </a:rPr>
                  <a:t>T1 templates · cerebellum · transforms</a:t>
                </a:r>
              </a:p>
            </p:txBody>
          </p:sp>
        </p:grpSp>
      </p:grpSp>
      <p:sp>
        <p:nvSpPr>
          <p:cNvPr id="107" name="Oval 106">
            <a:extLst>
              <a:ext uri="{FF2B5EF4-FFF2-40B4-BE49-F238E27FC236}">
                <a16:creationId xmlns:a16="http://schemas.microsoft.com/office/drawing/2014/main" id="{27C65C30-399D-A389-C2AD-9ABD5C4B3F0F}"/>
              </a:ext>
            </a:extLst>
          </p:cNvPr>
          <p:cNvSpPr/>
          <p:nvPr/>
        </p:nvSpPr>
        <p:spPr>
          <a:xfrm>
            <a:off x="4825232" y="3281635"/>
            <a:ext cx="1092629" cy="1092629"/>
          </a:xfrm>
          <a:prstGeom prst="ellipse">
            <a:avLst/>
          </a:prstGeom>
          <a:solidFill>
            <a:srgbClr val="2C4A63"/>
          </a:solidFill>
          <a:ln w="4358" cap="flat">
            <a:noFill/>
            <a:prstDash val="solid"/>
            <a:miter/>
          </a:ln>
        </p:spPr>
        <p:txBody>
          <a:bodyPr/>
          <a:lstStyle/>
          <a:p>
            <a:endParaRPr lang="en-US" sz="2400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8827E1B6-3D09-1118-779D-9F7B49B50F6F}"/>
              </a:ext>
            </a:extLst>
          </p:cNvPr>
          <p:cNvSpPr/>
          <p:nvPr/>
        </p:nvSpPr>
        <p:spPr>
          <a:xfrm>
            <a:off x="4825232" y="3281635"/>
            <a:ext cx="1092629" cy="1092629"/>
          </a:xfrm>
          <a:prstGeom prst="ellipse">
            <a:avLst/>
          </a:prstGeom>
          <a:noFill/>
          <a:ln w="8716" cap="flat">
            <a:solidFill>
              <a:srgbClr val="FFFFFF">
                <a:alpha val="18000"/>
              </a:srgbClr>
            </a:solidFill>
            <a:prstDash val="solid"/>
            <a:miter/>
          </a:ln>
        </p:spPr>
        <p:txBody>
          <a:bodyPr/>
          <a:lstStyle/>
          <a:p>
            <a:endParaRPr lang="en-US" sz="2400"/>
          </a:p>
        </p:txBody>
      </p:sp>
      <p:grpSp>
        <p:nvGrpSpPr>
          <p:cNvPr id="109" name="Graphic 4">
            <a:extLst>
              <a:ext uri="{FF2B5EF4-FFF2-40B4-BE49-F238E27FC236}">
                <a16:creationId xmlns:a16="http://schemas.microsoft.com/office/drawing/2014/main" id="{36A81168-188A-8A72-EBB2-6CB9BF82A60F}"/>
              </a:ext>
            </a:extLst>
          </p:cNvPr>
          <p:cNvGrpSpPr/>
          <p:nvPr/>
        </p:nvGrpSpPr>
        <p:grpSpPr>
          <a:xfrm>
            <a:off x="5139317" y="3396536"/>
            <a:ext cx="331843" cy="322025"/>
            <a:chOff x="4386397" y="2438236"/>
            <a:chExt cx="385588" cy="324258"/>
          </a:xfrm>
        </p:grpSpPr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0B849625-8849-95CC-ED24-EF7AAC342FFB}"/>
                </a:ext>
              </a:extLst>
            </p:cNvPr>
            <p:cNvSpPr/>
            <p:nvPr/>
          </p:nvSpPr>
          <p:spPr>
            <a:xfrm>
              <a:off x="4386397" y="2438236"/>
              <a:ext cx="385588" cy="324258"/>
            </a:xfrm>
            <a:custGeom>
              <a:avLst/>
              <a:gdLst>
                <a:gd name="csX0" fmla="*/ 376696 w 385588"/>
                <a:gd name="csY0" fmla="*/ 159666 h 324258"/>
                <a:gd name="csX1" fmla="*/ 382581 w 385588"/>
                <a:gd name="csY1" fmla="*/ 144715 h 324258"/>
                <a:gd name="csX2" fmla="*/ 385588 w 385588"/>
                <a:gd name="csY2" fmla="*/ 129067 h 324258"/>
                <a:gd name="csX3" fmla="*/ 385065 w 385588"/>
                <a:gd name="csY3" fmla="*/ 113288 h 324258"/>
                <a:gd name="csX4" fmla="*/ 380706 w 385588"/>
                <a:gd name="csY4" fmla="*/ 98032 h 324258"/>
                <a:gd name="csX5" fmla="*/ 372599 w 385588"/>
                <a:gd name="csY5" fmla="*/ 83996 h 324258"/>
                <a:gd name="csX6" fmla="*/ 361353 w 385588"/>
                <a:gd name="csY6" fmla="*/ 71617 h 324258"/>
                <a:gd name="csX7" fmla="*/ 347753 w 385588"/>
                <a:gd name="csY7" fmla="*/ 61112 h 324258"/>
                <a:gd name="csX8" fmla="*/ 332846 w 385588"/>
                <a:gd name="csY8" fmla="*/ 52438 h 324258"/>
                <a:gd name="csX9" fmla="*/ 317502 w 385588"/>
                <a:gd name="csY9" fmla="*/ 45202 h 324258"/>
                <a:gd name="csX10" fmla="*/ 302333 w 385588"/>
                <a:gd name="csY10" fmla="*/ 38925 h 324258"/>
                <a:gd name="csX11" fmla="*/ 287731 w 385588"/>
                <a:gd name="csY11" fmla="*/ 33084 h 324258"/>
                <a:gd name="csX12" fmla="*/ 273695 w 385588"/>
                <a:gd name="csY12" fmla="*/ 27243 h 324258"/>
                <a:gd name="csX13" fmla="*/ 259921 w 385588"/>
                <a:gd name="csY13" fmla="*/ 21315 h 324258"/>
                <a:gd name="csX14" fmla="*/ 246103 w 385588"/>
                <a:gd name="csY14" fmla="*/ 15343 h 324258"/>
                <a:gd name="csX15" fmla="*/ 231893 w 385588"/>
                <a:gd name="csY15" fmla="*/ 9720 h 324258"/>
                <a:gd name="csX16" fmla="*/ 217030 w 385588"/>
                <a:gd name="csY16" fmla="*/ 4969 h 324258"/>
                <a:gd name="csX17" fmla="*/ 201555 w 385588"/>
                <a:gd name="csY17" fmla="*/ 1569 h 324258"/>
                <a:gd name="csX18" fmla="*/ 185602 w 385588"/>
                <a:gd name="csY18" fmla="*/ 0 h 324258"/>
                <a:gd name="csX19" fmla="*/ 169561 w 385588"/>
                <a:gd name="csY19" fmla="*/ 436 h 324258"/>
                <a:gd name="csX20" fmla="*/ 153738 w 385588"/>
                <a:gd name="csY20" fmla="*/ 2833 h 324258"/>
                <a:gd name="csX21" fmla="*/ 138439 w 385588"/>
                <a:gd name="csY21" fmla="*/ 6974 h 324258"/>
                <a:gd name="csX22" fmla="*/ 123793 w 385588"/>
                <a:gd name="csY22" fmla="*/ 12336 h 324258"/>
                <a:gd name="csX23" fmla="*/ 109757 w 385588"/>
                <a:gd name="csY23" fmla="*/ 18482 h 324258"/>
                <a:gd name="csX24" fmla="*/ 96070 w 385588"/>
                <a:gd name="csY24" fmla="*/ 25064 h 324258"/>
                <a:gd name="csX25" fmla="*/ 82514 w 385588"/>
                <a:gd name="csY25" fmla="*/ 31864 h 324258"/>
                <a:gd name="csX26" fmla="*/ 68914 w 385588"/>
                <a:gd name="csY26" fmla="*/ 38969 h 324258"/>
                <a:gd name="csX27" fmla="*/ 55271 w 385588"/>
                <a:gd name="csY27" fmla="*/ 46553 h 324258"/>
                <a:gd name="csX28" fmla="*/ 41933 w 385588"/>
                <a:gd name="csY28" fmla="*/ 55009 h 324258"/>
                <a:gd name="csX29" fmla="*/ 29292 w 385588"/>
                <a:gd name="csY29" fmla="*/ 64686 h 324258"/>
                <a:gd name="csX30" fmla="*/ 18177 w 385588"/>
                <a:gd name="csY30" fmla="*/ 75758 h 324258"/>
                <a:gd name="csX31" fmla="*/ 9241 w 385588"/>
                <a:gd name="csY31" fmla="*/ 88268 h 324258"/>
                <a:gd name="csX32" fmla="*/ 3095 w 385588"/>
                <a:gd name="csY32" fmla="*/ 101998 h 324258"/>
                <a:gd name="csX33" fmla="*/ 44 w 385588"/>
                <a:gd name="csY33" fmla="*/ 116513 h 324258"/>
                <a:gd name="csX34" fmla="*/ 0 w 385588"/>
                <a:gd name="csY34" fmla="*/ 131246 h 324258"/>
                <a:gd name="csX35" fmla="*/ 2615 w 385588"/>
                <a:gd name="csY35" fmla="*/ 145762 h 324258"/>
                <a:gd name="csX36" fmla="*/ 7061 w 385588"/>
                <a:gd name="csY36" fmla="*/ 159666 h 324258"/>
                <a:gd name="csX37" fmla="*/ 12423 w 385588"/>
                <a:gd name="csY37" fmla="*/ 172830 h 324258"/>
                <a:gd name="csX38" fmla="*/ 17828 w 385588"/>
                <a:gd name="csY38" fmla="*/ 185340 h 324258"/>
                <a:gd name="csX39" fmla="*/ 22710 w 385588"/>
                <a:gd name="csY39" fmla="*/ 197545 h 324258"/>
                <a:gd name="csX40" fmla="*/ 26676 w 385588"/>
                <a:gd name="csY40" fmla="*/ 209881 h 324258"/>
                <a:gd name="csX41" fmla="*/ 29902 w 385588"/>
                <a:gd name="csY41" fmla="*/ 222696 h 324258"/>
                <a:gd name="csX42" fmla="*/ 32910 w 385588"/>
                <a:gd name="csY42" fmla="*/ 236165 h 324258"/>
                <a:gd name="csX43" fmla="*/ 36441 w 385588"/>
                <a:gd name="csY43" fmla="*/ 250332 h 324258"/>
                <a:gd name="csX44" fmla="*/ 41323 w 385588"/>
                <a:gd name="csY44" fmla="*/ 264716 h 324258"/>
                <a:gd name="csX45" fmla="*/ 48297 w 385588"/>
                <a:gd name="csY45" fmla="*/ 278839 h 324258"/>
                <a:gd name="csX46" fmla="*/ 57712 w 385588"/>
                <a:gd name="csY46" fmla="*/ 291916 h 324258"/>
                <a:gd name="csX47" fmla="*/ 69742 w 385588"/>
                <a:gd name="csY47" fmla="*/ 303292 h 324258"/>
                <a:gd name="csX48" fmla="*/ 84040 w 385588"/>
                <a:gd name="csY48" fmla="*/ 312315 h 324258"/>
                <a:gd name="csX49" fmla="*/ 100124 w 385588"/>
                <a:gd name="csY49" fmla="*/ 318766 h 324258"/>
                <a:gd name="csX50" fmla="*/ 117254 w 385588"/>
                <a:gd name="csY50" fmla="*/ 322646 h 324258"/>
                <a:gd name="csX51" fmla="*/ 134777 w 385588"/>
                <a:gd name="csY51" fmla="*/ 324259 h 324258"/>
                <a:gd name="csX52" fmla="*/ 152169 w 385588"/>
                <a:gd name="csY52" fmla="*/ 324128 h 324258"/>
                <a:gd name="csX53" fmla="*/ 169169 w 385588"/>
                <a:gd name="csY53" fmla="*/ 322820 h 324258"/>
                <a:gd name="csX54" fmla="*/ 185602 w 385588"/>
                <a:gd name="csY54" fmla="*/ 320815 h 324258"/>
                <a:gd name="csX55" fmla="*/ 201599 w 385588"/>
                <a:gd name="csY55" fmla="*/ 318374 h 324258"/>
                <a:gd name="csX56" fmla="*/ 217291 w 385588"/>
                <a:gd name="csY56" fmla="*/ 315541 h 324258"/>
                <a:gd name="csX57" fmla="*/ 232678 w 385588"/>
                <a:gd name="csY57" fmla="*/ 312184 h 324258"/>
                <a:gd name="csX58" fmla="*/ 247804 w 385588"/>
                <a:gd name="csY58" fmla="*/ 308000 h 324258"/>
                <a:gd name="csX59" fmla="*/ 262362 w 385588"/>
                <a:gd name="csY59" fmla="*/ 302551 h 324258"/>
                <a:gd name="csX60" fmla="*/ 276093 w 385588"/>
                <a:gd name="csY60" fmla="*/ 295664 h 324258"/>
                <a:gd name="csX61" fmla="*/ 288559 w 385588"/>
                <a:gd name="csY61" fmla="*/ 287252 h 324258"/>
                <a:gd name="csX62" fmla="*/ 299500 w 385588"/>
                <a:gd name="csY62" fmla="*/ 277444 h 324258"/>
                <a:gd name="csX63" fmla="*/ 308828 w 385588"/>
                <a:gd name="csY63" fmla="*/ 266590 h 324258"/>
                <a:gd name="csX64" fmla="*/ 316718 w 385588"/>
                <a:gd name="csY64" fmla="*/ 255126 h 324258"/>
                <a:gd name="csX65" fmla="*/ 323561 w 385588"/>
                <a:gd name="csY65" fmla="*/ 243532 h 324258"/>
                <a:gd name="csX66" fmla="*/ 329969 w 385588"/>
                <a:gd name="csY66" fmla="*/ 232024 h 324258"/>
                <a:gd name="csX67" fmla="*/ 336551 w 385588"/>
                <a:gd name="csY67" fmla="*/ 220735 h 324258"/>
                <a:gd name="csX68" fmla="*/ 343743 w 385588"/>
                <a:gd name="csY68" fmla="*/ 209620 h 324258"/>
                <a:gd name="csX69" fmla="*/ 351720 w 385588"/>
                <a:gd name="csY69" fmla="*/ 198286 h 324258"/>
                <a:gd name="csX70" fmla="*/ 360307 w 385588"/>
                <a:gd name="csY70" fmla="*/ 186387 h 324258"/>
                <a:gd name="csX71" fmla="*/ 368937 w 385588"/>
                <a:gd name="csY71" fmla="*/ 173571 h 3242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385588" h="324258">
                  <a:moveTo>
                    <a:pt x="376696" y="159666"/>
                  </a:moveTo>
                  <a:lnTo>
                    <a:pt x="382581" y="144715"/>
                  </a:lnTo>
                  <a:lnTo>
                    <a:pt x="385588" y="129067"/>
                  </a:lnTo>
                  <a:lnTo>
                    <a:pt x="385065" y="113288"/>
                  </a:lnTo>
                  <a:lnTo>
                    <a:pt x="380706" y="98032"/>
                  </a:lnTo>
                  <a:lnTo>
                    <a:pt x="372599" y="83996"/>
                  </a:lnTo>
                  <a:lnTo>
                    <a:pt x="361353" y="71617"/>
                  </a:lnTo>
                  <a:lnTo>
                    <a:pt x="347753" y="61112"/>
                  </a:lnTo>
                  <a:lnTo>
                    <a:pt x="332846" y="52438"/>
                  </a:lnTo>
                  <a:lnTo>
                    <a:pt x="317502" y="45202"/>
                  </a:lnTo>
                  <a:lnTo>
                    <a:pt x="302333" y="38925"/>
                  </a:lnTo>
                  <a:lnTo>
                    <a:pt x="287731" y="33084"/>
                  </a:lnTo>
                  <a:lnTo>
                    <a:pt x="273695" y="27243"/>
                  </a:lnTo>
                  <a:lnTo>
                    <a:pt x="259921" y="21315"/>
                  </a:lnTo>
                  <a:lnTo>
                    <a:pt x="246103" y="15343"/>
                  </a:lnTo>
                  <a:lnTo>
                    <a:pt x="231893" y="9720"/>
                  </a:lnTo>
                  <a:lnTo>
                    <a:pt x="217030" y="4969"/>
                  </a:lnTo>
                  <a:lnTo>
                    <a:pt x="201555" y="1569"/>
                  </a:lnTo>
                  <a:lnTo>
                    <a:pt x="185602" y="0"/>
                  </a:lnTo>
                  <a:lnTo>
                    <a:pt x="169561" y="436"/>
                  </a:lnTo>
                  <a:lnTo>
                    <a:pt x="153738" y="2833"/>
                  </a:lnTo>
                  <a:lnTo>
                    <a:pt x="138439" y="6974"/>
                  </a:lnTo>
                  <a:lnTo>
                    <a:pt x="123793" y="12336"/>
                  </a:lnTo>
                  <a:lnTo>
                    <a:pt x="109757" y="18482"/>
                  </a:lnTo>
                  <a:lnTo>
                    <a:pt x="96070" y="25064"/>
                  </a:lnTo>
                  <a:lnTo>
                    <a:pt x="82514" y="31864"/>
                  </a:lnTo>
                  <a:lnTo>
                    <a:pt x="68914" y="38969"/>
                  </a:lnTo>
                  <a:lnTo>
                    <a:pt x="55271" y="46553"/>
                  </a:lnTo>
                  <a:lnTo>
                    <a:pt x="41933" y="55009"/>
                  </a:lnTo>
                  <a:lnTo>
                    <a:pt x="29292" y="64686"/>
                  </a:lnTo>
                  <a:lnTo>
                    <a:pt x="18177" y="75758"/>
                  </a:lnTo>
                  <a:lnTo>
                    <a:pt x="9241" y="88268"/>
                  </a:lnTo>
                  <a:lnTo>
                    <a:pt x="3095" y="101998"/>
                  </a:lnTo>
                  <a:lnTo>
                    <a:pt x="44" y="116513"/>
                  </a:lnTo>
                  <a:lnTo>
                    <a:pt x="0" y="131246"/>
                  </a:lnTo>
                  <a:lnTo>
                    <a:pt x="2615" y="145762"/>
                  </a:lnTo>
                  <a:lnTo>
                    <a:pt x="7061" y="159666"/>
                  </a:lnTo>
                  <a:lnTo>
                    <a:pt x="12423" y="172830"/>
                  </a:lnTo>
                  <a:lnTo>
                    <a:pt x="17828" y="185340"/>
                  </a:lnTo>
                  <a:lnTo>
                    <a:pt x="22710" y="197545"/>
                  </a:lnTo>
                  <a:lnTo>
                    <a:pt x="26676" y="209881"/>
                  </a:lnTo>
                  <a:lnTo>
                    <a:pt x="29902" y="222696"/>
                  </a:lnTo>
                  <a:lnTo>
                    <a:pt x="32910" y="236165"/>
                  </a:lnTo>
                  <a:lnTo>
                    <a:pt x="36441" y="250332"/>
                  </a:lnTo>
                  <a:lnTo>
                    <a:pt x="41323" y="264716"/>
                  </a:lnTo>
                  <a:lnTo>
                    <a:pt x="48297" y="278839"/>
                  </a:lnTo>
                  <a:lnTo>
                    <a:pt x="57712" y="291916"/>
                  </a:lnTo>
                  <a:lnTo>
                    <a:pt x="69742" y="303292"/>
                  </a:lnTo>
                  <a:lnTo>
                    <a:pt x="84040" y="312315"/>
                  </a:lnTo>
                  <a:lnTo>
                    <a:pt x="100124" y="318766"/>
                  </a:lnTo>
                  <a:lnTo>
                    <a:pt x="117254" y="322646"/>
                  </a:lnTo>
                  <a:lnTo>
                    <a:pt x="134777" y="324259"/>
                  </a:lnTo>
                  <a:lnTo>
                    <a:pt x="152169" y="324128"/>
                  </a:lnTo>
                  <a:lnTo>
                    <a:pt x="169169" y="322820"/>
                  </a:lnTo>
                  <a:lnTo>
                    <a:pt x="185602" y="320815"/>
                  </a:lnTo>
                  <a:lnTo>
                    <a:pt x="201599" y="318374"/>
                  </a:lnTo>
                  <a:lnTo>
                    <a:pt x="217291" y="315541"/>
                  </a:lnTo>
                  <a:lnTo>
                    <a:pt x="232678" y="312184"/>
                  </a:lnTo>
                  <a:lnTo>
                    <a:pt x="247804" y="308000"/>
                  </a:lnTo>
                  <a:lnTo>
                    <a:pt x="262362" y="302551"/>
                  </a:lnTo>
                  <a:lnTo>
                    <a:pt x="276093" y="295664"/>
                  </a:lnTo>
                  <a:lnTo>
                    <a:pt x="288559" y="287252"/>
                  </a:lnTo>
                  <a:lnTo>
                    <a:pt x="299500" y="277444"/>
                  </a:lnTo>
                  <a:lnTo>
                    <a:pt x="308828" y="266590"/>
                  </a:lnTo>
                  <a:lnTo>
                    <a:pt x="316718" y="255126"/>
                  </a:lnTo>
                  <a:lnTo>
                    <a:pt x="323561" y="243532"/>
                  </a:lnTo>
                  <a:lnTo>
                    <a:pt x="329969" y="232024"/>
                  </a:lnTo>
                  <a:lnTo>
                    <a:pt x="336551" y="220735"/>
                  </a:lnTo>
                  <a:lnTo>
                    <a:pt x="343743" y="209620"/>
                  </a:lnTo>
                  <a:lnTo>
                    <a:pt x="351720" y="198286"/>
                  </a:lnTo>
                  <a:lnTo>
                    <a:pt x="360307" y="186387"/>
                  </a:lnTo>
                  <a:lnTo>
                    <a:pt x="368937" y="173571"/>
                  </a:lnTo>
                  <a:close/>
                </a:path>
              </a:pathLst>
            </a:custGeom>
            <a:solidFill>
              <a:srgbClr val="7FD3CE"/>
            </a:solidFill>
            <a:ln w="15690" cap="flat">
              <a:solidFill>
                <a:srgbClr val="2FA4A0"/>
              </a:solidFill>
              <a:prstDash val="solid"/>
              <a:round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206DBA80-6DB3-76A6-D75D-D175E9219288}"/>
                </a:ext>
              </a:extLst>
            </p:cNvPr>
            <p:cNvSpPr/>
            <p:nvPr/>
          </p:nvSpPr>
          <p:spPr>
            <a:xfrm>
              <a:off x="4566966" y="2447957"/>
              <a:ext cx="10066" cy="292918"/>
            </a:xfrm>
            <a:custGeom>
              <a:avLst/>
              <a:gdLst>
                <a:gd name="csX0" fmla="*/ 5033 w 10066"/>
                <a:gd name="csY0" fmla="*/ 0 h 292918"/>
                <a:gd name="csX1" fmla="*/ 5033 w 10066"/>
                <a:gd name="csY1" fmla="*/ 292918 h 2929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066" h="292918">
                  <a:moveTo>
                    <a:pt x="5033" y="0"/>
                  </a:moveTo>
                  <a:cubicBezTo>
                    <a:pt x="22469" y="97639"/>
                    <a:pt x="-12402" y="202253"/>
                    <a:pt x="5033" y="292918"/>
                  </a:cubicBezTo>
                </a:path>
              </a:pathLst>
            </a:custGeom>
            <a:noFill/>
            <a:ln w="13336" cap="rnd">
              <a:solidFill>
                <a:srgbClr val="EAFFFD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BA32D5A7-E023-AFDD-D025-AF4750807FD7}"/>
                </a:ext>
              </a:extLst>
            </p:cNvPr>
            <p:cNvSpPr/>
            <p:nvPr/>
          </p:nvSpPr>
          <p:spPr>
            <a:xfrm>
              <a:off x="4436001" y="2528161"/>
              <a:ext cx="104613" cy="31384"/>
            </a:xfrm>
            <a:custGeom>
              <a:avLst/>
              <a:gdLst>
                <a:gd name="csX0" fmla="*/ 0 w 104613"/>
                <a:gd name="csY0" fmla="*/ 13948 h 31384"/>
                <a:gd name="csX1" fmla="*/ 52307 w 104613"/>
                <a:gd name="csY1" fmla="*/ 13948 h 31384"/>
                <a:gd name="csX2" fmla="*/ 104614 w 104613"/>
                <a:gd name="csY2" fmla="*/ 25107 h 313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4613" h="31384">
                  <a:moveTo>
                    <a:pt x="0" y="13948"/>
                  </a:moveTo>
                  <a:cubicBezTo>
                    <a:pt x="34871" y="-4649"/>
                    <a:pt x="52307" y="-4649"/>
                    <a:pt x="52307" y="13948"/>
                  </a:cubicBezTo>
                  <a:cubicBezTo>
                    <a:pt x="52307" y="32546"/>
                    <a:pt x="69742" y="36266"/>
                    <a:pt x="104614" y="25107"/>
                  </a:cubicBezTo>
                </a:path>
              </a:pathLst>
            </a:custGeom>
            <a:noFill/>
            <a:ln w="11767" cap="rnd">
              <a:solidFill>
                <a:srgbClr val="EAFFFD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476C1E19-B496-30C6-9D11-7BE8410D9FED}"/>
                </a:ext>
              </a:extLst>
            </p:cNvPr>
            <p:cNvSpPr/>
            <p:nvPr/>
          </p:nvSpPr>
          <p:spPr>
            <a:xfrm>
              <a:off x="4446463" y="2624056"/>
              <a:ext cx="90665" cy="27461"/>
            </a:xfrm>
            <a:custGeom>
              <a:avLst/>
              <a:gdLst>
                <a:gd name="csX0" fmla="*/ 0 w 90665"/>
                <a:gd name="csY0" fmla="*/ 12205 h 27461"/>
                <a:gd name="csX1" fmla="*/ 45332 w 90665"/>
                <a:gd name="csY1" fmla="*/ 12205 h 27461"/>
                <a:gd name="csX2" fmla="*/ 90665 w 90665"/>
                <a:gd name="csY2" fmla="*/ 21969 h 274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0665" h="27461">
                  <a:moveTo>
                    <a:pt x="0" y="12205"/>
                  </a:moveTo>
                  <a:cubicBezTo>
                    <a:pt x="30222" y="-4068"/>
                    <a:pt x="45332" y="-4068"/>
                    <a:pt x="45332" y="12205"/>
                  </a:cubicBezTo>
                  <a:cubicBezTo>
                    <a:pt x="45332" y="28478"/>
                    <a:pt x="60443" y="31733"/>
                    <a:pt x="90665" y="21969"/>
                  </a:cubicBezTo>
                </a:path>
              </a:pathLst>
            </a:custGeom>
            <a:noFill/>
            <a:ln w="11767" cap="rnd">
              <a:solidFill>
                <a:srgbClr val="EAFFFD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9EE9A217-444D-E40F-DDB4-76505C25E8D0}"/>
                </a:ext>
              </a:extLst>
            </p:cNvPr>
            <p:cNvSpPr/>
            <p:nvPr/>
          </p:nvSpPr>
          <p:spPr>
            <a:xfrm>
              <a:off x="4603383" y="2531648"/>
              <a:ext cx="104613" cy="31384"/>
            </a:xfrm>
            <a:custGeom>
              <a:avLst/>
              <a:gdLst>
                <a:gd name="csX0" fmla="*/ 0 w 104613"/>
                <a:gd name="csY0" fmla="*/ 13948 h 31384"/>
                <a:gd name="csX1" fmla="*/ 52307 w 104613"/>
                <a:gd name="csY1" fmla="*/ 13948 h 31384"/>
                <a:gd name="csX2" fmla="*/ 104614 w 104613"/>
                <a:gd name="csY2" fmla="*/ 25107 h 313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04613" h="31384">
                  <a:moveTo>
                    <a:pt x="0" y="13948"/>
                  </a:moveTo>
                  <a:cubicBezTo>
                    <a:pt x="34871" y="-4649"/>
                    <a:pt x="52307" y="-4649"/>
                    <a:pt x="52307" y="13948"/>
                  </a:cubicBezTo>
                  <a:cubicBezTo>
                    <a:pt x="52307" y="32546"/>
                    <a:pt x="69742" y="36266"/>
                    <a:pt x="104614" y="25107"/>
                  </a:cubicBezTo>
                </a:path>
              </a:pathLst>
            </a:custGeom>
            <a:noFill/>
            <a:ln w="11767" cap="rnd">
              <a:solidFill>
                <a:srgbClr val="EAFFFD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4B8D9D57-4BE0-4317-04A2-0154D8D32C86}"/>
                </a:ext>
              </a:extLst>
            </p:cNvPr>
            <p:cNvSpPr/>
            <p:nvPr/>
          </p:nvSpPr>
          <p:spPr>
            <a:xfrm>
              <a:off x="4606870" y="2627543"/>
              <a:ext cx="90665" cy="27461"/>
            </a:xfrm>
            <a:custGeom>
              <a:avLst/>
              <a:gdLst>
                <a:gd name="csX0" fmla="*/ 0 w 90665"/>
                <a:gd name="csY0" fmla="*/ 12205 h 27461"/>
                <a:gd name="csX1" fmla="*/ 45333 w 90665"/>
                <a:gd name="csY1" fmla="*/ 12205 h 27461"/>
                <a:gd name="csX2" fmla="*/ 90665 w 90665"/>
                <a:gd name="csY2" fmla="*/ 21969 h 274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0665" h="27461">
                  <a:moveTo>
                    <a:pt x="0" y="12205"/>
                  </a:moveTo>
                  <a:cubicBezTo>
                    <a:pt x="30222" y="-4068"/>
                    <a:pt x="45333" y="-4068"/>
                    <a:pt x="45333" y="12205"/>
                  </a:cubicBezTo>
                  <a:cubicBezTo>
                    <a:pt x="45333" y="28478"/>
                    <a:pt x="60443" y="31733"/>
                    <a:pt x="90665" y="21969"/>
                  </a:cubicBezTo>
                </a:path>
              </a:pathLst>
            </a:custGeom>
            <a:noFill/>
            <a:ln w="11767" cap="rnd">
              <a:solidFill>
                <a:srgbClr val="EAFFFD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 sz="2400"/>
            </a:p>
          </p:txBody>
        </p:sp>
      </p:grpSp>
      <p:sp>
        <p:nvSpPr>
          <p:cNvPr id="116" name="TextBox 115">
            <a:extLst>
              <a:ext uri="{FF2B5EF4-FFF2-40B4-BE49-F238E27FC236}">
                <a16:creationId xmlns:a16="http://schemas.microsoft.com/office/drawing/2014/main" id="{25FCCFD7-F7CA-479E-A1E0-F407EB4CC64A}"/>
              </a:ext>
            </a:extLst>
          </p:cNvPr>
          <p:cNvSpPr txBox="1"/>
          <p:nvPr/>
        </p:nvSpPr>
        <p:spPr>
          <a:xfrm>
            <a:off x="4816095" y="3692597"/>
            <a:ext cx="1150443" cy="5386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700" b="1" spc="267" dirty="0">
                <a:ln/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NPM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0152F10E-1A13-3D60-52D4-D71C05A5B0CD}"/>
              </a:ext>
            </a:extLst>
          </p:cNvPr>
          <p:cNvSpPr txBox="1"/>
          <p:nvPr/>
        </p:nvSpPr>
        <p:spPr>
          <a:xfrm>
            <a:off x="4615849" y="4522522"/>
            <a:ext cx="165436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spc="200" dirty="0">
                <a:ln/>
                <a:solidFill>
                  <a:srgbClr val="9FB4C4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OPEN LIBRARY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657A8267-EB2E-88E1-5AF1-3B0917FDC879}"/>
              </a:ext>
            </a:extLst>
          </p:cNvPr>
          <p:cNvSpPr txBox="1"/>
          <p:nvPr/>
        </p:nvSpPr>
        <p:spPr>
          <a:xfrm>
            <a:off x="3718561" y="6519446"/>
            <a:ext cx="421205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dirty="0" err="1">
                <a:ln/>
                <a:solidFill>
                  <a:srgbClr val="8A93A6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github.com</a:t>
            </a:r>
            <a:r>
              <a:rPr lang="en-US" sz="1400" dirty="0">
                <a:ln/>
                <a:solidFill>
                  <a:srgbClr val="8A93A6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/canlab/Neuroimaging_Pattern_Masks</a:t>
            </a:r>
          </a:p>
        </p:txBody>
      </p:sp>
    </p:spTree>
    <p:extLst>
      <p:ext uri="{BB962C8B-B14F-4D97-AF65-F5344CB8AC3E}">
        <p14:creationId xmlns:p14="http://schemas.microsoft.com/office/powerpoint/2010/main" val="3856602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347F213-1FD4-D3E4-F70E-4CA307488D00}"/>
              </a:ext>
            </a:extLst>
          </p:cNvPr>
          <p:cNvSpPr/>
          <p:nvPr/>
        </p:nvSpPr>
        <p:spPr>
          <a:xfrm>
            <a:off x="2516787" y="154005"/>
            <a:ext cx="7149416" cy="6429676"/>
          </a:xfrm>
          <a:prstGeom prst="rect">
            <a:avLst/>
          </a:prstGeom>
          <a:gradFill>
            <a:gsLst>
              <a:gs pos="0">
                <a:srgbClr val="FBFCFE"/>
              </a:gs>
              <a:gs pos="50000">
                <a:srgbClr val="F4F6FA"/>
              </a:gs>
              <a:gs pos="100000">
                <a:srgbClr val="EEF1F7"/>
              </a:gs>
            </a:gsLst>
            <a:lin ang="5400000" scaled="1"/>
          </a:gra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0D3018-AFDA-C5F0-9335-7AD49DCAFC4A}"/>
              </a:ext>
            </a:extLst>
          </p:cNvPr>
          <p:cNvSpPr txBox="1"/>
          <p:nvPr/>
        </p:nvSpPr>
        <p:spPr>
          <a:xfrm>
            <a:off x="2635839" y="74375"/>
            <a:ext cx="2242498" cy="247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731" b="1" spc="0" baseline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Multivariate Signature Patterns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506A87-8439-C9E3-81AF-304975874653}"/>
              </a:ext>
            </a:extLst>
          </p:cNvPr>
          <p:cNvSpPr txBox="1"/>
          <p:nvPr/>
        </p:nvSpPr>
        <p:spPr>
          <a:xfrm>
            <a:off x="2655286" y="388062"/>
            <a:ext cx="2253304" cy="3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815" spc="0" baseline="0" dirty="0">
                <a:ln/>
                <a:solidFill>
                  <a:srgbClr val="6B7089"/>
                </a:solidFill>
                <a:latin typeface="Arial"/>
                <a:cs typeface="Arial"/>
                <a:sym typeface="Arial"/>
                <a:rtl val="0"/>
              </a:rPr>
              <a:t>29 studies · 36 pre-trained </a:t>
            </a:r>
            <a:r>
              <a:rPr lang="en-US" sz="815" spc="0" baseline="0" dirty="0" err="1">
                <a:ln/>
                <a:solidFill>
                  <a:srgbClr val="6B7089"/>
                </a:solidFill>
                <a:latin typeface="Arial"/>
                <a:cs typeface="Arial"/>
                <a:sym typeface="Arial"/>
                <a:rtl val="0"/>
              </a:rPr>
              <a:t>neuromarkers</a:t>
            </a:r>
            <a:r>
              <a:rPr lang="en-US" sz="815" spc="0" baseline="0" dirty="0">
                <a:ln/>
                <a:solidFill>
                  <a:srgbClr val="6B7089"/>
                </a:solidFill>
                <a:latin typeface="Arial"/>
                <a:cs typeface="Arial"/>
                <a:sym typeface="Arial"/>
                <a:rtl val="0"/>
              </a:rPr>
              <a:t>, grouped by what they predict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2EE18A9-BA30-B8F0-6A4C-84D027E07055}"/>
              </a:ext>
            </a:extLst>
          </p:cNvPr>
          <p:cNvSpPr/>
          <p:nvPr/>
        </p:nvSpPr>
        <p:spPr>
          <a:xfrm>
            <a:off x="5882401" y="328796"/>
            <a:ext cx="427813" cy="427435"/>
          </a:xfrm>
          <a:prstGeom prst="ellipse">
            <a:avLst/>
          </a:prstGeom>
          <a:solidFill>
            <a:srgbClr val="2C4A63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aphic 2">
            <a:extLst>
              <a:ext uri="{FF2B5EF4-FFF2-40B4-BE49-F238E27FC236}">
                <a16:creationId xmlns:a16="http://schemas.microsoft.com/office/drawing/2014/main" id="{170976D9-5CA5-8CCC-FF7F-14F472E90041}"/>
              </a:ext>
            </a:extLst>
          </p:cNvPr>
          <p:cNvGrpSpPr/>
          <p:nvPr/>
        </p:nvGrpSpPr>
        <p:grpSpPr>
          <a:xfrm>
            <a:off x="5991209" y="411080"/>
            <a:ext cx="218347" cy="183465"/>
            <a:chOff x="5991209" y="411080"/>
            <a:chExt cx="218347" cy="183465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D08089D1-4F23-849A-58AD-71BF194F6E78}"/>
                </a:ext>
              </a:extLst>
            </p:cNvPr>
            <p:cNvSpPr/>
            <p:nvPr/>
          </p:nvSpPr>
          <p:spPr>
            <a:xfrm>
              <a:off x="5991209" y="411080"/>
              <a:ext cx="218347" cy="183465"/>
            </a:xfrm>
            <a:custGeom>
              <a:avLst/>
              <a:gdLst>
                <a:gd name="csX0" fmla="*/ 213289 w 218347"/>
                <a:gd name="csY0" fmla="*/ 90334 h 183465"/>
                <a:gd name="csX1" fmla="*/ 216621 w 218347"/>
                <a:gd name="csY1" fmla="*/ 81866 h 183465"/>
                <a:gd name="csX2" fmla="*/ 218347 w 218347"/>
                <a:gd name="csY2" fmla="*/ 73029 h 183465"/>
                <a:gd name="csX3" fmla="*/ 218056 w 218347"/>
                <a:gd name="csY3" fmla="*/ 64071 h 183465"/>
                <a:gd name="csX4" fmla="*/ 215591 w 218347"/>
                <a:gd name="csY4" fmla="*/ 55481 h 183465"/>
                <a:gd name="csX5" fmla="*/ 210981 w 218347"/>
                <a:gd name="csY5" fmla="*/ 47510 h 183465"/>
                <a:gd name="csX6" fmla="*/ 204607 w 218347"/>
                <a:gd name="csY6" fmla="*/ 40525 h 183465"/>
                <a:gd name="csX7" fmla="*/ 196913 w 218347"/>
                <a:gd name="csY7" fmla="*/ 34562 h 183465"/>
                <a:gd name="csX8" fmla="*/ 188480 w 218347"/>
                <a:gd name="csY8" fmla="*/ 29672 h 183465"/>
                <a:gd name="csX9" fmla="*/ 179805 w 218347"/>
                <a:gd name="csY9" fmla="*/ 25562 h 183465"/>
                <a:gd name="csX10" fmla="*/ 171208 w 218347"/>
                <a:gd name="csY10" fmla="*/ 22027 h 183465"/>
                <a:gd name="csX11" fmla="*/ 162938 w 218347"/>
                <a:gd name="csY11" fmla="*/ 18698 h 183465"/>
                <a:gd name="csX12" fmla="*/ 154953 w 218347"/>
                <a:gd name="csY12" fmla="*/ 15411 h 183465"/>
                <a:gd name="csX13" fmla="*/ 147180 w 218347"/>
                <a:gd name="csY13" fmla="*/ 12082 h 183465"/>
                <a:gd name="csX14" fmla="*/ 139365 w 218347"/>
                <a:gd name="csY14" fmla="*/ 8710 h 183465"/>
                <a:gd name="csX15" fmla="*/ 131301 w 218347"/>
                <a:gd name="csY15" fmla="*/ 5502 h 183465"/>
                <a:gd name="csX16" fmla="*/ 122911 w 218347"/>
                <a:gd name="csY16" fmla="*/ 2790 h 183465"/>
                <a:gd name="csX17" fmla="*/ 114108 w 218347"/>
                <a:gd name="csY17" fmla="*/ 902 h 183465"/>
                <a:gd name="csX18" fmla="*/ 105100 w 218347"/>
                <a:gd name="csY18" fmla="*/ 0 h 183465"/>
                <a:gd name="csX19" fmla="*/ 96006 w 218347"/>
                <a:gd name="csY19" fmla="*/ 242 h 183465"/>
                <a:gd name="csX20" fmla="*/ 87040 w 218347"/>
                <a:gd name="csY20" fmla="*/ 1598 h 183465"/>
                <a:gd name="csX21" fmla="*/ 78400 w 218347"/>
                <a:gd name="csY21" fmla="*/ 3940 h 183465"/>
                <a:gd name="csX22" fmla="*/ 70095 w 218347"/>
                <a:gd name="csY22" fmla="*/ 6985 h 183465"/>
                <a:gd name="csX23" fmla="*/ 62152 w 218347"/>
                <a:gd name="csY23" fmla="*/ 10478 h 183465"/>
                <a:gd name="csX24" fmla="*/ 54422 w 218347"/>
                <a:gd name="csY24" fmla="*/ 14176 h 183465"/>
                <a:gd name="csX25" fmla="*/ 46728 w 218347"/>
                <a:gd name="csY25" fmla="*/ 18038 h 183465"/>
                <a:gd name="csX26" fmla="*/ 39034 w 218347"/>
                <a:gd name="csY26" fmla="*/ 22069 h 183465"/>
                <a:gd name="csX27" fmla="*/ 31303 w 218347"/>
                <a:gd name="csY27" fmla="*/ 26342 h 183465"/>
                <a:gd name="csX28" fmla="*/ 23730 w 218347"/>
                <a:gd name="csY28" fmla="*/ 31148 h 183465"/>
                <a:gd name="csX29" fmla="*/ 16618 w 218347"/>
                <a:gd name="csY29" fmla="*/ 36614 h 183465"/>
                <a:gd name="csX30" fmla="*/ 10281 w 218347"/>
                <a:gd name="csY30" fmla="*/ 42867 h 183465"/>
                <a:gd name="csX31" fmla="*/ 5222 w 218347"/>
                <a:gd name="csY31" fmla="*/ 49931 h 183465"/>
                <a:gd name="csX32" fmla="*/ 1769 w 218347"/>
                <a:gd name="csY32" fmla="*/ 57703 h 183465"/>
                <a:gd name="csX33" fmla="*/ 36 w 218347"/>
                <a:gd name="csY33" fmla="*/ 65923 h 183465"/>
                <a:gd name="csX34" fmla="*/ 0 w 218347"/>
                <a:gd name="csY34" fmla="*/ 74264 h 183465"/>
                <a:gd name="csX35" fmla="*/ 1478 w 218347"/>
                <a:gd name="csY35" fmla="*/ 82484 h 183465"/>
                <a:gd name="csX36" fmla="*/ 3986 w 218347"/>
                <a:gd name="csY36" fmla="*/ 90334 h 183465"/>
                <a:gd name="csX37" fmla="*/ 7034 w 218347"/>
                <a:gd name="csY37" fmla="*/ 97773 h 183465"/>
                <a:gd name="csX38" fmla="*/ 10117 w 218347"/>
                <a:gd name="csY38" fmla="*/ 104843 h 183465"/>
                <a:gd name="csX39" fmla="*/ 12874 w 218347"/>
                <a:gd name="csY39" fmla="*/ 111786 h 183465"/>
                <a:gd name="csX40" fmla="*/ 15091 w 218347"/>
                <a:gd name="csY40" fmla="*/ 118735 h 183465"/>
                <a:gd name="csX41" fmla="*/ 16945 w 218347"/>
                <a:gd name="csY41" fmla="*/ 125968 h 183465"/>
                <a:gd name="csX42" fmla="*/ 18629 w 218347"/>
                <a:gd name="csY42" fmla="*/ 133613 h 183465"/>
                <a:gd name="csX43" fmla="*/ 20647 w 218347"/>
                <a:gd name="csY43" fmla="*/ 141627 h 183465"/>
                <a:gd name="csX44" fmla="*/ 23403 w 218347"/>
                <a:gd name="csY44" fmla="*/ 149762 h 183465"/>
                <a:gd name="csX45" fmla="*/ 27353 w 218347"/>
                <a:gd name="csY45" fmla="*/ 157776 h 183465"/>
                <a:gd name="csX46" fmla="*/ 32703 w 218347"/>
                <a:gd name="csY46" fmla="*/ 165179 h 183465"/>
                <a:gd name="csX47" fmla="*/ 39488 w 218347"/>
                <a:gd name="csY47" fmla="*/ 171589 h 183465"/>
                <a:gd name="csX48" fmla="*/ 47594 w 218347"/>
                <a:gd name="csY48" fmla="*/ 176686 h 183465"/>
                <a:gd name="csX49" fmla="*/ 56682 w 218347"/>
                <a:gd name="csY49" fmla="*/ 180342 h 183465"/>
                <a:gd name="csX50" fmla="*/ 66393 w 218347"/>
                <a:gd name="csY50" fmla="*/ 182521 h 183465"/>
                <a:gd name="csX51" fmla="*/ 76347 w 218347"/>
                <a:gd name="csY51" fmla="*/ 183465 h 183465"/>
                <a:gd name="csX52" fmla="*/ 86179 w 218347"/>
                <a:gd name="csY52" fmla="*/ 183386 h 183465"/>
                <a:gd name="csX53" fmla="*/ 95800 w 218347"/>
                <a:gd name="csY53" fmla="*/ 182642 h 183465"/>
                <a:gd name="csX54" fmla="*/ 105100 w 218347"/>
                <a:gd name="csY54" fmla="*/ 181492 h 183465"/>
                <a:gd name="csX55" fmla="*/ 114150 w 218347"/>
                <a:gd name="csY55" fmla="*/ 180094 h 183465"/>
                <a:gd name="csX56" fmla="*/ 123032 w 218347"/>
                <a:gd name="csY56" fmla="*/ 178532 h 183465"/>
                <a:gd name="csX57" fmla="*/ 131756 w 218347"/>
                <a:gd name="csY57" fmla="*/ 176643 h 183465"/>
                <a:gd name="csX58" fmla="*/ 140310 w 218347"/>
                <a:gd name="csY58" fmla="*/ 174259 h 183465"/>
                <a:gd name="csX59" fmla="*/ 148580 w 218347"/>
                <a:gd name="csY59" fmla="*/ 171178 h 183465"/>
                <a:gd name="csX60" fmla="*/ 156316 w 218347"/>
                <a:gd name="csY60" fmla="*/ 167273 h 183465"/>
                <a:gd name="csX61" fmla="*/ 163386 w 218347"/>
                <a:gd name="csY61" fmla="*/ 162504 h 183465"/>
                <a:gd name="csX62" fmla="*/ 169602 w 218347"/>
                <a:gd name="csY62" fmla="*/ 156959 h 183465"/>
                <a:gd name="csX63" fmla="*/ 174867 w 218347"/>
                <a:gd name="csY63" fmla="*/ 150834 h 183465"/>
                <a:gd name="csX64" fmla="*/ 179350 w 218347"/>
                <a:gd name="csY64" fmla="*/ 144339 h 183465"/>
                <a:gd name="csX65" fmla="*/ 183215 w 218347"/>
                <a:gd name="csY65" fmla="*/ 137765 h 183465"/>
                <a:gd name="csX66" fmla="*/ 186838 w 218347"/>
                <a:gd name="csY66" fmla="*/ 131270 h 183465"/>
                <a:gd name="csX67" fmla="*/ 190582 w 218347"/>
                <a:gd name="csY67" fmla="*/ 124897 h 183465"/>
                <a:gd name="csX68" fmla="*/ 194653 w 218347"/>
                <a:gd name="csY68" fmla="*/ 118614 h 183465"/>
                <a:gd name="csX69" fmla="*/ 199136 w 218347"/>
                <a:gd name="csY69" fmla="*/ 112198 h 183465"/>
                <a:gd name="csX70" fmla="*/ 204031 w 218347"/>
                <a:gd name="csY70" fmla="*/ 105461 h 183465"/>
                <a:gd name="csX71" fmla="*/ 208884 w 218347"/>
                <a:gd name="csY71" fmla="*/ 98227 h 1834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218347" h="183465">
                  <a:moveTo>
                    <a:pt x="213289" y="90334"/>
                  </a:moveTo>
                  <a:lnTo>
                    <a:pt x="216621" y="81866"/>
                  </a:lnTo>
                  <a:lnTo>
                    <a:pt x="218347" y="73029"/>
                  </a:lnTo>
                  <a:lnTo>
                    <a:pt x="218056" y="64071"/>
                  </a:lnTo>
                  <a:lnTo>
                    <a:pt x="215591" y="55481"/>
                  </a:lnTo>
                  <a:lnTo>
                    <a:pt x="210981" y="47510"/>
                  </a:lnTo>
                  <a:lnTo>
                    <a:pt x="204607" y="40525"/>
                  </a:lnTo>
                  <a:lnTo>
                    <a:pt x="196913" y="34562"/>
                  </a:lnTo>
                  <a:lnTo>
                    <a:pt x="188480" y="29672"/>
                  </a:lnTo>
                  <a:lnTo>
                    <a:pt x="179805" y="25562"/>
                  </a:lnTo>
                  <a:lnTo>
                    <a:pt x="171208" y="22027"/>
                  </a:lnTo>
                  <a:lnTo>
                    <a:pt x="162938" y="18698"/>
                  </a:lnTo>
                  <a:lnTo>
                    <a:pt x="154953" y="15411"/>
                  </a:lnTo>
                  <a:lnTo>
                    <a:pt x="147180" y="12082"/>
                  </a:lnTo>
                  <a:lnTo>
                    <a:pt x="139365" y="8710"/>
                  </a:lnTo>
                  <a:lnTo>
                    <a:pt x="131301" y="5502"/>
                  </a:lnTo>
                  <a:lnTo>
                    <a:pt x="122911" y="2790"/>
                  </a:lnTo>
                  <a:lnTo>
                    <a:pt x="114108" y="902"/>
                  </a:lnTo>
                  <a:lnTo>
                    <a:pt x="105100" y="0"/>
                  </a:lnTo>
                  <a:lnTo>
                    <a:pt x="96006" y="242"/>
                  </a:lnTo>
                  <a:lnTo>
                    <a:pt x="87040" y="1598"/>
                  </a:lnTo>
                  <a:lnTo>
                    <a:pt x="78400" y="3940"/>
                  </a:lnTo>
                  <a:lnTo>
                    <a:pt x="70095" y="6985"/>
                  </a:lnTo>
                  <a:lnTo>
                    <a:pt x="62152" y="10478"/>
                  </a:lnTo>
                  <a:lnTo>
                    <a:pt x="54422" y="14176"/>
                  </a:lnTo>
                  <a:lnTo>
                    <a:pt x="46728" y="18038"/>
                  </a:lnTo>
                  <a:lnTo>
                    <a:pt x="39034" y="22069"/>
                  </a:lnTo>
                  <a:lnTo>
                    <a:pt x="31303" y="26342"/>
                  </a:lnTo>
                  <a:lnTo>
                    <a:pt x="23730" y="31148"/>
                  </a:lnTo>
                  <a:lnTo>
                    <a:pt x="16618" y="36614"/>
                  </a:lnTo>
                  <a:lnTo>
                    <a:pt x="10281" y="42867"/>
                  </a:lnTo>
                  <a:lnTo>
                    <a:pt x="5222" y="49931"/>
                  </a:lnTo>
                  <a:lnTo>
                    <a:pt x="1769" y="57703"/>
                  </a:lnTo>
                  <a:lnTo>
                    <a:pt x="36" y="65923"/>
                  </a:lnTo>
                  <a:lnTo>
                    <a:pt x="0" y="74264"/>
                  </a:lnTo>
                  <a:lnTo>
                    <a:pt x="1478" y="82484"/>
                  </a:lnTo>
                  <a:lnTo>
                    <a:pt x="3986" y="90334"/>
                  </a:lnTo>
                  <a:lnTo>
                    <a:pt x="7034" y="97773"/>
                  </a:lnTo>
                  <a:lnTo>
                    <a:pt x="10117" y="104843"/>
                  </a:lnTo>
                  <a:lnTo>
                    <a:pt x="12874" y="111786"/>
                  </a:lnTo>
                  <a:lnTo>
                    <a:pt x="15091" y="118735"/>
                  </a:lnTo>
                  <a:lnTo>
                    <a:pt x="16945" y="125968"/>
                  </a:lnTo>
                  <a:lnTo>
                    <a:pt x="18629" y="133613"/>
                  </a:lnTo>
                  <a:lnTo>
                    <a:pt x="20647" y="141627"/>
                  </a:lnTo>
                  <a:lnTo>
                    <a:pt x="23403" y="149762"/>
                  </a:lnTo>
                  <a:lnTo>
                    <a:pt x="27353" y="157776"/>
                  </a:lnTo>
                  <a:lnTo>
                    <a:pt x="32703" y="165179"/>
                  </a:lnTo>
                  <a:lnTo>
                    <a:pt x="39488" y="171589"/>
                  </a:lnTo>
                  <a:lnTo>
                    <a:pt x="47594" y="176686"/>
                  </a:lnTo>
                  <a:lnTo>
                    <a:pt x="56682" y="180342"/>
                  </a:lnTo>
                  <a:lnTo>
                    <a:pt x="66393" y="182521"/>
                  </a:lnTo>
                  <a:lnTo>
                    <a:pt x="76347" y="183465"/>
                  </a:lnTo>
                  <a:lnTo>
                    <a:pt x="86179" y="183386"/>
                  </a:lnTo>
                  <a:lnTo>
                    <a:pt x="95800" y="182642"/>
                  </a:lnTo>
                  <a:lnTo>
                    <a:pt x="105100" y="181492"/>
                  </a:lnTo>
                  <a:lnTo>
                    <a:pt x="114150" y="180094"/>
                  </a:lnTo>
                  <a:lnTo>
                    <a:pt x="123032" y="178532"/>
                  </a:lnTo>
                  <a:lnTo>
                    <a:pt x="131756" y="176643"/>
                  </a:lnTo>
                  <a:lnTo>
                    <a:pt x="140310" y="174259"/>
                  </a:lnTo>
                  <a:lnTo>
                    <a:pt x="148580" y="171178"/>
                  </a:lnTo>
                  <a:lnTo>
                    <a:pt x="156316" y="167273"/>
                  </a:lnTo>
                  <a:lnTo>
                    <a:pt x="163386" y="162504"/>
                  </a:lnTo>
                  <a:lnTo>
                    <a:pt x="169602" y="156959"/>
                  </a:lnTo>
                  <a:lnTo>
                    <a:pt x="174867" y="150834"/>
                  </a:lnTo>
                  <a:lnTo>
                    <a:pt x="179350" y="144339"/>
                  </a:lnTo>
                  <a:lnTo>
                    <a:pt x="183215" y="137765"/>
                  </a:lnTo>
                  <a:lnTo>
                    <a:pt x="186838" y="131270"/>
                  </a:lnTo>
                  <a:lnTo>
                    <a:pt x="190582" y="124897"/>
                  </a:lnTo>
                  <a:lnTo>
                    <a:pt x="194653" y="118614"/>
                  </a:lnTo>
                  <a:lnTo>
                    <a:pt x="199136" y="112198"/>
                  </a:lnTo>
                  <a:lnTo>
                    <a:pt x="204031" y="105461"/>
                  </a:lnTo>
                  <a:lnTo>
                    <a:pt x="208884" y="98227"/>
                  </a:lnTo>
                  <a:close/>
                </a:path>
              </a:pathLst>
            </a:custGeom>
            <a:solidFill>
              <a:srgbClr val="7FD3CE"/>
            </a:solidFill>
            <a:ln w="8881" cap="flat">
              <a:solidFill>
                <a:srgbClr val="2FA4A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FA87157-C80E-0552-A5F4-52C18684555A}"/>
                </a:ext>
              </a:extLst>
            </p:cNvPr>
            <p:cNvSpPr/>
            <p:nvPr/>
          </p:nvSpPr>
          <p:spPr>
            <a:xfrm>
              <a:off x="6093457" y="416582"/>
              <a:ext cx="5701" cy="165717"/>
            </a:xfrm>
            <a:custGeom>
              <a:avLst/>
              <a:gdLst>
                <a:gd name="csX0" fmla="*/ 2851 w 5701"/>
                <a:gd name="csY0" fmla="*/ 0 h 165717"/>
                <a:gd name="csX1" fmla="*/ 2851 w 5701"/>
                <a:gd name="csY1" fmla="*/ 165718 h 1657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701" h="165717">
                  <a:moveTo>
                    <a:pt x="2851" y="0"/>
                  </a:moveTo>
                  <a:cubicBezTo>
                    <a:pt x="12726" y="55239"/>
                    <a:pt x="-7024" y="114425"/>
                    <a:pt x="2851" y="165718"/>
                  </a:cubicBezTo>
                </a:path>
              </a:pathLst>
            </a:custGeom>
            <a:noFill/>
            <a:ln w="7561" cap="rnd">
              <a:solidFill>
                <a:srgbClr val="EAFFFD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ADC475AF-8E75-5451-51FA-85C40B814C5C}"/>
                </a:ext>
              </a:extLst>
            </p:cNvPr>
            <p:cNvSpPr/>
            <p:nvPr/>
          </p:nvSpPr>
          <p:spPr>
            <a:xfrm>
              <a:off x="6019301" y="461958"/>
              <a:ext cx="59237" cy="17760"/>
            </a:xfrm>
            <a:custGeom>
              <a:avLst/>
              <a:gdLst>
                <a:gd name="csX0" fmla="*/ 0 w 59237"/>
                <a:gd name="csY0" fmla="*/ 7890 h 17760"/>
                <a:gd name="csX1" fmla="*/ 29619 w 59237"/>
                <a:gd name="csY1" fmla="*/ 7890 h 17760"/>
                <a:gd name="csX2" fmla="*/ 59238 w 59237"/>
                <a:gd name="csY2" fmla="*/ 14221 h 17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9237" h="17760">
                  <a:moveTo>
                    <a:pt x="0" y="7890"/>
                  </a:moveTo>
                  <a:cubicBezTo>
                    <a:pt x="19746" y="-2630"/>
                    <a:pt x="29619" y="-2630"/>
                    <a:pt x="29619" y="7890"/>
                  </a:cubicBezTo>
                  <a:cubicBezTo>
                    <a:pt x="29619" y="18410"/>
                    <a:pt x="39492" y="20521"/>
                    <a:pt x="59238" y="14221"/>
                  </a:cubicBezTo>
                </a:path>
              </a:pathLst>
            </a:custGeom>
            <a:noFill/>
            <a:ln w="6659" cap="rnd">
              <a:solidFill>
                <a:srgbClr val="EAFFFD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B8697EC-583C-4AB0-8890-37C9A7D06B1C}"/>
                </a:ext>
              </a:extLst>
            </p:cNvPr>
            <p:cNvSpPr/>
            <p:nvPr/>
          </p:nvSpPr>
          <p:spPr>
            <a:xfrm>
              <a:off x="6025226" y="516211"/>
              <a:ext cx="51338" cy="15526"/>
            </a:xfrm>
            <a:custGeom>
              <a:avLst/>
              <a:gdLst>
                <a:gd name="csX0" fmla="*/ 0 w 51338"/>
                <a:gd name="csY0" fmla="*/ 6903 h 15526"/>
                <a:gd name="csX1" fmla="*/ 25669 w 51338"/>
                <a:gd name="csY1" fmla="*/ 6903 h 15526"/>
                <a:gd name="csX2" fmla="*/ 51338 w 51338"/>
                <a:gd name="csY2" fmla="*/ 12412 h 155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1338" h="15526">
                  <a:moveTo>
                    <a:pt x="0" y="6903"/>
                  </a:moveTo>
                  <a:cubicBezTo>
                    <a:pt x="17113" y="-2301"/>
                    <a:pt x="25669" y="-2301"/>
                    <a:pt x="25669" y="6903"/>
                  </a:cubicBezTo>
                  <a:cubicBezTo>
                    <a:pt x="25669" y="16108"/>
                    <a:pt x="34226" y="17944"/>
                    <a:pt x="51338" y="12412"/>
                  </a:cubicBezTo>
                </a:path>
              </a:pathLst>
            </a:custGeom>
            <a:noFill/>
            <a:ln w="6659" cap="rnd">
              <a:solidFill>
                <a:srgbClr val="EAFFFD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7CBBF74-9376-7D2F-AD78-0989BC0DB380}"/>
                </a:ext>
              </a:extLst>
            </p:cNvPr>
            <p:cNvSpPr/>
            <p:nvPr/>
          </p:nvSpPr>
          <p:spPr>
            <a:xfrm>
              <a:off x="6114077" y="463931"/>
              <a:ext cx="59238" cy="17760"/>
            </a:xfrm>
            <a:custGeom>
              <a:avLst/>
              <a:gdLst>
                <a:gd name="csX0" fmla="*/ 0 w 59238"/>
                <a:gd name="csY0" fmla="*/ 7890 h 17760"/>
                <a:gd name="csX1" fmla="*/ 29619 w 59238"/>
                <a:gd name="csY1" fmla="*/ 7890 h 17760"/>
                <a:gd name="csX2" fmla="*/ 59238 w 59238"/>
                <a:gd name="csY2" fmla="*/ 14221 h 17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9238" h="17760">
                  <a:moveTo>
                    <a:pt x="0" y="7890"/>
                  </a:moveTo>
                  <a:cubicBezTo>
                    <a:pt x="19746" y="-2630"/>
                    <a:pt x="29619" y="-2630"/>
                    <a:pt x="29619" y="7890"/>
                  </a:cubicBezTo>
                  <a:cubicBezTo>
                    <a:pt x="29619" y="18410"/>
                    <a:pt x="39492" y="20521"/>
                    <a:pt x="59238" y="14221"/>
                  </a:cubicBezTo>
                </a:path>
              </a:pathLst>
            </a:custGeom>
            <a:noFill/>
            <a:ln w="6659" cap="rnd">
              <a:solidFill>
                <a:srgbClr val="EAFFFD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4A0F244-D593-4E93-10DD-99D8BD1A4B7A}"/>
                </a:ext>
              </a:extLst>
            </p:cNvPr>
            <p:cNvSpPr/>
            <p:nvPr/>
          </p:nvSpPr>
          <p:spPr>
            <a:xfrm>
              <a:off x="6116052" y="518184"/>
              <a:ext cx="51338" cy="15526"/>
            </a:xfrm>
            <a:custGeom>
              <a:avLst/>
              <a:gdLst>
                <a:gd name="csX0" fmla="*/ 0 w 51338"/>
                <a:gd name="csY0" fmla="*/ 6903 h 15526"/>
                <a:gd name="csX1" fmla="*/ 25669 w 51338"/>
                <a:gd name="csY1" fmla="*/ 6903 h 15526"/>
                <a:gd name="csX2" fmla="*/ 51338 w 51338"/>
                <a:gd name="csY2" fmla="*/ 12412 h 155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1338" h="15526">
                  <a:moveTo>
                    <a:pt x="0" y="6903"/>
                  </a:moveTo>
                  <a:cubicBezTo>
                    <a:pt x="17113" y="-2301"/>
                    <a:pt x="25669" y="-2301"/>
                    <a:pt x="25669" y="6903"/>
                  </a:cubicBezTo>
                  <a:cubicBezTo>
                    <a:pt x="25669" y="16108"/>
                    <a:pt x="34226" y="17944"/>
                    <a:pt x="51338" y="12412"/>
                  </a:cubicBezTo>
                </a:path>
              </a:pathLst>
            </a:custGeom>
            <a:noFill/>
            <a:ln w="6659" cap="rnd">
              <a:solidFill>
                <a:srgbClr val="EAFFFD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9876B9D0-5DAD-0769-585F-68EC3B64EB16}"/>
              </a:ext>
            </a:extLst>
          </p:cNvPr>
          <p:cNvSpPr txBox="1"/>
          <p:nvPr/>
        </p:nvSpPr>
        <p:spPr>
          <a:xfrm>
            <a:off x="4999861" y="576718"/>
            <a:ext cx="914674" cy="2099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64" b="1" spc="68" baseline="0" dirty="0">
                <a:ln/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  <a:sym typeface="Arial"/>
                <a:rtl val="0"/>
              </a:rPr>
              <a:t>SIGNATURES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3692715F-2440-80FC-5996-DA363F0E25FA}"/>
              </a:ext>
            </a:extLst>
          </p:cNvPr>
          <p:cNvSpPr/>
          <p:nvPr/>
        </p:nvSpPr>
        <p:spPr>
          <a:xfrm>
            <a:off x="3792698" y="756232"/>
            <a:ext cx="2303609" cy="263037"/>
          </a:xfrm>
          <a:custGeom>
            <a:avLst/>
            <a:gdLst>
              <a:gd name="csX0" fmla="*/ 2303610 w 2303609"/>
              <a:gd name="csY0" fmla="*/ 0 h 263037"/>
              <a:gd name="csX1" fmla="*/ 0 w 2303609"/>
              <a:gd name="csY1" fmla="*/ 263037 h 26303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303609" h="263037">
                <a:moveTo>
                  <a:pt x="2303610" y="0"/>
                </a:moveTo>
                <a:cubicBezTo>
                  <a:pt x="2303610" y="131519"/>
                  <a:pt x="0" y="131519"/>
                  <a:pt x="0" y="263037"/>
                </a:cubicBezTo>
              </a:path>
            </a:pathLst>
          </a:custGeom>
          <a:noFill/>
          <a:ln w="12332" cap="flat">
            <a:solidFill>
              <a:srgbClr val="E05C4E">
                <a:alpha val="5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73BB9536-56DD-6D1D-39DA-686807901A13}"/>
              </a:ext>
            </a:extLst>
          </p:cNvPr>
          <p:cNvSpPr/>
          <p:nvPr/>
        </p:nvSpPr>
        <p:spPr>
          <a:xfrm>
            <a:off x="6096308" y="756232"/>
            <a:ext cx="6058" cy="263037"/>
          </a:xfrm>
          <a:custGeom>
            <a:avLst/>
            <a:gdLst>
              <a:gd name="csX0" fmla="*/ 0 w 6058"/>
              <a:gd name="csY0" fmla="*/ 0 h 263037"/>
              <a:gd name="csX1" fmla="*/ 0 w 6058"/>
              <a:gd name="csY1" fmla="*/ 263037 h 26303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058" h="263037">
                <a:moveTo>
                  <a:pt x="0" y="0"/>
                </a:moveTo>
                <a:cubicBezTo>
                  <a:pt x="0" y="131519"/>
                  <a:pt x="0" y="131519"/>
                  <a:pt x="0" y="263037"/>
                </a:cubicBezTo>
              </a:path>
            </a:pathLst>
          </a:custGeom>
          <a:noFill/>
          <a:ln w="12332" cap="flat">
            <a:solidFill>
              <a:srgbClr val="8A6FC0">
                <a:alpha val="5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0363FD1C-7F52-BCFD-DA51-997D6325425C}"/>
              </a:ext>
            </a:extLst>
          </p:cNvPr>
          <p:cNvSpPr/>
          <p:nvPr/>
        </p:nvSpPr>
        <p:spPr>
          <a:xfrm>
            <a:off x="6096308" y="756232"/>
            <a:ext cx="2303609" cy="263037"/>
          </a:xfrm>
          <a:custGeom>
            <a:avLst/>
            <a:gdLst>
              <a:gd name="csX0" fmla="*/ 0 w 2303609"/>
              <a:gd name="csY0" fmla="*/ 0 h 263037"/>
              <a:gd name="csX1" fmla="*/ 2303610 w 2303609"/>
              <a:gd name="csY1" fmla="*/ 263037 h 26303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303609" h="263037">
                <a:moveTo>
                  <a:pt x="0" y="0"/>
                </a:moveTo>
                <a:cubicBezTo>
                  <a:pt x="0" y="131519"/>
                  <a:pt x="2303610" y="131519"/>
                  <a:pt x="2303610" y="263037"/>
                </a:cubicBezTo>
              </a:path>
            </a:pathLst>
          </a:custGeom>
          <a:noFill/>
          <a:ln w="12332" cap="flat">
            <a:solidFill>
              <a:srgbClr val="E3A33C">
                <a:alpha val="5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9EE058E-B224-CB24-6768-F8D0853C2D5F}"/>
              </a:ext>
            </a:extLst>
          </p:cNvPr>
          <p:cNvSpPr/>
          <p:nvPr/>
        </p:nvSpPr>
        <p:spPr>
          <a:xfrm>
            <a:off x="2686143" y="1002829"/>
            <a:ext cx="2213110" cy="4044198"/>
          </a:xfrm>
          <a:prstGeom prst="roundRect">
            <a:avLst>
              <a:gd name="adj" fmla="val 3345"/>
            </a:avLst>
          </a:prstGeom>
          <a:solidFill>
            <a:srgbClr val="FBEAE7">
              <a:alpha val="50000"/>
            </a:srgbClr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E592129-7007-AE25-9B57-1FC176378381}"/>
              </a:ext>
            </a:extLst>
          </p:cNvPr>
          <p:cNvSpPr/>
          <p:nvPr/>
        </p:nvSpPr>
        <p:spPr>
          <a:xfrm>
            <a:off x="2702597" y="1019269"/>
            <a:ext cx="2180201" cy="263037"/>
          </a:xfrm>
          <a:prstGeom prst="roundRect">
            <a:avLst>
              <a:gd name="adj" fmla="val 23458"/>
            </a:avLst>
          </a:prstGeom>
          <a:solidFill>
            <a:srgbClr val="E05C4E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22" name="Graphic 2">
            <a:extLst>
              <a:ext uri="{FF2B5EF4-FFF2-40B4-BE49-F238E27FC236}">
                <a16:creationId xmlns:a16="http://schemas.microsoft.com/office/drawing/2014/main" id="{342288F8-6C0A-071C-C0D3-AFD4B77FFF79}"/>
              </a:ext>
            </a:extLst>
          </p:cNvPr>
          <p:cNvGrpSpPr/>
          <p:nvPr/>
        </p:nvGrpSpPr>
        <p:grpSpPr>
          <a:xfrm>
            <a:off x="2751058" y="1079272"/>
            <a:ext cx="172807" cy="145246"/>
            <a:chOff x="2751058" y="1079272"/>
            <a:chExt cx="172807" cy="145246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5402D28F-81A7-77C4-B189-B70FD87BDFE4}"/>
                </a:ext>
              </a:extLst>
            </p:cNvPr>
            <p:cNvSpPr/>
            <p:nvPr/>
          </p:nvSpPr>
          <p:spPr>
            <a:xfrm>
              <a:off x="2751058" y="1079272"/>
              <a:ext cx="172807" cy="145246"/>
            </a:xfrm>
            <a:custGeom>
              <a:avLst/>
              <a:gdLst>
                <a:gd name="csX0" fmla="*/ 168821 w 172807"/>
                <a:gd name="csY0" fmla="*/ 71516 h 145246"/>
                <a:gd name="csX1" fmla="*/ 171450 w 172807"/>
                <a:gd name="csY1" fmla="*/ 64815 h 145246"/>
                <a:gd name="csX2" fmla="*/ 172807 w 172807"/>
                <a:gd name="csY2" fmla="*/ 57788 h 145246"/>
                <a:gd name="csX3" fmla="*/ 172601 w 172807"/>
                <a:gd name="csY3" fmla="*/ 50718 h 145246"/>
                <a:gd name="csX4" fmla="*/ 170632 w 172807"/>
                <a:gd name="csY4" fmla="*/ 43896 h 145246"/>
                <a:gd name="csX5" fmla="*/ 167009 w 172807"/>
                <a:gd name="csY5" fmla="*/ 37607 h 145246"/>
                <a:gd name="csX6" fmla="*/ 161951 w 172807"/>
                <a:gd name="csY6" fmla="*/ 32063 h 145246"/>
                <a:gd name="csX7" fmla="*/ 155862 w 172807"/>
                <a:gd name="csY7" fmla="*/ 27378 h 145246"/>
                <a:gd name="csX8" fmla="*/ 149198 w 172807"/>
                <a:gd name="csY8" fmla="*/ 23467 h 145246"/>
                <a:gd name="csX9" fmla="*/ 142285 w 172807"/>
                <a:gd name="csY9" fmla="*/ 20265 h 145246"/>
                <a:gd name="csX10" fmla="*/ 135500 w 172807"/>
                <a:gd name="csY10" fmla="*/ 17427 h 145246"/>
                <a:gd name="csX11" fmla="*/ 128957 w 172807"/>
                <a:gd name="csY11" fmla="*/ 14800 h 145246"/>
                <a:gd name="csX12" fmla="*/ 122662 w 172807"/>
                <a:gd name="csY12" fmla="*/ 12209 h 145246"/>
                <a:gd name="csX13" fmla="*/ 116495 w 172807"/>
                <a:gd name="csY13" fmla="*/ 9539 h 145246"/>
                <a:gd name="csX14" fmla="*/ 110285 w 172807"/>
                <a:gd name="csY14" fmla="*/ 6864 h 145246"/>
                <a:gd name="csX15" fmla="*/ 103906 w 172807"/>
                <a:gd name="csY15" fmla="*/ 4358 h 145246"/>
                <a:gd name="csX16" fmla="*/ 97284 w 172807"/>
                <a:gd name="csY16" fmla="*/ 2221 h 145246"/>
                <a:gd name="csX17" fmla="*/ 90329 w 172807"/>
                <a:gd name="csY17" fmla="*/ 702 h 145246"/>
                <a:gd name="csX18" fmla="*/ 83174 w 172807"/>
                <a:gd name="csY18" fmla="*/ 0 h 145246"/>
                <a:gd name="csX19" fmla="*/ 75977 w 172807"/>
                <a:gd name="csY19" fmla="*/ 206 h 145246"/>
                <a:gd name="csX20" fmla="*/ 68901 w 172807"/>
                <a:gd name="csY20" fmla="*/ 1277 h 145246"/>
                <a:gd name="csX21" fmla="*/ 62031 w 172807"/>
                <a:gd name="csY21" fmla="*/ 3123 h 145246"/>
                <a:gd name="csX22" fmla="*/ 55488 w 172807"/>
                <a:gd name="csY22" fmla="*/ 5508 h 145246"/>
                <a:gd name="csX23" fmla="*/ 49157 w 172807"/>
                <a:gd name="csY23" fmla="*/ 8305 h 145246"/>
                <a:gd name="csX24" fmla="*/ 43026 w 172807"/>
                <a:gd name="csY24" fmla="*/ 11222 h 145246"/>
                <a:gd name="csX25" fmla="*/ 36980 w 172807"/>
                <a:gd name="csY25" fmla="*/ 14267 h 145246"/>
                <a:gd name="csX26" fmla="*/ 30849 w 172807"/>
                <a:gd name="csY26" fmla="*/ 17469 h 145246"/>
                <a:gd name="csX27" fmla="*/ 24760 w 172807"/>
                <a:gd name="csY27" fmla="*/ 20840 h 145246"/>
                <a:gd name="csX28" fmla="*/ 18757 w 172807"/>
                <a:gd name="csY28" fmla="*/ 24660 h 145246"/>
                <a:gd name="csX29" fmla="*/ 13122 w 172807"/>
                <a:gd name="csY29" fmla="*/ 28976 h 145246"/>
                <a:gd name="csX30" fmla="*/ 8142 w 172807"/>
                <a:gd name="csY30" fmla="*/ 33951 h 145246"/>
                <a:gd name="csX31" fmla="*/ 4114 w 172807"/>
                <a:gd name="csY31" fmla="*/ 39538 h 145246"/>
                <a:gd name="csX32" fmla="*/ 1357 w 172807"/>
                <a:gd name="csY32" fmla="*/ 45706 h 145246"/>
                <a:gd name="csX33" fmla="*/ 0 w 172807"/>
                <a:gd name="csY33" fmla="*/ 52201 h 145246"/>
                <a:gd name="csX34" fmla="*/ 0 w 172807"/>
                <a:gd name="csY34" fmla="*/ 58817 h 145246"/>
                <a:gd name="csX35" fmla="*/ 1151 w 172807"/>
                <a:gd name="csY35" fmla="*/ 65311 h 145246"/>
                <a:gd name="csX36" fmla="*/ 3126 w 172807"/>
                <a:gd name="csY36" fmla="*/ 71516 h 145246"/>
                <a:gd name="csX37" fmla="*/ 5549 w 172807"/>
                <a:gd name="csY37" fmla="*/ 77393 h 145246"/>
                <a:gd name="csX38" fmla="*/ 7979 w 172807"/>
                <a:gd name="csY38" fmla="*/ 83022 h 145246"/>
                <a:gd name="csX39" fmla="*/ 10160 w 172807"/>
                <a:gd name="csY39" fmla="*/ 88488 h 145246"/>
                <a:gd name="csX40" fmla="*/ 11929 w 172807"/>
                <a:gd name="csY40" fmla="*/ 93996 h 145246"/>
                <a:gd name="csX41" fmla="*/ 13365 w 172807"/>
                <a:gd name="csY41" fmla="*/ 99753 h 145246"/>
                <a:gd name="csX42" fmla="*/ 14722 w 172807"/>
                <a:gd name="csY42" fmla="*/ 105794 h 145246"/>
                <a:gd name="csX43" fmla="*/ 16327 w 172807"/>
                <a:gd name="csY43" fmla="*/ 112125 h 145246"/>
                <a:gd name="csX44" fmla="*/ 18508 w 172807"/>
                <a:gd name="csY44" fmla="*/ 118577 h 145246"/>
                <a:gd name="csX45" fmla="*/ 21634 w 172807"/>
                <a:gd name="csY45" fmla="*/ 124903 h 145246"/>
                <a:gd name="csX46" fmla="*/ 25875 w 172807"/>
                <a:gd name="csY46" fmla="*/ 130738 h 145246"/>
                <a:gd name="csX47" fmla="*/ 31218 w 172807"/>
                <a:gd name="csY47" fmla="*/ 135834 h 145246"/>
                <a:gd name="csX48" fmla="*/ 37634 w 172807"/>
                <a:gd name="csY48" fmla="*/ 139866 h 145246"/>
                <a:gd name="csX49" fmla="*/ 44880 w 172807"/>
                <a:gd name="csY49" fmla="*/ 142783 h 145246"/>
                <a:gd name="csX50" fmla="*/ 52525 w 172807"/>
                <a:gd name="csY50" fmla="*/ 144508 h 145246"/>
                <a:gd name="csX51" fmla="*/ 60383 w 172807"/>
                <a:gd name="csY51" fmla="*/ 145247 h 145246"/>
                <a:gd name="csX52" fmla="*/ 68198 w 172807"/>
                <a:gd name="csY52" fmla="*/ 145168 h 145246"/>
                <a:gd name="csX53" fmla="*/ 75814 w 172807"/>
                <a:gd name="csY53" fmla="*/ 144593 h 145246"/>
                <a:gd name="csX54" fmla="*/ 83174 w 172807"/>
                <a:gd name="csY54" fmla="*/ 143685 h 145246"/>
                <a:gd name="csX55" fmla="*/ 90329 w 172807"/>
                <a:gd name="csY55" fmla="*/ 142577 h 145246"/>
                <a:gd name="csX56" fmla="*/ 97369 w 172807"/>
                <a:gd name="csY56" fmla="*/ 141343 h 145246"/>
                <a:gd name="csX57" fmla="*/ 104276 w 172807"/>
                <a:gd name="csY57" fmla="*/ 139823 h 145246"/>
                <a:gd name="csX58" fmla="*/ 111067 w 172807"/>
                <a:gd name="csY58" fmla="*/ 137935 h 145246"/>
                <a:gd name="csX59" fmla="*/ 117604 w 172807"/>
                <a:gd name="csY59" fmla="*/ 135508 h 145246"/>
                <a:gd name="csX60" fmla="*/ 123735 w 172807"/>
                <a:gd name="csY60" fmla="*/ 132427 h 145246"/>
                <a:gd name="csX61" fmla="*/ 129327 w 172807"/>
                <a:gd name="csY61" fmla="*/ 128644 h 145246"/>
                <a:gd name="csX62" fmla="*/ 134222 w 172807"/>
                <a:gd name="csY62" fmla="*/ 124285 h 145246"/>
                <a:gd name="csX63" fmla="*/ 138420 w 172807"/>
                <a:gd name="csY63" fmla="*/ 119395 h 145246"/>
                <a:gd name="csX64" fmla="*/ 141958 w 172807"/>
                <a:gd name="csY64" fmla="*/ 114262 h 145246"/>
                <a:gd name="csX65" fmla="*/ 144999 w 172807"/>
                <a:gd name="csY65" fmla="*/ 109080 h 145246"/>
                <a:gd name="csX66" fmla="*/ 147883 w 172807"/>
                <a:gd name="csY66" fmla="*/ 103905 h 145246"/>
                <a:gd name="csX67" fmla="*/ 150846 w 172807"/>
                <a:gd name="csY67" fmla="*/ 98887 h 145246"/>
                <a:gd name="csX68" fmla="*/ 154051 w 172807"/>
                <a:gd name="csY68" fmla="*/ 93875 h 145246"/>
                <a:gd name="csX69" fmla="*/ 157631 w 172807"/>
                <a:gd name="csY69" fmla="*/ 88821 h 145246"/>
                <a:gd name="csX70" fmla="*/ 161496 w 172807"/>
                <a:gd name="csY70" fmla="*/ 83476 h 145246"/>
                <a:gd name="csX71" fmla="*/ 165361 w 172807"/>
                <a:gd name="csY71" fmla="*/ 77762 h 1452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172807" h="145246">
                  <a:moveTo>
                    <a:pt x="168821" y="71516"/>
                  </a:moveTo>
                  <a:lnTo>
                    <a:pt x="171450" y="64815"/>
                  </a:lnTo>
                  <a:lnTo>
                    <a:pt x="172807" y="57788"/>
                  </a:lnTo>
                  <a:lnTo>
                    <a:pt x="172601" y="50718"/>
                  </a:lnTo>
                  <a:lnTo>
                    <a:pt x="170632" y="43896"/>
                  </a:lnTo>
                  <a:lnTo>
                    <a:pt x="167009" y="37607"/>
                  </a:lnTo>
                  <a:lnTo>
                    <a:pt x="161951" y="32063"/>
                  </a:lnTo>
                  <a:lnTo>
                    <a:pt x="155862" y="27378"/>
                  </a:lnTo>
                  <a:lnTo>
                    <a:pt x="149198" y="23467"/>
                  </a:lnTo>
                  <a:lnTo>
                    <a:pt x="142285" y="20265"/>
                  </a:lnTo>
                  <a:lnTo>
                    <a:pt x="135500" y="17427"/>
                  </a:lnTo>
                  <a:lnTo>
                    <a:pt x="128957" y="14800"/>
                  </a:lnTo>
                  <a:lnTo>
                    <a:pt x="122662" y="12209"/>
                  </a:lnTo>
                  <a:lnTo>
                    <a:pt x="116495" y="9539"/>
                  </a:lnTo>
                  <a:lnTo>
                    <a:pt x="110285" y="6864"/>
                  </a:lnTo>
                  <a:lnTo>
                    <a:pt x="103906" y="4358"/>
                  </a:lnTo>
                  <a:lnTo>
                    <a:pt x="97284" y="2221"/>
                  </a:lnTo>
                  <a:lnTo>
                    <a:pt x="90329" y="702"/>
                  </a:lnTo>
                  <a:lnTo>
                    <a:pt x="83174" y="0"/>
                  </a:lnTo>
                  <a:lnTo>
                    <a:pt x="75977" y="206"/>
                  </a:lnTo>
                  <a:lnTo>
                    <a:pt x="68901" y="1277"/>
                  </a:lnTo>
                  <a:lnTo>
                    <a:pt x="62031" y="3123"/>
                  </a:lnTo>
                  <a:lnTo>
                    <a:pt x="55488" y="5508"/>
                  </a:lnTo>
                  <a:lnTo>
                    <a:pt x="49157" y="8305"/>
                  </a:lnTo>
                  <a:lnTo>
                    <a:pt x="43026" y="11222"/>
                  </a:lnTo>
                  <a:lnTo>
                    <a:pt x="36980" y="14267"/>
                  </a:lnTo>
                  <a:lnTo>
                    <a:pt x="30849" y="17469"/>
                  </a:lnTo>
                  <a:lnTo>
                    <a:pt x="24760" y="20840"/>
                  </a:lnTo>
                  <a:lnTo>
                    <a:pt x="18757" y="24660"/>
                  </a:lnTo>
                  <a:lnTo>
                    <a:pt x="13122" y="28976"/>
                  </a:lnTo>
                  <a:lnTo>
                    <a:pt x="8142" y="33951"/>
                  </a:lnTo>
                  <a:lnTo>
                    <a:pt x="4114" y="39538"/>
                  </a:lnTo>
                  <a:lnTo>
                    <a:pt x="1357" y="45706"/>
                  </a:lnTo>
                  <a:lnTo>
                    <a:pt x="0" y="52201"/>
                  </a:lnTo>
                  <a:lnTo>
                    <a:pt x="0" y="58817"/>
                  </a:lnTo>
                  <a:lnTo>
                    <a:pt x="1151" y="65311"/>
                  </a:lnTo>
                  <a:lnTo>
                    <a:pt x="3126" y="71516"/>
                  </a:lnTo>
                  <a:lnTo>
                    <a:pt x="5549" y="77393"/>
                  </a:lnTo>
                  <a:lnTo>
                    <a:pt x="7979" y="83022"/>
                  </a:lnTo>
                  <a:lnTo>
                    <a:pt x="10160" y="88488"/>
                  </a:lnTo>
                  <a:lnTo>
                    <a:pt x="11929" y="93996"/>
                  </a:lnTo>
                  <a:lnTo>
                    <a:pt x="13365" y="99753"/>
                  </a:lnTo>
                  <a:lnTo>
                    <a:pt x="14722" y="105794"/>
                  </a:lnTo>
                  <a:lnTo>
                    <a:pt x="16327" y="112125"/>
                  </a:lnTo>
                  <a:lnTo>
                    <a:pt x="18508" y="118577"/>
                  </a:lnTo>
                  <a:lnTo>
                    <a:pt x="21634" y="124903"/>
                  </a:lnTo>
                  <a:lnTo>
                    <a:pt x="25875" y="130738"/>
                  </a:lnTo>
                  <a:lnTo>
                    <a:pt x="31218" y="135834"/>
                  </a:lnTo>
                  <a:lnTo>
                    <a:pt x="37634" y="139866"/>
                  </a:lnTo>
                  <a:lnTo>
                    <a:pt x="44880" y="142783"/>
                  </a:lnTo>
                  <a:lnTo>
                    <a:pt x="52525" y="144508"/>
                  </a:lnTo>
                  <a:lnTo>
                    <a:pt x="60383" y="145247"/>
                  </a:lnTo>
                  <a:lnTo>
                    <a:pt x="68198" y="145168"/>
                  </a:lnTo>
                  <a:lnTo>
                    <a:pt x="75814" y="144593"/>
                  </a:lnTo>
                  <a:lnTo>
                    <a:pt x="83174" y="143685"/>
                  </a:lnTo>
                  <a:lnTo>
                    <a:pt x="90329" y="142577"/>
                  </a:lnTo>
                  <a:lnTo>
                    <a:pt x="97369" y="141343"/>
                  </a:lnTo>
                  <a:lnTo>
                    <a:pt x="104276" y="139823"/>
                  </a:lnTo>
                  <a:lnTo>
                    <a:pt x="111067" y="137935"/>
                  </a:lnTo>
                  <a:lnTo>
                    <a:pt x="117604" y="135508"/>
                  </a:lnTo>
                  <a:lnTo>
                    <a:pt x="123735" y="132427"/>
                  </a:lnTo>
                  <a:lnTo>
                    <a:pt x="129327" y="128644"/>
                  </a:lnTo>
                  <a:lnTo>
                    <a:pt x="134222" y="124285"/>
                  </a:lnTo>
                  <a:lnTo>
                    <a:pt x="138420" y="119395"/>
                  </a:lnTo>
                  <a:lnTo>
                    <a:pt x="141958" y="114262"/>
                  </a:lnTo>
                  <a:lnTo>
                    <a:pt x="144999" y="109080"/>
                  </a:lnTo>
                  <a:lnTo>
                    <a:pt x="147883" y="103905"/>
                  </a:lnTo>
                  <a:lnTo>
                    <a:pt x="150846" y="98887"/>
                  </a:lnTo>
                  <a:lnTo>
                    <a:pt x="154051" y="93875"/>
                  </a:lnTo>
                  <a:lnTo>
                    <a:pt x="157631" y="88821"/>
                  </a:lnTo>
                  <a:lnTo>
                    <a:pt x="161496" y="83476"/>
                  </a:lnTo>
                  <a:lnTo>
                    <a:pt x="165361" y="77762"/>
                  </a:lnTo>
                  <a:close/>
                </a:path>
              </a:pathLst>
            </a:custGeom>
            <a:solidFill>
              <a:srgbClr val="FFFFFF"/>
            </a:solidFill>
            <a:ln w="7029" cap="flat">
              <a:solidFill>
                <a:srgbClr val="B23F3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9CE3452-C6C0-2BB5-D921-3127791A0F3D}"/>
                </a:ext>
              </a:extLst>
            </p:cNvPr>
            <p:cNvSpPr/>
            <p:nvPr/>
          </p:nvSpPr>
          <p:spPr>
            <a:xfrm>
              <a:off x="2831976" y="1083630"/>
              <a:ext cx="4512" cy="131191"/>
            </a:xfrm>
            <a:custGeom>
              <a:avLst/>
              <a:gdLst>
                <a:gd name="csX0" fmla="*/ 2256 w 4512"/>
                <a:gd name="csY0" fmla="*/ 0 h 131191"/>
                <a:gd name="csX1" fmla="*/ 2256 w 4512"/>
                <a:gd name="csY1" fmla="*/ 131192 h 1311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512" h="131191">
                  <a:moveTo>
                    <a:pt x="2256" y="0"/>
                  </a:moveTo>
                  <a:cubicBezTo>
                    <a:pt x="10071" y="43733"/>
                    <a:pt x="-5559" y="90583"/>
                    <a:pt x="2256" y="131192"/>
                  </a:cubicBezTo>
                </a:path>
              </a:pathLst>
            </a:custGeom>
            <a:noFill/>
            <a:ln w="5963" cap="rnd">
              <a:solidFill>
                <a:srgbClr val="E05C4E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EBEA5CA-19E9-53A7-D059-9B83EFCC36A0}"/>
                </a:ext>
              </a:extLst>
            </p:cNvPr>
            <p:cNvSpPr/>
            <p:nvPr/>
          </p:nvSpPr>
          <p:spPr>
            <a:xfrm>
              <a:off x="2773268" y="1119554"/>
              <a:ext cx="46897" cy="14060"/>
            </a:xfrm>
            <a:custGeom>
              <a:avLst/>
              <a:gdLst>
                <a:gd name="csX0" fmla="*/ 0 w 46897"/>
                <a:gd name="csY0" fmla="*/ 6247 h 14060"/>
                <a:gd name="csX1" fmla="*/ 23452 w 46897"/>
                <a:gd name="csY1" fmla="*/ 6247 h 14060"/>
                <a:gd name="csX2" fmla="*/ 46897 w 46897"/>
                <a:gd name="csY2" fmla="*/ 11259 h 140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6897" h="14060">
                  <a:moveTo>
                    <a:pt x="0" y="6247"/>
                  </a:moveTo>
                  <a:cubicBezTo>
                    <a:pt x="15634" y="-2082"/>
                    <a:pt x="23452" y="-2082"/>
                    <a:pt x="23452" y="6247"/>
                  </a:cubicBezTo>
                  <a:cubicBezTo>
                    <a:pt x="23452" y="14576"/>
                    <a:pt x="31267" y="16246"/>
                    <a:pt x="46897" y="11259"/>
                  </a:cubicBezTo>
                </a:path>
              </a:pathLst>
            </a:custGeom>
            <a:noFill/>
            <a:ln w="5261" cap="rnd">
              <a:solidFill>
                <a:srgbClr val="E05C4E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4517440A-447F-ED93-48F2-752410B33FD5}"/>
                </a:ext>
              </a:extLst>
            </p:cNvPr>
            <p:cNvSpPr/>
            <p:nvPr/>
          </p:nvSpPr>
          <p:spPr>
            <a:xfrm>
              <a:off x="2777957" y="1162500"/>
              <a:ext cx="40645" cy="12292"/>
            </a:xfrm>
            <a:custGeom>
              <a:avLst/>
              <a:gdLst>
                <a:gd name="csX0" fmla="*/ 0 w 40645"/>
                <a:gd name="csY0" fmla="*/ 5466 h 12292"/>
                <a:gd name="csX1" fmla="*/ 20326 w 40645"/>
                <a:gd name="csY1" fmla="*/ 5466 h 12292"/>
                <a:gd name="csX2" fmla="*/ 40645 w 40645"/>
                <a:gd name="csY2" fmla="*/ 9824 h 122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0645" h="12292">
                  <a:moveTo>
                    <a:pt x="0" y="5466"/>
                  </a:moveTo>
                  <a:cubicBezTo>
                    <a:pt x="13550" y="-1822"/>
                    <a:pt x="20326" y="-1822"/>
                    <a:pt x="20326" y="5466"/>
                  </a:cubicBezTo>
                  <a:cubicBezTo>
                    <a:pt x="20326" y="12754"/>
                    <a:pt x="27099" y="14206"/>
                    <a:pt x="40645" y="9824"/>
                  </a:cubicBezTo>
                </a:path>
              </a:pathLst>
            </a:custGeom>
            <a:noFill/>
            <a:ln w="5261" cap="rnd">
              <a:solidFill>
                <a:srgbClr val="E05C4E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4F44A142-2175-AD3E-D489-E17E3B368543}"/>
                </a:ext>
              </a:extLst>
            </p:cNvPr>
            <p:cNvSpPr/>
            <p:nvPr/>
          </p:nvSpPr>
          <p:spPr>
            <a:xfrm>
              <a:off x="2848300" y="1121116"/>
              <a:ext cx="46897" cy="14060"/>
            </a:xfrm>
            <a:custGeom>
              <a:avLst/>
              <a:gdLst>
                <a:gd name="csX0" fmla="*/ 0 w 46897"/>
                <a:gd name="csY0" fmla="*/ 6247 h 14060"/>
                <a:gd name="csX1" fmla="*/ 23446 w 46897"/>
                <a:gd name="csY1" fmla="*/ 6247 h 14060"/>
                <a:gd name="csX2" fmla="*/ 46897 w 46897"/>
                <a:gd name="csY2" fmla="*/ 11259 h 140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6897" h="14060">
                  <a:moveTo>
                    <a:pt x="0" y="6247"/>
                  </a:moveTo>
                  <a:cubicBezTo>
                    <a:pt x="15630" y="-2082"/>
                    <a:pt x="23446" y="-2082"/>
                    <a:pt x="23446" y="6247"/>
                  </a:cubicBezTo>
                  <a:cubicBezTo>
                    <a:pt x="23446" y="14576"/>
                    <a:pt x="31263" y="16246"/>
                    <a:pt x="46897" y="11259"/>
                  </a:cubicBezTo>
                </a:path>
              </a:pathLst>
            </a:custGeom>
            <a:noFill/>
            <a:ln w="5261" cap="rnd">
              <a:solidFill>
                <a:srgbClr val="E05C4E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634529EE-CB32-A31C-14D5-164319799084}"/>
                </a:ext>
              </a:extLst>
            </p:cNvPr>
            <p:cNvSpPr/>
            <p:nvPr/>
          </p:nvSpPr>
          <p:spPr>
            <a:xfrm>
              <a:off x="2849863" y="1164062"/>
              <a:ext cx="40645" cy="12292"/>
            </a:xfrm>
            <a:custGeom>
              <a:avLst/>
              <a:gdLst>
                <a:gd name="csX0" fmla="*/ 0 w 40645"/>
                <a:gd name="csY0" fmla="*/ 5466 h 12292"/>
                <a:gd name="csX1" fmla="*/ 20320 w 40645"/>
                <a:gd name="csY1" fmla="*/ 5466 h 12292"/>
                <a:gd name="csX2" fmla="*/ 40645 w 40645"/>
                <a:gd name="csY2" fmla="*/ 9824 h 122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0645" h="12292">
                  <a:moveTo>
                    <a:pt x="0" y="5466"/>
                  </a:moveTo>
                  <a:cubicBezTo>
                    <a:pt x="13546" y="-1822"/>
                    <a:pt x="20320" y="-1822"/>
                    <a:pt x="20320" y="5466"/>
                  </a:cubicBezTo>
                  <a:cubicBezTo>
                    <a:pt x="20320" y="12754"/>
                    <a:pt x="27095" y="14206"/>
                    <a:pt x="40645" y="9824"/>
                  </a:cubicBezTo>
                </a:path>
              </a:pathLst>
            </a:custGeom>
            <a:noFill/>
            <a:ln w="5261" cap="rnd">
              <a:solidFill>
                <a:srgbClr val="E05C4E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D5ED4082-E3D0-F19F-38AA-D3CCE59B1E76}"/>
              </a:ext>
            </a:extLst>
          </p:cNvPr>
          <p:cNvSpPr txBox="1"/>
          <p:nvPr/>
        </p:nvSpPr>
        <p:spPr>
          <a:xfrm>
            <a:off x="2849746" y="1033597"/>
            <a:ext cx="330561" cy="169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66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Pain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6ACDA2-B5C1-E92F-52FE-23227F23A07C}"/>
              </a:ext>
            </a:extLst>
          </p:cNvPr>
          <p:cNvSpPr txBox="1"/>
          <p:nvPr/>
        </p:nvSpPr>
        <p:spPr>
          <a:xfrm>
            <a:off x="2849746" y="1134399"/>
            <a:ext cx="479251" cy="1465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1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10 signatures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458B5B0-99D0-FBA5-1DED-EB78D7C30AFB}"/>
              </a:ext>
            </a:extLst>
          </p:cNvPr>
          <p:cNvSpPr txBox="1"/>
          <p:nvPr/>
        </p:nvSpPr>
        <p:spPr>
          <a:xfrm>
            <a:off x="2652293" y="1362694"/>
            <a:ext cx="819506" cy="148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37" b="1" spc="27" baseline="0">
                <a:ln/>
                <a:solidFill>
                  <a:srgbClr val="B23F33"/>
                </a:solidFill>
                <a:latin typeface="Arial"/>
                <a:cs typeface="Arial"/>
                <a:sym typeface="Arial"/>
                <a:rtl val="0"/>
              </a:rPr>
              <a:t>NOCICEPTIVE SYSTEMS</a:t>
            </a: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B0A3C6EB-8F6A-90E2-E7E7-9522CBA9AC5C}"/>
              </a:ext>
            </a:extLst>
          </p:cNvPr>
          <p:cNvSpPr/>
          <p:nvPr/>
        </p:nvSpPr>
        <p:spPr>
          <a:xfrm>
            <a:off x="3430703" y="1434375"/>
            <a:ext cx="1419188" cy="6052"/>
          </a:xfrm>
          <a:custGeom>
            <a:avLst/>
            <a:gdLst>
              <a:gd name="csX0" fmla="*/ 0 w 1419188"/>
              <a:gd name="csY0" fmla="*/ 0 h 6052"/>
              <a:gd name="csX1" fmla="*/ 1419188 w 1419188"/>
              <a:gd name="csY1" fmla="*/ 0 h 605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19188" h="6052">
                <a:moveTo>
                  <a:pt x="0" y="0"/>
                </a:moveTo>
                <a:lnTo>
                  <a:pt x="1419188" y="0"/>
                </a:lnTo>
              </a:path>
            </a:pathLst>
          </a:custGeom>
          <a:ln w="6163" cap="flat">
            <a:solidFill>
              <a:srgbClr val="E05C4E">
                <a:alpha val="35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35980CC1-27B2-7B07-3199-D1B2207911FF}"/>
              </a:ext>
            </a:extLst>
          </p:cNvPr>
          <p:cNvSpPr/>
          <p:nvPr/>
        </p:nvSpPr>
        <p:spPr>
          <a:xfrm>
            <a:off x="2735506" y="1504244"/>
            <a:ext cx="2114384" cy="353456"/>
          </a:xfrm>
          <a:prstGeom prst="roundRect">
            <a:avLst>
              <a:gd name="adj" fmla="val 13965"/>
            </a:avLst>
          </a:prstGeom>
          <a:solidFill>
            <a:srgbClr val="FFFFFF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97272C6A-9647-509A-DAF7-19BEACEB7299}"/>
              </a:ext>
            </a:extLst>
          </p:cNvPr>
          <p:cNvSpPr/>
          <p:nvPr/>
        </p:nvSpPr>
        <p:spPr>
          <a:xfrm>
            <a:off x="2735506" y="1504244"/>
            <a:ext cx="20567" cy="353456"/>
          </a:xfrm>
          <a:prstGeom prst="roundRect">
            <a:avLst>
              <a:gd name="adj" fmla="val 50000"/>
            </a:avLst>
          </a:prstGeom>
          <a:solidFill>
            <a:srgbClr val="E05C4E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041CF32-AD06-84DB-86E7-DD4A3A8E9A70}"/>
              </a:ext>
            </a:extLst>
          </p:cNvPr>
          <p:cNvSpPr/>
          <p:nvPr/>
        </p:nvSpPr>
        <p:spPr>
          <a:xfrm>
            <a:off x="2797210" y="1561783"/>
            <a:ext cx="238588" cy="238377"/>
          </a:xfrm>
          <a:prstGeom prst="ellipse">
            <a:avLst/>
          </a:prstGeom>
          <a:solidFill>
            <a:srgbClr val="FBEAE7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583DA811-A0E2-E215-02C6-CFD82C438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551" y="1574113"/>
            <a:ext cx="213906" cy="213717"/>
          </a:xfrm>
          <a:custGeom>
            <a:avLst/>
            <a:gdLst>
              <a:gd name="csX0" fmla="*/ 65 w 213906"/>
              <a:gd name="csY0" fmla="*/ 278 h 213717"/>
              <a:gd name="csX1" fmla="*/ 213972 w 213906"/>
              <a:gd name="csY1" fmla="*/ 278 h 213717"/>
              <a:gd name="csX2" fmla="*/ 213972 w 213906"/>
              <a:gd name="csY2" fmla="*/ 213996 h 213717"/>
              <a:gd name="csX3" fmla="*/ 65 w 213906"/>
              <a:gd name="csY3" fmla="*/ 213996 h 2137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3906" h="213717">
                <a:moveTo>
                  <a:pt x="65" y="278"/>
                </a:moveTo>
                <a:lnTo>
                  <a:pt x="213972" y="278"/>
                </a:lnTo>
                <a:lnTo>
                  <a:pt x="213972" y="213996"/>
                </a:lnTo>
                <a:lnTo>
                  <a:pt x="65" y="213996"/>
                </a:lnTo>
                <a:close/>
              </a:path>
            </a:pathLst>
          </a:cu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78BB2759-1EF8-7C78-CCA7-C6719AB5E577}"/>
              </a:ext>
            </a:extLst>
          </p:cNvPr>
          <p:cNvSpPr/>
          <p:nvPr/>
        </p:nvSpPr>
        <p:spPr>
          <a:xfrm>
            <a:off x="2797210" y="1561783"/>
            <a:ext cx="238588" cy="238377"/>
          </a:xfrm>
          <a:prstGeom prst="ellipse">
            <a:avLst/>
          </a:prstGeom>
          <a:noFill/>
          <a:ln w="8221" cap="flat">
            <a:solidFill>
              <a:srgbClr val="E05C4E">
                <a:alpha val="8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8295B77-A09C-BC2C-09ED-3BA7F4A67C2D}"/>
              </a:ext>
            </a:extLst>
          </p:cNvPr>
          <p:cNvSpPr txBox="1"/>
          <p:nvPr/>
        </p:nvSpPr>
        <p:spPr>
          <a:xfrm>
            <a:off x="2948472" y="1503689"/>
            <a:ext cx="147989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b="1" spc="0" baseline="0" dirty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NPS - Neurologic Pain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6578948-D013-0739-1A70-4DC59B128263}"/>
              </a:ext>
            </a:extLst>
          </p:cNvPr>
          <p:cNvSpPr txBox="1"/>
          <p:nvPr/>
        </p:nvSpPr>
        <p:spPr>
          <a:xfrm>
            <a:off x="4180506" y="1510887"/>
            <a:ext cx="7168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spc="0" baseline="0" dirty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Signature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B87732-25D2-C317-4DAB-810A4D0A92AF}"/>
              </a:ext>
            </a:extLst>
          </p:cNvPr>
          <p:cNvSpPr txBox="1"/>
          <p:nvPr/>
        </p:nvSpPr>
        <p:spPr>
          <a:xfrm>
            <a:off x="2962911" y="1691006"/>
            <a:ext cx="555603" cy="160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64" i="1" spc="0" baseline="0" dirty="0">
                <a:ln/>
                <a:solidFill>
                  <a:srgbClr val="7C8598"/>
                </a:solidFill>
                <a:latin typeface="Arial"/>
                <a:cs typeface="Arial"/>
                <a:sym typeface="Arial"/>
                <a:rtl val="0"/>
              </a:rPr>
              <a:t>Wager · 2013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48A7B7CA-013D-EBB4-FC6C-A9B991C98B5E}"/>
              </a:ext>
            </a:extLst>
          </p:cNvPr>
          <p:cNvSpPr/>
          <p:nvPr/>
        </p:nvSpPr>
        <p:spPr>
          <a:xfrm>
            <a:off x="4404172" y="1763171"/>
            <a:ext cx="369959" cy="75254"/>
          </a:xfrm>
          <a:prstGeom prst="roundRect">
            <a:avLst>
              <a:gd name="adj" fmla="val 50000"/>
            </a:avLst>
          </a:prstGeom>
          <a:solidFill>
            <a:srgbClr val="E05C4E">
              <a:alpha val="16000"/>
            </a:srgbClr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DF673BE-3A2D-7CE8-FEEC-5146B500141E}"/>
              </a:ext>
            </a:extLst>
          </p:cNvPr>
          <p:cNvSpPr txBox="1"/>
          <p:nvPr/>
        </p:nvSpPr>
        <p:spPr>
          <a:xfrm>
            <a:off x="4331618" y="1710314"/>
            <a:ext cx="393159" cy="1373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509" b="1" spc="0" baseline="0" dirty="0">
                <a:ln/>
                <a:solidFill>
                  <a:srgbClr val="B23F33"/>
                </a:solidFill>
                <a:latin typeface="Arial"/>
                <a:cs typeface="Arial"/>
                <a:sym typeface="Arial"/>
                <a:rtl val="0"/>
              </a:rPr>
              <a:t>on request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6B81FB3A-F723-AC52-A13A-0BDCA8A9AE94}"/>
              </a:ext>
            </a:extLst>
          </p:cNvPr>
          <p:cNvSpPr/>
          <p:nvPr/>
        </p:nvSpPr>
        <p:spPr>
          <a:xfrm>
            <a:off x="2735506" y="1894690"/>
            <a:ext cx="2114384" cy="254817"/>
          </a:xfrm>
          <a:prstGeom prst="roundRect">
            <a:avLst>
              <a:gd name="adj" fmla="val 19371"/>
            </a:avLst>
          </a:prstGeom>
          <a:solidFill>
            <a:srgbClr val="FFFFFF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022B1313-983F-B575-8BA3-841AD543517C}"/>
              </a:ext>
            </a:extLst>
          </p:cNvPr>
          <p:cNvSpPr/>
          <p:nvPr/>
        </p:nvSpPr>
        <p:spPr>
          <a:xfrm>
            <a:off x="2735506" y="1894690"/>
            <a:ext cx="20567" cy="254817"/>
          </a:xfrm>
          <a:prstGeom prst="roundRect">
            <a:avLst>
              <a:gd name="adj" fmla="val 50000"/>
            </a:avLst>
          </a:prstGeom>
          <a:solidFill>
            <a:srgbClr val="E05C4E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46270A3-9E38-77B3-7ADD-1FB379C2E318}"/>
              </a:ext>
            </a:extLst>
          </p:cNvPr>
          <p:cNvSpPr/>
          <p:nvPr/>
        </p:nvSpPr>
        <p:spPr>
          <a:xfrm>
            <a:off x="2797210" y="1902910"/>
            <a:ext cx="238588" cy="238377"/>
          </a:xfrm>
          <a:prstGeom prst="ellipse">
            <a:avLst/>
          </a:prstGeom>
          <a:solidFill>
            <a:srgbClr val="FBEAE7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121503B-B250-73E0-D124-0D9FD359D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9551" y="1915240"/>
            <a:ext cx="213906" cy="213717"/>
          </a:xfrm>
          <a:custGeom>
            <a:avLst/>
            <a:gdLst>
              <a:gd name="csX0" fmla="*/ 65 w 213906"/>
              <a:gd name="csY0" fmla="*/ 334 h 213717"/>
              <a:gd name="csX1" fmla="*/ 213972 w 213906"/>
              <a:gd name="csY1" fmla="*/ 334 h 213717"/>
              <a:gd name="csX2" fmla="*/ 213972 w 213906"/>
              <a:gd name="csY2" fmla="*/ 214052 h 213717"/>
              <a:gd name="csX3" fmla="*/ 65 w 213906"/>
              <a:gd name="csY3" fmla="*/ 214052 h 2137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3906" h="213717">
                <a:moveTo>
                  <a:pt x="65" y="334"/>
                </a:moveTo>
                <a:lnTo>
                  <a:pt x="213972" y="334"/>
                </a:lnTo>
                <a:lnTo>
                  <a:pt x="213972" y="214052"/>
                </a:lnTo>
                <a:lnTo>
                  <a:pt x="65" y="214052"/>
                </a:lnTo>
                <a:close/>
              </a:path>
            </a:pathLst>
          </a:custGeom>
        </p:spPr>
      </p:pic>
      <p:sp>
        <p:nvSpPr>
          <p:cNvPr id="47" name="Oval 46">
            <a:extLst>
              <a:ext uri="{FF2B5EF4-FFF2-40B4-BE49-F238E27FC236}">
                <a16:creationId xmlns:a16="http://schemas.microsoft.com/office/drawing/2014/main" id="{77C5451C-74BC-FFD0-3E04-B5D479BA59AF}"/>
              </a:ext>
            </a:extLst>
          </p:cNvPr>
          <p:cNvSpPr/>
          <p:nvPr/>
        </p:nvSpPr>
        <p:spPr>
          <a:xfrm>
            <a:off x="2797210" y="1902910"/>
            <a:ext cx="238588" cy="238377"/>
          </a:xfrm>
          <a:prstGeom prst="ellipse">
            <a:avLst/>
          </a:prstGeom>
          <a:noFill/>
          <a:ln w="8221" cap="flat">
            <a:solidFill>
              <a:srgbClr val="E05C4E">
                <a:alpha val="8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EBC89A-406F-AD54-F8C5-557E225AC8A0}"/>
              </a:ext>
            </a:extLst>
          </p:cNvPr>
          <p:cNvSpPr txBox="1"/>
          <p:nvPr/>
        </p:nvSpPr>
        <p:spPr>
          <a:xfrm>
            <a:off x="2967723" y="1856230"/>
            <a:ext cx="1590500" cy="256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69" b="1" spc="0" baseline="0" dirty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SIIPS1 </a:t>
            </a:r>
            <a:r>
              <a:rPr lang="en-US" sz="1069" b="1" dirty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-</a:t>
            </a:r>
            <a:r>
              <a:rPr lang="en-US" sz="1069" b="1" spc="0" baseline="0" dirty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 cerebral pain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BF6843E-E44A-AE72-BF7E-EEE425142116}"/>
              </a:ext>
            </a:extLst>
          </p:cNvPr>
          <p:cNvSpPr txBox="1"/>
          <p:nvPr/>
        </p:nvSpPr>
        <p:spPr>
          <a:xfrm>
            <a:off x="2967724" y="2012286"/>
            <a:ext cx="501853" cy="160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64" i="1" spc="0" baseline="0" dirty="0">
                <a:ln/>
                <a:solidFill>
                  <a:srgbClr val="7C8598"/>
                </a:solidFill>
                <a:latin typeface="Arial"/>
                <a:cs typeface="Arial"/>
                <a:sym typeface="Arial"/>
                <a:rtl val="0"/>
              </a:rPr>
              <a:t>Woo · 2017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0C88A9BC-3F86-B203-337A-C875B262673D}"/>
              </a:ext>
            </a:extLst>
          </p:cNvPr>
          <p:cNvSpPr/>
          <p:nvPr/>
        </p:nvSpPr>
        <p:spPr>
          <a:xfrm>
            <a:off x="2735506" y="2186497"/>
            <a:ext cx="2114384" cy="353456"/>
          </a:xfrm>
          <a:prstGeom prst="roundRect">
            <a:avLst>
              <a:gd name="adj" fmla="val 13965"/>
            </a:avLst>
          </a:prstGeom>
          <a:solidFill>
            <a:srgbClr val="FFFFFF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 sz="900"/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B7B7B1C9-A56E-2D43-CD15-4580F8CC1B18}"/>
              </a:ext>
            </a:extLst>
          </p:cNvPr>
          <p:cNvSpPr/>
          <p:nvPr/>
        </p:nvSpPr>
        <p:spPr>
          <a:xfrm>
            <a:off x="2735506" y="2186497"/>
            <a:ext cx="20567" cy="353456"/>
          </a:xfrm>
          <a:prstGeom prst="roundRect">
            <a:avLst>
              <a:gd name="adj" fmla="val 50000"/>
            </a:avLst>
          </a:prstGeom>
          <a:solidFill>
            <a:srgbClr val="E05C4E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67194CA-BEBB-2799-A957-E613D9702381}"/>
              </a:ext>
            </a:extLst>
          </p:cNvPr>
          <p:cNvSpPr/>
          <p:nvPr/>
        </p:nvSpPr>
        <p:spPr>
          <a:xfrm>
            <a:off x="2797210" y="2244036"/>
            <a:ext cx="238588" cy="238377"/>
          </a:xfrm>
          <a:prstGeom prst="ellipse">
            <a:avLst/>
          </a:prstGeom>
          <a:solidFill>
            <a:srgbClr val="FBEAE7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4DD55E65-CAB5-4463-7ABC-DBBE14CAEF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9551" y="2256366"/>
            <a:ext cx="213906" cy="213717"/>
          </a:xfrm>
          <a:custGeom>
            <a:avLst/>
            <a:gdLst>
              <a:gd name="csX0" fmla="*/ 65 w 213906"/>
              <a:gd name="csY0" fmla="*/ 390 h 213717"/>
              <a:gd name="csX1" fmla="*/ 213972 w 213906"/>
              <a:gd name="csY1" fmla="*/ 390 h 213717"/>
              <a:gd name="csX2" fmla="*/ 213972 w 213906"/>
              <a:gd name="csY2" fmla="*/ 214108 h 213717"/>
              <a:gd name="csX3" fmla="*/ 65 w 213906"/>
              <a:gd name="csY3" fmla="*/ 214108 h 2137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3906" h="213717">
                <a:moveTo>
                  <a:pt x="65" y="390"/>
                </a:moveTo>
                <a:lnTo>
                  <a:pt x="213972" y="390"/>
                </a:lnTo>
                <a:lnTo>
                  <a:pt x="213972" y="214108"/>
                </a:lnTo>
                <a:lnTo>
                  <a:pt x="65" y="214108"/>
                </a:lnTo>
                <a:close/>
              </a:path>
            </a:pathLst>
          </a:custGeom>
        </p:spPr>
      </p:pic>
      <p:sp>
        <p:nvSpPr>
          <p:cNvPr id="54" name="Oval 53">
            <a:extLst>
              <a:ext uri="{FF2B5EF4-FFF2-40B4-BE49-F238E27FC236}">
                <a16:creationId xmlns:a16="http://schemas.microsoft.com/office/drawing/2014/main" id="{A1C07F09-8683-A29A-8174-F6A75F4F5650}"/>
              </a:ext>
            </a:extLst>
          </p:cNvPr>
          <p:cNvSpPr/>
          <p:nvPr/>
        </p:nvSpPr>
        <p:spPr>
          <a:xfrm>
            <a:off x="2797210" y="2244036"/>
            <a:ext cx="238588" cy="238377"/>
          </a:xfrm>
          <a:prstGeom prst="ellipse">
            <a:avLst/>
          </a:prstGeom>
          <a:noFill/>
          <a:ln w="8221" cap="flat">
            <a:solidFill>
              <a:srgbClr val="E05C4E">
                <a:alpha val="8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BD99F76-43D3-8827-D324-7D2B53B0DCE0}"/>
              </a:ext>
            </a:extLst>
          </p:cNvPr>
          <p:cNvSpPr txBox="1"/>
          <p:nvPr/>
        </p:nvSpPr>
        <p:spPr>
          <a:xfrm>
            <a:off x="2977347" y="2185942"/>
            <a:ext cx="1215033" cy="187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69" b="1" spc="0" baseline="0" dirty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Facial expression of pain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EFB7A35-6D92-0ECE-1C19-1A2172AE4953}"/>
              </a:ext>
            </a:extLst>
          </p:cNvPr>
          <p:cNvSpPr txBox="1"/>
          <p:nvPr/>
        </p:nvSpPr>
        <p:spPr>
          <a:xfrm>
            <a:off x="4151629" y="2324987"/>
            <a:ext cx="784629" cy="256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69" b="1" spc="0" baseline="0" dirty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(FEPS)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6BECB7-79D3-EE28-9F6C-23BCD9DF12BD}"/>
              </a:ext>
            </a:extLst>
          </p:cNvPr>
          <p:cNvSpPr txBox="1"/>
          <p:nvPr/>
        </p:nvSpPr>
        <p:spPr>
          <a:xfrm>
            <a:off x="2982163" y="2378072"/>
            <a:ext cx="549879" cy="160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64" i="1" spc="0" baseline="0" dirty="0">
                <a:ln/>
                <a:solidFill>
                  <a:srgbClr val="7C8598"/>
                </a:solidFill>
                <a:latin typeface="Arial"/>
                <a:cs typeface="Arial"/>
                <a:sym typeface="Arial"/>
                <a:rtl val="0"/>
              </a:rPr>
              <a:t>Picard · 2024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63F179BB-486C-1F88-B137-D08C47BC7BF1}"/>
              </a:ext>
            </a:extLst>
          </p:cNvPr>
          <p:cNvSpPr/>
          <p:nvPr/>
        </p:nvSpPr>
        <p:spPr>
          <a:xfrm>
            <a:off x="2735506" y="2576943"/>
            <a:ext cx="2114384" cy="254817"/>
          </a:xfrm>
          <a:prstGeom prst="roundRect">
            <a:avLst>
              <a:gd name="adj" fmla="val 19371"/>
            </a:avLst>
          </a:prstGeom>
          <a:solidFill>
            <a:srgbClr val="FFFFFF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8BB06FB5-6448-2219-9C4B-72F339B7F748}"/>
              </a:ext>
            </a:extLst>
          </p:cNvPr>
          <p:cNvSpPr/>
          <p:nvPr/>
        </p:nvSpPr>
        <p:spPr>
          <a:xfrm>
            <a:off x="2735506" y="2576943"/>
            <a:ext cx="20567" cy="254817"/>
          </a:xfrm>
          <a:prstGeom prst="roundRect">
            <a:avLst>
              <a:gd name="adj" fmla="val 50000"/>
            </a:avLst>
          </a:prstGeom>
          <a:solidFill>
            <a:srgbClr val="E05C4E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A03DBF44-8A2A-F7FE-D63B-074C8B4EA390}"/>
              </a:ext>
            </a:extLst>
          </p:cNvPr>
          <p:cNvSpPr/>
          <p:nvPr/>
        </p:nvSpPr>
        <p:spPr>
          <a:xfrm>
            <a:off x="2797210" y="2585163"/>
            <a:ext cx="238588" cy="238377"/>
          </a:xfrm>
          <a:prstGeom prst="ellipse">
            <a:avLst/>
          </a:prstGeom>
          <a:solidFill>
            <a:srgbClr val="FBEAE7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61" name="Graphic 2">
            <a:extLst>
              <a:ext uri="{FF2B5EF4-FFF2-40B4-BE49-F238E27FC236}">
                <a16:creationId xmlns:a16="http://schemas.microsoft.com/office/drawing/2014/main" id="{B1BC045C-E4C3-B4C6-7400-483BA9A88099}"/>
              </a:ext>
            </a:extLst>
          </p:cNvPr>
          <p:cNvGrpSpPr/>
          <p:nvPr/>
        </p:nvGrpSpPr>
        <p:grpSpPr>
          <a:xfrm>
            <a:off x="2825430" y="2626057"/>
            <a:ext cx="189225" cy="159017"/>
            <a:chOff x="2825430" y="2626057"/>
            <a:chExt cx="189225" cy="159017"/>
          </a:xfrm>
        </p:grpSpPr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3958D761-0E4C-2D5E-5F6E-BA050F5D6D4B}"/>
                </a:ext>
              </a:extLst>
            </p:cNvPr>
            <p:cNvSpPr/>
            <p:nvPr/>
          </p:nvSpPr>
          <p:spPr>
            <a:xfrm>
              <a:off x="2825430" y="2626057"/>
              <a:ext cx="189225" cy="159017"/>
            </a:xfrm>
            <a:custGeom>
              <a:avLst/>
              <a:gdLst>
                <a:gd name="csX0" fmla="*/ 184821 w 189225"/>
                <a:gd name="csY0" fmla="*/ 78295 h 159017"/>
                <a:gd name="csX1" fmla="*/ 187747 w 189225"/>
                <a:gd name="csY1" fmla="*/ 70977 h 159017"/>
                <a:gd name="csX2" fmla="*/ 189225 w 189225"/>
                <a:gd name="csY2" fmla="*/ 63296 h 159017"/>
                <a:gd name="csX3" fmla="*/ 188977 w 189225"/>
                <a:gd name="csY3" fmla="*/ 55566 h 159017"/>
                <a:gd name="csX4" fmla="*/ 186838 w 189225"/>
                <a:gd name="csY4" fmla="*/ 48085 h 159017"/>
                <a:gd name="csX5" fmla="*/ 182846 w 189225"/>
                <a:gd name="csY5" fmla="*/ 41184 h 159017"/>
                <a:gd name="csX6" fmla="*/ 177339 w 189225"/>
                <a:gd name="csY6" fmla="*/ 35101 h 159017"/>
                <a:gd name="csX7" fmla="*/ 170675 w 189225"/>
                <a:gd name="csY7" fmla="*/ 29962 h 159017"/>
                <a:gd name="csX8" fmla="*/ 163350 w 189225"/>
                <a:gd name="csY8" fmla="*/ 25731 h 159017"/>
                <a:gd name="csX9" fmla="*/ 155783 w 189225"/>
                <a:gd name="csY9" fmla="*/ 22154 h 159017"/>
                <a:gd name="csX10" fmla="*/ 148374 w 189225"/>
                <a:gd name="csY10" fmla="*/ 19073 h 159017"/>
                <a:gd name="csX11" fmla="*/ 141177 w 189225"/>
                <a:gd name="csY11" fmla="*/ 16234 h 159017"/>
                <a:gd name="csX12" fmla="*/ 134307 w 189225"/>
                <a:gd name="csY12" fmla="*/ 13359 h 159017"/>
                <a:gd name="csX13" fmla="*/ 127564 w 189225"/>
                <a:gd name="csY13" fmla="*/ 10484 h 159017"/>
                <a:gd name="csX14" fmla="*/ 120772 w 189225"/>
                <a:gd name="csY14" fmla="*/ 7524 h 159017"/>
                <a:gd name="csX15" fmla="*/ 113781 w 189225"/>
                <a:gd name="csY15" fmla="*/ 4770 h 159017"/>
                <a:gd name="csX16" fmla="*/ 106499 w 189225"/>
                <a:gd name="csY16" fmla="*/ 2427 h 159017"/>
                <a:gd name="csX17" fmla="*/ 98890 w 189225"/>
                <a:gd name="csY17" fmla="*/ 781 h 159017"/>
                <a:gd name="csX18" fmla="*/ 91074 w 189225"/>
                <a:gd name="csY18" fmla="*/ 0 h 159017"/>
                <a:gd name="csX19" fmla="*/ 83217 w 189225"/>
                <a:gd name="csY19" fmla="*/ 206 h 159017"/>
                <a:gd name="csX20" fmla="*/ 75444 w 189225"/>
                <a:gd name="csY20" fmla="*/ 1398 h 159017"/>
                <a:gd name="csX21" fmla="*/ 67956 w 189225"/>
                <a:gd name="csY21" fmla="*/ 3414 h 159017"/>
                <a:gd name="csX22" fmla="*/ 60759 w 189225"/>
                <a:gd name="csY22" fmla="*/ 6041 h 159017"/>
                <a:gd name="csX23" fmla="*/ 53846 w 189225"/>
                <a:gd name="csY23" fmla="*/ 9086 h 159017"/>
                <a:gd name="csX24" fmla="*/ 47140 w 189225"/>
                <a:gd name="csY24" fmla="*/ 12288 h 159017"/>
                <a:gd name="csX25" fmla="*/ 40476 w 189225"/>
                <a:gd name="csY25" fmla="*/ 15659 h 159017"/>
                <a:gd name="csX26" fmla="*/ 33811 w 189225"/>
                <a:gd name="csY26" fmla="*/ 19109 h 159017"/>
                <a:gd name="csX27" fmla="*/ 27111 w 189225"/>
                <a:gd name="csY27" fmla="*/ 22850 h 159017"/>
                <a:gd name="csX28" fmla="*/ 20568 w 189225"/>
                <a:gd name="csY28" fmla="*/ 27002 h 159017"/>
                <a:gd name="csX29" fmla="*/ 14395 w 189225"/>
                <a:gd name="csY29" fmla="*/ 31730 h 159017"/>
                <a:gd name="csX30" fmla="*/ 8924 w 189225"/>
                <a:gd name="csY30" fmla="*/ 37153 h 159017"/>
                <a:gd name="csX31" fmla="*/ 4526 w 189225"/>
                <a:gd name="csY31" fmla="*/ 43279 h 159017"/>
                <a:gd name="csX32" fmla="*/ 1521 w 189225"/>
                <a:gd name="csY32" fmla="*/ 50016 h 159017"/>
                <a:gd name="csX33" fmla="*/ 0 w 189225"/>
                <a:gd name="csY33" fmla="*/ 57128 h 159017"/>
                <a:gd name="csX34" fmla="*/ 0 w 189225"/>
                <a:gd name="csY34" fmla="*/ 64361 h 159017"/>
                <a:gd name="csX35" fmla="*/ 1272 w 189225"/>
                <a:gd name="csY35" fmla="*/ 71473 h 159017"/>
                <a:gd name="csX36" fmla="*/ 3453 w 189225"/>
                <a:gd name="csY36" fmla="*/ 78295 h 159017"/>
                <a:gd name="csX37" fmla="*/ 6089 w 189225"/>
                <a:gd name="csY37" fmla="*/ 84747 h 159017"/>
                <a:gd name="csX38" fmla="*/ 8760 w 189225"/>
                <a:gd name="csY38" fmla="*/ 90873 h 159017"/>
                <a:gd name="csX39" fmla="*/ 11147 w 189225"/>
                <a:gd name="csY39" fmla="*/ 96872 h 159017"/>
                <a:gd name="csX40" fmla="*/ 13080 w 189225"/>
                <a:gd name="csY40" fmla="*/ 102912 h 159017"/>
                <a:gd name="csX41" fmla="*/ 14685 w 189225"/>
                <a:gd name="csY41" fmla="*/ 109201 h 159017"/>
                <a:gd name="csX42" fmla="*/ 16127 w 189225"/>
                <a:gd name="csY42" fmla="*/ 115817 h 159017"/>
                <a:gd name="csX43" fmla="*/ 17896 w 189225"/>
                <a:gd name="csY43" fmla="*/ 122724 h 159017"/>
                <a:gd name="csX44" fmla="*/ 20277 w 189225"/>
                <a:gd name="csY44" fmla="*/ 129794 h 159017"/>
                <a:gd name="csX45" fmla="*/ 23694 w 189225"/>
                <a:gd name="csY45" fmla="*/ 136736 h 159017"/>
                <a:gd name="csX46" fmla="*/ 28298 w 189225"/>
                <a:gd name="csY46" fmla="*/ 143153 h 159017"/>
                <a:gd name="csX47" fmla="*/ 34223 w 189225"/>
                <a:gd name="csY47" fmla="*/ 148697 h 159017"/>
                <a:gd name="csX48" fmla="*/ 41257 w 189225"/>
                <a:gd name="csY48" fmla="*/ 153140 h 159017"/>
                <a:gd name="csX49" fmla="*/ 49115 w 189225"/>
                <a:gd name="csY49" fmla="*/ 156300 h 159017"/>
                <a:gd name="csX50" fmla="*/ 57548 w 189225"/>
                <a:gd name="csY50" fmla="*/ 158194 h 159017"/>
                <a:gd name="csX51" fmla="*/ 66145 w 189225"/>
                <a:gd name="csY51" fmla="*/ 159017 h 159017"/>
                <a:gd name="csX52" fmla="*/ 74663 w 189225"/>
                <a:gd name="csY52" fmla="*/ 158933 h 159017"/>
                <a:gd name="csX53" fmla="*/ 83011 w 189225"/>
                <a:gd name="csY53" fmla="*/ 158273 h 159017"/>
                <a:gd name="csX54" fmla="*/ 91074 w 189225"/>
                <a:gd name="csY54" fmla="*/ 157286 h 159017"/>
                <a:gd name="csX55" fmla="*/ 98932 w 189225"/>
                <a:gd name="csY55" fmla="*/ 156094 h 159017"/>
                <a:gd name="csX56" fmla="*/ 106626 w 189225"/>
                <a:gd name="csY56" fmla="*/ 154738 h 159017"/>
                <a:gd name="csX57" fmla="*/ 114193 w 189225"/>
                <a:gd name="csY57" fmla="*/ 153098 h 159017"/>
                <a:gd name="csX58" fmla="*/ 121596 w 189225"/>
                <a:gd name="csY58" fmla="*/ 151003 h 159017"/>
                <a:gd name="csX59" fmla="*/ 128757 w 189225"/>
                <a:gd name="csY59" fmla="*/ 148370 h 159017"/>
                <a:gd name="csX60" fmla="*/ 135458 w 189225"/>
                <a:gd name="csY60" fmla="*/ 144999 h 159017"/>
                <a:gd name="csX61" fmla="*/ 141589 w 189225"/>
                <a:gd name="csY61" fmla="*/ 140846 h 159017"/>
                <a:gd name="csX62" fmla="*/ 146981 w 189225"/>
                <a:gd name="csY62" fmla="*/ 136040 h 159017"/>
                <a:gd name="csX63" fmla="*/ 151542 w 189225"/>
                <a:gd name="csY63" fmla="*/ 130738 h 159017"/>
                <a:gd name="csX64" fmla="*/ 155414 w 189225"/>
                <a:gd name="csY64" fmla="*/ 125109 h 159017"/>
                <a:gd name="csX65" fmla="*/ 158782 w 189225"/>
                <a:gd name="csY65" fmla="*/ 119395 h 159017"/>
                <a:gd name="csX66" fmla="*/ 161908 w 189225"/>
                <a:gd name="csY66" fmla="*/ 113765 h 159017"/>
                <a:gd name="csX67" fmla="*/ 165162 w 189225"/>
                <a:gd name="csY67" fmla="*/ 108257 h 159017"/>
                <a:gd name="csX68" fmla="*/ 168657 w 189225"/>
                <a:gd name="csY68" fmla="*/ 102791 h 159017"/>
                <a:gd name="csX69" fmla="*/ 172607 w 189225"/>
                <a:gd name="csY69" fmla="*/ 97241 h 159017"/>
                <a:gd name="csX70" fmla="*/ 176799 w 189225"/>
                <a:gd name="csY70" fmla="*/ 91406 h 159017"/>
                <a:gd name="csX71" fmla="*/ 181040 w 189225"/>
                <a:gd name="csY71" fmla="*/ 85117 h 1590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189225" h="159017">
                  <a:moveTo>
                    <a:pt x="184821" y="78295"/>
                  </a:moveTo>
                  <a:lnTo>
                    <a:pt x="187747" y="70977"/>
                  </a:lnTo>
                  <a:lnTo>
                    <a:pt x="189225" y="63296"/>
                  </a:lnTo>
                  <a:lnTo>
                    <a:pt x="188977" y="55566"/>
                  </a:lnTo>
                  <a:lnTo>
                    <a:pt x="186838" y="48085"/>
                  </a:lnTo>
                  <a:lnTo>
                    <a:pt x="182846" y="41184"/>
                  </a:lnTo>
                  <a:lnTo>
                    <a:pt x="177339" y="35101"/>
                  </a:lnTo>
                  <a:lnTo>
                    <a:pt x="170675" y="29962"/>
                  </a:lnTo>
                  <a:lnTo>
                    <a:pt x="163350" y="25731"/>
                  </a:lnTo>
                  <a:lnTo>
                    <a:pt x="155783" y="22154"/>
                  </a:lnTo>
                  <a:lnTo>
                    <a:pt x="148374" y="19073"/>
                  </a:lnTo>
                  <a:lnTo>
                    <a:pt x="141177" y="16234"/>
                  </a:lnTo>
                  <a:lnTo>
                    <a:pt x="134307" y="13359"/>
                  </a:lnTo>
                  <a:lnTo>
                    <a:pt x="127564" y="10484"/>
                  </a:lnTo>
                  <a:lnTo>
                    <a:pt x="120772" y="7524"/>
                  </a:lnTo>
                  <a:lnTo>
                    <a:pt x="113781" y="4770"/>
                  </a:lnTo>
                  <a:lnTo>
                    <a:pt x="106499" y="2427"/>
                  </a:lnTo>
                  <a:lnTo>
                    <a:pt x="98890" y="781"/>
                  </a:lnTo>
                  <a:lnTo>
                    <a:pt x="91074" y="0"/>
                  </a:lnTo>
                  <a:lnTo>
                    <a:pt x="83217" y="206"/>
                  </a:lnTo>
                  <a:lnTo>
                    <a:pt x="75444" y="1398"/>
                  </a:lnTo>
                  <a:lnTo>
                    <a:pt x="67956" y="3414"/>
                  </a:lnTo>
                  <a:lnTo>
                    <a:pt x="60759" y="6041"/>
                  </a:lnTo>
                  <a:lnTo>
                    <a:pt x="53846" y="9086"/>
                  </a:lnTo>
                  <a:lnTo>
                    <a:pt x="47140" y="12288"/>
                  </a:lnTo>
                  <a:lnTo>
                    <a:pt x="40476" y="15659"/>
                  </a:lnTo>
                  <a:lnTo>
                    <a:pt x="33811" y="19109"/>
                  </a:lnTo>
                  <a:lnTo>
                    <a:pt x="27111" y="22850"/>
                  </a:lnTo>
                  <a:lnTo>
                    <a:pt x="20568" y="27002"/>
                  </a:lnTo>
                  <a:lnTo>
                    <a:pt x="14395" y="31730"/>
                  </a:lnTo>
                  <a:lnTo>
                    <a:pt x="8924" y="37153"/>
                  </a:lnTo>
                  <a:lnTo>
                    <a:pt x="4526" y="43279"/>
                  </a:lnTo>
                  <a:lnTo>
                    <a:pt x="1521" y="50016"/>
                  </a:lnTo>
                  <a:lnTo>
                    <a:pt x="0" y="57128"/>
                  </a:lnTo>
                  <a:lnTo>
                    <a:pt x="0" y="64361"/>
                  </a:lnTo>
                  <a:lnTo>
                    <a:pt x="1272" y="71473"/>
                  </a:lnTo>
                  <a:lnTo>
                    <a:pt x="3453" y="78295"/>
                  </a:lnTo>
                  <a:lnTo>
                    <a:pt x="6089" y="84747"/>
                  </a:lnTo>
                  <a:lnTo>
                    <a:pt x="8760" y="90873"/>
                  </a:lnTo>
                  <a:lnTo>
                    <a:pt x="11147" y="96872"/>
                  </a:lnTo>
                  <a:lnTo>
                    <a:pt x="13080" y="102912"/>
                  </a:lnTo>
                  <a:lnTo>
                    <a:pt x="14685" y="109201"/>
                  </a:lnTo>
                  <a:lnTo>
                    <a:pt x="16127" y="115817"/>
                  </a:lnTo>
                  <a:lnTo>
                    <a:pt x="17896" y="122724"/>
                  </a:lnTo>
                  <a:lnTo>
                    <a:pt x="20277" y="129794"/>
                  </a:lnTo>
                  <a:lnTo>
                    <a:pt x="23694" y="136736"/>
                  </a:lnTo>
                  <a:lnTo>
                    <a:pt x="28298" y="143153"/>
                  </a:lnTo>
                  <a:lnTo>
                    <a:pt x="34223" y="148697"/>
                  </a:lnTo>
                  <a:lnTo>
                    <a:pt x="41257" y="153140"/>
                  </a:lnTo>
                  <a:lnTo>
                    <a:pt x="49115" y="156300"/>
                  </a:lnTo>
                  <a:lnTo>
                    <a:pt x="57548" y="158194"/>
                  </a:lnTo>
                  <a:lnTo>
                    <a:pt x="66145" y="159017"/>
                  </a:lnTo>
                  <a:lnTo>
                    <a:pt x="74663" y="158933"/>
                  </a:lnTo>
                  <a:lnTo>
                    <a:pt x="83011" y="158273"/>
                  </a:lnTo>
                  <a:lnTo>
                    <a:pt x="91074" y="157286"/>
                  </a:lnTo>
                  <a:lnTo>
                    <a:pt x="98932" y="156094"/>
                  </a:lnTo>
                  <a:lnTo>
                    <a:pt x="106626" y="154738"/>
                  </a:lnTo>
                  <a:lnTo>
                    <a:pt x="114193" y="153098"/>
                  </a:lnTo>
                  <a:lnTo>
                    <a:pt x="121596" y="151003"/>
                  </a:lnTo>
                  <a:lnTo>
                    <a:pt x="128757" y="148370"/>
                  </a:lnTo>
                  <a:lnTo>
                    <a:pt x="135458" y="144999"/>
                  </a:lnTo>
                  <a:lnTo>
                    <a:pt x="141589" y="140846"/>
                  </a:lnTo>
                  <a:lnTo>
                    <a:pt x="146981" y="136040"/>
                  </a:lnTo>
                  <a:lnTo>
                    <a:pt x="151542" y="130738"/>
                  </a:lnTo>
                  <a:lnTo>
                    <a:pt x="155414" y="125109"/>
                  </a:lnTo>
                  <a:lnTo>
                    <a:pt x="158782" y="119395"/>
                  </a:lnTo>
                  <a:lnTo>
                    <a:pt x="161908" y="113765"/>
                  </a:lnTo>
                  <a:lnTo>
                    <a:pt x="165162" y="108257"/>
                  </a:lnTo>
                  <a:lnTo>
                    <a:pt x="168657" y="102791"/>
                  </a:lnTo>
                  <a:lnTo>
                    <a:pt x="172607" y="97241"/>
                  </a:lnTo>
                  <a:lnTo>
                    <a:pt x="176799" y="91406"/>
                  </a:lnTo>
                  <a:lnTo>
                    <a:pt x="181040" y="85117"/>
                  </a:lnTo>
                  <a:close/>
                </a:path>
              </a:pathLst>
            </a:custGeom>
            <a:solidFill>
              <a:srgbClr val="E05C4E"/>
            </a:solidFill>
            <a:ln w="7689" cap="flat">
              <a:solidFill>
                <a:srgbClr val="B23F3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8D7C7FFF-1EB8-A287-47D6-5638C1D4A397}"/>
                </a:ext>
              </a:extLst>
            </p:cNvPr>
            <p:cNvSpPr/>
            <p:nvPr/>
          </p:nvSpPr>
          <p:spPr>
            <a:xfrm>
              <a:off x="2914035" y="2630826"/>
              <a:ext cx="4938" cy="143642"/>
            </a:xfrm>
            <a:custGeom>
              <a:avLst/>
              <a:gdLst>
                <a:gd name="csX0" fmla="*/ 2469 w 4938"/>
                <a:gd name="csY0" fmla="*/ 0 h 143642"/>
                <a:gd name="csX1" fmla="*/ 2469 w 4938"/>
                <a:gd name="csY1" fmla="*/ 143643 h 1436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938" h="143642">
                  <a:moveTo>
                    <a:pt x="2469" y="0"/>
                  </a:moveTo>
                  <a:cubicBezTo>
                    <a:pt x="11024" y="47879"/>
                    <a:pt x="-6085" y="99172"/>
                    <a:pt x="2469" y="143643"/>
                  </a:cubicBezTo>
                </a:path>
              </a:pathLst>
            </a:custGeom>
            <a:noFill/>
            <a:ln w="6538" cap="rnd">
              <a:solidFill>
                <a:srgbClr val="FFFFFF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75F55B5F-2552-91F8-A6B4-0597B700BAE9}"/>
                </a:ext>
              </a:extLst>
            </p:cNvPr>
            <p:cNvSpPr/>
            <p:nvPr/>
          </p:nvSpPr>
          <p:spPr>
            <a:xfrm>
              <a:off x="2849784" y="2670158"/>
              <a:ext cx="51338" cy="15368"/>
            </a:xfrm>
            <a:custGeom>
              <a:avLst/>
              <a:gdLst>
                <a:gd name="csX0" fmla="*/ 0 w 51338"/>
                <a:gd name="csY0" fmla="*/ 6822 h 15368"/>
                <a:gd name="csX1" fmla="*/ 25669 w 51338"/>
                <a:gd name="csY1" fmla="*/ 6822 h 15368"/>
                <a:gd name="csX2" fmla="*/ 51338 w 51338"/>
                <a:gd name="csY2" fmla="*/ 12330 h 15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1338" h="15368">
                  <a:moveTo>
                    <a:pt x="0" y="6822"/>
                  </a:moveTo>
                  <a:cubicBezTo>
                    <a:pt x="17113" y="-2274"/>
                    <a:pt x="25669" y="-2274"/>
                    <a:pt x="25669" y="6822"/>
                  </a:cubicBezTo>
                  <a:cubicBezTo>
                    <a:pt x="25669" y="15917"/>
                    <a:pt x="34225" y="17753"/>
                    <a:pt x="51338" y="12330"/>
                  </a:cubicBezTo>
                </a:path>
              </a:pathLst>
            </a:custGeom>
            <a:noFill/>
            <a:ln w="5757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6DD6D8C0-9045-17A0-62C5-0494B3920341}"/>
                </a:ext>
              </a:extLst>
            </p:cNvPr>
            <p:cNvSpPr/>
            <p:nvPr/>
          </p:nvSpPr>
          <p:spPr>
            <a:xfrm>
              <a:off x="2854885" y="2717175"/>
              <a:ext cx="44504" cy="13488"/>
            </a:xfrm>
            <a:custGeom>
              <a:avLst/>
              <a:gdLst>
                <a:gd name="csX0" fmla="*/ 0 w 44504"/>
                <a:gd name="csY0" fmla="*/ 6001 h 13488"/>
                <a:gd name="csX1" fmla="*/ 22252 w 44504"/>
                <a:gd name="csY1" fmla="*/ 6001 h 13488"/>
                <a:gd name="csX2" fmla="*/ 44504 w 44504"/>
                <a:gd name="csY2" fmla="*/ 10765 h 134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4504" h="13488">
                  <a:moveTo>
                    <a:pt x="0" y="6001"/>
                  </a:moveTo>
                  <a:cubicBezTo>
                    <a:pt x="14835" y="-2000"/>
                    <a:pt x="22252" y="-2000"/>
                    <a:pt x="22252" y="6001"/>
                  </a:cubicBezTo>
                  <a:cubicBezTo>
                    <a:pt x="22252" y="14003"/>
                    <a:pt x="29670" y="15591"/>
                    <a:pt x="44504" y="10765"/>
                  </a:cubicBezTo>
                </a:path>
              </a:pathLst>
            </a:custGeom>
            <a:noFill/>
            <a:ln w="5757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F61BF577-0D65-E2C7-B0FD-853FF54ECCEF}"/>
                </a:ext>
              </a:extLst>
            </p:cNvPr>
            <p:cNvSpPr/>
            <p:nvPr/>
          </p:nvSpPr>
          <p:spPr>
            <a:xfrm>
              <a:off x="2931886" y="2671862"/>
              <a:ext cx="51338" cy="15393"/>
            </a:xfrm>
            <a:custGeom>
              <a:avLst/>
              <a:gdLst>
                <a:gd name="csX0" fmla="*/ 0 w 51338"/>
                <a:gd name="csY0" fmla="*/ 6843 h 15393"/>
                <a:gd name="csX1" fmla="*/ 25669 w 51338"/>
                <a:gd name="csY1" fmla="*/ 6843 h 15393"/>
                <a:gd name="csX2" fmla="*/ 51338 w 51338"/>
                <a:gd name="csY2" fmla="*/ 12309 h 153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1338" h="15393">
                  <a:moveTo>
                    <a:pt x="0" y="6843"/>
                  </a:moveTo>
                  <a:cubicBezTo>
                    <a:pt x="17113" y="-2281"/>
                    <a:pt x="25669" y="-2281"/>
                    <a:pt x="25669" y="6843"/>
                  </a:cubicBezTo>
                  <a:cubicBezTo>
                    <a:pt x="25669" y="15967"/>
                    <a:pt x="34225" y="17789"/>
                    <a:pt x="51338" y="12309"/>
                  </a:cubicBezTo>
                </a:path>
              </a:pathLst>
            </a:custGeom>
            <a:noFill/>
            <a:ln w="5757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549CB174-6A0D-8D33-79BC-C8D6FAEA1C17}"/>
                </a:ext>
              </a:extLst>
            </p:cNvPr>
            <p:cNvSpPr/>
            <p:nvPr/>
          </p:nvSpPr>
          <p:spPr>
            <a:xfrm>
              <a:off x="2933619" y="2718879"/>
              <a:ext cx="44504" cy="13466"/>
            </a:xfrm>
            <a:custGeom>
              <a:avLst/>
              <a:gdLst>
                <a:gd name="csX0" fmla="*/ 0 w 44504"/>
                <a:gd name="csY0" fmla="*/ 5980 h 13466"/>
                <a:gd name="csX1" fmla="*/ 22252 w 44504"/>
                <a:gd name="csY1" fmla="*/ 5980 h 13466"/>
                <a:gd name="csX2" fmla="*/ 44504 w 44504"/>
                <a:gd name="csY2" fmla="*/ 10792 h 134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4504" h="13466">
                  <a:moveTo>
                    <a:pt x="0" y="5980"/>
                  </a:moveTo>
                  <a:cubicBezTo>
                    <a:pt x="14835" y="-1993"/>
                    <a:pt x="22252" y="-1993"/>
                    <a:pt x="22252" y="5980"/>
                  </a:cubicBezTo>
                  <a:cubicBezTo>
                    <a:pt x="22252" y="13954"/>
                    <a:pt x="29670" y="15558"/>
                    <a:pt x="44504" y="10792"/>
                  </a:cubicBezTo>
                </a:path>
              </a:pathLst>
            </a:custGeom>
            <a:noFill/>
            <a:ln w="5757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8" name="Oval 67">
            <a:extLst>
              <a:ext uri="{FF2B5EF4-FFF2-40B4-BE49-F238E27FC236}">
                <a16:creationId xmlns:a16="http://schemas.microsoft.com/office/drawing/2014/main" id="{C30B3912-24A4-25F1-A662-41F8058DE5CD}"/>
              </a:ext>
            </a:extLst>
          </p:cNvPr>
          <p:cNvSpPr/>
          <p:nvPr/>
        </p:nvSpPr>
        <p:spPr>
          <a:xfrm>
            <a:off x="2797210" y="2585163"/>
            <a:ext cx="238588" cy="238377"/>
          </a:xfrm>
          <a:prstGeom prst="ellipse">
            <a:avLst/>
          </a:prstGeom>
          <a:noFill/>
          <a:ln w="8221" cap="flat">
            <a:solidFill>
              <a:srgbClr val="E05C4E">
                <a:alpha val="8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84D35E1-721D-5BCA-7F4D-8D5BF4234616}"/>
              </a:ext>
            </a:extLst>
          </p:cNvPr>
          <p:cNvSpPr txBox="1"/>
          <p:nvPr/>
        </p:nvSpPr>
        <p:spPr>
          <a:xfrm>
            <a:off x="2977348" y="2514417"/>
            <a:ext cx="1023070" cy="187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69" b="1" spc="0" baseline="0" dirty="0" err="1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Somatovisceral</a:t>
            </a:r>
            <a:r>
              <a:rPr lang="en-US" sz="1069" b="1" spc="0" baseline="0" dirty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 pain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73EEEE6-B9DC-A0DB-1A38-DE2DC8BC6724}"/>
              </a:ext>
            </a:extLst>
          </p:cNvPr>
          <p:cNvSpPr txBox="1"/>
          <p:nvPr/>
        </p:nvSpPr>
        <p:spPr>
          <a:xfrm>
            <a:off x="2977348" y="2665664"/>
            <a:ext cx="818688" cy="160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64" i="1" spc="0" baseline="0">
                <a:ln/>
                <a:solidFill>
                  <a:srgbClr val="7C8598"/>
                </a:solidFill>
                <a:latin typeface="Arial"/>
                <a:cs typeface="Arial"/>
                <a:sym typeface="Arial"/>
                <a:rtl val="0"/>
              </a:rPr>
              <a:t>Van Oudenhove · 2020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05D0D71C-01DB-71EA-6F2D-A98E4658CC98}"/>
              </a:ext>
            </a:extLst>
          </p:cNvPr>
          <p:cNvSpPr/>
          <p:nvPr/>
        </p:nvSpPr>
        <p:spPr>
          <a:xfrm>
            <a:off x="2735506" y="2868750"/>
            <a:ext cx="2114384" cy="254817"/>
          </a:xfrm>
          <a:prstGeom prst="roundRect">
            <a:avLst>
              <a:gd name="adj" fmla="val 19371"/>
            </a:avLst>
          </a:prstGeom>
          <a:solidFill>
            <a:srgbClr val="FFFFFF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7270828F-5DA7-8E8C-E31A-ACCA6EC6F215}"/>
              </a:ext>
            </a:extLst>
          </p:cNvPr>
          <p:cNvSpPr/>
          <p:nvPr/>
        </p:nvSpPr>
        <p:spPr>
          <a:xfrm>
            <a:off x="2735506" y="2868750"/>
            <a:ext cx="20567" cy="254817"/>
          </a:xfrm>
          <a:prstGeom prst="roundRect">
            <a:avLst>
              <a:gd name="adj" fmla="val 50000"/>
            </a:avLst>
          </a:prstGeom>
          <a:solidFill>
            <a:srgbClr val="E05C4E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7E5A3840-BF76-8677-742A-F47F31D4325A}"/>
              </a:ext>
            </a:extLst>
          </p:cNvPr>
          <p:cNvSpPr/>
          <p:nvPr/>
        </p:nvSpPr>
        <p:spPr>
          <a:xfrm>
            <a:off x="2797210" y="2876970"/>
            <a:ext cx="238588" cy="238377"/>
          </a:xfrm>
          <a:prstGeom prst="ellipse">
            <a:avLst/>
          </a:prstGeom>
          <a:solidFill>
            <a:srgbClr val="FBEAE7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EC8ECB43-DBBB-A522-491B-D2F82DF885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9551" y="2889300"/>
            <a:ext cx="213906" cy="213717"/>
          </a:xfrm>
          <a:custGeom>
            <a:avLst/>
            <a:gdLst>
              <a:gd name="csX0" fmla="*/ 65 w 213906"/>
              <a:gd name="csY0" fmla="*/ 495 h 213717"/>
              <a:gd name="csX1" fmla="*/ 213972 w 213906"/>
              <a:gd name="csY1" fmla="*/ 495 h 213717"/>
              <a:gd name="csX2" fmla="*/ 213972 w 213906"/>
              <a:gd name="csY2" fmla="*/ 214213 h 213717"/>
              <a:gd name="csX3" fmla="*/ 65 w 213906"/>
              <a:gd name="csY3" fmla="*/ 214213 h 2137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3906" h="213717">
                <a:moveTo>
                  <a:pt x="65" y="495"/>
                </a:moveTo>
                <a:lnTo>
                  <a:pt x="213972" y="495"/>
                </a:lnTo>
                <a:lnTo>
                  <a:pt x="213972" y="214213"/>
                </a:lnTo>
                <a:lnTo>
                  <a:pt x="65" y="214213"/>
                </a:lnTo>
                <a:close/>
              </a:path>
            </a:pathLst>
          </a:custGeom>
        </p:spPr>
      </p:pic>
      <p:sp>
        <p:nvSpPr>
          <p:cNvPr id="75" name="Oval 74">
            <a:extLst>
              <a:ext uri="{FF2B5EF4-FFF2-40B4-BE49-F238E27FC236}">
                <a16:creationId xmlns:a16="http://schemas.microsoft.com/office/drawing/2014/main" id="{8888B481-5370-6E88-5E2E-D003BA7C7A32}"/>
              </a:ext>
            </a:extLst>
          </p:cNvPr>
          <p:cNvSpPr/>
          <p:nvPr/>
        </p:nvSpPr>
        <p:spPr>
          <a:xfrm>
            <a:off x="2797210" y="2876970"/>
            <a:ext cx="238588" cy="238377"/>
          </a:xfrm>
          <a:prstGeom prst="ellipse">
            <a:avLst/>
          </a:prstGeom>
          <a:noFill/>
          <a:ln w="8221" cap="flat">
            <a:solidFill>
              <a:srgbClr val="E05C4E">
                <a:alpha val="8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A60E2F5-271E-068C-4812-111BF7FE6B14}"/>
              </a:ext>
            </a:extLst>
          </p:cNvPr>
          <p:cNvSpPr txBox="1"/>
          <p:nvPr/>
        </p:nvSpPr>
        <p:spPr>
          <a:xfrm>
            <a:off x="2972535" y="2811037"/>
            <a:ext cx="1118819" cy="187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69" b="1" spc="0" baseline="0" dirty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Pain mediation (</a:t>
            </a:r>
            <a:r>
              <a:rPr lang="en-US" sz="1069" b="1" spc="0" baseline="0" dirty="0" err="1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cPDM</a:t>
            </a:r>
            <a:r>
              <a:rPr lang="en-US" sz="1069" b="1" spc="0" baseline="0" dirty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)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3365925-DD7B-5B0A-F8E5-6FC1C636B085}"/>
              </a:ext>
            </a:extLst>
          </p:cNvPr>
          <p:cNvSpPr txBox="1"/>
          <p:nvPr/>
        </p:nvSpPr>
        <p:spPr>
          <a:xfrm>
            <a:off x="2972535" y="2962284"/>
            <a:ext cx="563617" cy="160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64" i="1" spc="0" baseline="0">
                <a:ln/>
                <a:solidFill>
                  <a:srgbClr val="7C8598"/>
                </a:solidFill>
                <a:latin typeface="Arial"/>
                <a:cs typeface="Arial"/>
                <a:sym typeface="Arial"/>
                <a:rtl val="0"/>
              </a:rPr>
              <a:t>Geuter · 2020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04B40FE-5791-C0C3-069F-3764D9FECA1D}"/>
              </a:ext>
            </a:extLst>
          </p:cNvPr>
          <p:cNvSpPr txBox="1"/>
          <p:nvPr/>
        </p:nvSpPr>
        <p:spPr>
          <a:xfrm>
            <a:off x="2652293" y="3216285"/>
            <a:ext cx="827139" cy="148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37" b="1" spc="27" baseline="0">
                <a:ln/>
                <a:solidFill>
                  <a:srgbClr val="B23F33"/>
                </a:solidFill>
                <a:latin typeface="Arial"/>
                <a:cs typeface="Arial"/>
                <a:sym typeface="Arial"/>
                <a:rtl val="0"/>
              </a:rPr>
              <a:t>VICARIOUS / OBSERVED</a:t>
            </a:r>
          </a:p>
        </p:txBody>
      </p:sp>
      <p:sp>
        <p:nvSpPr>
          <p:cNvPr id="79" name="Freeform 78">
            <a:extLst>
              <a:ext uri="{FF2B5EF4-FFF2-40B4-BE49-F238E27FC236}">
                <a16:creationId xmlns:a16="http://schemas.microsoft.com/office/drawing/2014/main" id="{0B391AA5-E9C4-888D-6038-9B98A080EC4F}"/>
              </a:ext>
            </a:extLst>
          </p:cNvPr>
          <p:cNvSpPr/>
          <p:nvPr/>
        </p:nvSpPr>
        <p:spPr>
          <a:xfrm>
            <a:off x="3430703" y="3287966"/>
            <a:ext cx="1419188" cy="6052"/>
          </a:xfrm>
          <a:custGeom>
            <a:avLst/>
            <a:gdLst>
              <a:gd name="csX0" fmla="*/ 0 w 1419188"/>
              <a:gd name="csY0" fmla="*/ 0 h 6052"/>
              <a:gd name="csX1" fmla="*/ 1419188 w 1419188"/>
              <a:gd name="csY1" fmla="*/ 0 h 605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19188" h="6052">
                <a:moveTo>
                  <a:pt x="0" y="0"/>
                </a:moveTo>
                <a:lnTo>
                  <a:pt x="1419188" y="0"/>
                </a:lnTo>
              </a:path>
            </a:pathLst>
          </a:custGeom>
          <a:ln w="6163" cap="flat">
            <a:solidFill>
              <a:srgbClr val="E05C4E">
                <a:alpha val="35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37341FC9-49DC-CC23-7217-8092FB134DDA}"/>
              </a:ext>
            </a:extLst>
          </p:cNvPr>
          <p:cNvSpPr/>
          <p:nvPr/>
        </p:nvSpPr>
        <p:spPr>
          <a:xfrm>
            <a:off x="2735506" y="3357835"/>
            <a:ext cx="2114384" cy="254817"/>
          </a:xfrm>
          <a:prstGeom prst="roundRect">
            <a:avLst>
              <a:gd name="adj" fmla="val 19371"/>
            </a:avLst>
          </a:prstGeom>
          <a:solidFill>
            <a:srgbClr val="FFFFFF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402899AC-F56C-479E-11FF-F2C5CD60C0C4}"/>
              </a:ext>
            </a:extLst>
          </p:cNvPr>
          <p:cNvSpPr/>
          <p:nvPr/>
        </p:nvSpPr>
        <p:spPr>
          <a:xfrm>
            <a:off x="2735506" y="3357835"/>
            <a:ext cx="20567" cy="254817"/>
          </a:xfrm>
          <a:prstGeom prst="roundRect">
            <a:avLst>
              <a:gd name="adj" fmla="val 50000"/>
            </a:avLst>
          </a:prstGeom>
          <a:solidFill>
            <a:srgbClr val="E05C4E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0D1ED72C-D29E-D0C7-C5D6-E0615FA73BBC}"/>
              </a:ext>
            </a:extLst>
          </p:cNvPr>
          <p:cNvSpPr/>
          <p:nvPr/>
        </p:nvSpPr>
        <p:spPr>
          <a:xfrm>
            <a:off x="2797210" y="3366055"/>
            <a:ext cx="238588" cy="238377"/>
          </a:xfrm>
          <a:prstGeom prst="ellipse">
            <a:avLst/>
          </a:prstGeom>
          <a:solidFill>
            <a:srgbClr val="FBEAE7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89CBF4EE-7073-F475-0C48-B0A9E5AC1F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9551" y="3378385"/>
            <a:ext cx="213906" cy="213717"/>
          </a:xfrm>
          <a:custGeom>
            <a:avLst/>
            <a:gdLst>
              <a:gd name="csX0" fmla="*/ 65 w 213906"/>
              <a:gd name="csY0" fmla="*/ 576 h 213717"/>
              <a:gd name="csX1" fmla="*/ 213972 w 213906"/>
              <a:gd name="csY1" fmla="*/ 576 h 213717"/>
              <a:gd name="csX2" fmla="*/ 213972 w 213906"/>
              <a:gd name="csY2" fmla="*/ 214294 h 213717"/>
              <a:gd name="csX3" fmla="*/ 65 w 213906"/>
              <a:gd name="csY3" fmla="*/ 214294 h 2137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3906" h="213717">
                <a:moveTo>
                  <a:pt x="65" y="576"/>
                </a:moveTo>
                <a:lnTo>
                  <a:pt x="213972" y="576"/>
                </a:lnTo>
                <a:lnTo>
                  <a:pt x="213972" y="214294"/>
                </a:lnTo>
                <a:lnTo>
                  <a:pt x="65" y="214294"/>
                </a:lnTo>
                <a:close/>
              </a:path>
            </a:pathLst>
          </a:custGeom>
        </p:spPr>
      </p:pic>
      <p:sp>
        <p:nvSpPr>
          <p:cNvPr id="84" name="Oval 83">
            <a:extLst>
              <a:ext uri="{FF2B5EF4-FFF2-40B4-BE49-F238E27FC236}">
                <a16:creationId xmlns:a16="http://schemas.microsoft.com/office/drawing/2014/main" id="{8D83A0C3-3D45-5B3D-D3BF-6CB13DC70063}"/>
              </a:ext>
            </a:extLst>
          </p:cNvPr>
          <p:cNvSpPr/>
          <p:nvPr/>
        </p:nvSpPr>
        <p:spPr>
          <a:xfrm>
            <a:off x="2797210" y="3366055"/>
            <a:ext cx="238588" cy="238377"/>
          </a:xfrm>
          <a:prstGeom prst="ellipse">
            <a:avLst/>
          </a:prstGeom>
          <a:noFill/>
          <a:ln w="8221" cap="flat">
            <a:solidFill>
              <a:srgbClr val="E05C4E">
                <a:alpha val="8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5C489DF-C485-8CCD-32D1-0F446246AC75}"/>
              </a:ext>
            </a:extLst>
          </p:cNvPr>
          <p:cNvSpPr txBox="1"/>
          <p:nvPr/>
        </p:nvSpPr>
        <p:spPr>
          <a:xfrm>
            <a:off x="2967722" y="3295310"/>
            <a:ext cx="1026191" cy="187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69" b="1" spc="0" baseline="0" dirty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Vicarious pain (VPS)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04C8C24-443D-8D98-CF8E-4C20A8E31570}"/>
              </a:ext>
            </a:extLst>
          </p:cNvPr>
          <p:cNvSpPr txBox="1"/>
          <p:nvPr/>
        </p:nvSpPr>
        <p:spPr>
          <a:xfrm>
            <a:off x="2967722" y="3441744"/>
            <a:ext cx="618512" cy="160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64" i="1" spc="0" baseline="0">
                <a:ln/>
                <a:solidFill>
                  <a:srgbClr val="7C8598"/>
                </a:solidFill>
                <a:latin typeface="Arial"/>
                <a:cs typeface="Arial"/>
                <a:sym typeface="Arial"/>
                <a:rtl val="0"/>
              </a:rPr>
              <a:t>Krishnan · 2016</a:t>
            </a:r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8450C6FA-C952-7E11-55FA-5B6DFEB6D31E}"/>
              </a:ext>
            </a:extLst>
          </p:cNvPr>
          <p:cNvSpPr/>
          <p:nvPr/>
        </p:nvSpPr>
        <p:spPr>
          <a:xfrm>
            <a:off x="2735506" y="3649642"/>
            <a:ext cx="2114384" cy="254817"/>
          </a:xfrm>
          <a:prstGeom prst="roundRect">
            <a:avLst>
              <a:gd name="adj" fmla="val 19371"/>
            </a:avLst>
          </a:prstGeom>
          <a:solidFill>
            <a:srgbClr val="FFFFFF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A0604CEA-5B39-08BB-80BC-51E6B244429C}"/>
              </a:ext>
            </a:extLst>
          </p:cNvPr>
          <p:cNvSpPr/>
          <p:nvPr/>
        </p:nvSpPr>
        <p:spPr>
          <a:xfrm>
            <a:off x="2735506" y="3649642"/>
            <a:ext cx="20567" cy="254817"/>
          </a:xfrm>
          <a:prstGeom prst="roundRect">
            <a:avLst>
              <a:gd name="adj" fmla="val 50000"/>
            </a:avLst>
          </a:prstGeom>
          <a:solidFill>
            <a:srgbClr val="E05C4E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330A0639-49B9-9DBB-1D50-C74E9EE68D9B}"/>
              </a:ext>
            </a:extLst>
          </p:cNvPr>
          <p:cNvSpPr/>
          <p:nvPr/>
        </p:nvSpPr>
        <p:spPr>
          <a:xfrm>
            <a:off x="2797210" y="3657862"/>
            <a:ext cx="238588" cy="238377"/>
          </a:xfrm>
          <a:prstGeom prst="ellipse">
            <a:avLst/>
          </a:prstGeom>
          <a:solidFill>
            <a:srgbClr val="FBEAE7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74C48355-52FF-6CF2-9ED9-AE9AE32F5E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9551" y="3670192"/>
            <a:ext cx="213906" cy="213717"/>
          </a:xfrm>
          <a:custGeom>
            <a:avLst/>
            <a:gdLst>
              <a:gd name="csX0" fmla="*/ 65 w 213906"/>
              <a:gd name="csY0" fmla="*/ 624 h 213717"/>
              <a:gd name="csX1" fmla="*/ 213972 w 213906"/>
              <a:gd name="csY1" fmla="*/ 624 h 213717"/>
              <a:gd name="csX2" fmla="*/ 213972 w 213906"/>
              <a:gd name="csY2" fmla="*/ 214342 h 213717"/>
              <a:gd name="csX3" fmla="*/ 65 w 213906"/>
              <a:gd name="csY3" fmla="*/ 214342 h 2137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3906" h="213717">
                <a:moveTo>
                  <a:pt x="65" y="624"/>
                </a:moveTo>
                <a:lnTo>
                  <a:pt x="213972" y="624"/>
                </a:lnTo>
                <a:lnTo>
                  <a:pt x="213972" y="214342"/>
                </a:lnTo>
                <a:lnTo>
                  <a:pt x="65" y="214342"/>
                </a:lnTo>
                <a:close/>
              </a:path>
            </a:pathLst>
          </a:custGeom>
        </p:spPr>
      </p:pic>
      <p:sp>
        <p:nvSpPr>
          <p:cNvPr id="91" name="Oval 90">
            <a:extLst>
              <a:ext uri="{FF2B5EF4-FFF2-40B4-BE49-F238E27FC236}">
                <a16:creationId xmlns:a16="http://schemas.microsoft.com/office/drawing/2014/main" id="{C41811C1-D6F8-E221-EBFE-A47B67EC3258}"/>
              </a:ext>
            </a:extLst>
          </p:cNvPr>
          <p:cNvSpPr/>
          <p:nvPr/>
        </p:nvSpPr>
        <p:spPr>
          <a:xfrm>
            <a:off x="2797210" y="3657862"/>
            <a:ext cx="238588" cy="238377"/>
          </a:xfrm>
          <a:prstGeom prst="ellipse">
            <a:avLst/>
          </a:prstGeom>
          <a:noFill/>
          <a:ln w="8221" cap="flat">
            <a:solidFill>
              <a:srgbClr val="E05C4E">
                <a:alpha val="8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A9CBC3F-4C3C-9A4C-C5AD-172DF77B4141}"/>
              </a:ext>
            </a:extLst>
          </p:cNvPr>
          <p:cNvSpPr txBox="1"/>
          <p:nvPr/>
        </p:nvSpPr>
        <p:spPr>
          <a:xfrm>
            <a:off x="2967722" y="3587117"/>
            <a:ext cx="1109497" cy="187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69" b="1" spc="0" baseline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General vicarious pain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2B70E4E-B993-AA1F-47B0-7AC05870C5E9}"/>
              </a:ext>
            </a:extLst>
          </p:cNvPr>
          <p:cNvSpPr txBox="1"/>
          <p:nvPr/>
        </p:nvSpPr>
        <p:spPr>
          <a:xfrm>
            <a:off x="2967722" y="3733551"/>
            <a:ext cx="515622" cy="160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64" i="1" spc="0" baseline="0">
                <a:ln/>
                <a:solidFill>
                  <a:srgbClr val="7C8598"/>
                </a:solidFill>
                <a:latin typeface="Arial"/>
                <a:cs typeface="Arial"/>
                <a:sym typeface="Arial"/>
                <a:rtl val="0"/>
              </a:rPr>
              <a:t>Zhou · 2020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68EE93E-A567-DCC5-7F15-E0AC3C7F4B0A}"/>
              </a:ext>
            </a:extLst>
          </p:cNvPr>
          <p:cNvSpPr txBox="1"/>
          <p:nvPr/>
        </p:nvSpPr>
        <p:spPr>
          <a:xfrm>
            <a:off x="2652293" y="3997177"/>
            <a:ext cx="788440" cy="148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37" b="1" spc="27" baseline="0">
                <a:ln/>
                <a:solidFill>
                  <a:srgbClr val="B23F33"/>
                </a:solidFill>
                <a:latin typeface="Arial"/>
                <a:cs typeface="Arial"/>
                <a:sym typeface="Arial"/>
                <a:rtl val="0"/>
              </a:rPr>
              <a:t>MODULATION &amp; VALUE</a:t>
            </a:r>
          </a:p>
        </p:txBody>
      </p:sp>
      <p:sp>
        <p:nvSpPr>
          <p:cNvPr id="95" name="Freeform 94">
            <a:extLst>
              <a:ext uri="{FF2B5EF4-FFF2-40B4-BE49-F238E27FC236}">
                <a16:creationId xmlns:a16="http://schemas.microsoft.com/office/drawing/2014/main" id="{1EAAF358-0265-A054-9700-8921804E6600}"/>
              </a:ext>
            </a:extLst>
          </p:cNvPr>
          <p:cNvSpPr/>
          <p:nvPr/>
        </p:nvSpPr>
        <p:spPr>
          <a:xfrm>
            <a:off x="3393680" y="4068858"/>
            <a:ext cx="1456210" cy="6052"/>
          </a:xfrm>
          <a:custGeom>
            <a:avLst/>
            <a:gdLst>
              <a:gd name="csX0" fmla="*/ 0 w 1456210"/>
              <a:gd name="csY0" fmla="*/ 0 h 6052"/>
              <a:gd name="csX1" fmla="*/ 1456210 w 1456210"/>
              <a:gd name="csY1" fmla="*/ 0 h 605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56210" h="6052">
                <a:moveTo>
                  <a:pt x="0" y="0"/>
                </a:moveTo>
                <a:lnTo>
                  <a:pt x="1456210" y="0"/>
                </a:lnTo>
              </a:path>
            </a:pathLst>
          </a:custGeom>
          <a:ln w="6163" cap="flat">
            <a:solidFill>
              <a:srgbClr val="E05C4E">
                <a:alpha val="35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3C78FC43-8620-D814-1E25-1C5B2F0F449B}"/>
              </a:ext>
            </a:extLst>
          </p:cNvPr>
          <p:cNvSpPr/>
          <p:nvPr/>
        </p:nvSpPr>
        <p:spPr>
          <a:xfrm>
            <a:off x="2735506" y="4138727"/>
            <a:ext cx="2114384" cy="254817"/>
          </a:xfrm>
          <a:prstGeom prst="roundRect">
            <a:avLst>
              <a:gd name="adj" fmla="val 19371"/>
            </a:avLst>
          </a:prstGeom>
          <a:solidFill>
            <a:srgbClr val="FFFFFF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3B59632F-B0BA-2A4D-7109-36DD8EE35A60}"/>
              </a:ext>
            </a:extLst>
          </p:cNvPr>
          <p:cNvSpPr/>
          <p:nvPr/>
        </p:nvSpPr>
        <p:spPr>
          <a:xfrm>
            <a:off x="2735506" y="4138727"/>
            <a:ext cx="20567" cy="254817"/>
          </a:xfrm>
          <a:prstGeom prst="roundRect">
            <a:avLst>
              <a:gd name="adj" fmla="val 50000"/>
            </a:avLst>
          </a:prstGeom>
          <a:solidFill>
            <a:srgbClr val="E05C4E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C07D12EB-3BE9-487E-13E5-57D87D6FB2FF}"/>
              </a:ext>
            </a:extLst>
          </p:cNvPr>
          <p:cNvSpPr/>
          <p:nvPr/>
        </p:nvSpPr>
        <p:spPr>
          <a:xfrm>
            <a:off x="2797210" y="4146947"/>
            <a:ext cx="238588" cy="238377"/>
          </a:xfrm>
          <a:prstGeom prst="ellipse">
            <a:avLst/>
          </a:prstGeom>
          <a:solidFill>
            <a:srgbClr val="FBEAE7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7BE67E71-596A-4700-694B-C7302ABE4E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09551" y="4159277"/>
            <a:ext cx="213906" cy="213717"/>
          </a:xfrm>
          <a:custGeom>
            <a:avLst/>
            <a:gdLst>
              <a:gd name="csX0" fmla="*/ 65 w 213906"/>
              <a:gd name="csY0" fmla="*/ 705 h 213717"/>
              <a:gd name="csX1" fmla="*/ 213972 w 213906"/>
              <a:gd name="csY1" fmla="*/ 705 h 213717"/>
              <a:gd name="csX2" fmla="*/ 213972 w 213906"/>
              <a:gd name="csY2" fmla="*/ 214423 h 213717"/>
              <a:gd name="csX3" fmla="*/ 65 w 213906"/>
              <a:gd name="csY3" fmla="*/ 214423 h 2137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3906" h="213717">
                <a:moveTo>
                  <a:pt x="65" y="705"/>
                </a:moveTo>
                <a:lnTo>
                  <a:pt x="213972" y="705"/>
                </a:lnTo>
                <a:lnTo>
                  <a:pt x="213972" y="214423"/>
                </a:lnTo>
                <a:lnTo>
                  <a:pt x="65" y="214423"/>
                </a:lnTo>
                <a:close/>
              </a:path>
            </a:pathLst>
          </a:custGeom>
        </p:spPr>
      </p:pic>
      <p:sp>
        <p:nvSpPr>
          <p:cNvPr id="100" name="Oval 99">
            <a:extLst>
              <a:ext uri="{FF2B5EF4-FFF2-40B4-BE49-F238E27FC236}">
                <a16:creationId xmlns:a16="http://schemas.microsoft.com/office/drawing/2014/main" id="{5F5F4543-9998-017B-BC68-4A39CF65EAEE}"/>
              </a:ext>
            </a:extLst>
          </p:cNvPr>
          <p:cNvSpPr/>
          <p:nvPr/>
        </p:nvSpPr>
        <p:spPr>
          <a:xfrm>
            <a:off x="2797210" y="4146947"/>
            <a:ext cx="238588" cy="238377"/>
          </a:xfrm>
          <a:prstGeom prst="ellipse">
            <a:avLst/>
          </a:prstGeom>
          <a:noFill/>
          <a:ln w="8221" cap="flat">
            <a:solidFill>
              <a:srgbClr val="E05C4E">
                <a:alpha val="8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041D77F-2470-C79F-5F18-B41C37ACC894}"/>
              </a:ext>
            </a:extLst>
          </p:cNvPr>
          <p:cNvSpPr txBox="1"/>
          <p:nvPr/>
        </p:nvSpPr>
        <p:spPr>
          <a:xfrm>
            <a:off x="2962910" y="4076201"/>
            <a:ext cx="931918" cy="187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69" b="1" spc="0" baseline="0" dirty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Placebo analgesia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ECE81E7-077A-4960-024B-010663CC571B}"/>
              </a:ext>
            </a:extLst>
          </p:cNvPr>
          <p:cNvSpPr txBox="1"/>
          <p:nvPr/>
        </p:nvSpPr>
        <p:spPr>
          <a:xfrm>
            <a:off x="2962910" y="4232261"/>
            <a:ext cx="551024" cy="160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64" i="1" spc="0" baseline="0">
                <a:ln/>
                <a:solidFill>
                  <a:srgbClr val="7C8598"/>
                </a:solidFill>
                <a:latin typeface="Arial"/>
                <a:cs typeface="Arial"/>
                <a:sym typeface="Arial"/>
                <a:rtl val="0"/>
              </a:rPr>
              <a:t>Wager · 2011</a:t>
            </a:r>
          </a:p>
        </p:txBody>
      </p:sp>
      <p:sp>
        <p:nvSpPr>
          <p:cNvPr id="103" name="Rounded Rectangle 102">
            <a:extLst>
              <a:ext uri="{FF2B5EF4-FFF2-40B4-BE49-F238E27FC236}">
                <a16:creationId xmlns:a16="http://schemas.microsoft.com/office/drawing/2014/main" id="{2ED64058-24ED-95F5-03F6-DD9AF46B5990}"/>
              </a:ext>
            </a:extLst>
          </p:cNvPr>
          <p:cNvSpPr/>
          <p:nvPr/>
        </p:nvSpPr>
        <p:spPr>
          <a:xfrm>
            <a:off x="2735506" y="4430534"/>
            <a:ext cx="2114384" cy="254817"/>
          </a:xfrm>
          <a:prstGeom prst="roundRect">
            <a:avLst>
              <a:gd name="adj" fmla="val 19371"/>
            </a:avLst>
          </a:prstGeom>
          <a:solidFill>
            <a:srgbClr val="FFFFFF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8334CBE7-B806-CC16-C968-9EB5B2BFE0CF}"/>
              </a:ext>
            </a:extLst>
          </p:cNvPr>
          <p:cNvSpPr/>
          <p:nvPr/>
        </p:nvSpPr>
        <p:spPr>
          <a:xfrm>
            <a:off x="2735506" y="4430534"/>
            <a:ext cx="20567" cy="254817"/>
          </a:xfrm>
          <a:prstGeom prst="roundRect">
            <a:avLst>
              <a:gd name="adj" fmla="val 50000"/>
            </a:avLst>
          </a:prstGeom>
          <a:solidFill>
            <a:srgbClr val="E05C4E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6B3C0A7A-F593-9B17-6AAF-E227A76DC4D0}"/>
              </a:ext>
            </a:extLst>
          </p:cNvPr>
          <p:cNvSpPr/>
          <p:nvPr/>
        </p:nvSpPr>
        <p:spPr>
          <a:xfrm>
            <a:off x="2797210" y="4438754"/>
            <a:ext cx="238588" cy="238377"/>
          </a:xfrm>
          <a:prstGeom prst="ellipse">
            <a:avLst/>
          </a:prstGeom>
          <a:solidFill>
            <a:srgbClr val="FBEAE7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48B0F0EB-DBF8-FB99-D370-6A3CFDD60A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09551" y="4451084"/>
            <a:ext cx="213906" cy="213717"/>
          </a:xfrm>
          <a:custGeom>
            <a:avLst/>
            <a:gdLst>
              <a:gd name="csX0" fmla="*/ 65 w 213906"/>
              <a:gd name="csY0" fmla="*/ 753 h 213717"/>
              <a:gd name="csX1" fmla="*/ 213972 w 213906"/>
              <a:gd name="csY1" fmla="*/ 753 h 213717"/>
              <a:gd name="csX2" fmla="*/ 213972 w 213906"/>
              <a:gd name="csY2" fmla="*/ 214471 h 213717"/>
              <a:gd name="csX3" fmla="*/ 65 w 213906"/>
              <a:gd name="csY3" fmla="*/ 214471 h 2137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3906" h="213717">
                <a:moveTo>
                  <a:pt x="65" y="753"/>
                </a:moveTo>
                <a:lnTo>
                  <a:pt x="213972" y="753"/>
                </a:lnTo>
                <a:lnTo>
                  <a:pt x="213972" y="214471"/>
                </a:lnTo>
                <a:lnTo>
                  <a:pt x="65" y="214471"/>
                </a:lnTo>
                <a:close/>
              </a:path>
            </a:pathLst>
          </a:custGeom>
        </p:spPr>
      </p:pic>
      <p:sp>
        <p:nvSpPr>
          <p:cNvPr id="107" name="Oval 106">
            <a:extLst>
              <a:ext uri="{FF2B5EF4-FFF2-40B4-BE49-F238E27FC236}">
                <a16:creationId xmlns:a16="http://schemas.microsoft.com/office/drawing/2014/main" id="{29E72FCE-E1CC-C23D-EF06-33D499997921}"/>
              </a:ext>
            </a:extLst>
          </p:cNvPr>
          <p:cNvSpPr/>
          <p:nvPr/>
        </p:nvSpPr>
        <p:spPr>
          <a:xfrm>
            <a:off x="2797210" y="4438754"/>
            <a:ext cx="238588" cy="238377"/>
          </a:xfrm>
          <a:prstGeom prst="ellipse">
            <a:avLst/>
          </a:prstGeom>
          <a:noFill/>
          <a:ln w="8221" cap="flat">
            <a:solidFill>
              <a:srgbClr val="E05C4E">
                <a:alpha val="8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346C97C-AEE1-02CE-0750-1724A0BCF5CC}"/>
              </a:ext>
            </a:extLst>
          </p:cNvPr>
          <p:cNvSpPr txBox="1"/>
          <p:nvPr/>
        </p:nvSpPr>
        <p:spPr>
          <a:xfrm>
            <a:off x="2962910" y="4368008"/>
            <a:ext cx="1159692" cy="187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69" b="1" spc="0" baseline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Pain × cognitive control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19EE79F-96E3-A2F7-282B-5BA765100B22}"/>
              </a:ext>
            </a:extLst>
          </p:cNvPr>
          <p:cNvSpPr txBox="1"/>
          <p:nvPr/>
        </p:nvSpPr>
        <p:spPr>
          <a:xfrm>
            <a:off x="2962910" y="4524068"/>
            <a:ext cx="639000" cy="160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64" i="1" spc="0" baseline="0">
                <a:ln/>
                <a:solidFill>
                  <a:srgbClr val="7C8598"/>
                </a:solidFill>
                <a:latin typeface="Arial"/>
                <a:cs typeface="Arial"/>
                <a:sym typeface="Arial"/>
                <a:rtl val="0"/>
              </a:rPr>
              <a:t>Silvestrini · 2020</a:t>
            </a:r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9EE3B85F-519A-7C24-69EE-6C6A8253100D}"/>
              </a:ext>
            </a:extLst>
          </p:cNvPr>
          <p:cNvSpPr/>
          <p:nvPr/>
        </p:nvSpPr>
        <p:spPr>
          <a:xfrm>
            <a:off x="2735506" y="4722341"/>
            <a:ext cx="2114384" cy="254817"/>
          </a:xfrm>
          <a:prstGeom prst="roundRect">
            <a:avLst>
              <a:gd name="adj" fmla="val 19371"/>
            </a:avLst>
          </a:prstGeom>
          <a:solidFill>
            <a:srgbClr val="FFFFFF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A437BBBC-AFB9-8F04-87C6-8A7EC5B6596E}"/>
              </a:ext>
            </a:extLst>
          </p:cNvPr>
          <p:cNvSpPr/>
          <p:nvPr/>
        </p:nvSpPr>
        <p:spPr>
          <a:xfrm>
            <a:off x="2735506" y="4722341"/>
            <a:ext cx="20567" cy="254817"/>
          </a:xfrm>
          <a:prstGeom prst="roundRect">
            <a:avLst>
              <a:gd name="adj" fmla="val 50000"/>
            </a:avLst>
          </a:prstGeom>
          <a:solidFill>
            <a:srgbClr val="E05C4E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9602692C-FD6C-195D-B376-B81869BD27CE}"/>
              </a:ext>
            </a:extLst>
          </p:cNvPr>
          <p:cNvSpPr/>
          <p:nvPr/>
        </p:nvSpPr>
        <p:spPr>
          <a:xfrm>
            <a:off x="2797210" y="4730561"/>
            <a:ext cx="238588" cy="238377"/>
          </a:xfrm>
          <a:prstGeom prst="ellipse">
            <a:avLst/>
          </a:prstGeom>
          <a:solidFill>
            <a:srgbClr val="FBEAE7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113" name="Picture 112">
            <a:extLst>
              <a:ext uri="{FF2B5EF4-FFF2-40B4-BE49-F238E27FC236}">
                <a16:creationId xmlns:a16="http://schemas.microsoft.com/office/drawing/2014/main" id="{4126AE78-43C8-3D2A-57B7-B066A88CC28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09551" y="4742891"/>
            <a:ext cx="213906" cy="213717"/>
          </a:xfrm>
          <a:custGeom>
            <a:avLst/>
            <a:gdLst>
              <a:gd name="csX0" fmla="*/ 65 w 213906"/>
              <a:gd name="csY0" fmla="*/ 801 h 213717"/>
              <a:gd name="csX1" fmla="*/ 213972 w 213906"/>
              <a:gd name="csY1" fmla="*/ 801 h 213717"/>
              <a:gd name="csX2" fmla="*/ 213972 w 213906"/>
              <a:gd name="csY2" fmla="*/ 214519 h 213717"/>
              <a:gd name="csX3" fmla="*/ 65 w 213906"/>
              <a:gd name="csY3" fmla="*/ 214519 h 2137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3906" h="213717">
                <a:moveTo>
                  <a:pt x="65" y="801"/>
                </a:moveTo>
                <a:lnTo>
                  <a:pt x="213972" y="801"/>
                </a:lnTo>
                <a:lnTo>
                  <a:pt x="213972" y="214519"/>
                </a:lnTo>
                <a:lnTo>
                  <a:pt x="65" y="214519"/>
                </a:lnTo>
                <a:close/>
              </a:path>
            </a:pathLst>
          </a:custGeom>
        </p:spPr>
      </p:pic>
      <p:sp>
        <p:nvSpPr>
          <p:cNvPr id="114" name="Oval 113">
            <a:extLst>
              <a:ext uri="{FF2B5EF4-FFF2-40B4-BE49-F238E27FC236}">
                <a16:creationId xmlns:a16="http://schemas.microsoft.com/office/drawing/2014/main" id="{BA85F208-B7ED-B5C1-4F10-E63B06391F44}"/>
              </a:ext>
            </a:extLst>
          </p:cNvPr>
          <p:cNvSpPr/>
          <p:nvPr/>
        </p:nvSpPr>
        <p:spPr>
          <a:xfrm>
            <a:off x="2797210" y="4730561"/>
            <a:ext cx="238588" cy="238377"/>
          </a:xfrm>
          <a:prstGeom prst="ellipse">
            <a:avLst/>
          </a:prstGeom>
          <a:noFill/>
          <a:ln w="8221" cap="flat">
            <a:solidFill>
              <a:srgbClr val="E05C4E">
                <a:alpha val="8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BAF79C0-9BC5-FD12-80BE-07716A038F2B}"/>
              </a:ext>
            </a:extLst>
          </p:cNvPr>
          <p:cNvSpPr txBox="1"/>
          <p:nvPr/>
        </p:nvSpPr>
        <p:spPr>
          <a:xfrm>
            <a:off x="2962910" y="4659815"/>
            <a:ext cx="984644" cy="187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69" b="1" spc="0" baseline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Pain decision value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9220A915-F355-26B7-BECB-9060E883A731}"/>
              </a:ext>
            </a:extLst>
          </p:cNvPr>
          <p:cNvSpPr txBox="1"/>
          <p:nvPr/>
        </p:nvSpPr>
        <p:spPr>
          <a:xfrm>
            <a:off x="2962910" y="4815875"/>
            <a:ext cx="481275" cy="160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64" i="1" spc="0" baseline="0">
                <a:ln/>
                <a:solidFill>
                  <a:srgbClr val="7C8598"/>
                </a:solidFill>
                <a:latin typeface="Arial"/>
                <a:cs typeface="Arial"/>
                <a:sym typeface="Arial"/>
                <a:rtl val="0"/>
              </a:rPr>
              <a:t>Coll · 2022</a:t>
            </a:r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0E22441B-5D93-A845-7998-3825421001B1}"/>
              </a:ext>
            </a:extLst>
          </p:cNvPr>
          <p:cNvSpPr/>
          <p:nvPr/>
        </p:nvSpPr>
        <p:spPr>
          <a:xfrm>
            <a:off x="2719831" y="5065257"/>
            <a:ext cx="2213110" cy="1409715"/>
          </a:xfrm>
          <a:prstGeom prst="roundRect">
            <a:avLst>
              <a:gd name="adj" fmla="val 5252"/>
            </a:avLst>
          </a:prstGeom>
          <a:solidFill>
            <a:srgbClr val="E2F1F2">
              <a:alpha val="50000"/>
            </a:srgbClr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id="{E5701107-DEE4-22CA-D330-8367F06250DE}"/>
              </a:ext>
            </a:extLst>
          </p:cNvPr>
          <p:cNvSpPr/>
          <p:nvPr/>
        </p:nvSpPr>
        <p:spPr>
          <a:xfrm>
            <a:off x="2702597" y="5153886"/>
            <a:ext cx="2180201" cy="263037"/>
          </a:xfrm>
          <a:prstGeom prst="roundRect">
            <a:avLst>
              <a:gd name="adj" fmla="val 23458"/>
            </a:avLst>
          </a:prstGeom>
          <a:solidFill>
            <a:srgbClr val="3FA0A8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19" name="Graphic 2">
            <a:extLst>
              <a:ext uri="{FF2B5EF4-FFF2-40B4-BE49-F238E27FC236}">
                <a16:creationId xmlns:a16="http://schemas.microsoft.com/office/drawing/2014/main" id="{95DFBAC7-5FF4-DC1F-3EB6-A1C7D2C9CFA6}"/>
              </a:ext>
            </a:extLst>
          </p:cNvPr>
          <p:cNvGrpSpPr/>
          <p:nvPr/>
        </p:nvGrpSpPr>
        <p:grpSpPr>
          <a:xfrm>
            <a:off x="2751058" y="5213890"/>
            <a:ext cx="172807" cy="145246"/>
            <a:chOff x="2751058" y="5213890"/>
            <a:chExt cx="172807" cy="145246"/>
          </a:xfrm>
        </p:grpSpPr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DBA2A688-3BE8-4DA9-52A6-7B6CDAEC50AC}"/>
                </a:ext>
              </a:extLst>
            </p:cNvPr>
            <p:cNvSpPr/>
            <p:nvPr/>
          </p:nvSpPr>
          <p:spPr>
            <a:xfrm>
              <a:off x="2751058" y="5213890"/>
              <a:ext cx="172807" cy="145246"/>
            </a:xfrm>
            <a:custGeom>
              <a:avLst/>
              <a:gdLst>
                <a:gd name="csX0" fmla="*/ 168821 w 172807"/>
                <a:gd name="csY0" fmla="*/ 71515 h 145246"/>
                <a:gd name="csX1" fmla="*/ 171450 w 172807"/>
                <a:gd name="csY1" fmla="*/ 64815 h 145246"/>
                <a:gd name="csX2" fmla="*/ 172807 w 172807"/>
                <a:gd name="csY2" fmla="*/ 57788 h 145246"/>
                <a:gd name="csX3" fmla="*/ 172601 w 172807"/>
                <a:gd name="csY3" fmla="*/ 50718 h 145246"/>
                <a:gd name="csX4" fmla="*/ 170632 w 172807"/>
                <a:gd name="csY4" fmla="*/ 43896 h 145246"/>
                <a:gd name="csX5" fmla="*/ 167009 w 172807"/>
                <a:gd name="csY5" fmla="*/ 37607 h 145246"/>
                <a:gd name="csX6" fmla="*/ 161951 w 172807"/>
                <a:gd name="csY6" fmla="*/ 32062 h 145246"/>
                <a:gd name="csX7" fmla="*/ 155862 w 172807"/>
                <a:gd name="csY7" fmla="*/ 27377 h 145246"/>
                <a:gd name="csX8" fmla="*/ 149198 w 172807"/>
                <a:gd name="csY8" fmla="*/ 23467 h 145246"/>
                <a:gd name="csX9" fmla="*/ 142285 w 172807"/>
                <a:gd name="csY9" fmla="*/ 20265 h 145246"/>
                <a:gd name="csX10" fmla="*/ 135500 w 172807"/>
                <a:gd name="csY10" fmla="*/ 17426 h 145246"/>
                <a:gd name="csX11" fmla="*/ 128957 w 172807"/>
                <a:gd name="csY11" fmla="*/ 14799 h 145246"/>
                <a:gd name="csX12" fmla="*/ 122662 w 172807"/>
                <a:gd name="csY12" fmla="*/ 12209 h 145246"/>
                <a:gd name="csX13" fmla="*/ 116495 w 172807"/>
                <a:gd name="csY13" fmla="*/ 9539 h 145246"/>
                <a:gd name="csX14" fmla="*/ 110285 w 172807"/>
                <a:gd name="csY14" fmla="*/ 6864 h 145246"/>
                <a:gd name="csX15" fmla="*/ 103906 w 172807"/>
                <a:gd name="csY15" fmla="*/ 4358 h 145246"/>
                <a:gd name="csX16" fmla="*/ 97284 w 172807"/>
                <a:gd name="csY16" fmla="*/ 2221 h 145246"/>
                <a:gd name="csX17" fmla="*/ 90329 w 172807"/>
                <a:gd name="csY17" fmla="*/ 702 h 145246"/>
                <a:gd name="csX18" fmla="*/ 83174 w 172807"/>
                <a:gd name="csY18" fmla="*/ 0 h 145246"/>
                <a:gd name="csX19" fmla="*/ 75977 w 172807"/>
                <a:gd name="csY19" fmla="*/ 206 h 145246"/>
                <a:gd name="csX20" fmla="*/ 68901 w 172807"/>
                <a:gd name="csY20" fmla="*/ 1277 h 145246"/>
                <a:gd name="csX21" fmla="*/ 62031 w 172807"/>
                <a:gd name="csY21" fmla="*/ 3123 h 145246"/>
                <a:gd name="csX22" fmla="*/ 55488 w 172807"/>
                <a:gd name="csY22" fmla="*/ 5508 h 145246"/>
                <a:gd name="csX23" fmla="*/ 49157 w 172807"/>
                <a:gd name="csY23" fmla="*/ 8304 h 145246"/>
                <a:gd name="csX24" fmla="*/ 43026 w 172807"/>
                <a:gd name="csY24" fmla="*/ 11222 h 145246"/>
                <a:gd name="csX25" fmla="*/ 36980 w 172807"/>
                <a:gd name="csY25" fmla="*/ 14267 h 145246"/>
                <a:gd name="csX26" fmla="*/ 30849 w 172807"/>
                <a:gd name="csY26" fmla="*/ 17469 h 145246"/>
                <a:gd name="csX27" fmla="*/ 24760 w 172807"/>
                <a:gd name="csY27" fmla="*/ 20840 h 145246"/>
                <a:gd name="csX28" fmla="*/ 18757 w 172807"/>
                <a:gd name="csY28" fmla="*/ 24660 h 145246"/>
                <a:gd name="csX29" fmla="*/ 13122 w 172807"/>
                <a:gd name="csY29" fmla="*/ 28975 h 145246"/>
                <a:gd name="csX30" fmla="*/ 8142 w 172807"/>
                <a:gd name="csY30" fmla="*/ 33951 h 145246"/>
                <a:gd name="csX31" fmla="*/ 4114 w 172807"/>
                <a:gd name="csY31" fmla="*/ 39538 h 145246"/>
                <a:gd name="csX32" fmla="*/ 1357 w 172807"/>
                <a:gd name="csY32" fmla="*/ 45706 h 145246"/>
                <a:gd name="csX33" fmla="*/ 0 w 172807"/>
                <a:gd name="csY33" fmla="*/ 52200 h 145246"/>
                <a:gd name="csX34" fmla="*/ 0 w 172807"/>
                <a:gd name="csY34" fmla="*/ 58816 h 145246"/>
                <a:gd name="csX35" fmla="*/ 1151 w 172807"/>
                <a:gd name="csY35" fmla="*/ 65311 h 145246"/>
                <a:gd name="csX36" fmla="*/ 3126 w 172807"/>
                <a:gd name="csY36" fmla="*/ 71515 h 145246"/>
                <a:gd name="csX37" fmla="*/ 5549 w 172807"/>
                <a:gd name="csY37" fmla="*/ 77393 h 145246"/>
                <a:gd name="csX38" fmla="*/ 7979 w 172807"/>
                <a:gd name="csY38" fmla="*/ 83022 h 145246"/>
                <a:gd name="csX39" fmla="*/ 10160 w 172807"/>
                <a:gd name="csY39" fmla="*/ 88488 h 145246"/>
                <a:gd name="csX40" fmla="*/ 11929 w 172807"/>
                <a:gd name="csY40" fmla="*/ 93996 h 145246"/>
                <a:gd name="csX41" fmla="*/ 13365 w 172807"/>
                <a:gd name="csY41" fmla="*/ 99753 h 145246"/>
                <a:gd name="csX42" fmla="*/ 14722 w 172807"/>
                <a:gd name="csY42" fmla="*/ 105793 h 145246"/>
                <a:gd name="csX43" fmla="*/ 16327 w 172807"/>
                <a:gd name="csY43" fmla="*/ 112125 h 145246"/>
                <a:gd name="csX44" fmla="*/ 18508 w 172807"/>
                <a:gd name="csY44" fmla="*/ 118577 h 145246"/>
                <a:gd name="csX45" fmla="*/ 21634 w 172807"/>
                <a:gd name="csY45" fmla="*/ 124902 h 145246"/>
                <a:gd name="csX46" fmla="*/ 25875 w 172807"/>
                <a:gd name="csY46" fmla="*/ 130738 h 145246"/>
                <a:gd name="csX47" fmla="*/ 31218 w 172807"/>
                <a:gd name="csY47" fmla="*/ 135834 h 145246"/>
                <a:gd name="csX48" fmla="*/ 37634 w 172807"/>
                <a:gd name="csY48" fmla="*/ 139866 h 145246"/>
                <a:gd name="csX49" fmla="*/ 44880 w 172807"/>
                <a:gd name="csY49" fmla="*/ 142783 h 145246"/>
                <a:gd name="csX50" fmla="*/ 52525 w 172807"/>
                <a:gd name="csY50" fmla="*/ 144508 h 145246"/>
                <a:gd name="csX51" fmla="*/ 60383 w 172807"/>
                <a:gd name="csY51" fmla="*/ 145247 h 145246"/>
                <a:gd name="csX52" fmla="*/ 68198 w 172807"/>
                <a:gd name="csY52" fmla="*/ 145168 h 145246"/>
                <a:gd name="csX53" fmla="*/ 75814 w 172807"/>
                <a:gd name="csY53" fmla="*/ 144593 h 145246"/>
                <a:gd name="csX54" fmla="*/ 83174 w 172807"/>
                <a:gd name="csY54" fmla="*/ 143685 h 145246"/>
                <a:gd name="csX55" fmla="*/ 90329 w 172807"/>
                <a:gd name="csY55" fmla="*/ 142577 h 145246"/>
                <a:gd name="csX56" fmla="*/ 97369 w 172807"/>
                <a:gd name="csY56" fmla="*/ 141342 h 145246"/>
                <a:gd name="csX57" fmla="*/ 104276 w 172807"/>
                <a:gd name="csY57" fmla="*/ 139823 h 145246"/>
                <a:gd name="csX58" fmla="*/ 111067 w 172807"/>
                <a:gd name="csY58" fmla="*/ 137935 h 145246"/>
                <a:gd name="csX59" fmla="*/ 117604 w 172807"/>
                <a:gd name="csY59" fmla="*/ 135507 h 145246"/>
                <a:gd name="csX60" fmla="*/ 123735 w 172807"/>
                <a:gd name="csY60" fmla="*/ 132427 h 145246"/>
                <a:gd name="csX61" fmla="*/ 129327 w 172807"/>
                <a:gd name="csY61" fmla="*/ 128643 h 145246"/>
                <a:gd name="csX62" fmla="*/ 134222 w 172807"/>
                <a:gd name="csY62" fmla="*/ 124285 h 145246"/>
                <a:gd name="csX63" fmla="*/ 138420 w 172807"/>
                <a:gd name="csY63" fmla="*/ 119394 h 145246"/>
                <a:gd name="csX64" fmla="*/ 141958 w 172807"/>
                <a:gd name="csY64" fmla="*/ 114261 h 145246"/>
                <a:gd name="csX65" fmla="*/ 144999 w 172807"/>
                <a:gd name="csY65" fmla="*/ 109080 h 145246"/>
                <a:gd name="csX66" fmla="*/ 147883 w 172807"/>
                <a:gd name="csY66" fmla="*/ 103905 h 145246"/>
                <a:gd name="csX67" fmla="*/ 150846 w 172807"/>
                <a:gd name="csY67" fmla="*/ 98887 h 145246"/>
                <a:gd name="csX68" fmla="*/ 154051 w 172807"/>
                <a:gd name="csY68" fmla="*/ 93875 h 145246"/>
                <a:gd name="csX69" fmla="*/ 157631 w 172807"/>
                <a:gd name="csY69" fmla="*/ 88821 h 145246"/>
                <a:gd name="csX70" fmla="*/ 161496 w 172807"/>
                <a:gd name="csY70" fmla="*/ 83476 h 145246"/>
                <a:gd name="csX71" fmla="*/ 165361 w 172807"/>
                <a:gd name="csY71" fmla="*/ 77762 h 1452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172807" h="145246">
                  <a:moveTo>
                    <a:pt x="168821" y="71515"/>
                  </a:moveTo>
                  <a:lnTo>
                    <a:pt x="171450" y="64815"/>
                  </a:lnTo>
                  <a:lnTo>
                    <a:pt x="172807" y="57788"/>
                  </a:lnTo>
                  <a:lnTo>
                    <a:pt x="172601" y="50718"/>
                  </a:lnTo>
                  <a:lnTo>
                    <a:pt x="170632" y="43896"/>
                  </a:lnTo>
                  <a:lnTo>
                    <a:pt x="167009" y="37607"/>
                  </a:lnTo>
                  <a:lnTo>
                    <a:pt x="161951" y="32062"/>
                  </a:lnTo>
                  <a:lnTo>
                    <a:pt x="155862" y="27377"/>
                  </a:lnTo>
                  <a:lnTo>
                    <a:pt x="149198" y="23467"/>
                  </a:lnTo>
                  <a:lnTo>
                    <a:pt x="142285" y="20265"/>
                  </a:lnTo>
                  <a:lnTo>
                    <a:pt x="135500" y="17426"/>
                  </a:lnTo>
                  <a:lnTo>
                    <a:pt x="128957" y="14799"/>
                  </a:lnTo>
                  <a:lnTo>
                    <a:pt x="122662" y="12209"/>
                  </a:lnTo>
                  <a:lnTo>
                    <a:pt x="116495" y="9539"/>
                  </a:lnTo>
                  <a:lnTo>
                    <a:pt x="110285" y="6864"/>
                  </a:lnTo>
                  <a:lnTo>
                    <a:pt x="103906" y="4358"/>
                  </a:lnTo>
                  <a:lnTo>
                    <a:pt x="97284" y="2221"/>
                  </a:lnTo>
                  <a:lnTo>
                    <a:pt x="90329" y="702"/>
                  </a:lnTo>
                  <a:lnTo>
                    <a:pt x="83174" y="0"/>
                  </a:lnTo>
                  <a:lnTo>
                    <a:pt x="75977" y="206"/>
                  </a:lnTo>
                  <a:lnTo>
                    <a:pt x="68901" y="1277"/>
                  </a:lnTo>
                  <a:lnTo>
                    <a:pt x="62031" y="3123"/>
                  </a:lnTo>
                  <a:lnTo>
                    <a:pt x="55488" y="5508"/>
                  </a:lnTo>
                  <a:lnTo>
                    <a:pt x="49157" y="8304"/>
                  </a:lnTo>
                  <a:lnTo>
                    <a:pt x="43026" y="11222"/>
                  </a:lnTo>
                  <a:lnTo>
                    <a:pt x="36980" y="14267"/>
                  </a:lnTo>
                  <a:lnTo>
                    <a:pt x="30849" y="17469"/>
                  </a:lnTo>
                  <a:lnTo>
                    <a:pt x="24760" y="20840"/>
                  </a:lnTo>
                  <a:lnTo>
                    <a:pt x="18757" y="24660"/>
                  </a:lnTo>
                  <a:lnTo>
                    <a:pt x="13122" y="28975"/>
                  </a:lnTo>
                  <a:lnTo>
                    <a:pt x="8142" y="33951"/>
                  </a:lnTo>
                  <a:lnTo>
                    <a:pt x="4114" y="39538"/>
                  </a:lnTo>
                  <a:lnTo>
                    <a:pt x="1357" y="45706"/>
                  </a:lnTo>
                  <a:lnTo>
                    <a:pt x="0" y="52200"/>
                  </a:lnTo>
                  <a:lnTo>
                    <a:pt x="0" y="58816"/>
                  </a:lnTo>
                  <a:lnTo>
                    <a:pt x="1151" y="65311"/>
                  </a:lnTo>
                  <a:lnTo>
                    <a:pt x="3126" y="71515"/>
                  </a:lnTo>
                  <a:lnTo>
                    <a:pt x="5549" y="77393"/>
                  </a:lnTo>
                  <a:lnTo>
                    <a:pt x="7979" y="83022"/>
                  </a:lnTo>
                  <a:lnTo>
                    <a:pt x="10160" y="88488"/>
                  </a:lnTo>
                  <a:lnTo>
                    <a:pt x="11929" y="93996"/>
                  </a:lnTo>
                  <a:lnTo>
                    <a:pt x="13365" y="99753"/>
                  </a:lnTo>
                  <a:lnTo>
                    <a:pt x="14722" y="105793"/>
                  </a:lnTo>
                  <a:lnTo>
                    <a:pt x="16327" y="112125"/>
                  </a:lnTo>
                  <a:lnTo>
                    <a:pt x="18508" y="118577"/>
                  </a:lnTo>
                  <a:lnTo>
                    <a:pt x="21634" y="124902"/>
                  </a:lnTo>
                  <a:lnTo>
                    <a:pt x="25875" y="130738"/>
                  </a:lnTo>
                  <a:lnTo>
                    <a:pt x="31218" y="135834"/>
                  </a:lnTo>
                  <a:lnTo>
                    <a:pt x="37634" y="139866"/>
                  </a:lnTo>
                  <a:lnTo>
                    <a:pt x="44880" y="142783"/>
                  </a:lnTo>
                  <a:lnTo>
                    <a:pt x="52525" y="144508"/>
                  </a:lnTo>
                  <a:lnTo>
                    <a:pt x="60383" y="145247"/>
                  </a:lnTo>
                  <a:lnTo>
                    <a:pt x="68198" y="145168"/>
                  </a:lnTo>
                  <a:lnTo>
                    <a:pt x="75814" y="144593"/>
                  </a:lnTo>
                  <a:lnTo>
                    <a:pt x="83174" y="143685"/>
                  </a:lnTo>
                  <a:lnTo>
                    <a:pt x="90329" y="142577"/>
                  </a:lnTo>
                  <a:lnTo>
                    <a:pt x="97369" y="141342"/>
                  </a:lnTo>
                  <a:lnTo>
                    <a:pt x="104276" y="139823"/>
                  </a:lnTo>
                  <a:lnTo>
                    <a:pt x="111067" y="137935"/>
                  </a:lnTo>
                  <a:lnTo>
                    <a:pt x="117604" y="135507"/>
                  </a:lnTo>
                  <a:lnTo>
                    <a:pt x="123735" y="132427"/>
                  </a:lnTo>
                  <a:lnTo>
                    <a:pt x="129327" y="128643"/>
                  </a:lnTo>
                  <a:lnTo>
                    <a:pt x="134222" y="124285"/>
                  </a:lnTo>
                  <a:lnTo>
                    <a:pt x="138420" y="119394"/>
                  </a:lnTo>
                  <a:lnTo>
                    <a:pt x="141958" y="114261"/>
                  </a:lnTo>
                  <a:lnTo>
                    <a:pt x="144999" y="109080"/>
                  </a:lnTo>
                  <a:lnTo>
                    <a:pt x="147883" y="103905"/>
                  </a:lnTo>
                  <a:lnTo>
                    <a:pt x="150846" y="98887"/>
                  </a:lnTo>
                  <a:lnTo>
                    <a:pt x="154051" y="93875"/>
                  </a:lnTo>
                  <a:lnTo>
                    <a:pt x="157631" y="88821"/>
                  </a:lnTo>
                  <a:lnTo>
                    <a:pt x="161496" y="83476"/>
                  </a:lnTo>
                  <a:lnTo>
                    <a:pt x="165361" y="77762"/>
                  </a:lnTo>
                  <a:close/>
                </a:path>
              </a:pathLst>
            </a:custGeom>
            <a:solidFill>
              <a:srgbClr val="FFFFFF"/>
            </a:solidFill>
            <a:ln w="7029" cap="flat">
              <a:solidFill>
                <a:srgbClr val="256F76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53915922-2AE0-7A82-B571-3A3D3675F508}"/>
                </a:ext>
              </a:extLst>
            </p:cNvPr>
            <p:cNvSpPr/>
            <p:nvPr/>
          </p:nvSpPr>
          <p:spPr>
            <a:xfrm>
              <a:off x="2831976" y="5218247"/>
              <a:ext cx="4512" cy="131191"/>
            </a:xfrm>
            <a:custGeom>
              <a:avLst/>
              <a:gdLst>
                <a:gd name="csX0" fmla="*/ 2256 w 4512"/>
                <a:gd name="csY0" fmla="*/ 0 h 131191"/>
                <a:gd name="csX1" fmla="*/ 2256 w 4512"/>
                <a:gd name="csY1" fmla="*/ 131192 h 1311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512" h="131191">
                  <a:moveTo>
                    <a:pt x="2256" y="0"/>
                  </a:moveTo>
                  <a:cubicBezTo>
                    <a:pt x="10071" y="43732"/>
                    <a:pt x="-5559" y="90583"/>
                    <a:pt x="2256" y="131192"/>
                  </a:cubicBezTo>
                </a:path>
              </a:pathLst>
            </a:custGeom>
            <a:noFill/>
            <a:ln w="5963" cap="rnd">
              <a:solidFill>
                <a:srgbClr val="3FA0A8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CA1050F9-4478-4E6E-03B9-B798F56D2D96}"/>
                </a:ext>
              </a:extLst>
            </p:cNvPr>
            <p:cNvSpPr/>
            <p:nvPr/>
          </p:nvSpPr>
          <p:spPr>
            <a:xfrm>
              <a:off x="2773268" y="5254172"/>
              <a:ext cx="46897" cy="14060"/>
            </a:xfrm>
            <a:custGeom>
              <a:avLst/>
              <a:gdLst>
                <a:gd name="csX0" fmla="*/ 0 w 46897"/>
                <a:gd name="csY0" fmla="*/ 6247 h 14060"/>
                <a:gd name="csX1" fmla="*/ 23452 w 46897"/>
                <a:gd name="csY1" fmla="*/ 6247 h 14060"/>
                <a:gd name="csX2" fmla="*/ 46897 w 46897"/>
                <a:gd name="csY2" fmla="*/ 11258 h 140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6897" h="14060">
                  <a:moveTo>
                    <a:pt x="0" y="6247"/>
                  </a:moveTo>
                  <a:cubicBezTo>
                    <a:pt x="15634" y="-2082"/>
                    <a:pt x="23452" y="-2082"/>
                    <a:pt x="23452" y="6247"/>
                  </a:cubicBezTo>
                  <a:cubicBezTo>
                    <a:pt x="23452" y="14576"/>
                    <a:pt x="31267" y="16246"/>
                    <a:pt x="46897" y="11258"/>
                  </a:cubicBezTo>
                </a:path>
              </a:pathLst>
            </a:custGeom>
            <a:noFill/>
            <a:ln w="5261" cap="rnd">
              <a:solidFill>
                <a:srgbClr val="3FA0A8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3D0D27B5-4BAB-C892-EF65-30B3422E03C7}"/>
                </a:ext>
              </a:extLst>
            </p:cNvPr>
            <p:cNvSpPr/>
            <p:nvPr/>
          </p:nvSpPr>
          <p:spPr>
            <a:xfrm>
              <a:off x="2777957" y="5297117"/>
              <a:ext cx="40645" cy="12292"/>
            </a:xfrm>
            <a:custGeom>
              <a:avLst/>
              <a:gdLst>
                <a:gd name="csX0" fmla="*/ 0 w 40645"/>
                <a:gd name="csY0" fmla="*/ 5466 h 12292"/>
                <a:gd name="csX1" fmla="*/ 20326 w 40645"/>
                <a:gd name="csY1" fmla="*/ 5466 h 12292"/>
                <a:gd name="csX2" fmla="*/ 40645 w 40645"/>
                <a:gd name="csY2" fmla="*/ 9824 h 122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0645" h="12292">
                  <a:moveTo>
                    <a:pt x="0" y="5466"/>
                  </a:moveTo>
                  <a:cubicBezTo>
                    <a:pt x="13550" y="-1822"/>
                    <a:pt x="20326" y="-1822"/>
                    <a:pt x="20326" y="5466"/>
                  </a:cubicBezTo>
                  <a:cubicBezTo>
                    <a:pt x="20326" y="12754"/>
                    <a:pt x="27099" y="14206"/>
                    <a:pt x="40645" y="9824"/>
                  </a:cubicBezTo>
                </a:path>
              </a:pathLst>
            </a:custGeom>
            <a:noFill/>
            <a:ln w="5261" cap="rnd">
              <a:solidFill>
                <a:srgbClr val="3FA0A8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D23F447A-6998-2AC3-4B59-A95174359AD1}"/>
                </a:ext>
              </a:extLst>
            </p:cNvPr>
            <p:cNvSpPr/>
            <p:nvPr/>
          </p:nvSpPr>
          <p:spPr>
            <a:xfrm>
              <a:off x="2848300" y="5255733"/>
              <a:ext cx="46897" cy="14060"/>
            </a:xfrm>
            <a:custGeom>
              <a:avLst/>
              <a:gdLst>
                <a:gd name="csX0" fmla="*/ 0 w 46897"/>
                <a:gd name="csY0" fmla="*/ 6247 h 14060"/>
                <a:gd name="csX1" fmla="*/ 23446 w 46897"/>
                <a:gd name="csY1" fmla="*/ 6247 h 14060"/>
                <a:gd name="csX2" fmla="*/ 46897 w 46897"/>
                <a:gd name="csY2" fmla="*/ 11258 h 140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6897" h="14060">
                  <a:moveTo>
                    <a:pt x="0" y="6247"/>
                  </a:moveTo>
                  <a:cubicBezTo>
                    <a:pt x="15630" y="-2082"/>
                    <a:pt x="23446" y="-2082"/>
                    <a:pt x="23446" y="6247"/>
                  </a:cubicBezTo>
                  <a:cubicBezTo>
                    <a:pt x="23446" y="14576"/>
                    <a:pt x="31263" y="16246"/>
                    <a:pt x="46897" y="11258"/>
                  </a:cubicBezTo>
                </a:path>
              </a:pathLst>
            </a:custGeom>
            <a:noFill/>
            <a:ln w="5261" cap="rnd">
              <a:solidFill>
                <a:srgbClr val="3FA0A8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CA2E7612-2A74-0429-9C0A-46959FC13B5A}"/>
                </a:ext>
              </a:extLst>
            </p:cNvPr>
            <p:cNvSpPr/>
            <p:nvPr/>
          </p:nvSpPr>
          <p:spPr>
            <a:xfrm>
              <a:off x="2849863" y="5298679"/>
              <a:ext cx="40645" cy="12292"/>
            </a:xfrm>
            <a:custGeom>
              <a:avLst/>
              <a:gdLst>
                <a:gd name="csX0" fmla="*/ 0 w 40645"/>
                <a:gd name="csY0" fmla="*/ 5466 h 12292"/>
                <a:gd name="csX1" fmla="*/ 20320 w 40645"/>
                <a:gd name="csY1" fmla="*/ 5466 h 12292"/>
                <a:gd name="csX2" fmla="*/ 40645 w 40645"/>
                <a:gd name="csY2" fmla="*/ 9824 h 122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0645" h="12292">
                  <a:moveTo>
                    <a:pt x="0" y="5466"/>
                  </a:moveTo>
                  <a:cubicBezTo>
                    <a:pt x="13546" y="-1822"/>
                    <a:pt x="20320" y="-1822"/>
                    <a:pt x="20320" y="5466"/>
                  </a:cubicBezTo>
                  <a:cubicBezTo>
                    <a:pt x="20320" y="12754"/>
                    <a:pt x="27095" y="14206"/>
                    <a:pt x="40645" y="9824"/>
                  </a:cubicBezTo>
                </a:path>
              </a:pathLst>
            </a:custGeom>
            <a:noFill/>
            <a:ln w="5261" cap="rnd">
              <a:solidFill>
                <a:srgbClr val="3FA0A8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5BFA9F1F-39F6-8739-56B7-DE1DCEE5DCCF}"/>
              </a:ext>
            </a:extLst>
          </p:cNvPr>
          <p:cNvSpPr txBox="1"/>
          <p:nvPr/>
        </p:nvSpPr>
        <p:spPr>
          <a:xfrm>
            <a:off x="2849746" y="5168214"/>
            <a:ext cx="555925" cy="169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66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Physiology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9B71873D-3945-52BB-E48C-3E72E7C36F15}"/>
              </a:ext>
            </a:extLst>
          </p:cNvPr>
          <p:cNvSpPr txBox="1"/>
          <p:nvPr/>
        </p:nvSpPr>
        <p:spPr>
          <a:xfrm>
            <a:off x="2849746" y="5269017"/>
            <a:ext cx="451797" cy="1465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1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3 signatures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AC27351-80EB-A683-6667-B098F35D584D}"/>
              </a:ext>
            </a:extLst>
          </p:cNvPr>
          <p:cNvSpPr txBox="1"/>
          <p:nvPr/>
        </p:nvSpPr>
        <p:spPr>
          <a:xfrm>
            <a:off x="2652293" y="5497311"/>
            <a:ext cx="861388" cy="148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37" b="1" spc="27" baseline="0">
                <a:ln/>
                <a:solidFill>
                  <a:srgbClr val="256F76"/>
                </a:solidFill>
                <a:latin typeface="Arial"/>
                <a:cs typeface="Arial"/>
                <a:sym typeface="Arial"/>
                <a:rtl val="0"/>
              </a:rPr>
              <a:t>AUTONOMIC RESPONSES</a:t>
            </a:r>
          </a:p>
        </p:txBody>
      </p:sp>
      <p:sp>
        <p:nvSpPr>
          <p:cNvPr id="129" name="Freeform 128">
            <a:extLst>
              <a:ext uri="{FF2B5EF4-FFF2-40B4-BE49-F238E27FC236}">
                <a16:creationId xmlns:a16="http://schemas.microsoft.com/office/drawing/2014/main" id="{0305953A-F2C9-33F3-0735-71394452EC48}"/>
              </a:ext>
            </a:extLst>
          </p:cNvPr>
          <p:cNvSpPr/>
          <p:nvPr/>
        </p:nvSpPr>
        <p:spPr>
          <a:xfrm>
            <a:off x="3463611" y="5568992"/>
            <a:ext cx="1386279" cy="6052"/>
          </a:xfrm>
          <a:custGeom>
            <a:avLst/>
            <a:gdLst>
              <a:gd name="csX0" fmla="*/ 0 w 1386279"/>
              <a:gd name="csY0" fmla="*/ 0 h 6052"/>
              <a:gd name="csX1" fmla="*/ 1386279 w 1386279"/>
              <a:gd name="csY1" fmla="*/ 0 h 605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386279" h="6052">
                <a:moveTo>
                  <a:pt x="0" y="0"/>
                </a:moveTo>
                <a:lnTo>
                  <a:pt x="1386279" y="0"/>
                </a:lnTo>
              </a:path>
            </a:pathLst>
          </a:custGeom>
          <a:ln w="6163" cap="flat">
            <a:solidFill>
              <a:srgbClr val="3FA0A8">
                <a:alpha val="35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DBD14D00-ED8D-650B-9A85-C6049F0E9A1E}"/>
              </a:ext>
            </a:extLst>
          </p:cNvPr>
          <p:cNvSpPr/>
          <p:nvPr/>
        </p:nvSpPr>
        <p:spPr>
          <a:xfrm>
            <a:off x="2735506" y="5638861"/>
            <a:ext cx="2114384" cy="254817"/>
          </a:xfrm>
          <a:prstGeom prst="roundRect">
            <a:avLst>
              <a:gd name="adj" fmla="val 19371"/>
            </a:avLst>
          </a:prstGeom>
          <a:solidFill>
            <a:srgbClr val="FFFFFF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1" name="Rounded Rectangle 130">
            <a:extLst>
              <a:ext uri="{FF2B5EF4-FFF2-40B4-BE49-F238E27FC236}">
                <a16:creationId xmlns:a16="http://schemas.microsoft.com/office/drawing/2014/main" id="{9C9C2D5D-EBF5-EEC9-472A-6B80875C3B03}"/>
              </a:ext>
            </a:extLst>
          </p:cNvPr>
          <p:cNvSpPr/>
          <p:nvPr/>
        </p:nvSpPr>
        <p:spPr>
          <a:xfrm>
            <a:off x="2735506" y="5638861"/>
            <a:ext cx="20567" cy="254817"/>
          </a:xfrm>
          <a:prstGeom prst="roundRect">
            <a:avLst>
              <a:gd name="adj" fmla="val 50000"/>
            </a:avLst>
          </a:prstGeom>
          <a:solidFill>
            <a:srgbClr val="3FA0A8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8FE282FD-4C2F-25DD-9F03-60292C421BAC}"/>
              </a:ext>
            </a:extLst>
          </p:cNvPr>
          <p:cNvSpPr/>
          <p:nvPr/>
        </p:nvSpPr>
        <p:spPr>
          <a:xfrm>
            <a:off x="2797210" y="5647081"/>
            <a:ext cx="238588" cy="238377"/>
          </a:xfrm>
          <a:prstGeom prst="ellipse">
            <a:avLst/>
          </a:prstGeom>
          <a:solidFill>
            <a:srgbClr val="E2F1F2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133" name="Picture 132">
            <a:extLst>
              <a:ext uri="{FF2B5EF4-FFF2-40B4-BE49-F238E27FC236}">
                <a16:creationId xmlns:a16="http://schemas.microsoft.com/office/drawing/2014/main" id="{596CAFB3-7FF8-49E1-AEE6-971E280B84F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09551" y="5659411"/>
            <a:ext cx="213906" cy="213717"/>
          </a:xfrm>
          <a:custGeom>
            <a:avLst/>
            <a:gdLst>
              <a:gd name="csX0" fmla="*/ 65 w 213906"/>
              <a:gd name="csY0" fmla="*/ 953 h 213717"/>
              <a:gd name="csX1" fmla="*/ 213972 w 213906"/>
              <a:gd name="csY1" fmla="*/ 953 h 213717"/>
              <a:gd name="csX2" fmla="*/ 213972 w 213906"/>
              <a:gd name="csY2" fmla="*/ 214670 h 213717"/>
              <a:gd name="csX3" fmla="*/ 65 w 213906"/>
              <a:gd name="csY3" fmla="*/ 214670 h 2137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3906" h="213717">
                <a:moveTo>
                  <a:pt x="65" y="953"/>
                </a:moveTo>
                <a:lnTo>
                  <a:pt x="213972" y="953"/>
                </a:lnTo>
                <a:lnTo>
                  <a:pt x="213972" y="214670"/>
                </a:lnTo>
                <a:lnTo>
                  <a:pt x="65" y="214670"/>
                </a:lnTo>
                <a:close/>
              </a:path>
            </a:pathLst>
          </a:custGeom>
        </p:spPr>
      </p:pic>
      <p:sp>
        <p:nvSpPr>
          <p:cNvPr id="134" name="Oval 133">
            <a:extLst>
              <a:ext uri="{FF2B5EF4-FFF2-40B4-BE49-F238E27FC236}">
                <a16:creationId xmlns:a16="http://schemas.microsoft.com/office/drawing/2014/main" id="{93AB6700-BA56-2551-FD05-153D90BDE350}"/>
              </a:ext>
            </a:extLst>
          </p:cNvPr>
          <p:cNvSpPr/>
          <p:nvPr/>
        </p:nvSpPr>
        <p:spPr>
          <a:xfrm>
            <a:off x="2797210" y="5647081"/>
            <a:ext cx="238588" cy="238377"/>
          </a:xfrm>
          <a:prstGeom prst="ellipse">
            <a:avLst/>
          </a:prstGeom>
          <a:noFill/>
          <a:ln w="8221" cap="flat">
            <a:solidFill>
              <a:srgbClr val="3FA0A8">
                <a:alpha val="8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6104EE0E-A01C-33B7-CE56-2380E7E94648}"/>
              </a:ext>
            </a:extLst>
          </p:cNvPr>
          <p:cNvSpPr txBox="1"/>
          <p:nvPr/>
        </p:nvSpPr>
        <p:spPr>
          <a:xfrm>
            <a:off x="2967723" y="5605215"/>
            <a:ext cx="1176438" cy="187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69" b="1" spc="0" baseline="0" dirty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Skin conductance (SCL)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62811FE-6300-BA93-32F9-391100C0ACAC}"/>
              </a:ext>
            </a:extLst>
          </p:cNvPr>
          <p:cNvSpPr txBox="1"/>
          <p:nvPr/>
        </p:nvSpPr>
        <p:spPr>
          <a:xfrm>
            <a:off x="2967723" y="5746836"/>
            <a:ext cx="669972" cy="160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64" i="1" spc="0" baseline="0" dirty="0">
                <a:ln/>
                <a:solidFill>
                  <a:srgbClr val="7C8598"/>
                </a:solidFill>
                <a:latin typeface="Arial"/>
                <a:cs typeface="Arial"/>
                <a:sym typeface="Arial"/>
                <a:rtl val="0"/>
              </a:rPr>
              <a:t>Eisenbarth · 2016</a:t>
            </a:r>
          </a:p>
        </p:txBody>
      </p:sp>
      <p:sp>
        <p:nvSpPr>
          <p:cNvPr id="137" name="Rounded Rectangle 136">
            <a:extLst>
              <a:ext uri="{FF2B5EF4-FFF2-40B4-BE49-F238E27FC236}">
                <a16:creationId xmlns:a16="http://schemas.microsoft.com/office/drawing/2014/main" id="{43C71346-A6A2-870B-4E86-FF07853D4751}"/>
              </a:ext>
            </a:extLst>
          </p:cNvPr>
          <p:cNvSpPr/>
          <p:nvPr/>
        </p:nvSpPr>
        <p:spPr>
          <a:xfrm>
            <a:off x="2735506" y="5930668"/>
            <a:ext cx="2114384" cy="254817"/>
          </a:xfrm>
          <a:prstGeom prst="roundRect">
            <a:avLst>
              <a:gd name="adj" fmla="val 19371"/>
            </a:avLst>
          </a:prstGeom>
          <a:solidFill>
            <a:srgbClr val="FFFFFF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8" name="Rounded Rectangle 137">
            <a:extLst>
              <a:ext uri="{FF2B5EF4-FFF2-40B4-BE49-F238E27FC236}">
                <a16:creationId xmlns:a16="http://schemas.microsoft.com/office/drawing/2014/main" id="{4549463C-A3DA-6287-8C34-2D54C8DE5999}"/>
              </a:ext>
            </a:extLst>
          </p:cNvPr>
          <p:cNvSpPr/>
          <p:nvPr/>
        </p:nvSpPr>
        <p:spPr>
          <a:xfrm>
            <a:off x="2735506" y="5930668"/>
            <a:ext cx="20567" cy="254817"/>
          </a:xfrm>
          <a:prstGeom prst="roundRect">
            <a:avLst>
              <a:gd name="adj" fmla="val 50000"/>
            </a:avLst>
          </a:prstGeom>
          <a:solidFill>
            <a:srgbClr val="3FA0A8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94F76463-9511-40F4-BF82-EB9E7BC905D9}"/>
              </a:ext>
            </a:extLst>
          </p:cNvPr>
          <p:cNvSpPr/>
          <p:nvPr/>
        </p:nvSpPr>
        <p:spPr>
          <a:xfrm>
            <a:off x="2797210" y="5938888"/>
            <a:ext cx="238588" cy="238377"/>
          </a:xfrm>
          <a:prstGeom prst="ellipse">
            <a:avLst/>
          </a:prstGeom>
          <a:solidFill>
            <a:srgbClr val="E2F1F2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140" name="Picture 139">
            <a:extLst>
              <a:ext uri="{FF2B5EF4-FFF2-40B4-BE49-F238E27FC236}">
                <a16:creationId xmlns:a16="http://schemas.microsoft.com/office/drawing/2014/main" id="{E1D439F2-BBDA-8E59-FAE4-C3D9078092D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09551" y="5951218"/>
            <a:ext cx="213906" cy="213717"/>
          </a:xfrm>
          <a:custGeom>
            <a:avLst/>
            <a:gdLst>
              <a:gd name="csX0" fmla="*/ 65 w 213906"/>
              <a:gd name="csY0" fmla="*/ 1001 h 213717"/>
              <a:gd name="csX1" fmla="*/ 213972 w 213906"/>
              <a:gd name="csY1" fmla="*/ 1001 h 213717"/>
              <a:gd name="csX2" fmla="*/ 213972 w 213906"/>
              <a:gd name="csY2" fmla="*/ 214719 h 213717"/>
              <a:gd name="csX3" fmla="*/ 65 w 213906"/>
              <a:gd name="csY3" fmla="*/ 214719 h 2137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3906" h="213717">
                <a:moveTo>
                  <a:pt x="65" y="1001"/>
                </a:moveTo>
                <a:lnTo>
                  <a:pt x="213972" y="1001"/>
                </a:lnTo>
                <a:lnTo>
                  <a:pt x="213972" y="214719"/>
                </a:lnTo>
                <a:lnTo>
                  <a:pt x="65" y="214719"/>
                </a:lnTo>
                <a:close/>
              </a:path>
            </a:pathLst>
          </a:custGeom>
        </p:spPr>
      </p:pic>
      <p:sp>
        <p:nvSpPr>
          <p:cNvPr id="141" name="Oval 140">
            <a:extLst>
              <a:ext uri="{FF2B5EF4-FFF2-40B4-BE49-F238E27FC236}">
                <a16:creationId xmlns:a16="http://schemas.microsoft.com/office/drawing/2014/main" id="{40FC4BE7-6A84-96CF-0B9B-506F3F1718C9}"/>
              </a:ext>
            </a:extLst>
          </p:cNvPr>
          <p:cNvSpPr/>
          <p:nvPr/>
        </p:nvSpPr>
        <p:spPr>
          <a:xfrm>
            <a:off x="2797210" y="5938888"/>
            <a:ext cx="238588" cy="238377"/>
          </a:xfrm>
          <a:prstGeom prst="ellipse">
            <a:avLst/>
          </a:prstGeom>
          <a:noFill/>
          <a:ln w="8221" cap="flat">
            <a:solidFill>
              <a:srgbClr val="3FA0A8">
                <a:alpha val="8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377C006D-D58F-9C05-E12B-B380C8569732}"/>
              </a:ext>
            </a:extLst>
          </p:cNvPr>
          <p:cNvSpPr txBox="1"/>
          <p:nvPr/>
        </p:nvSpPr>
        <p:spPr>
          <a:xfrm>
            <a:off x="2967723" y="5897021"/>
            <a:ext cx="586208" cy="187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69" b="1" spc="0" baseline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Heart rate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1808EF4C-9264-5CB7-8B9A-3EE56A992F78}"/>
              </a:ext>
            </a:extLst>
          </p:cNvPr>
          <p:cNvSpPr txBox="1"/>
          <p:nvPr/>
        </p:nvSpPr>
        <p:spPr>
          <a:xfrm>
            <a:off x="2967723" y="6038642"/>
            <a:ext cx="669972" cy="160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64" i="1" spc="0" baseline="0">
                <a:ln/>
                <a:solidFill>
                  <a:srgbClr val="7C8598"/>
                </a:solidFill>
                <a:latin typeface="Arial"/>
                <a:cs typeface="Arial"/>
                <a:sym typeface="Arial"/>
                <a:rtl val="0"/>
              </a:rPr>
              <a:t>Eisenbarth · 2016</a:t>
            </a:r>
          </a:p>
        </p:txBody>
      </p:sp>
      <p:sp>
        <p:nvSpPr>
          <p:cNvPr id="144" name="Rounded Rectangle 143">
            <a:extLst>
              <a:ext uri="{FF2B5EF4-FFF2-40B4-BE49-F238E27FC236}">
                <a16:creationId xmlns:a16="http://schemas.microsoft.com/office/drawing/2014/main" id="{F5106D35-1E68-9358-4147-63A53D38F7DA}"/>
              </a:ext>
            </a:extLst>
          </p:cNvPr>
          <p:cNvSpPr/>
          <p:nvPr/>
        </p:nvSpPr>
        <p:spPr>
          <a:xfrm>
            <a:off x="2735506" y="6222475"/>
            <a:ext cx="2114384" cy="254817"/>
          </a:xfrm>
          <a:prstGeom prst="roundRect">
            <a:avLst>
              <a:gd name="adj" fmla="val 19371"/>
            </a:avLst>
          </a:prstGeom>
          <a:solidFill>
            <a:srgbClr val="FFFFFF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5" name="Rounded Rectangle 144">
            <a:extLst>
              <a:ext uri="{FF2B5EF4-FFF2-40B4-BE49-F238E27FC236}">
                <a16:creationId xmlns:a16="http://schemas.microsoft.com/office/drawing/2014/main" id="{84A2E936-03A5-47B8-E057-2E2E957035C4}"/>
              </a:ext>
            </a:extLst>
          </p:cNvPr>
          <p:cNvSpPr/>
          <p:nvPr/>
        </p:nvSpPr>
        <p:spPr>
          <a:xfrm>
            <a:off x="2735506" y="6222475"/>
            <a:ext cx="20567" cy="254817"/>
          </a:xfrm>
          <a:prstGeom prst="roundRect">
            <a:avLst>
              <a:gd name="adj" fmla="val 50000"/>
            </a:avLst>
          </a:prstGeom>
          <a:solidFill>
            <a:srgbClr val="3FA0A8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205886AA-0133-56CB-8825-63A49CE832EA}"/>
              </a:ext>
            </a:extLst>
          </p:cNvPr>
          <p:cNvSpPr/>
          <p:nvPr/>
        </p:nvSpPr>
        <p:spPr>
          <a:xfrm>
            <a:off x="2797210" y="6230695"/>
            <a:ext cx="238588" cy="238377"/>
          </a:xfrm>
          <a:prstGeom prst="ellipse">
            <a:avLst/>
          </a:prstGeom>
          <a:solidFill>
            <a:srgbClr val="E2F1F2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47" name="Graphic 2">
            <a:extLst>
              <a:ext uri="{FF2B5EF4-FFF2-40B4-BE49-F238E27FC236}">
                <a16:creationId xmlns:a16="http://schemas.microsoft.com/office/drawing/2014/main" id="{EF2B9BF6-9852-2BC6-8C0F-9955466EEACB}"/>
              </a:ext>
            </a:extLst>
          </p:cNvPr>
          <p:cNvGrpSpPr/>
          <p:nvPr/>
        </p:nvGrpSpPr>
        <p:grpSpPr>
          <a:xfrm>
            <a:off x="2825430" y="6271589"/>
            <a:ext cx="189225" cy="159017"/>
            <a:chOff x="2825430" y="6271589"/>
            <a:chExt cx="189225" cy="159017"/>
          </a:xfrm>
        </p:grpSpPr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7C77D415-6FAC-7281-5DCA-C4B99F02039B}"/>
                </a:ext>
              </a:extLst>
            </p:cNvPr>
            <p:cNvSpPr/>
            <p:nvPr/>
          </p:nvSpPr>
          <p:spPr>
            <a:xfrm>
              <a:off x="2825430" y="6271589"/>
              <a:ext cx="189225" cy="159017"/>
            </a:xfrm>
            <a:custGeom>
              <a:avLst/>
              <a:gdLst>
                <a:gd name="csX0" fmla="*/ 184821 w 189225"/>
                <a:gd name="csY0" fmla="*/ 78295 h 159017"/>
                <a:gd name="csX1" fmla="*/ 187747 w 189225"/>
                <a:gd name="csY1" fmla="*/ 70977 h 159017"/>
                <a:gd name="csX2" fmla="*/ 189225 w 189225"/>
                <a:gd name="csY2" fmla="*/ 63296 h 159017"/>
                <a:gd name="csX3" fmla="*/ 188977 w 189225"/>
                <a:gd name="csY3" fmla="*/ 55566 h 159017"/>
                <a:gd name="csX4" fmla="*/ 186838 w 189225"/>
                <a:gd name="csY4" fmla="*/ 48085 h 159017"/>
                <a:gd name="csX5" fmla="*/ 182846 w 189225"/>
                <a:gd name="csY5" fmla="*/ 41184 h 159017"/>
                <a:gd name="csX6" fmla="*/ 177339 w 189225"/>
                <a:gd name="csY6" fmla="*/ 35101 h 159017"/>
                <a:gd name="csX7" fmla="*/ 170675 w 189225"/>
                <a:gd name="csY7" fmla="*/ 29962 h 159017"/>
                <a:gd name="csX8" fmla="*/ 163350 w 189225"/>
                <a:gd name="csY8" fmla="*/ 25731 h 159017"/>
                <a:gd name="csX9" fmla="*/ 155783 w 189225"/>
                <a:gd name="csY9" fmla="*/ 22154 h 159017"/>
                <a:gd name="csX10" fmla="*/ 148374 w 189225"/>
                <a:gd name="csY10" fmla="*/ 19073 h 159017"/>
                <a:gd name="csX11" fmla="*/ 141177 w 189225"/>
                <a:gd name="csY11" fmla="*/ 16234 h 159017"/>
                <a:gd name="csX12" fmla="*/ 134307 w 189225"/>
                <a:gd name="csY12" fmla="*/ 13359 h 159017"/>
                <a:gd name="csX13" fmla="*/ 127564 w 189225"/>
                <a:gd name="csY13" fmla="*/ 10477 h 159017"/>
                <a:gd name="csX14" fmla="*/ 120772 w 189225"/>
                <a:gd name="csY14" fmla="*/ 7524 h 159017"/>
                <a:gd name="csX15" fmla="*/ 113781 w 189225"/>
                <a:gd name="csY15" fmla="*/ 4770 h 159017"/>
                <a:gd name="csX16" fmla="*/ 106499 w 189225"/>
                <a:gd name="csY16" fmla="*/ 2427 h 159017"/>
                <a:gd name="csX17" fmla="*/ 98890 w 189225"/>
                <a:gd name="csY17" fmla="*/ 781 h 159017"/>
                <a:gd name="csX18" fmla="*/ 91074 w 189225"/>
                <a:gd name="csY18" fmla="*/ 0 h 159017"/>
                <a:gd name="csX19" fmla="*/ 83217 w 189225"/>
                <a:gd name="csY19" fmla="*/ 206 h 159017"/>
                <a:gd name="csX20" fmla="*/ 75444 w 189225"/>
                <a:gd name="csY20" fmla="*/ 1398 h 159017"/>
                <a:gd name="csX21" fmla="*/ 67956 w 189225"/>
                <a:gd name="csY21" fmla="*/ 3414 h 159017"/>
                <a:gd name="csX22" fmla="*/ 60759 w 189225"/>
                <a:gd name="csY22" fmla="*/ 6041 h 159017"/>
                <a:gd name="csX23" fmla="*/ 53846 w 189225"/>
                <a:gd name="csY23" fmla="*/ 9085 h 159017"/>
                <a:gd name="csX24" fmla="*/ 47140 w 189225"/>
                <a:gd name="csY24" fmla="*/ 12288 h 159017"/>
                <a:gd name="csX25" fmla="*/ 40476 w 189225"/>
                <a:gd name="csY25" fmla="*/ 15659 h 159017"/>
                <a:gd name="csX26" fmla="*/ 33811 w 189225"/>
                <a:gd name="csY26" fmla="*/ 19109 h 159017"/>
                <a:gd name="csX27" fmla="*/ 27111 w 189225"/>
                <a:gd name="csY27" fmla="*/ 22850 h 159017"/>
                <a:gd name="csX28" fmla="*/ 20568 w 189225"/>
                <a:gd name="csY28" fmla="*/ 27003 h 159017"/>
                <a:gd name="csX29" fmla="*/ 14395 w 189225"/>
                <a:gd name="csY29" fmla="*/ 31730 h 159017"/>
                <a:gd name="csX30" fmla="*/ 8924 w 189225"/>
                <a:gd name="csY30" fmla="*/ 37153 h 159017"/>
                <a:gd name="csX31" fmla="*/ 4526 w 189225"/>
                <a:gd name="csY31" fmla="*/ 43279 h 159017"/>
                <a:gd name="csX32" fmla="*/ 1521 w 189225"/>
                <a:gd name="csY32" fmla="*/ 50016 h 159017"/>
                <a:gd name="csX33" fmla="*/ 0 w 189225"/>
                <a:gd name="csY33" fmla="*/ 57128 h 159017"/>
                <a:gd name="csX34" fmla="*/ 0 w 189225"/>
                <a:gd name="csY34" fmla="*/ 64361 h 159017"/>
                <a:gd name="csX35" fmla="*/ 1272 w 189225"/>
                <a:gd name="csY35" fmla="*/ 71473 h 159017"/>
                <a:gd name="csX36" fmla="*/ 3453 w 189225"/>
                <a:gd name="csY36" fmla="*/ 78295 h 159017"/>
                <a:gd name="csX37" fmla="*/ 6089 w 189225"/>
                <a:gd name="csY37" fmla="*/ 84747 h 159017"/>
                <a:gd name="csX38" fmla="*/ 8760 w 189225"/>
                <a:gd name="csY38" fmla="*/ 90873 h 159017"/>
                <a:gd name="csX39" fmla="*/ 11147 w 189225"/>
                <a:gd name="csY39" fmla="*/ 96872 h 159017"/>
                <a:gd name="csX40" fmla="*/ 13080 w 189225"/>
                <a:gd name="csY40" fmla="*/ 102912 h 159017"/>
                <a:gd name="csX41" fmla="*/ 14685 w 189225"/>
                <a:gd name="csY41" fmla="*/ 109201 h 159017"/>
                <a:gd name="csX42" fmla="*/ 16127 w 189225"/>
                <a:gd name="csY42" fmla="*/ 115817 h 159017"/>
                <a:gd name="csX43" fmla="*/ 17896 w 189225"/>
                <a:gd name="csY43" fmla="*/ 122724 h 159017"/>
                <a:gd name="csX44" fmla="*/ 20277 w 189225"/>
                <a:gd name="csY44" fmla="*/ 129794 h 159017"/>
                <a:gd name="csX45" fmla="*/ 23694 w 189225"/>
                <a:gd name="csY45" fmla="*/ 136736 h 159017"/>
                <a:gd name="csX46" fmla="*/ 28298 w 189225"/>
                <a:gd name="csY46" fmla="*/ 143153 h 159017"/>
                <a:gd name="csX47" fmla="*/ 34223 w 189225"/>
                <a:gd name="csY47" fmla="*/ 148697 h 159017"/>
                <a:gd name="csX48" fmla="*/ 41257 w 189225"/>
                <a:gd name="csY48" fmla="*/ 153140 h 159017"/>
                <a:gd name="csX49" fmla="*/ 49115 w 189225"/>
                <a:gd name="csY49" fmla="*/ 156300 h 159017"/>
                <a:gd name="csX50" fmla="*/ 57548 w 189225"/>
                <a:gd name="csY50" fmla="*/ 158194 h 159017"/>
                <a:gd name="csX51" fmla="*/ 66145 w 189225"/>
                <a:gd name="csY51" fmla="*/ 159017 h 159017"/>
                <a:gd name="csX52" fmla="*/ 74663 w 189225"/>
                <a:gd name="csY52" fmla="*/ 158932 h 159017"/>
                <a:gd name="csX53" fmla="*/ 83011 w 189225"/>
                <a:gd name="csY53" fmla="*/ 158272 h 159017"/>
                <a:gd name="csX54" fmla="*/ 91074 w 189225"/>
                <a:gd name="csY54" fmla="*/ 157286 h 159017"/>
                <a:gd name="csX55" fmla="*/ 98932 w 189225"/>
                <a:gd name="csY55" fmla="*/ 156093 h 159017"/>
                <a:gd name="csX56" fmla="*/ 106626 w 189225"/>
                <a:gd name="csY56" fmla="*/ 154738 h 159017"/>
                <a:gd name="csX57" fmla="*/ 114193 w 189225"/>
                <a:gd name="csY57" fmla="*/ 153097 h 159017"/>
                <a:gd name="csX58" fmla="*/ 121596 w 189225"/>
                <a:gd name="csY58" fmla="*/ 151003 h 159017"/>
                <a:gd name="csX59" fmla="*/ 128757 w 189225"/>
                <a:gd name="csY59" fmla="*/ 148370 h 159017"/>
                <a:gd name="csX60" fmla="*/ 135458 w 189225"/>
                <a:gd name="csY60" fmla="*/ 144998 h 159017"/>
                <a:gd name="csX61" fmla="*/ 141589 w 189225"/>
                <a:gd name="csY61" fmla="*/ 140847 h 159017"/>
                <a:gd name="csX62" fmla="*/ 146981 w 189225"/>
                <a:gd name="csY62" fmla="*/ 136040 h 159017"/>
                <a:gd name="csX63" fmla="*/ 151542 w 189225"/>
                <a:gd name="csY63" fmla="*/ 130738 h 159017"/>
                <a:gd name="csX64" fmla="*/ 155414 w 189225"/>
                <a:gd name="csY64" fmla="*/ 125108 h 159017"/>
                <a:gd name="csX65" fmla="*/ 158782 w 189225"/>
                <a:gd name="csY65" fmla="*/ 119394 h 159017"/>
                <a:gd name="csX66" fmla="*/ 161908 w 189225"/>
                <a:gd name="csY66" fmla="*/ 113766 h 159017"/>
                <a:gd name="csX67" fmla="*/ 165162 w 189225"/>
                <a:gd name="csY67" fmla="*/ 108257 h 159017"/>
                <a:gd name="csX68" fmla="*/ 168657 w 189225"/>
                <a:gd name="csY68" fmla="*/ 102792 h 159017"/>
                <a:gd name="csX69" fmla="*/ 172607 w 189225"/>
                <a:gd name="csY69" fmla="*/ 97241 h 159017"/>
                <a:gd name="csX70" fmla="*/ 176799 w 189225"/>
                <a:gd name="csY70" fmla="*/ 91405 h 159017"/>
                <a:gd name="csX71" fmla="*/ 181040 w 189225"/>
                <a:gd name="csY71" fmla="*/ 85117 h 1590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189225" h="159017">
                  <a:moveTo>
                    <a:pt x="184821" y="78295"/>
                  </a:moveTo>
                  <a:lnTo>
                    <a:pt x="187747" y="70977"/>
                  </a:lnTo>
                  <a:lnTo>
                    <a:pt x="189225" y="63296"/>
                  </a:lnTo>
                  <a:lnTo>
                    <a:pt x="188977" y="55566"/>
                  </a:lnTo>
                  <a:lnTo>
                    <a:pt x="186838" y="48085"/>
                  </a:lnTo>
                  <a:lnTo>
                    <a:pt x="182846" y="41184"/>
                  </a:lnTo>
                  <a:lnTo>
                    <a:pt x="177339" y="35101"/>
                  </a:lnTo>
                  <a:lnTo>
                    <a:pt x="170675" y="29962"/>
                  </a:lnTo>
                  <a:lnTo>
                    <a:pt x="163350" y="25731"/>
                  </a:lnTo>
                  <a:lnTo>
                    <a:pt x="155783" y="22154"/>
                  </a:lnTo>
                  <a:lnTo>
                    <a:pt x="148374" y="19073"/>
                  </a:lnTo>
                  <a:lnTo>
                    <a:pt x="141177" y="16234"/>
                  </a:lnTo>
                  <a:lnTo>
                    <a:pt x="134307" y="13359"/>
                  </a:lnTo>
                  <a:lnTo>
                    <a:pt x="127564" y="10477"/>
                  </a:lnTo>
                  <a:lnTo>
                    <a:pt x="120772" y="7524"/>
                  </a:lnTo>
                  <a:lnTo>
                    <a:pt x="113781" y="4770"/>
                  </a:lnTo>
                  <a:lnTo>
                    <a:pt x="106499" y="2427"/>
                  </a:lnTo>
                  <a:lnTo>
                    <a:pt x="98890" y="781"/>
                  </a:lnTo>
                  <a:lnTo>
                    <a:pt x="91074" y="0"/>
                  </a:lnTo>
                  <a:lnTo>
                    <a:pt x="83217" y="206"/>
                  </a:lnTo>
                  <a:lnTo>
                    <a:pt x="75444" y="1398"/>
                  </a:lnTo>
                  <a:lnTo>
                    <a:pt x="67956" y="3414"/>
                  </a:lnTo>
                  <a:lnTo>
                    <a:pt x="60759" y="6041"/>
                  </a:lnTo>
                  <a:lnTo>
                    <a:pt x="53846" y="9085"/>
                  </a:lnTo>
                  <a:lnTo>
                    <a:pt x="47140" y="12288"/>
                  </a:lnTo>
                  <a:lnTo>
                    <a:pt x="40476" y="15659"/>
                  </a:lnTo>
                  <a:lnTo>
                    <a:pt x="33811" y="19109"/>
                  </a:lnTo>
                  <a:lnTo>
                    <a:pt x="27111" y="22850"/>
                  </a:lnTo>
                  <a:lnTo>
                    <a:pt x="20568" y="27003"/>
                  </a:lnTo>
                  <a:lnTo>
                    <a:pt x="14395" y="31730"/>
                  </a:lnTo>
                  <a:lnTo>
                    <a:pt x="8924" y="37153"/>
                  </a:lnTo>
                  <a:lnTo>
                    <a:pt x="4526" y="43279"/>
                  </a:lnTo>
                  <a:lnTo>
                    <a:pt x="1521" y="50016"/>
                  </a:lnTo>
                  <a:lnTo>
                    <a:pt x="0" y="57128"/>
                  </a:lnTo>
                  <a:lnTo>
                    <a:pt x="0" y="64361"/>
                  </a:lnTo>
                  <a:lnTo>
                    <a:pt x="1272" y="71473"/>
                  </a:lnTo>
                  <a:lnTo>
                    <a:pt x="3453" y="78295"/>
                  </a:lnTo>
                  <a:lnTo>
                    <a:pt x="6089" y="84747"/>
                  </a:lnTo>
                  <a:lnTo>
                    <a:pt x="8760" y="90873"/>
                  </a:lnTo>
                  <a:lnTo>
                    <a:pt x="11147" y="96872"/>
                  </a:lnTo>
                  <a:lnTo>
                    <a:pt x="13080" y="102912"/>
                  </a:lnTo>
                  <a:lnTo>
                    <a:pt x="14685" y="109201"/>
                  </a:lnTo>
                  <a:lnTo>
                    <a:pt x="16127" y="115817"/>
                  </a:lnTo>
                  <a:lnTo>
                    <a:pt x="17896" y="122724"/>
                  </a:lnTo>
                  <a:lnTo>
                    <a:pt x="20277" y="129794"/>
                  </a:lnTo>
                  <a:lnTo>
                    <a:pt x="23694" y="136736"/>
                  </a:lnTo>
                  <a:lnTo>
                    <a:pt x="28298" y="143153"/>
                  </a:lnTo>
                  <a:lnTo>
                    <a:pt x="34223" y="148697"/>
                  </a:lnTo>
                  <a:lnTo>
                    <a:pt x="41257" y="153140"/>
                  </a:lnTo>
                  <a:lnTo>
                    <a:pt x="49115" y="156300"/>
                  </a:lnTo>
                  <a:lnTo>
                    <a:pt x="57548" y="158194"/>
                  </a:lnTo>
                  <a:lnTo>
                    <a:pt x="66145" y="159017"/>
                  </a:lnTo>
                  <a:lnTo>
                    <a:pt x="74663" y="158932"/>
                  </a:lnTo>
                  <a:lnTo>
                    <a:pt x="83011" y="158272"/>
                  </a:lnTo>
                  <a:lnTo>
                    <a:pt x="91074" y="157286"/>
                  </a:lnTo>
                  <a:lnTo>
                    <a:pt x="98932" y="156093"/>
                  </a:lnTo>
                  <a:lnTo>
                    <a:pt x="106626" y="154738"/>
                  </a:lnTo>
                  <a:lnTo>
                    <a:pt x="114193" y="153097"/>
                  </a:lnTo>
                  <a:lnTo>
                    <a:pt x="121596" y="151003"/>
                  </a:lnTo>
                  <a:lnTo>
                    <a:pt x="128757" y="148370"/>
                  </a:lnTo>
                  <a:lnTo>
                    <a:pt x="135458" y="144998"/>
                  </a:lnTo>
                  <a:lnTo>
                    <a:pt x="141589" y="140847"/>
                  </a:lnTo>
                  <a:lnTo>
                    <a:pt x="146981" y="136040"/>
                  </a:lnTo>
                  <a:lnTo>
                    <a:pt x="151542" y="130738"/>
                  </a:lnTo>
                  <a:lnTo>
                    <a:pt x="155414" y="125108"/>
                  </a:lnTo>
                  <a:lnTo>
                    <a:pt x="158782" y="119394"/>
                  </a:lnTo>
                  <a:lnTo>
                    <a:pt x="161908" y="113766"/>
                  </a:lnTo>
                  <a:lnTo>
                    <a:pt x="165162" y="108257"/>
                  </a:lnTo>
                  <a:lnTo>
                    <a:pt x="168657" y="102792"/>
                  </a:lnTo>
                  <a:lnTo>
                    <a:pt x="172607" y="97241"/>
                  </a:lnTo>
                  <a:lnTo>
                    <a:pt x="176799" y="91405"/>
                  </a:lnTo>
                  <a:lnTo>
                    <a:pt x="181040" y="85117"/>
                  </a:lnTo>
                  <a:close/>
                </a:path>
              </a:pathLst>
            </a:custGeom>
            <a:solidFill>
              <a:srgbClr val="3FA0A8"/>
            </a:solidFill>
            <a:ln w="7689" cap="flat">
              <a:solidFill>
                <a:srgbClr val="256F76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BF936C9A-0C49-1729-7A55-FB46202F24C3}"/>
                </a:ext>
              </a:extLst>
            </p:cNvPr>
            <p:cNvSpPr/>
            <p:nvPr/>
          </p:nvSpPr>
          <p:spPr>
            <a:xfrm>
              <a:off x="2914035" y="6276359"/>
              <a:ext cx="4938" cy="143643"/>
            </a:xfrm>
            <a:custGeom>
              <a:avLst/>
              <a:gdLst>
                <a:gd name="csX0" fmla="*/ 2469 w 4938"/>
                <a:gd name="csY0" fmla="*/ 0 h 143643"/>
                <a:gd name="csX1" fmla="*/ 2469 w 4938"/>
                <a:gd name="csY1" fmla="*/ 143643 h 1436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938" h="143643">
                  <a:moveTo>
                    <a:pt x="2469" y="0"/>
                  </a:moveTo>
                  <a:cubicBezTo>
                    <a:pt x="11024" y="47879"/>
                    <a:pt x="-6085" y="99172"/>
                    <a:pt x="2469" y="143643"/>
                  </a:cubicBezTo>
                </a:path>
              </a:pathLst>
            </a:custGeom>
            <a:noFill/>
            <a:ln w="6538" cap="rnd">
              <a:solidFill>
                <a:srgbClr val="FFFFFF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97B69A45-0609-F384-686A-EF3867463A5E}"/>
                </a:ext>
              </a:extLst>
            </p:cNvPr>
            <p:cNvSpPr/>
            <p:nvPr/>
          </p:nvSpPr>
          <p:spPr>
            <a:xfrm>
              <a:off x="2849784" y="6315691"/>
              <a:ext cx="51338" cy="15368"/>
            </a:xfrm>
            <a:custGeom>
              <a:avLst/>
              <a:gdLst>
                <a:gd name="csX0" fmla="*/ 0 w 51338"/>
                <a:gd name="csY0" fmla="*/ 6822 h 15368"/>
                <a:gd name="csX1" fmla="*/ 25669 w 51338"/>
                <a:gd name="csY1" fmla="*/ 6822 h 15368"/>
                <a:gd name="csX2" fmla="*/ 51338 w 51338"/>
                <a:gd name="csY2" fmla="*/ 12330 h 15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1338" h="15368">
                  <a:moveTo>
                    <a:pt x="0" y="6822"/>
                  </a:moveTo>
                  <a:cubicBezTo>
                    <a:pt x="17113" y="-2274"/>
                    <a:pt x="25669" y="-2274"/>
                    <a:pt x="25669" y="6822"/>
                  </a:cubicBezTo>
                  <a:cubicBezTo>
                    <a:pt x="25669" y="15917"/>
                    <a:pt x="34225" y="17754"/>
                    <a:pt x="51338" y="12330"/>
                  </a:cubicBezTo>
                </a:path>
              </a:pathLst>
            </a:custGeom>
            <a:noFill/>
            <a:ln w="5757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FFD9AB3D-2077-570B-FDF7-54AAAA3A8D32}"/>
                </a:ext>
              </a:extLst>
            </p:cNvPr>
            <p:cNvSpPr/>
            <p:nvPr/>
          </p:nvSpPr>
          <p:spPr>
            <a:xfrm>
              <a:off x="2854885" y="6362707"/>
              <a:ext cx="44504" cy="13488"/>
            </a:xfrm>
            <a:custGeom>
              <a:avLst/>
              <a:gdLst>
                <a:gd name="csX0" fmla="*/ 0 w 44504"/>
                <a:gd name="csY0" fmla="*/ 6002 h 13488"/>
                <a:gd name="csX1" fmla="*/ 22252 w 44504"/>
                <a:gd name="csY1" fmla="*/ 6002 h 13488"/>
                <a:gd name="csX2" fmla="*/ 44504 w 44504"/>
                <a:gd name="csY2" fmla="*/ 10765 h 134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4504" h="13488">
                  <a:moveTo>
                    <a:pt x="0" y="6002"/>
                  </a:moveTo>
                  <a:cubicBezTo>
                    <a:pt x="14835" y="-2001"/>
                    <a:pt x="22252" y="-2001"/>
                    <a:pt x="22252" y="6002"/>
                  </a:cubicBezTo>
                  <a:cubicBezTo>
                    <a:pt x="22252" y="14004"/>
                    <a:pt x="29670" y="15592"/>
                    <a:pt x="44504" y="10765"/>
                  </a:cubicBezTo>
                </a:path>
              </a:pathLst>
            </a:custGeom>
            <a:noFill/>
            <a:ln w="5757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A0B69412-C26E-AA71-1225-F7F05877619A}"/>
                </a:ext>
              </a:extLst>
            </p:cNvPr>
            <p:cNvSpPr/>
            <p:nvPr/>
          </p:nvSpPr>
          <p:spPr>
            <a:xfrm>
              <a:off x="2931886" y="6317395"/>
              <a:ext cx="51338" cy="15393"/>
            </a:xfrm>
            <a:custGeom>
              <a:avLst/>
              <a:gdLst>
                <a:gd name="csX0" fmla="*/ 0 w 51338"/>
                <a:gd name="csY0" fmla="*/ 6843 h 15393"/>
                <a:gd name="csX1" fmla="*/ 25669 w 51338"/>
                <a:gd name="csY1" fmla="*/ 6843 h 15393"/>
                <a:gd name="csX2" fmla="*/ 51338 w 51338"/>
                <a:gd name="csY2" fmla="*/ 12308 h 153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1338" h="15393">
                  <a:moveTo>
                    <a:pt x="0" y="6843"/>
                  </a:moveTo>
                  <a:cubicBezTo>
                    <a:pt x="17113" y="-2281"/>
                    <a:pt x="25669" y="-2281"/>
                    <a:pt x="25669" y="6843"/>
                  </a:cubicBezTo>
                  <a:cubicBezTo>
                    <a:pt x="25669" y="15967"/>
                    <a:pt x="34225" y="17789"/>
                    <a:pt x="51338" y="12308"/>
                  </a:cubicBezTo>
                </a:path>
              </a:pathLst>
            </a:custGeom>
            <a:noFill/>
            <a:ln w="5757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E98DDA1B-5E12-18A5-9380-D1D22085CB78}"/>
                </a:ext>
              </a:extLst>
            </p:cNvPr>
            <p:cNvSpPr/>
            <p:nvPr/>
          </p:nvSpPr>
          <p:spPr>
            <a:xfrm>
              <a:off x="2933619" y="6364411"/>
              <a:ext cx="44504" cy="13467"/>
            </a:xfrm>
            <a:custGeom>
              <a:avLst/>
              <a:gdLst>
                <a:gd name="csX0" fmla="*/ 0 w 44504"/>
                <a:gd name="csY0" fmla="*/ 5981 h 13467"/>
                <a:gd name="csX1" fmla="*/ 22252 w 44504"/>
                <a:gd name="csY1" fmla="*/ 5981 h 13467"/>
                <a:gd name="csX2" fmla="*/ 44504 w 44504"/>
                <a:gd name="csY2" fmla="*/ 10793 h 134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4504" h="13467">
                  <a:moveTo>
                    <a:pt x="0" y="5981"/>
                  </a:moveTo>
                  <a:cubicBezTo>
                    <a:pt x="14835" y="-1994"/>
                    <a:pt x="22252" y="-1994"/>
                    <a:pt x="22252" y="5981"/>
                  </a:cubicBezTo>
                  <a:cubicBezTo>
                    <a:pt x="22252" y="13955"/>
                    <a:pt x="29670" y="15559"/>
                    <a:pt x="44504" y="10793"/>
                  </a:cubicBezTo>
                </a:path>
              </a:pathLst>
            </a:custGeom>
            <a:noFill/>
            <a:ln w="5757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4" name="Oval 153">
            <a:extLst>
              <a:ext uri="{FF2B5EF4-FFF2-40B4-BE49-F238E27FC236}">
                <a16:creationId xmlns:a16="http://schemas.microsoft.com/office/drawing/2014/main" id="{73F41F1B-6B64-F1EA-7931-C5AD396D7733}"/>
              </a:ext>
            </a:extLst>
          </p:cNvPr>
          <p:cNvSpPr/>
          <p:nvPr/>
        </p:nvSpPr>
        <p:spPr>
          <a:xfrm>
            <a:off x="2797210" y="6230695"/>
            <a:ext cx="238588" cy="238377"/>
          </a:xfrm>
          <a:prstGeom prst="ellipse">
            <a:avLst/>
          </a:prstGeom>
          <a:noFill/>
          <a:ln w="8221" cap="flat">
            <a:solidFill>
              <a:srgbClr val="3FA0A8">
                <a:alpha val="8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42420411-0591-50BA-85CF-582C9E424ACE}"/>
              </a:ext>
            </a:extLst>
          </p:cNvPr>
          <p:cNvSpPr txBox="1"/>
          <p:nvPr/>
        </p:nvSpPr>
        <p:spPr>
          <a:xfrm>
            <a:off x="2967723" y="6188829"/>
            <a:ext cx="1202927" cy="187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69" b="1" spc="0" baseline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Skin-conductance + pain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64F25FFB-CC57-CDC9-B3EF-32FA6BBA9F35}"/>
              </a:ext>
            </a:extLst>
          </p:cNvPr>
          <p:cNvSpPr txBox="1"/>
          <p:nvPr/>
        </p:nvSpPr>
        <p:spPr>
          <a:xfrm>
            <a:off x="2967723" y="6330450"/>
            <a:ext cx="707663" cy="160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64" i="1" spc="0" baseline="0">
                <a:ln/>
                <a:solidFill>
                  <a:srgbClr val="7C8598"/>
                </a:solidFill>
                <a:latin typeface="Arial"/>
                <a:cs typeface="Arial"/>
                <a:sym typeface="Arial"/>
                <a:rtl val="0"/>
              </a:rPr>
              <a:t>Matthewson · 2019</a:t>
            </a:r>
          </a:p>
        </p:txBody>
      </p:sp>
      <p:sp>
        <p:nvSpPr>
          <p:cNvPr id="157" name="Rounded Rectangle 156">
            <a:extLst>
              <a:ext uri="{FF2B5EF4-FFF2-40B4-BE49-F238E27FC236}">
                <a16:creationId xmlns:a16="http://schemas.microsoft.com/office/drawing/2014/main" id="{FCEB1682-C554-A1DA-2B84-3E17D0075F05}"/>
              </a:ext>
            </a:extLst>
          </p:cNvPr>
          <p:cNvSpPr/>
          <p:nvPr/>
        </p:nvSpPr>
        <p:spPr>
          <a:xfrm>
            <a:off x="4989753" y="1002829"/>
            <a:ext cx="2213110" cy="3555113"/>
          </a:xfrm>
          <a:prstGeom prst="roundRect">
            <a:avLst>
              <a:gd name="adj" fmla="val 3345"/>
            </a:avLst>
          </a:prstGeom>
          <a:solidFill>
            <a:srgbClr val="EEEAF7">
              <a:alpha val="50000"/>
            </a:srgbClr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8" name="Rounded Rectangle 157">
            <a:extLst>
              <a:ext uri="{FF2B5EF4-FFF2-40B4-BE49-F238E27FC236}">
                <a16:creationId xmlns:a16="http://schemas.microsoft.com/office/drawing/2014/main" id="{D030DD43-C3C8-F830-1F1D-0EDCBC081DF9}"/>
              </a:ext>
            </a:extLst>
          </p:cNvPr>
          <p:cNvSpPr/>
          <p:nvPr/>
        </p:nvSpPr>
        <p:spPr>
          <a:xfrm>
            <a:off x="5006207" y="1019269"/>
            <a:ext cx="2180201" cy="263037"/>
          </a:xfrm>
          <a:prstGeom prst="roundRect">
            <a:avLst>
              <a:gd name="adj" fmla="val 23458"/>
            </a:avLst>
          </a:prstGeom>
          <a:solidFill>
            <a:srgbClr val="8A6FC0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59" name="Graphic 2">
            <a:extLst>
              <a:ext uri="{FF2B5EF4-FFF2-40B4-BE49-F238E27FC236}">
                <a16:creationId xmlns:a16="http://schemas.microsoft.com/office/drawing/2014/main" id="{C9E25A38-B4D1-4DE2-D1AE-562D7A5F82CB}"/>
              </a:ext>
            </a:extLst>
          </p:cNvPr>
          <p:cNvGrpSpPr/>
          <p:nvPr/>
        </p:nvGrpSpPr>
        <p:grpSpPr>
          <a:xfrm>
            <a:off x="5054667" y="1079272"/>
            <a:ext cx="172807" cy="145246"/>
            <a:chOff x="5054667" y="1079272"/>
            <a:chExt cx="172807" cy="145246"/>
          </a:xfrm>
        </p:grpSpPr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A4ABF400-CA71-2BD4-01DA-94B436888C97}"/>
                </a:ext>
              </a:extLst>
            </p:cNvPr>
            <p:cNvSpPr/>
            <p:nvPr/>
          </p:nvSpPr>
          <p:spPr>
            <a:xfrm>
              <a:off x="5054667" y="1079272"/>
              <a:ext cx="172807" cy="145246"/>
            </a:xfrm>
            <a:custGeom>
              <a:avLst/>
              <a:gdLst>
                <a:gd name="csX0" fmla="*/ 168821 w 172807"/>
                <a:gd name="csY0" fmla="*/ 71516 h 145246"/>
                <a:gd name="csX1" fmla="*/ 171450 w 172807"/>
                <a:gd name="csY1" fmla="*/ 64815 h 145246"/>
                <a:gd name="csX2" fmla="*/ 172807 w 172807"/>
                <a:gd name="csY2" fmla="*/ 57788 h 145246"/>
                <a:gd name="csX3" fmla="*/ 172601 w 172807"/>
                <a:gd name="csY3" fmla="*/ 50718 h 145246"/>
                <a:gd name="csX4" fmla="*/ 170632 w 172807"/>
                <a:gd name="csY4" fmla="*/ 43896 h 145246"/>
                <a:gd name="csX5" fmla="*/ 167009 w 172807"/>
                <a:gd name="csY5" fmla="*/ 37607 h 145246"/>
                <a:gd name="csX6" fmla="*/ 161951 w 172807"/>
                <a:gd name="csY6" fmla="*/ 32063 h 145246"/>
                <a:gd name="csX7" fmla="*/ 155862 w 172807"/>
                <a:gd name="csY7" fmla="*/ 27378 h 145246"/>
                <a:gd name="csX8" fmla="*/ 149198 w 172807"/>
                <a:gd name="csY8" fmla="*/ 23467 h 145246"/>
                <a:gd name="csX9" fmla="*/ 142285 w 172807"/>
                <a:gd name="csY9" fmla="*/ 20265 h 145246"/>
                <a:gd name="csX10" fmla="*/ 135500 w 172807"/>
                <a:gd name="csY10" fmla="*/ 17427 h 145246"/>
                <a:gd name="csX11" fmla="*/ 128957 w 172807"/>
                <a:gd name="csY11" fmla="*/ 14800 h 145246"/>
                <a:gd name="csX12" fmla="*/ 122663 w 172807"/>
                <a:gd name="csY12" fmla="*/ 12209 h 145246"/>
                <a:gd name="csX13" fmla="*/ 116495 w 172807"/>
                <a:gd name="csY13" fmla="*/ 9539 h 145246"/>
                <a:gd name="csX14" fmla="*/ 110285 w 172807"/>
                <a:gd name="csY14" fmla="*/ 6864 h 145246"/>
                <a:gd name="csX15" fmla="*/ 103906 w 172807"/>
                <a:gd name="csY15" fmla="*/ 4358 h 145246"/>
                <a:gd name="csX16" fmla="*/ 97284 w 172807"/>
                <a:gd name="csY16" fmla="*/ 2221 h 145246"/>
                <a:gd name="csX17" fmla="*/ 90329 w 172807"/>
                <a:gd name="csY17" fmla="*/ 702 h 145246"/>
                <a:gd name="csX18" fmla="*/ 83174 w 172807"/>
                <a:gd name="csY18" fmla="*/ 0 h 145246"/>
                <a:gd name="csX19" fmla="*/ 75977 w 172807"/>
                <a:gd name="csY19" fmla="*/ 206 h 145246"/>
                <a:gd name="csX20" fmla="*/ 68901 w 172807"/>
                <a:gd name="csY20" fmla="*/ 1277 h 145246"/>
                <a:gd name="csX21" fmla="*/ 62031 w 172807"/>
                <a:gd name="csY21" fmla="*/ 3123 h 145246"/>
                <a:gd name="csX22" fmla="*/ 55488 w 172807"/>
                <a:gd name="csY22" fmla="*/ 5508 h 145246"/>
                <a:gd name="csX23" fmla="*/ 49157 w 172807"/>
                <a:gd name="csY23" fmla="*/ 8305 h 145246"/>
                <a:gd name="csX24" fmla="*/ 43026 w 172807"/>
                <a:gd name="csY24" fmla="*/ 11222 h 145246"/>
                <a:gd name="csX25" fmla="*/ 36980 w 172807"/>
                <a:gd name="csY25" fmla="*/ 14267 h 145246"/>
                <a:gd name="csX26" fmla="*/ 30849 w 172807"/>
                <a:gd name="csY26" fmla="*/ 17469 h 145246"/>
                <a:gd name="csX27" fmla="*/ 24760 w 172807"/>
                <a:gd name="csY27" fmla="*/ 20840 h 145246"/>
                <a:gd name="csX28" fmla="*/ 18757 w 172807"/>
                <a:gd name="csY28" fmla="*/ 24660 h 145246"/>
                <a:gd name="csX29" fmla="*/ 13122 w 172807"/>
                <a:gd name="csY29" fmla="*/ 28976 h 145246"/>
                <a:gd name="csX30" fmla="*/ 8143 w 172807"/>
                <a:gd name="csY30" fmla="*/ 33951 h 145246"/>
                <a:gd name="csX31" fmla="*/ 4114 w 172807"/>
                <a:gd name="csY31" fmla="*/ 39538 h 145246"/>
                <a:gd name="csX32" fmla="*/ 1357 w 172807"/>
                <a:gd name="csY32" fmla="*/ 45706 h 145246"/>
                <a:gd name="csX33" fmla="*/ 0 w 172807"/>
                <a:gd name="csY33" fmla="*/ 52201 h 145246"/>
                <a:gd name="csX34" fmla="*/ 0 w 172807"/>
                <a:gd name="csY34" fmla="*/ 58817 h 145246"/>
                <a:gd name="csX35" fmla="*/ 1151 w 172807"/>
                <a:gd name="csY35" fmla="*/ 65311 h 145246"/>
                <a:gd name="csX36" fmla="*/ 3126 w 172807"/>
                <a:gd name="csY36" fmla="*/ 71516 h 145246"/>
                <a:gd name="csX37" fmla="*/ 5550 w 172807"/>
                <a:gd name="csY37" fmla="*/ 77393 h 145246"/>
                <a:gd name="csX38" fmla="*/ 7979 w 172807"/>
                <a:gd name="csY38" fmla="*/ 83022 h 145246"/>
                <a:gd name="csX39" fmla="*/ 10160 w 172807"/>
                <a:gd name="csY39" fmla="*/ 88488 h 145246"/>
                <a:gd name="csX40" fmla="*/ 11929 w 172807"/>
                <a:gd name="csY40" fmla="*/ 93996 h 145246"/>
                <a:gd name="csX41" fmla="*/ 13365 w 172807"/>
                <a:gd name="csY41" fmla="*/ 99753 h 145246"/>
                <a:gd name="csX42" fmla="*/ 14722 w 172807"/>
                <a:gd name="csY42" fmla="*/ 105794 h 145246"/>
                <a:gd name="csX43" fmla="*/ 16327 w 172807"/>
                <a:gd name="csY43" fmla="*/ 112125 h 145246"/>
                <a:gd name="csX44" fmla="*/ 18508 w 172807"/>
                <a:gd name="csY44" fmla="*/ 118577 h 145246"/>
                <a:gd name="csX45" fmla="*/ 21634 w 172807"/>
                <a:gd name="csY45" fmla="*/ 124903 h 145246"/>
                <a:gd name="csX46" fmla="*/ 25875 w 172807"/>
                <a:gd name="csY46" fmla="*/ 130738 h 145246"/>
                <a:gd name="csX47" fmla="*/ 31219 w 172807"/>
                <a:gd name="csY47" fmla="*/ 135834 h 145246"/>
                <a:gd name="csX48" fmla="*/ 37634 w 172807"/>
                <a:gd name="csY48" fmla="*/ 139866 h 145246"/>
                <a:gd name="csX49" fmla="*/ 44880 w 172807"/>
                <a:gd name="csY49" fmla="*/ 142783 h 145246"/>
                <a:gd name="csX50" fmla="*/ 52526 w 172807"/>
                <a:gd name="csY50" fmla="*/ 144508 h 145246"/>
                <a:gd name="csX51" fmla="*/ 60383 w 172807"/>
                <a:gd name="csY51" fmla="*/ 145247 h 145246"/>
                <a:gd name="csX52" fmla="*/ 68198 w 172807"/>
                <a:gd name="csY52" fmla="*/ 145168 h 145246"/>
                <a:gd name="csX53" fmla="*/ 75814 w 172807"/>
                <a:gd name="csY53" fmla="*/ 144593 h 145246"/>
                <a:gd name="csX54" fmla="*/ 83174 w 172807"/>
                <a:gd name="csY54" fmla="*/ 143685 h 145246"/>
                <a:gd name="csX55" fmla="*/ 90329 w 172807"/>
                <a:gd name="csY55" fmla="*/ 142577 h 145246"/>
                <a:gd name="csX56" fmla="*/ 97369 w 172807"/>
                <a:gd name="csY56" fmla="*/ 141343 h 145246"/>
                <a:gd name="csX57" fmla="*/ 104276 w 172807"/>
                <a:gd name="csY57" fmla="*/ 139823 h 145246"/>
                <a:gd name="csX58" fmla="*/ 111067 w 172807"/>
                <a:gd name="csY58" fmla="*/ 137935 h 145246"/>
                <a:gd name="csX59" fmla="*/ 117604 w 172807"/>
                <a:gd name="csY59" fmla="*/ 135508 h 145246"/>
                <a:gd name="csX60" fmla="*/ 123735 w 172807"/>
                <a:gd name="csY60" fmla="*/ 132427 h 145246"/>
                <a:gd name="csX61" fmla="*/ 129327 w 172807"/>
                <a:gd name="csY61" fmla="*/ 128644 h 145246"/>
                <a:gd name="csX62" fmla="*/ 134222 w 172807"/>
                <a:gd name="csY62" fmla="*/ 124285 h 145246"/>
                <a:gd name="csX63" fmla="*/ 138420 w 172807"/>
                <a:gd name="csY63" fmla="*/ 119395 h 145246"/>
                <a:gd name="csX64" fmla="*/ 141958 w 172807"/>
                <a:gd name="csY64" fmla="*/ 114262 h 145246"/>
                <a:gd name="csX65" fmla="*/ 145000 w 172807"/>
                <a:gd name="csY65" fmla="*/ 109080 h 145246"/>
                <a:gd name="csX66" fmla="*/ 147883 w 172807"/>
                <a:gd name="csY66" fmla="*/ 103905 h 145246"/>
                <a:gd name="csX67" fmla="*/ 150846 w 172807"/>
                <a:gd name="csY67" fmla="*/ 98887 h 145246"/>
                <a:gd name="csX68" fmla="*/ 154051 w 172807"/>
                <a:gd name="csY68" fmla="*/ 93875 h 145246"/>
                <a:gd name="csX69" fmla="*/ 157631 w 172807"/>
                <a:gd name="csY69" fmla="*/ 88821 h 145246"/>
                <a:gd name="csX70" fmla="*/ 161496 w 172807"/>
                <a:gd name="csY70" fmla="*/ 83476 h 145246"/>
                <a:gd name="csX71" fmla="*/ 165362 w 172807"/>
                <a:gd name="csY71" fmla="*/ 77762 h 1452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172807" h="145246">
                  <a:moveTo>
                    <a:pt x="168821" y="71516"/>
                  </a:moveTo>
                  <a:lnTo>
                    <a:pt x="171450" y="64815"/>
                  </a:lnTo>
                  <a:lnTo>
                    <a:pt x="172807" y="57788"/>
                  </a:lnTo>
                  <a:lnTo>
                    <a:pt x="172601" y="50718"/>
                  </a:lnTo>
                  <a:lnTo>
                    <a:pt x="170632" y="43896"/>
                  </a:lnTo>
                  <a:lnTo>
                    <a:pt x="167009" y="37607"/>
                  </a:lnTo>
                  <a:lnTo>
                    <a:pt x="161951" y="32063"/>
                  </a:lnTo>
                  <a:lnTo>
                    <a:pt x="155862" y="27378"/>
                  </a:lnTo>
                  <a:lnTo>
                    <a:pt x="149198" y="23467"/>
                  </a:lnTo>
                  <a:lnTo>
                    <a:pt x="142285" y="20265"/>
                  </a:lnTo>
                  <a:lnTo>
                    <a:pt x="135500" y="17427"/>
                  </a:lnTo>
                  <a:lnTo>
                    <a:pt x="128957" y="14800"/>
                  </a:lnTo>
                  <a:lnTo>
                    <a:pt x="122663" y="12209"/>
                  </a:lnTo>
                  <a:lnTo>
                    <a:pt x="116495" y="9539"/>
                  </a:lnTo>
                  <a:lnTo>
                    <a:pt x="110285" y="6864"/>
                  </a:lnTo>
                  <a:lnTo>
                    <a:pt x="103906" y="4358"/>
                  </a:lnTo>
                  <a:lnTo>
                    <a:pt x="97284" y="2221"/>
                  </a:lnTo>
                  <a:lnTo>
                    <a:pt x="90329" y="702"/>
                  </a:lnTo>
                  <a:lnTo>
                    <a:pt x="83174" y="0"/>
                  </a:lnTo>
                  <a:lnTo>
                    <a:pt x="75977" y="206"/>
                  </a:lnTo>
                  <a:lnTo>
                    <a:pt x="68901" y="1277"/>
                  </a:lnTo>
                  <a:lnTo>
                    <a:pt x="62031" y="3123"/>
                  </a:lnTo>
                  <a:lnTo>
                    <a:pt x="55488" y="5508"/>
                  </a:lnTo>
                  <a:lnTo>
                    <a:pt x="49157" y="8305"/>
                  </a:lnTo>
                  <a:lnTo>
                    <a:pt x="43026" y="11222"/>
                  </a:lnTo>
                  <a:lnTo>
                    <a:pt x="36980" y="14267"/>
                  </a:lnTo>
                  <a:lnTo>
                    <a:pt x="30849" y="17469"/>
                  </a:lnTo>
                  <a:lnTo>
                    <a:pt x="24760" y="20840"/>
                  </a:lnTo>
                  <a:lnTo>
                    <a:pt x="18757" y="24660"/>
                  </a:lnTo>
                  <a:lnTo>
                    <a:pt x="13122" y="28976"/>
                  </a:lnTo>
                  <a:lnTo>
                    <a:pt x="8143" y="33951"/>
                  </a:lnTo>
                  <a:lnTo>
                    <a:pt x="4114" y="39538"/>
                  </a:lnTo>
                  <a:lnTo>
                    <a:pt x="1357" y="45706"/>
                  </a:lnTo>
                  <a:lnTo>
                    <a:pt x="0" y="52201"/>
                  </a:lnTo>
                  <a:lnTo>
                    <a:pt x="0" y="58817"/>
                  </a:lnTo>
                  <a:lnTo>
                    <a:pt x="1151" y="65311"/>
                  </a:lnTo>
                  <a:lnTo>
                    <a:pt x="3126" y="71516"/>
                  </a:lnTo>
                  <a:lnTo>
                    <a:pt x="5550" y="77393"/>
                  </a:lnTo>
                  <a:lnTo>
                    <a:pt x="7979" y="83022"/>
                  </a:lnTo>
                  <a:lnTo>
                    <a:pt x="10160" y="88488"/>
                  </a:lnTo>
                  <a:lnTo>
                    <a:pt x="11929" y="93996"/>
                  </a:lnTo>
                  <a:lnTo>
                    <a:pt x="13365" y="99753"/>
                  </a:lnTo>
                  <a:lnTo>
                    <a:pt x="14722" y="105794"/>
                  </a:lnTo>
                  <a:lnTo>
                    <a:pt x="16327" y="112125"/>
                  </a:lnTo>
                  <a:lnTo>
                    <a:pt x="18508" y="118577"/>
                  </a:lnTo>
                  <a:lnTo>
                    <a:pt x="21634" y="124903"/>
                  </a:lnTo>
                  <a:lnTo>
                    <a:pt x="25875" y="130738"/>
                  </a:lnTo>
                  <a:lnTo>
                    <a:pt x="31219" y="135834"/>
                  </a:lnTo>
                  <a:lnTo>
                    <a:pt x="37634" y="139866"/>
                  </a:lnTo>
                  <a:lnTo>
                    <a:pt x="44880" y="142783"/>
                  </a:lnTo>
                  <a:lnTo>
                    <a:pt x="52526" y="144508"/>
                  </a:lnTo>
                  <a:lnTo>
                    <a:pt x="60383" y="145247"/>
                  </a:lnTo>
                  <a:lnTo>
                    <a:pt x="68198" y="145168"/>
                  </a:lnTo>
                  <a:lnTo>
                    <a:pt x="75814" y="144593"/>
                  </a:lnTo>
                  <a:lnTo>
                    <a:pt x="83174" y="143685"/>
                  </a:lnTo>
                  <a:lnTo>
                    <a:pt x="90329" y="142577"/>
                  </a:lnTo>
                  <a:lnTo>
                    <a:pt x="97369" y="141343"/>
                  </a:lnTo>
                  <a:lnTo>
                    <a:pt x="104276" y="139823"/>
                  </a:lnTo>
                  <a:lnTo>
                    <a:pt x="111067" y="137935"/>
                  </a:lnTo>
                  <a:lnTo>
                    <a:pt x="117604" y="135508"/>
                  </a:lnTo>
                  <a:lnTo>
                    <a:pt x="123735" y="132427"/>
                  </a:lnTo>
                  <a:lnTo>
                    <a:pt x="129327" y="128644"/>
                  </a:lnTo>
                  <a:lnTo>
                    <a:pt x="134222" y="124285"/>
                  </a:lnTo>
                  <a:lnTo>
                    <a:pt x="138420" y="119395"/>
                  </a:lnTo>
                  <a:lnTo>
                    <a:pt x="141958" y="114262"/>
                  </a:lnTo>
                  <a:lnTo>
                    <a:pt x="145000" y="109080"/>
                  </a:lnTo>
                  <a:lnTo>
                    <a:pt x="147883" y="103905"/>
                  </a:lnTo>
                  <a:lnTo>
                    <a:pt x="150846" y="98887"/>
                  </a:lnTo>
                  <a:lnTo>
                    <a:pt x="154051" y="93875"/>
                  </a:lnTo>
                  <a:lnTo>
                    <a:pt x="157631" y="88821"/>
                  </a:lnTo>
                  <a:lnTo>
                    <a:pt x="161496" y="83476"/>
                  </a:lnTo>
                  <a:lnTo>
                    <a:pt x="165362" y="77762"/>
                  </a:lnTo>
                  <a:close/>
                </a:path>
              </a:pathLst>
            </a:custGeom>
            <a:solidFill>
              <a:srgbClr val="FFFFFF"/>
            </a:solidFill>
            <a:ln w="7029" cap="flat">
              <a:solidFill>
                <a:srgbClr val="5F4A9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F4B67270-FEFA-87ED-49CF-9555102C7A5B}"/>
                </a:ext>
              </a:extLst>
            </p:cNvPr>
            <p:cNvSpPr/>
            <p:nvPr/>
          </p:nvSpPr>
          <p:spPr>
            <a:xfrm>
              <a:off x="5135586" y="1083630"/>
              <a:ext cx="4512" cy="131191"/>
            </a:xfrm>
            <a:custGeom>
              <a:avLst/>
              <a:gdLst>
                <a:gd name="csX0" fmla="*/ 2256 w 4512"/>
                <a:gd name="csY0" fmla="*/ 0 h 131191"/>
                <a:gd name="csX1" fmla="*/ 2256 w 4512"/>
                <a:gd name="csY1" fmla="*/ 131192 h 1311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512" h="131191">
                  <a:moveTo>
                    <a:pt x="2256" y="0"/>
                  </a:moveTo>
                  <a:cubicBezTo>
                    <a:pt x="10071" y="43733"/>
                    <a:pt x="-5559" y="90583"/>
                    <a:pt x="2256" y="131192"/>
                  </a:cubicBezTo>
                </a:path>
              </a:pathLst>
            </a:custGeom>
            <a:noFill/>
            <a:ln w="5963" cap="rnd">
              <a:solidFill>
                <a:srgbClr val="8A6FC0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8C4E373B-3E1B-DDC6-4D35-A32ED1BE183A}"/>
                </a:ext>
              </a:extLst>
            </p:cNvPr>
            <p:cNvSpPr/>
            <p:nvPr/>
          </p:nvSpPr>
          <p:spPr>
            <a:xfrm>
              <a:off x="5076877" y="1119554"/>
              <a:ext cx="46897" cy="14060"/>
            </a:xfrm>
            <a:custGeom>
              <a:avLst/>
              <a:gdLst>
                <a:gd name="csX0" fmla="*/ 0 w 46897"/>
                <a:gd name="csY0" fmla="*/ 6247 h 14060"/>
                <a:gd name="csX1" fmla="*/ 23452 w 46897"/>
                <a:gd name="csY1" fmla="*/ 6247 h 14060"/>
                <a:gd name="csX2" fmla="*/ 46897 w 46897"/>
                <a:gd name="csY2" fmla="*/ 11259 h 140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6897" h="14060">
                  <a:moveTo>
                    <a:pt x="0" y="6247"/>
                  </a:moveTo>
                  <a:cubicBezTo>
                    <a:pt x="15634" y="-2082"/>
                    <a:pt x="23452" y="-2082"/>
                    <a:pt x="23452" y="6247"/>
                  </a:cubicBezTo>
                  <a:cubicBezTo>
                    <a:pt x="23452" y="14576"/>
                    <a:pt x="31267" y="16246"/>
                    <a:pt x="46897" y="11259"/>
                  </a:cubicBezTo>
                </a:path>
              </a:pathLst>
            </a:custGeom>
            <a:noFill/>
            <a:ln w="5261" cap="rnd">
              <a:solidFill>
                <a:srgbClr val="8A6FC0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1DE6C3BC-C63D-64DC-817F-F3DE5CD8400E}"/>
                </a:ext>
              </a:extLst>
            </p:cNvPr>
            <p:cNvSpPr/>
            <p:nvPr/>
          </p:nvSpPr>
          <p:spPr>
            <a:xfrm>
              <a:off x="5081566" y="1162500"/>
              <a:ext cx="40645" cy="12292"/>
            </a:xfrm>
            <a:custGeom>
              <a:avLst/>
              <a:gdLst>
                <a:gd name="csX0" fmla="*/ 0 w 40645"/>
                <a:gd name="csY0" fmla="*/ 5466 h 12292"/>
                <a:gd name="csX1" fmla="*/ 20326 w 40645"/>
                <a:gd name="csY1" fmla="*/ 5466 h 12292"/>
                <a:gd name="csX2" fmla="*/ 40645 w 40645"/>
                <a:gd name="csY2" fmla="*/ 9824 h 122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0645" h="12292">
                  <a:moveTo>
                    <a:pt x="0" y="5466"/>
                  </a:moveTo>
                  <a:cubicBezTo>
                    <a:pt x="13550" y="-1822"/>
                    <a:pt x="20326" y="-1822"/>
                    <a:pt x="20326" y="5466"/>
                  </a:cubicBezTo>
                  <a:cubicBezTo>
                    <a:pt x="20326" y="12754"/>
                    <a:pt x="27099" y="14206"/>
                    <a:pt x="40645" y="9824"/>
                  </a:cubicBezTo>
                </a:path>
              </a:pathLst>
            </a:custGeom>
            <a:noFill/>
            <a:ln w="5261" cap="rnd">
              <a:solidFill>
                <a:srgbClr val="8A6FC0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9F4DD43A-2ADA-BF2E-6A56-A8AAA4324914}"/>
                </a:ext>
              </a:extLst>
            </p:cNvPr>
            <p:cNvSpPr/>
            <p:nvPr/>
          </p:nvSpPr>
          <p:spPr>
            <a:xfrm>
              <a:off x="5151909" y="1121116"/>
              <a:ext cx="46897" cy="14060"/>
            </a:xfrm>
            <a:custGeom>
              <a:avLst/>
              <a:gdLst>
                <a:gd name="csX0" fmla="*/ 0 w 46897"/>
                <a:gd name="csY0" fmla="*/ 6247 h 14060"/>
                <a:gd name="csX1" fmla="*/ 23446 w 46897"/>
                <a:gd name="csY1" fmla="*/ 6247 h 14060"/>
                <a:gd name="csX2" fmla="*/ 46898 w 46897"/>
                <a:gd name="csY2" fmla="*/ 11259 h 140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6897" h="14060">
                  <a:moveTo>
                    <a:pt x="0" y="6247"/>
                  </a:moveTo>
                  <a:cubicBezTo>
                    <a:pt x="15631" y="-2082"/>
                    <a:pt x="23446" y="-2082"/>
                    <a:pt x="23446" y="6247"/>
                  </a:cubicBezTo>
                  <a:cubicBezTo>
                    <a:pt x="23446" y="14576"/>
                    <a:pt x="31263" y="16246"/>
                    <a:pt x="46898" y="11259"/>
                  </a:cubicBezTo>
                </a:path>
              </a:pathLst>
            </a:custGeom>
            <a:noFill/>
            <a:ln w="5261" cap="rnd">
              <a:solidFill>
                <a:srgbClr val="8A6FC0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0FDD023B-D89F-DD17-A4E7-459F34E0971E}"/>
                </a:ext>
              </a:extLst>
            </p:cNvPr>
            <p:cNvSpPr/>
            <p:nvPr/>
          </p:nvSpPr>
          <p:spPr>
            <a:xfrm>
              <a:off x="5153472" y="1164062"/>
              <a:ext cx="40645" cy="12292"/>
            </a:xfrm>
            <a:custGeom>
              <a:avLst/>
              <a:gdLst>
                <a:gd name="csX0" fmla="*/ 0 w 40645"/>
                <a:gd name="csY0" fmla="*/ 5466 h 12292"/>
                <a:gd name="csX1" fmla="*/ 20320 w 40645"/>
                <a:gd name="csY1" fmla="*/ 5466 h 12292"/>
                <a:gd name="csX2" fmla="*/ 40645 w 40645"/>
                <a:gd name="csY2" fmla="*/ 9824 h 122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0645" h="12292">
                  <a:moveTo>
                    <a:pt x="0" y="5466"/>
                  </a:moveTo>
                  <a:cubicBezTo>
                    <a:pt x="13546" y="-1822"/>
                    <a:pt x="20320" y="-1822"/>
                    <a:pt x="20320" y="5466"/>
                  </a:cubicBezTo>
                  <a:cubicBezTo>
                    <a:pt x="20320" y="12754"/>
                    <a:pt x="27095" y="14206"/>
                    <a:pt x="40645" y="9824"/>
                  </a:cubicBezTo>
                </a:path>
              </a:pathLst>
            </a:custGeom>
            <a:noFill/>
            <a:ln w="5261" cap="rnd">
              <a:solidFill>
                <a:srgbClr val="8A6FC0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6" name="TextBox 165">
            <a:extLst>
              <a:ext uri="{FF2B5EF4-FFF2-40B4-BE49-F238E27FC236}">
                <a16:creationId xmlns:a16="http://schemas.microsoft.com/office/drawing/2014/main" id="{580A1460-66B2-66AC-DA39-9709EF2FB5A4}"/>
              </a:ext>
            </a:extLst>
          </p:cNvPr>
          <p:cNvSpPr txBox="1"/>
          <p:nvPr/>
        </p:nvSpPr>
        <p:spPr>
          <a:xfrm>
            <a:off x="5153355" y="1033597"/>
            <a:ext cx="1027652" cy="169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66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Aversive / Negative affect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CA953E0D-01B2-6D6F-3603-55EBBDD7983A}"/>
              </a:ext>
            </a:extLst>
          </p:cNvPr>
          <p:cNvSpPr txBox="1"/>
          <p:nvPr/>
        </p:nvSpPr>
        <p:spPr>
          <a:xfrm>
            <a:off x="5153355" y="1134399"/>
            <a:ext cx="451797" cy="1465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1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9 signatures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07A6C167-E79E-1AF8-CBB3-C9B31655E381}"/>
              </a:ext>
            </a:extLst>
          </p:cNvPr>
          <p:cNvSpPr txBox="1"/>
          <p:nvPr/>
        </p:nvSpPr>
        <p:spPr>
          <a:xfrm>
            <a:off x="4955903" y="1362694"/>
            <a:ext cx="395831" cy="148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37" b="1" spc="27" baseline="0">
                <a:ln/>
                <a:solidFill>
                  <a:srgbClr val="5F4A94"/>
                </a:solidFill>
                <a:latin typeface="Arial"/>
                <a:cs typeface="Arial"/>
                <a:sym typeface="Arial"/>
                <a:rtl val="0"/>
              </a:rPr>
              <a:t>THREAT</a:t>
            </a:r>
          </a:p>
        </p:txBody>
      </p:sp>
      <p:sp>
        <p:nvSpPr>
          <p:cNvPr id="169" name="Freeform 168">
            <a:extLst>
              <a:ext uri="{FF2B5EF4-FFF2-40B4-BE49-F238E27FC236}">
                <a16:creationId xmlns:a16="http://schemas.microsoft.com/office/drawing/2014/main" id="{C5862DD4-0CC0-E9D0-0AC3-92C3FE333868}"/>
              </a:ext>
            </a:extLst>
          </p:cNvPr>
          <p:cNvSpPr/>
          <p:nvPr/>
        </p:nvSpPr>
        <p:spPr>
          <a:xfrm>
            <a:off x="5302385" y="1434375"/>
            <a:ext cx="1851114" cy="6052"/>
          </a:xfrm>
          <a:custGeom>
            <a:avLst/>
            <a:gdLst>
              <a:gd name="csX0" fmla="*/ 0 w 1851114"/>
              <a:gd name="csY0" fmla="*/ 0 h 6052"/>
              <a:gd name="csX1" fmla="*/ 1851115 w 1851114"/>
              <a:gd name="csY1" fmla="*/ 0 h 605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51114" h="6052">
                <a:moveTo>
                  <a:pt x="0" y="0"/>
                </a:moveTo>
                <a:lnTo>
                  <a:pt x="1851115" y="0"/>
                </a:lnTo>
              </a:path>
            </a:pathLst>
          </a:custGeom>
          <a:ln w="6163" cap="flat">
            <a:solidFill>
              <a:srgbClr val="8A6FC0">
                <a:alpha val="35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70" name="Rounded Rectangle 169">
            <a:extLst>
              <a:ext uri="{FF2B5EF4-FFF2-40B4-BE49-F238E27FC236}">
                <a16:creationId xmlns:a16="http://schemas.microsoft.com/office/drawing/2014/main" id="{895B568E-BCF3-086A-9F6D-1A8E157F6BB2}"/>
              </a:ext>
            </a:extLst>
          </p:cNvPr>
          <p:cNvSpPr/>
          <p:nvPr/>
        </p:nvSpPr>
        <p:spPr>
          <a:xfrm>
            <a:off x="5039116" y="1504244"/>
            <a:ext cx="2114384" cy="254817"/>
          </a:xfrm>
          <a:prstGeom prst="roundRect">
            <a:avLst>
              <a:gd name="adj" fmla="val 19371"/>
            </a:avLst>
          </a:prstGeom>
          <a:solidFill>
            <a:srgbClr val="FFFFFF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71" name="Rounded Rectangle 170">
            <a:extLst>
              <a:ext uri="{FF2B5EF4-FFF2-40B4-BE49-F238E27FC236}">
                <a16:creationId xmlns:a16="http://schemas.microsoft.com/office/drawing/2014/main" id="{336327EA-47AD-9AD3-A03F-DA63CCA40856}"/>
              </a:ext>
            </a:extLst>
          </p:cNvPr>
          <p:cNvSpPr/>
          <p:nvPr/>
        </p:nvSpPr>
        <p:spPr>
          <a:xfrm>
            <a:off x="5039116" y="1504244"/>
            <a:ext cx="20567" cy="254817"/>
          </a:xfrm>
          <a:prstGeom prst="roundRect">
            <a:avLst>
              <a:gd name="adj" fmla="val 50000"/>
            </a:avLst>
          </a:prstGeom>
          <a:solidFill>
            <a:srgbClr val="8A6FC0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72" name="Oval 171">
            <a:extLst>
              <a:ext uri="{FF2B5EF4-FFF2-40B4-BE49-F238E27FC236}">
                <a16:creationId xmlns:a16="http://schemas.microsoft.com/office/drawing/2014/main" id="{B09EDAA0-12CA-D229-11AB-71824139E5C0}"/>
              </a:ext>
            </a:extLst>
          </p:cNvPr>
          <p:cNvSpPr/>
          <p:nvPr/>
        </p:nvSpPr>
        <p:spPr>
          <a:xfrm>
            <a:off x="5100820" y="1512464"/>
            <a:ext cx="238588" cy="238377"/>
          </a:xfrm>
          <a:prstGeom prst="ellipse">
            <a:avLst/>
          </a:prstGeom>
          <a:solidFill>
            <a:srgbClr val="EEEAF7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173" name="Picture 172">
            <a:extLst>
              <a:ext uri="{FF2B5EF4-FFF2-40B4-BE49-F238E27FC236}">
                <a16:creationId xmlns:a16="http://schemas.microsoft.com/office/drawing/2014/main" id="{D84FA407-67E8-6956-8C98-4BEA9FACC80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13160" y="1524794"/>
            <a:ext cx="213906" cy="213717"/>
          </a:xfrm>
          <a:custGeom>
            <a:avLst/>
            <a:gdLst>
              <a:gd name="csX0" fmla="*/ 445 w 213906"/>
              <a:gd name="csY0" fmla="*/ 270 h 213717"/>
              <a:gd name="csX1" fmla="*/ 214352 w 213906"/>
              <a:gd name="csY1" fmla="*/ 270 h 213717"/>
              <a:gd name="csX2" fmla="*/ 214352 w 213906"/>
              <a:gd name="csY2" fmla="*/ 213987 h 213717"/>
              <a:gd name="csX3" fmla="*/ 445 w 213906"/>
              <a:gd name="csY3" fmla="*/ 213987 h 2137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3906" h="213717">
                <a:moveTo>
                  <a:pt x="445" y="270"/>
                </a:moveTo>
                <a:lnTo>
                  <a:pt x="214352" y="270"/>
                </a:lnTo>
                <a:lnTo>
                  <a:pt x="214352" y="213987"/>
                </a:lnTo>
                <a:lnTo>
                  <a:pt x="445" y="213987"/>
                </a:lnTo>
                <a:close/>
              </a:path>
            </a:pathLst>
          </a:custGeom>
        </p:spPr>
      </p:pic>
      <p:sp>
        <p:nvSpPr>
          <p:cNvPr id="174" name="Oval 173">
            <a:extLst>
              <a:ext uri="{FF2B5EF4-FFF2-40B4-BE49-F238E27FC236}">
                <a16:creationId xmlns:a16="http://schemas.microsoft.com/office/drawing/2014/main" id="{E0924DB9-C565-D9F3-2306-2DEE8E4E75DA}"/>
              </a:ext>
            </a:extLst>
          </p:cNvPr>
          <p:cNvSpPr/>
          <p:nvPr/>
        </p:nvSpPr>
        <p:spPr>
          <a:xfrm>
            <a:off x="5100820" y="1512464"/>
            <a:ext cx="238588" cy="238377"/>
          </a:xfrm>
          <a:prstGeom prst="ellipse">
            <a:avLst/>
          </a:prstGeom>
          <a:noFill/>
          <a:ln w="8221" cap="flat">
            <a:solidFill>
              <a:srgbClr val="8A6FC0">
                <a:alpha val="8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2D471690-9355-5F6D-F00F-97398B6AA354}"/>
              </a:ext>
            </a:extLst>
          </p:cNvPr>
          <p:cNvSpPr txBox="1"/>
          <p:nvPr/>
        </p:nvSpPr>
        <p:spPr>
          <a:xfrm>
            <a:off x="5271331" y="1441719"/>
            <a:ext cx="1277080" cy="187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69" b="1" spc="0" baseline="0" dirty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Threat conditioning (</a:t>
            </a:r>
            <a:r>
              <a:rPr lang="en-US" sz="1069" b="1" spc="0" baseline="0" dirty="0" err="1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ImEx</a:t>
            </a:r>
            <a:r>
              <a:rPr lang="en-US" sz="1069" b="1" spc="0" baseline="0" dirty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)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5E89096F-5D1A-6CEF-A0B6-5903C6F6AA92}"/>
              </a:ext>
            </a:extLst>
          </p:cNvPr>
          <p:cNvSpPr txBox="1"/>
          <p:nvPr/>
        </p:nvSpPr>
        <p:spPr>
          <a:xfrm>
            <a:off x="5271331" y="1588153"/>
            <a:ext cx="591125" cy="160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64" i="1" spc="0" baseline="0">
                <a:ln/>
                <a:solidFill>
                  <a:srgbClr val="7C8598"/>
                </a:solidFill>
                <a:latin typeface="Arial"/>
                <a:cs typeface="Arial"/>
                <a:sym typeface="Arial"/>
                <a:rtl val="0"/>
              </a:rPr>
              <a:t>Reddan · 2018</a:t>
            </a:r>
          </a:p>
        </p:txBody>
      </p:sp>
      <p:sp>
        <p:nvSpPr>
          <p:cNvPr id="177" name="Rounded Rectangle 176">
            <a:extLst>
              <a:ext uri="{FF2B5EF4-FFF2-40B4-BE49-F238E27FC236}">
                <a16:creationId xmlns:a16="http://schemas.microsoft.com/office/drawing/2014/main" id="{977CBA41-9D5D-5746-0870-3E1DF5EF401B}"/>
              </a:ext>
            </a:extLst>
          </p:cNvPr>
          <p:cNvSpPr/>
          <p:nvPr/>
        </p:nvSpPr>
        <p:spPr>
          <a:xfrm>
            <a:off x="5039116" y="1796051"/>
            <a:ext cx="2114384" cy="254817"/>
          </a:xfrm>
          <a:prstGeom prst="roundRect">
            <a:avLst>
              <a:gd name="adj" fmla="val 19371"/>
            </a:avLst>
          </a:prstGeom>
          <a:solidFill>
            <a:srgbClr val="FFFFFF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78" name="Rounded Rectangle 177">
            <a:extLst>
              <a:ext uri="{FF2B5EF4-FFF2-40B4-BE49-F238E27FC236}">
                <a16:creationId xmlns:a16="http://schemas.microsoft.com/office/drawing/2014/main" id="{FFEFD14C-C94A-EFD1-C169-8F44E35963EA}"/>
              </a:ext>
            </a:extLst>
          </p:cNvPr>
          <p:cNvSpPr/>
          <p:nvPr/>
        </p:nvSpPr>
        <p:spPr>
          <a:xfrm>
            <a:off x="5039116" y="1796051"/>
            <a:ext cx="20567" cy="254817"/>
          </a:xfrm>
          <a:prstGeom prst="roundRect">
            <a:avLst>
              <a:gd name="adj" fmla="val 50000"/>
            </a:avLst>
          </a:prstGeom>
          <a:solidFill>
            <a:srgbClr val="8A6FC0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9E6AFBC2-2C74-0A6D-372B-1AB25678AD73}"/>
              </a:ext>
            </a:extLst>
          </p:cNvPr>
          <p:cNvSpPr/>
          <p:nvPr/>
        </p:nvSpPr>
        <p:spPr>
          <a:xfrm>
            <a:off x="5100820" y="1804271"/>
            <a:ext cx="238588" cy="238377"/>
          </a:xfrm>
          <a:prstGeom prst="ellipse">
            <a:avLst/>
          </a:prstGeom>
          <a:solidFill>
            <a:srgbClr val="EEEAF7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180" name="Picture 179">
            <a:extLst>
              <a:ext uri="{FF2B5EF4-FFF2-40B4-BE49-F238E27FC236}">
                <a16:creationId xmlns:a16="http://schemas.microsoft.com/office/drawing/2014/main" id="{12E01F1E-BB4B-09B3-E18C-43BA2BB16BF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13160" y="1816601"/>
            <a:ext cx="213906" cy="213717"/>
          </a:xfrm>
          <a:custGeom>
            <a:avLst/>
            <a:gdLst>
              <a:gd name="csX0" fmla="*/ 445 w 213906"/>
              <a:gd name="csY0" fmla="*/ 318 h 213717"/>
              <a:gd name="csX1" fmla="*/ 214352 w 213906"/>
              <a:gd name="csY1" fmla="*/ 318 h 213717"/>
              <a:gd name="csX2" fmla="*/ 214352 w 213906"/>
              <a:gd name="csY2" fmla="*/ 214036 h 213717"/>
              <a:gd name="csX3" fmla="*/ 445 w 213906"/>
              <a:gd name="csY3" fmla="*/ 214036 h 2137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3906" h="213717">
                <a:moveTo>
                  <a:pt x="445" y="318"/>
                </a:moveTo>
                <a:lnTo>
                  <a:pt x="214352" y="318"/>
                </a:lnTo>
                <a:lnTo>
                  <a:pt x="214352" y="214036"/>
                </a:lnTo>
                <a:lnTo>
                  <a:pt x="445" y="214036"/>
                </a:lnTo>
                <a:close/>
              </a:path>
            </a:pathLst>
          </a:custGeom>
        </p:spPr>
      </p:pic>
      <p:sp>
        <p:nvSpPr>
          <p:cNvPr id="181" name="Oval 180">
            <a:extLst>
              <a:ext uri="{FF2B5EF4-FFF2-40B4-BE49-F238E27FC236}">
                <a16:creationId xmlns:a16="http://schemas.microsoft.com/office/drawing/2014/main" id="{841E176F-99DC-AB2B-F708-27C94613D427}"/>
              </a:ext>
            </a:extLst>
          </p:cNvPr>
          <p:cNvSpPr/>
          <p:nvPr/>
        </p:nvSpPr>
        <p:spPr>
          <a:xfrm>
            <a:off x="5100820" y="1804271"/>
            <a:ext cx="238588" cy="238377"/>
          </a:xfrm>
          <a:prstGeom prst="ellipse">
            <a:avLst/>
          </a:prstGeom>
          <a:noFill/>
          <a:ln w="8221" cap="flat">
            <a:solidFill>
              <a:srgbClr val="8A6FC0">
                <a:alpha val="8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63FE893B-569E-AC7F-3F79-FFB18C7219F2}"/>
              </a:ext>
            </a:extLst>
          </p:cNvPr>
          <p:cNvSpPr txBox="1"/>
          <p:nvPr/>
        </p:nvSpPr>
        <p:spPr>
          <a:xfrm>
            <a:off x="5271331" y="1733526"/>
            <a:ext cx="1070987" cy="187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69" b="1" spc="0" baseline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Subjective fear (VIFS)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8BA33C5E-8C16-8CC4-288C-88473DDF54BB}"/>
              </a:ext>
            </a:extLst>
          </p:cNvPr>
          <p:cNvSpPr txBox="1"/>
          <p:nvPr/>
        </p:nvSpPr>
        <p:spPr>
          <a:xfrm>
            <a:off x="5271331" y="1879960"/>
            <a:ext cx="515622" cy="160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64" i="1" spc="0" baseline="0">
                <a:ln/>
                <a:solidFill>
                  <a:srgbClr val="7C8598"/>
                </a:solidFill>
                <a:latin typeface="Arial"/>
                <a:cs typeface="Arial"/>
                <a:sym typeface="Arial"/>
                <a:rtl val="0"/>
              </a:rPr>
              <a:t>Zhou · 2021</a:t>
            </a:r>
          </a:p>
        </p:txBody>
      </p:sp>
      <p:sp>
        <p:nvSpPr>
          <p:cNvPr id="184" name="Rounded Rectangle 183">
            <a:extLst>
              <a:ext uri="{FF2B5EF4-FFF2-40B4-BE49-F238E27FC236}">
                <a16:creationId xmlns:a16="http://schemas.microsoft.com/office/drawing/2014/main" id="{171EBF60-11F4-1012-4C0A-45327E1E6E58}"/>
              </a:ext>
            </a:extLst>
          </p:cNvPr>
          <p:cNvSpPr/>
          <p:nvPr/>
        </p:nvSpPr>
        <p:spPr>
          <a:xfrm>
            <a:off x="5039116" y="2087858"/>
            <a:ext cx="2114384" cy="254817"/>
          </a:xfrm>
          <a:prstGeom prst="roundRect">
            <a:avLst>
              <a:gd name="adj" fmla="val 19371"/>
            </a:avLst>
          </a:prstGeom>
          <a:solidFill>
            <a:srgbClr val="FFFFFF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85" name="Rounded Rectangle 184">
            <a:extLst>
              <a:ext uri="{FF2B5EF4-FFF2-40B4-BE49-F238E27FC236}">
                <a16:creationId xmlns:a16="http://schemas.microsoft.com/office/drawing/2014/main" id="{629E8088-8A4A-884E-80BB-FE49E7D0067A}"/>
              </a:ext>
            </a:extLst>
          </p:cNvPr>
          <p:cNvSpPr/>
          <p:nvPr/>
        </p:nvSpPr>
        <p:spPr>
          <a:xfrm>
            <a:off x="5039116" y="2087858"/>
            <a:ext cx="20567" cy="254817"/>
          </a:xfrm>
          <a:prstGeom prst="roundRect">
            <a:avLst>
              <a:gd name="adj" fmla="val 50000"/>
            </a:avLst>
          </a:prstGeom>
          <a:solidFill>
            <a:srgbClr val="8A6FC0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799381FD-98C0-7E89-D24D-33EA50C0D736}"/>
              </a:ext>
            </a:extLst>
          </p:cNvPr>
          <p:cNvSpPr/>
          <p:nvPr/>
        </p:nvSpPr>
        <p:spPr>
          <a:xfrm>
            <a:off x="5100820" y="2096078"/>
            <a:ext cx="238588" cy="238377"/>
          </a:xfrm>
          <a:prstGeom prst="ellipse">
            <a:avLst/>
          </a:prstGeom>
          <a:solidFill>
            <a:srgbClr val="EEEAF7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187" name="Picture 186">
            <a:extLst>
              <a:ext uri="{FF2B5EF4-FFF2-40B4-BE49-F238E27FC236}">
                <a16:creationId xmlns:a16="http://schemas.microsoft.com/office/drawing/2014/main" id="{A2A8F994-5427-F343-6A8C-CBA25D934EE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13160" y="2108408"/>
            <a:ext cx="213906" cy="213717"/>
          </a:xfrm>
          <a:custGeom>
            <a:avLst/>
            <a:gdLst>
              <a:gd name="csX0" fmla="*/ 445 w 213906"/>
              <a:gd name="csY0" fmla="*/ 366 h 213717"/>
              <a:gd name="csX1" fmla="*/ 214352 w 213906"/>
              <a:gd name="csY1" fmla="*/ 366 h 213717"/>
              <a:gd name="csX2" fmla="*/ 214352 w 213906"/>
              <a:gd name="csY2" fmla="*/ 214084 h 213717"/>
              <a:gd name="csX3" fmla="*/ 445 w 213906"/>
              <a:gd name="csY3" fmla="*/ 214084 h 2137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3906" h="213717">
                <a:moveTo>
                  <a:pt x="445" y="366"/>
                </a:moveTo>
                <a:lnTo>
                  <a:pt x="214352" y="366"/>
                </a:lnTo>
                <a:lnTo>
                  <a:pt x="214352" y="214084"/>
                </a:lnTo>
                <a:lnTo>
                  <a:pt x="445" y="214084"/>
                </a:lnTo>
                <a:close/>
              </a:path>
            </a:pathLst>
          </a:custGeom>
        </p:spPr>
      </p:pic>
      <p:sp>
        <p:nvSpPr>
          <p:cNvPr id="188" name="Oval 187">
            <a:extLst>
              <a:ext uri="{FF2B5EF4-FFF2-40B4-BE49-F238E27FC236}">
                <a16:creationId xmlns:a16="http://schemas.microsoft.com/office/drawing/2014/main" id="{7600BD1E-5E85-C90B-3949-A6494239DB01}"/>
              </a:ext>
            </a:extLst>
          </p:cNvPr>
          <p:cNvSpPr/>
          <p:nvPr/>
        </p:nvSpPr>
        <p:spPr>
          <a:xfrm>
            <a:off x="5100820" y="2096078"/>
            <a:ext cx="238588" cy="238377"/>
          </a:xfrm>
          <a:prstGeom prst="ellipse">
            <a:avLst/>
          </a:prstGeom>
          <a:noFill/>
          <a:ln w="8221" cap="flat">
            <a:solidFill>
              <a:srgbClr val="8A6FC0">
                <a:alpha val="8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93311376-4ABF-529F-F4C8-E734ADD2616F}"/>
              </a:ext>
            </a:extLst>
          </p:cNvPr>
          <p:cNvSpPr txBox="1"/>
          <p:nvPr/>
        </p:nvSpPr>
        <p:spPr>
          <a:xfrm>
            <a:off x="5271331" y="2025333"/>
            <a:ext cx="1045383" cy="187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69" b="1" spc="0" baseline="0" dirty="0" err="1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Multiaversive</a:t>
            </a:r>
            <a:r>
              <a:rPr lang="en-US" sz="1069" b="1" spc="0" baseline="0" dirty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 (MPA2)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04C63D75-626C-ACD8-0770-E14160B5987B}"/>
              </a:ext>
            </a:extLst>
          </p:cNvPr>
          <p:cNvSpPr txBox="1"/>
          <p:nvPr/>
        </p:nvSpPr>
        <p:spPr>
          <a:xfrm>
            <a:off x="5271331" y="2171767"/>
            <a:ext cx="519027" cy="160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64" i="1" spc="0" baseline="0">
                <a:ln/>
                <a:solidFill>
                  <a:srgbClr val="7C8598"/>
                </a:solidFill>
                <a:latin typeface="Arial"/>
                <a:cs typeface="Arial"/>
                <a:sym typeface="Arial"/>
                <a:rtl val="0"/>
              </a:rPr>
              <a:t>Čeko · 2021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D620656D-1860-5855-0FE4-9DECFBC190F4}"/>
              </a:ext>
            </a:extLst>
          </p:cNvPr>
          <p:cNvSpPr txBox="1"/>
          <p:nvPr/>
        </p:nvSpPr>
        <p:spPr>
          <a:xfrm>
            <a:off x="4955903" y="2435393"/>
            <a:ext cx="719249" cy="148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37" b="1" spc="27" baseline="0">
                <a:ln/>
                <a:solidFill>
                  <a:srgbClr val="5F4A94"/>
                </a:solidFill>
                <a:latin typeface="Arial"/>
                <a:cs typeface="Arial"/>
                <a:sym typeface="Arial"/>
                <a:rtl val="0"/>
              </a:rPr>
              <a:t>NEGATIVE EMOTION</a:t>
            </a:r>
          </a:p>
        </p:txBody>
      </p:sp>
      <p:sp>
        <p:nvSpPr>
          <p:cNvPr id="192" name="Freeform 191">
            <a:extLst>
              <a:ext uri="{FF2B5EF4-FFF2-40B4-BE49-F238E27FC236}">
                <a16:creationId xmlns:a16="http://schemas.microsoft.com/office/drawing/2014/main" id="{D93B27ED-8D13-99D6-7414-86B090BE47F2}"/>
              </a:ext>
            </a:extLst>
          </p:cNvPr>
          <p:cNvSpPr/>
          <p:nvPr/>
        </p:nvSpPr>
        <p:spPr>
          <a:xfrm>
            <a:off x="5631472" y="2507074"/>
            <a:ext cx="1522027" cy="6052"/>
          </a:xfrm>
          <a:custGeom>
            <a:avLst/>
            <a:gdLst>
              <a:gd name="csX0" fmla="*/ 0 w 1522027"/>
              <a:gd name="csY0" fmla="*/ 0 h 6052"/>
              <a:gd name="csX1" fmla="*/ 1522028 w 1522027"/>
              <a:gd name="csY1" fmla="*/ 0 h 605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22027" h="6052">
                <a:moveTo>
                  <a:pt x="0" y="0"/>
                </a:moveTo>
                <a:lnTo>
                  <a:pt x="1522028" y="0"/>
                </a:lnTo>
              </a:path>
            </a:pathLst>
          </a:custGeom>
          <a:ln w="6163" cap="flat">
            <a:solidFill>
              <a:srgbClr val="8A6FC0">
                <a:alpha val="35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3" name="Rounded Rectangle 192">
            <a:extLst>
              <a:ext uri="{FF2B5EF4-FFF2-40B4-BE49-F238E27FC236}">
                <a16:creationId xmlns:a16="http://schemas.microsoft.com/office/drawing/2014/main" id="{2DED9473-9404-E036-F4CF-EF5AC190D2C5}"/>
              </a:ext>
            </a:extLst>
          </p:cNvPr>
          <p:cNvSpPr/>
          <p:nvPr/>
        </p:nvSpPr>
        <p:spPr>
          <a:xfrm>
            <a:off x="5039116" y="2576943"/>
            <a:ext cx="2114384" cy="254817"/>
          </a:xfrm>
          <a:prstGeom prst="roundRect">
            <a:avLst>
              <a:gd name="adj" fmla="val 19371"/>
            </a:avLst>
          </a:prstGeom>
          <a:solidFill>
            <a:srgbClr val="FFFFFF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4" name="Rounded Rectangle 193">
            <a:extLst>
              <a:ext uri="{FF2B5EF4-FFF2-40B4-BE49-F238E27FC236}">
                <a16:creationId xmlns:a16="http://schemas.microsoft.com/office/drawing/2014/main" id="{5BA43A31-D918-C6B6-709B-7E4EB4BF2D6D}"/>
              </a:ext>
            </a:extLst>
          </p:cNvPr>
          <p:cNvSpPr/>
          <p:nvPr/>
        </p:nvSpPr>
        <p:spPr>
          <a:xfrm>
            <a:off x="5039116" y="2576943"/>
            <a:ext cx="20567" cy="254817"/>
          </a:xfrm>
          <a:prstGeom prst="roundRect">
            <a:avLst>
              <a:gd name="adj" fmla="val 50000"/>
            </a:avLst>
          </a:prstGeom>
          <a:solidFill>
            <a:srgbClr val="8A6FC0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C80AC444-31FF-28DA-DE34-087E31F2D65B}"/>
              </a:ext>
            </a:extLst>
          </p:cNvPr>
          <p:cNvSpPr/>
          <p:nvPr/>
        </p:nvSpPr>
        <p:spPr>
          <a:xfrm>
            <a:off x="5100820" y="2585163"/>
            <a:ext cx="238588" cy="238377"/>
          </a:xfrm>
          <a:prstGeom prst="ellipse">
            <a:avLst/>
          </a:prstGeom>
          <a:solidFill>
            <a:srgbClr val="EEEAF7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196" name="Picture 195">
            <a:extLst>
              <a:ext uri="{FF2B5EF4-FFF2-40B4-BE49-F238E27FC236}">
                <a16:creationId xmlns:a16="http://schemas.microsoft.com/office/drawing/2014/main" id="{5F30CF90-FFB2-C359-CD70-8E581417C57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13160" y="2597493"/>
            <a:ext cx="213906" cy="213717"/>
          </a:xfrm>
          <a:custGeom>
            <a:avLst/>
            <a:gdLst>
              <a:gd name="csX0" fmla="*/ 445 w 213906"/>
              <a:gd name="csY0" fmla="*/ 447 h 213717"/>
              <a:gd name="csX1" fmla="*/ 214352 w 213906"/>
              <a:gd name="csY1" fmla="*/ 447 h 213717"/>
              <a:gd name="csX2" fmla="*/ 214352 w 213906"/>
              <a:gd name="csY2" fmla="*/ 214165 h 213717"/>
              <a:gd name="csX3" fmla="*/ 445 w 213906"/>
              <a:gd name="csY3" fmla="*/ 214165 h 2137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3906" h="213717">
                <a:moveTo>
                  <a:pt x="445" y="447"/>
                </a:moveTo>
                <a:lnTo>
                  <a:pt x="214352" y="447"/>
                </a:lnTo>
                <a:lnTo>
                  <a:pt x="214352" y="214165"/>
                </a:lnTo>
                <a:lnTo>
                  <a:pt x="445" y="214165"/>
                </a:lnTo>
                <a:close/>
              </a:path>
            </a:pathLst>
          </a:custGeom>
        </p:spPr>
      </p:pic>
      <p:sp>
        <p:nvSpPr>
          <p:cNvPr id="197" name="Oval 196">
            <a:extLst>
              <a:ext uri="{FF2B5EF4-FFF2-40B4-BE49-F238E27FC236}">
                <a16:creationId xmlns:a16="http://schemas.microsoft.com/office/drawing/2014/main" id="{B5ED6F49-7392-0EBD-8E79-0E20E4BA0F11}"/>
              </a:ext>
            </a:extLst>
          </p:cNvPr>
          <p:cNvSpPr/>
          <p:nvPr/>
        </p:nvSpPr>
        <p:spPr>
          <a:xfrm>
            <a:off x="5100820" y="2585163"/>
            <a:ext cx="238588" cy="238377"/>
          </a:xfrm>
          <a:prstGeom prst="ellipse">
            <a:avLst/>
          </a:prstGeom>
          <a:noFill/>
          <a:ln w="8221" cap="flat">
            <a:solidFill>
              <a:srgbClr val="8A6FC0">
                <a:alpha val="8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108945B1-4858-5061-B18F-23FF7728B416}"/>
              </a:ext>
            </a:extLst>
          </p:cNvPr>
          <p:cNvSpPr txBox="1"/>
          <p:nvPr/>
        </p:nvSpPr>
        <p:spPr>
          <a:xfrm>
            <a:off x="5280957" y="2543296"/>
            <a:ext cx="1138180" cy="187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69" b="1" spc="0" baseline="0" dirty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Negative affect (PINES)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A7835162-D450-302F-33C9-CFD0D21401EB}"/>
              </a:ext>
            </a:extLst>
          </p:cNvPr>
          <p:cNvSpPr txBox="1"/>
          <p:nvPr/>
        </p:nvSpPr>
        <p:spPr>
          <a:xfrm>
            <a:off x="5276144" y="2680102"/>
            <a:ext cx="556808" cy="160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64" i="1" spc="0" baseline="0">
                <a:ln/>
                <a:solidFill>
                  <a:srgbClr val="7C8598"/>
                </a:solidFill>
                <a:latin typeface="Arial"/>
                <a:cs typeface="Arial"/>
                <a:sym typeface="Arial"/>
                <a:rtl val="0"/>
              </a:rPr>
              <a:t>Chang · 2015</a:t>
            </a:r>
          </a:p>
        </p:txBody>
      </p:sp>
      <p:sp>
        <p:nvSpPr>
          <p:cNvPr id="200" name="Rounded Rectangle 199">
            <a:extLst>
              <a:ext uri="{FF2B5EF4-FFF2-40B4-BE49-F238E27FC236}">
                <a16:creationId xmlns:a16="http://schemas.microsoft.com/office/drawing/2014/main" id="{977FB7B9-4325-5FE0-8582-1D17EFE9ADA4}"/>
              </a:ext>
            </a:extLst>
          </p:cNvPr>
          <p:cNvSpPr/>
          <p:nvPr/>
        </p:nvSpPr>
        <p:spPr>
          <a:xfrm>
            <a:off x="5039116" y="2868750"/>
            <a:ext cx="2114384" cy="254817"/>
          </a:xfrm>
          <a:prstGeom prst="roundRect">
            <a:avLst>
              <a:gd name="adj" fmla="val 19371"/>
            </a:avLst>
          </a:prstGeom>
          <a:solidFill>
            <a:srgbClr val="FFFFFF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1" name="Rounded Rectangle 200">
            <a:extLst>
              <a:ext uri="{FF2B5EF4-FFF2-40B4-BE49-F238E27FC236}">
                <a16:creationId xmlns:a16="http://schemas.microsoft.com/office/drawing/2014/main" id="{A6E9158D-FC29-17C3-BD20-D940D1A4ACF4}"/>
              </a:ext>
            </a:extLst>
          </p:cNvPr>
          <p:cNvSpPr/>
          <p:nvPr/>
        </p:nvSpPr>
        <p:spPr>
          <a:xfrm>
            <a:off x="5039116" y="2868750"/>
            <a:ext cx="20567" cy="254817"/>
          </a:xfrm>
          <a:prstGeom prst="roundRect">
            <a:avLst>
              <a:gd name="adj" fmla="val 50000"/>
            </a:avLst>
          </a:prstGeom>
          <a:solidFill>
            <a:srgbClr val="8A6FC0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37A622B1-AF34-82F7-559F-B3B2FFE5C7E8}"/>
              </a:ext>
            </a:extLst>
          </p:cNvPr>
          <p:cNvSpPr/>
          <p:nvPr/>
        </p:nvSpPr>
        <p:spPr>
          <a:xfrm>
            <a:off x="5100820" y="2876970"/>
            <a:ext cx="238588" cy="238377"/>
          </a:xfrm>
          <a:prstGeom prst="ellipse">
            <a:avLst/>
          </a:prstGeom>
          <a:solidFill>
            <a:srgbClr val="EEEAF7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203" name="Picture 202">
            <a:extLst>
              <a:ext uri="{FF2B5EF4-FFF2-40B4-BE49-F238E27FC236}">
                <a16:creationId xmlns:a16="http://schemas.microsoft.com/office/drawing/2014/main" id="{EE5625F0-F7F2-1D7E-00D5-C112BFFBCBE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13160" y="2889300"/>
            <a:ext cx="213906" cy="213717"/>
          </a:xfrm>
          <a:custGeom>
            <a:avLst/>
            <a:gdLst>
              <a:gd name="csX0" fmla="*/ 445 w 213906"/>
              <a:gd name="csY0" fmla="*/ 495 h 213717"/>
              <a:gd name="csX1" fmla="*/ 214352 w 213906"/>
              <a:gd name="csY1" fmla="*/ 495 h 213717"/>
              <a:gd name="csX2" fmla="*/ 214352 w 213906"/>
              <a:gd name="csY2" fmla="*/ 214213 h 213717"/>
              <a:gd name="csX3" fmla="*/ 445 w 213906"/>
              <a:gd name="csY3" fmla="*/ 214213 h 2137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3906" h="213717">
                <a:moveTo>
                  <a:pt x="445" y="495"/>
                </a:moveTo>
                <a:lnTo>
                  <a:pt x="214352" y="495"/>
                </a:lnTo>
                <a:lnTo>
                  <a:pt x="214352" y="214213"/>
                </a:lnTo>
                <a:lnTo>
                  <a:pt x="445" y="214213"/>
                </a:lnTo>
                <a:close/>
              </a:path>
            </a:pathLst>
          </a:custGeom>
        </p:spPr>
      </p:pic>
      <p:sp>
        <p:nvSpPr>
          <p:cNvPr id="204" name="Oval 203">
            <a:extLst>
              <a:ext uri="{FF2B5EF4-FFF2-40B4-BE49-F238E27FC236}">
                <a16:creationId xmlns:a16="http://schemas.microsoft.com/office/drawing/2014/main" id="{F8097633-9973-C473-95AE-7784B83D8628}"/>
              </a:ext>
            </a:extLst>
          </p:cNvPr>
          <p:cNvSpPr/>
          <p:nvPr/>
        </p:nvSpPr>
        <p:spPr>
          <a:xfrm>
            <a:off x="5100820" y="2876970"/>
            <a:ext cx="238588" cy="238377"/>
          </a:xfrm>
          <a:prstGeom prst="ellipse">
            <a:avLst/>
          </a:prstGeom>
          <a:noFill/>
          <a:ln w="8221" cap="flat">
            <a:solidFill>
              <a:srgbClr val="8A6FC0">
                <a:alpha val="8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1BC4B565-2721-B8B0-0A41-A1265EF2D285}"/>
              </a:ext>
            </a:extLst>
          </p:cNvPr>
          <p:cNvSpPr txBox="1"/>
          <p:nvPr/>
        </p:nvSpPr>
        <p:spPr>
          <a:xfrm>
            <a:off x="5280957" y="2835103"/>
            <a:ext cx="1262865" cy="187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69" b="1" spc="0" baseline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Negative emotions (BPLS)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DCAEE05B-6092-A1FB-7779-104D7BE561E6}"/>
              </a:ext>
            </a:extLst>
          </p:cNvPr>
          <p:cNvSpPr txBox="1"/>
          <p:nvPr/>
        </p:nvSpPr>
        <p:spPr>
          <a:xfrm>
            <a:off x="5276144" y="2971909"/>
            <a:ext cx="553343" cy="160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64" i="1" spc="0" baseline="0">
                <a:ln/>
                <a:solidFill>
                  <a:srgbClr val="7C8598"/>
                </a:solidFill>
                <a:latin typeface="Arial"/>
                <a:cs typeface="Arial"/>
                <a:sym typeface="Arial"/>
                <a:rtl val="0"/>
              </a:rPr>
              <a:t>Kragel · 2015</a:t>
            </a:r>
          </a:p>
        </p:txBody>
      </p:sp>
      <p:sp>
        <p:nvSpPr>
          <p:cNvPr id="207" name="Rounded Rectangle 206">
            <a:extLst>
              <a:ext uri="{FF2B5EF4-FFF2-40B4-BE49-F238E27FC236}">
                <a16:creationId xmlns:a16="http://schemas.microsoft.com/office/drawing/2014/main" id="{E5943A7D-B507-23C1-5CC7-809BF97F92AA}"/>
              </a:ext>
            </a:extLst>
          </p:cNvPr>
          <p:cNvSpPr/>
          <p:nvPr/>
        </p:nvSpPr>
        <p:spPr>
          <a:xfrm>
            <a:off x="5039116" y="3160557"/>
            <a:ext cx="2114384" cy="254817"/>
          </a:xfrm>
          <a:prstGeom prst="roundRect">
            <a:avLst>
              <a:gd name="adj" fmla="val 19371"/>
            </a:avLst>
          </a:prstGeom>
          <a:solidFill>
            <a:srgbClr val="FFFFFF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8" name="Rounded Rectangle 207">
            <a:extLst>
              <a:ext uri="{FF2B5EF4-FFF2-40B4-BE49-F238E27FC236}">
                <a16:creationId xmlns:a16="http://schemas.microsoft.com/office/drawing/2014/main" id="{09BC9F4D-1889-88F4-2429-0189FD0F8EC4}"/>
              </a:ext>
            </a:extLst>
          </p:cNvPr>
          <p:cNvSpPr/>
          <p:nvPr/>
        </p:nvSpPr>
        <p:spPr>
          <a:xfrm>
            <a:off x="5039116" y="3160557"/>
            <a:ext cx="20567" cy="254817"/>
          </a:xfrm>
          <a:prstGeom prst="roundRect">
            <a:avLst>
              <a:gd name="adj" fmla="val 50000"/>
            </a:avLst>
          </a:prstGeom>
          <a:solidFill>
            <a:srgbClr val="8A6FC0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158AA63C-453F-AA9B-EE36-1A4576241D15}"/>
              </a:ext>
            </a:extLst>
          </p:cNvPr>
          <p:cNvSpPr/>
          <p:nvPr/>
        </p:nvSpPr>
        <p:spPr>
          <a:xfrm>
            <a:off x="5100820" y="3168777"/>
            <a:ext cx="238588" cy="238377"/>
          </a:xfrm>
          <a:prstGeom prst="ellipse">
            <a:avLst/>
          </a:prstGeom>
          <a:solidFill>
            <a:srgbClr val="EEEAF7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210" name="Picture 209">
            <a:extLst>
              <a:ext uri="{FF2B5EF4-FFF2-40B4-BE49-F238E27FC236}">
                <a16:creationId xmlns:a16="http://schemas.microsoft.com/office/drawing/2014/main" id="{98280935-9498-874A-A4CE-063D8E85EE1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113160" y="3181107"/>
            <a:ext cx="213906" cy="213717"/>
          </a:xfrm>
          <a:custGeom>
            <a:avLst/>
            <a:gdLst>
              <a:gd name="csX0" fmla="*/ 445 w 213906"/>
              <a:gd name="csY0" fmla="*/ 543 h 213717"/>
              <a:gd name="csX1" fmla="*/ 214352 w 213906"/>
              <a:gd name="csY1" fmla="*/ 543 h 213717"/>
              <a:gd name="csX2" fmla="*/ 214352 w 213906"/>
              <a:gd name="csY2" fmla="*/ 214261 h 213717"/>
              <a:gd name="csX3" fmla="*/ 445 w 213906"/>
              <a:gd name="csY3" fmla="*/ 214261 h 2137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3906" h="213717">
                <a:moveTo>
                  <a:pt x="445" y="543"/>
                </a:moveTo>
                <a:lnTo>
                  <a:pt x="214352" y="543"/>
                </a:lnTo>
                <a:lnTo>
                  <a:pt x="214352" y="214261"/>
                </a:lnTo>
                <a:lnTo>
                  <a:pt x="445" y="214261"/>
                </a:lnTo>
                <a:close/>
              </a:path>
            </a:pathLst>
          </a:custGeom>
        </p:spPr>
      </p:pic>
      <p:sp>
        <p:nvSpPr>
          <p:cNvPr id="211" name="Oval 210">
            <a:extLst>
              <a:ext uri="{FF2B5EF4-FFF2-40B4-BE49-F238E27FC236}">
                <a16:creationId xmlns:a16="http://schemas.microsoft.com/office/drawing/2014/main" id="{76BC2182-983D-81F2-45A3-1305B3EAFF6B}"/>
              </a:ext>
            </a:extLst>
          </p:cNvPr>
          <p:cNvSpPr/>
          <p:nvPr/>
        </p:nvSpPr>
        <p:spPr>
          <a:xfrm>
            <a:off x="5100820" y="3168777"/>
            <a:ext cx="238588" cy="238377"/>
          </a:xfrm>
          <a:prstGeom prst="ellipse">
            <a:avLst/>
          </a:prstGeom>
          <a:noFill/>
          <a:ln w="8221" cap="flat">
            <a:solidFill>
              <a:srgbClr val="8A6FC0">
                <a:alpha val="8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98953668-1D5F-F6F6-E1F4-39905DE71366}"/>
              </a:ext>
            </a:extLst>
          </p:cNvPr>
          <p:cNvSpPr txBox="1"/>
          <p:nvPr/>
        </p:nvSpPr>
        <p:spPr>
          <a:xfrm>
            <a:off x="5280957" y="3126910"/>
            <a:ext cx="1296694" cy="187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69" b="1" spc="0" baseline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Negative emotion schemas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CCBDEABF-5701-2322-70FB-6BF123357748}"/>
              </a:ext>
            </a:extLst>
          </p:cNvPr>
          <p:cNvSpPr txBox="1"/>
          <p:nvPr/>
        </p:nvSpPr>
        <p:spPr>
          <a:xfrm>
            <a:off x="5276144" y="3263716"/>
            <a:ext cx="553343" cy="160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64" i="1" spc="0" baseline="0">
                <a:ln/>
                <a:solidFill>
                  <a:srgbClr val="7C8598"/>
                </a:solidFill>
                <a:latin typeface="Arial"/>
                <a:cs typeface="Arial"/>
                <a:sym typeface="Arial"/>
                <a:rtl val="0"/>
              </a:rPr>
              <a:t>Kragel · 2019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8DB4F44F-AEA6-CA20-6FCA-A2808947750B}"/>
              </a:ext>
            </a:extLst>
          </p:cNvPr>
          <p:cNvSpPr txBox="1"/>
          <p:nvPr/>
        </p:nvSpPr>
        <p:spPr>
          <a:xfrm>
            <a:off x="4955903" y="3508092"/>
            <a:ext cx="704962" cy="148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37" b="1" spc="27" baseline="0">
                <a:ln/>
                <a:solidFill>
                  <a:srgbClr val="5F4A94"/>
                </a:solidFill>
                <a:latin typeface="Arial"/>
                <a:cs typeface="Arial"/>
                <a:sym typeface="Arial"/>
                <a:rtl val="0"/>
              </a:rPr>
              <a:t>SOCIAL COGNITION</a:t>
            </a:r>
          </a:p>
        </p:txBody>
      </p:sp>
      <p:sp>
        <p:nvSpPr>
          <p:cNvPr id="215" name="Freeform 214">
            <a:extLst>
              <a:ext uri="{FF2B5EF4-FFF2-40B4-BE49-F238E27FC236}">
                <a16:creationId xmlns:a16="http://schemas.microsoft.com/office/drawing/2014/main" id="{464AC45D-84F4-8A06-2FD0-94ECF418C88E}"/>
              </a:ext>
            </a:extLst>
          </p:cNvPr>
          <p:cNvSpPr/>
          <p:nvPr/>
        </p:nvSpPr>
        <p:spPr>
          <a:xfrm>
            <a:off x="5606791" y="3579773"/>
            <a:ext cx="1546709" cy="6052"/>
          </a:xfrm>
          <a:custGeom>
            <a:avLst/>
            <a:gdLst>
              <a:gd name="csX0" fmla="*/ 0 w 1546709"/>
              <a:gd name="csY0" fmla="*/ 0 h 6052"/>
              <a:gd name="csX1" fmla="*/ 1546709 w 1546709"/>
              <a:gd name="csY1" fmla="*/ 0 h 605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46709" h="6052">
                <a:moveTo>
                  <a:pt x="0" y="0"/>
                </a:moveTo>
                <a:lnTo>
                  <a:pt x="1546709" y="0"/>
                </a:lnTo>
              </a:path>
            </a:pathLst>
          </a:custGeom>
          <a:ln w="6163" cap="flat">
            <a:solidFill>
              <a:srgbClr val="8A6FC0">
                <a:alpha val="35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6" name="Rounded Rectangle 215">
            <a:extLst>
              <a:ext uri="{FF2B5EF4-FFF2-40B4-BE49-F238E27FC236}">
                <a16:creationId xmlns:a16="http://schemas.microsoft.com/office/drawing/2014/main" id="{0C151D46-86C9-8E0C-90DF-BABC9D49216D}"/>
              </a:ext>
            </a:extLst>
          </p:cNvPr>
          <p:cNvSpPr/>
          <p:nvPr/>
        </p:nvSpPr>
        <p:spPr>
          <a:xfrm>
            <a:off x="5039116" y="3649642"/>
            <a:ext cx="2114384" cy="254817"/>
          </a:xfrm>
          <a:prstGeom prst="roundRect">
            <a:avLst>
              <a:gd name="adj" fmla="val 19371"/>
            </a:avLst>
          </a:prstGeom>
          <a:solidFill>
            <a:srgbClr val="FFFFFF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7" name="Rounded Rectangle 216">
            <a:extLst>
              <a:ext uri="{FF2B5EF4-FFF2-40B4-BE49-F238E27FC236}">
                <a16:creationId xmlns:a16="http://schemas.microsoft.com/office/drawing/2014/main" id="{A2699AB0-279E-8FC4-2BA0-B7DE8EAC680E}"/>
              </a:ext>
            </a:extLst>
          </p:cNvPr>
          <p:cNvSpPr/>
          <p:nvPr/>
        </p:nvSpPr>
        <p:spPr>
          <a:xfrm>
            <a:off x="5039116" y="3649642"/>
            <a:ext cx="20567" cy="254817"/>
          </a:xfrm>
          <a:prstGeom prst="roundRect">
            <a:avLst>
              <a:gd name="adj" fmla="val 50000"/>
            </a:avLst>
          </a:prstGeom>
          <a:solidFill>
            <a:srgbClr val="8A6FC0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B9482CE0-F83F-2CFA-F8DC-6B92FD627845}"/>
              </a:ext>
            </a:extLst>
          </p:cNvPr>
          <p:cNvSpPr/>
          <p:nvPr/>
        </p:nvSpPr>
        <p:spPr>
          <a:xfrm>
            <a:off x="5100820" y="3657862"/>
            <a:ext cx="238588" cy="238377"/>
          </a:xfrm>
          <a:prstGeom prst="ellipse">
            <a:avLst/>
          </a:prstGeom>
          <a:solidFill>
            <a:srgbClr val="EEEAF7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219" name="Picture 218">
            <a:extLst>
              <a:ext uri="{FF2B5EF4-FFF2-40B4-BE49-F238E27FC236}">
                <a16:creationId xmlns:a16="http://schemas.microsoft.com/office/drawing/2014/main" id="{F8FD82DA-9E9A-A6C3-1288-51A3A0B0E51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13160" y="3670192"/>
            <a:ext cx="213906" cy="213717"/>
          </a:xfrm>
          <a:custGeom>
            <a:avLst/>
            <a:gdLst>
              <a:gd name="csX0" fmla="*/ 445 w 213906"/>
              <a:gd name="csY0" fmla="*/ 624 h 213717"/>
              <a:gd name="csX1" fmla="*/ 214352 w 213906"/>
              <a:gd name="csY1" fmla="*/ 624 h 213717"/>
              <a:gd name="csX2" fmla="*/ 214352 w 213906"/>
              <a:gd name="csY2" fmla="*/ 214342 h 213717"/>
              <a:gd name="csX3" fmla="*/ 445 w 213906"/>
              <a:gd name="csY3" fmla="*/ 214342 h 2137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3906" h="213717">
                <a:moveTo>
                  <a:pt x="445" y="624"/>
                </a:moveTo>
                <a:lnTo>
                  <a:pt x="214352" y="624"/>
                </a:lnTo>
                <a:lnTo>
                  <a:pt x="214352" y="214342"/>
                </a:lnTo>
                <a:lnTo>
                  <a:pt x="445" y="214342"/>
                </a:lnTo>
                <a:close/>
              </a:path>
            </a:pathLst>
          </a:custGeom>
        </p:spPr>
      </p:pic>
      <p:sp>
        <p:nvSpPr>
          <p:cNvPr id="220" name="Oval 219">
            <a:extLst>
              <a:ext uri="{FF2B5EF4-FFF2-40B4-BE49-F238E27FC236}">
                <a16:creationId xmlns:a16="http://schemas.microsoft.com/office/drawing/2014/main" id="{B9B4BF86-51F6-FA0A-CA03-F7A8C4882D50}"/>
              </a:ext>
            </a:extLst>
          </p:cNvPr>
          <p:cNvSpPr/>
          <p:nvPr/>
        </p:nvSpPr>
        <p:spPr>
          <a:xfrm>
            <a:off x="5100820" y="3657862"/>
            <a:ext cx="238588" cy="238377"/>
          </a:xfrm>
          <a:prstGeom prst="ellipse">
            <a:avLst/>
          </a:prstGeom>
          <a:noFill/>
          <a:ln w="8221" cap="flat">
            <a:solidFill>
              <a:srgbClr val="8A6FC0">
                <a:alpha val="8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D83C3B8D-214D-0AFF-E7F7-5783802D8697}"/>
              </a:ext>
            </a:extLst>
          </p:cNvPr>
          <p:cNvSpPr txBox="1"/>
          <p:nvPr/>
        </p:nvSpPr>
        <p:spPr>
          <a:xfrm>
            <a:off x="5285770" y="3577492"/>
            <a:ext cx="927025" cy="187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69" b="1" spc="0" baseline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Empathic distress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09C90D7A-7EF7-5A31-B273-0E9F5E879F58}"/>
              </a:ext>
            </a:extLst>
          </p:cNvPr>
          <p:cNvSpPr txBox="1"/>
          <p:nvPr/>
        </p:nvSpPr>
        <p:spPr>
          <a:xfrm>
            <a:off x="5285770" y="3723926"/>
            <a:ext cx="536170" cy="160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64" i="1" spc="0" baseline="0">
                <a:ln/>
                <a:solidFill>
                  <a:srgbClr val="7C8598"/>
                </a:solidFill>
                <a:latin typeface="Arial"/>
                <a:cs typeface="Arial"/>
                <a:sym typeface="Arial"/>
                <a:rtl val="0"/>
              </a:rPr>
              <a:t>Ashar · 2017</a:t>
            </a:r>
          </a:p>
        </p:txBody>
      </p:sp>
      <p:sp>
        <p:nvSpPr>
          <p:cNvPr id="223" name="Rounded Rectangle 222">
            <a:extLst>
              <a:ext uri="{FF2B5EF4-FFF2-40B4-BE49-F238E27FC236}">
                <a16:creationId xmlns:a16="http://schemas.microsoft.com/office/drawing/2014/main" id="{DCF6CC74-31C2-CE3A-9B5F-1B17E3557A48}"/>
              </a:ext>
            </a:extLst>
          </p:cNvPr>
          <p:cNvSpPr/>
          <p:nvPr/>
        </p:nvSpPr>
        <p:spPr>
          <a:xfrm>
            <a:off x="5039116" y="3941449"/>
            <a:ext cx="2114384" cy="254817"/>
          </a:xfrm>
          <a:prstGeom prst="roundRect">
            <a:avLst>
              <a:gd name="adj" fmla="val 19371"/>
            </a:avLst>
          </a:prstGeom>
          <a:solidFill>
            <a:srgbClr val="FFFFFF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24" name="Rounded Rectangle 223">
            <a:extLst>
              <a:ext uri="{FF2B5EF4-FFF2-40B4-BE49-F238E27FC236}">
                <a16:creationId xmlns:a16="http://schemas.microsoft.com/office/drawing/2014/main" id="{AF170060-A7BA-E7D2-6B59-CD02CAD7D884}"/>
              </a:ext>
            </a:extLst>
          </p:cNvPr>
          <p:cNvSpPr/>
          <p:nvPr/>
        </p:nvSpPr>
        <p:spPr>
          <a:xfrm>
            <a:off x="5039116" y="3941449"/>
            <a:ext cx="20567" cy="254817"/>
          </a:xfrm>
          <a:prstGeom prst="roundRect">
            <a:avLst>
              <a:gd name="adj" fmla="val 50000"/>
            </a:avLst>
          </a:prstGeom>
          <a:solidFill>
            <a:srgbClr val="8A6FC0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CC4CE84F-CBE3-09B6-196C-0EFD6353F477}"/>
              </a:ext>
            </a:extLst>
          </p:cNvPr>
          <p:cNvSpPr/>
          <p:nvPr/>
        </p:nvSpPr>
        <p:spPr>
          <a:xfrm>
            <a:off x="5100820" y="3949669"/>
            <a:ext cx="238588" cy="238377"/>
          </a:xfrm>
          <a:prstGeom prst="ellipse">
            <a:avLst/>
          </a:prstGeom>
          <a:solidFill>
            <a:srgbClr val="EEEAF7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226" name="Picture 225">
            <a:extLst>
              <a:ext uri="{FF2B5EF4-FFF2-40B4-BE49-F238E27FC236}">
                <a16:creationId xmlns:a16="http://schemas.microsoft.com/office/drawing/2014/main" id="{26D57CFF-8458-012C-AD53-4FF597AA9DD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113160" y="3961999"/>
            <a:ext cx="213906" cy="213717"/>
          </a:xfrm>
          <a:custGeom>
            <a:avLst/>
            <a:gdLst>
              <a:gd name="csX0" fmla="*/ 445 w 213906"/>
              <a:gd name="csY0" fmla="*/ 672 h 213717"/>
              <a:gd name="csX1" fmla="*/ 214352 w 213906"/>
              <a:gd name="csY1" fmla="*/ 672 h 213717"/>
              <a:gd name="csX2" fmla="*/ 214352 w 213906"/>
              <a:gd name="csY2" fmla="*/ 214390 h 213717"/>
              <a:gd name="csX3" fmla="*/ 445 w 213906"/>
              <a:gd name="csY3" fmla="*/ 214390 h 2137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3906" h="213717">
                <a:moveTo>
                  <a:pt x="445" y="672"/>
                </a:moveTo>
                <a:lnTo>
                  <a:pt x="214352" y="672"/>
                </a:lnTo>
                <a:lnTo>
                  <a:pt x="214352" y="214390"/>
                </a:lnTo>
                <a:lnTo>
                  <a:pt x="445" y="214390"/>
                </a:lnTo>
                <a:close/>
              </a:path>
            </a:pathLst>
          </a:custGeom>
        </p:spPr>
      </p:pic>
      <p:sp>
        <p:nvSpPr>
          <p:cNvPr id="227" name="Oval 226">
            <a:extLst>
              <a:ext uri="{FF2B5EF4-FFF2-40B4-BE49-F238E27FC236}">
                <a16:creationId xmlns:a16="http://schemas.microsoft.com/office/drawing/2014/main" id="{438FA3AD-6A27-EB6A-DF73-1DD0712C0F98}"/>
              </a:ext>
            </a:extLst>
          </p:cNvPr>
          <p:cNvSpPr/>
          <p:nvPr/>
        </p:nvSpPr>
        <p:spPr>
          <a:xfrm>
            <a:off x="5100820" y="3949669"/>
            <a:ext cx="238588" cy="238377"/>
          </a:xfrm>
          <a:prstGeom prst="ellipse">
            <a:avLst/>
          </a:prstGeom>
          <a:noFill/>
          <a:ln w="8221" cap="flat">
            <a:solidFill>
              <a:srgbClr val="8A6FC0">
                <a:alpha val="8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8CD0C13C-15E9-1E55-7186-909D8F60EAE4}"/>
              </a:ext>
            </a:extLst>
          </p:cNvPr>
          <p:cNvSpPr txBox="1"/>
          <p:nvPr/>
        </p:nvSpPr>
        <p:spPr>
          <a:xfrm>
            <a:off x="5285770" y="3869299"/>
            <a:ext cx="936431" cy="187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69" b="1" spc="0" baseline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Interpersonal guilt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78D4B93C-C9D4-17BF-85DA-FEF31498471B}"/>
              </a:ext>
            </a:extLst>
          </p:cNvPr>
          <p:cNvSpPr txBox="1"/>
          <p:nvPr/>
        </p:nvSpPr>
        <p:spPr>
          <a:xfrm>
            <a:off x="5285770" y="4015733"/>
            <a:ext cx="448164" cy="160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64" i="1" spc="0" baseline="0">
                <a:ln/>
                <a:solidFill>
                  <a:srgbClr val="7C8598"/>
                </a:solidFill>
                <a:latin typeface="Arial"/>
                <a:cs typeface="Arial"/>
                <a:sym typeface="Arial"/>
                <a:rtl val="0"/>
              </a:rPr>
              <a:t>Yu · 2019</a:t>
            </a:r>
          </a:p>
        </p:txBody>
      </p:sp>
      <p:sp>
        <p:nvSpPr>
          <p:cNvPr id="230" name="Rounded Rectangle 229">
            <a:extLst>
              <a:ext uri="{FF2B5EF4-FFF2-40B4-BE49-F238E27FC236}">
                <a16:creationId xmlns:a16="http://schemas.microsoft.com/office/drawing/2014/main" id="{B5777BD3-84D0-3F30-E23E-DA3A12F3324E}"/>
              </a:ext>
            </a:extLst>
          </p:cNvPr>
          <p:cNvSpPr/>
          <p:nvPr/>
        </p:nvSpPr>
        <p:spPr>
          <a:xfrm>
            <a:off x="5039116" y="4233256"/>
            <a:ext cx="2114384" cy="254817"/>
          </a:xfrm>
          <a:prstGeom prst="roundRect">
            <a:avLst>
              <a:gd name="adj" fmla="val 19371"/>
            </a:avLst>
          </a:prstGeom>
          <a:solidFill>
            <a:srgbClr val="FFFFFF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31" name="Rounded Rectangle 230">
            <a:extLst>
              <a:ext uri="{FF2B5EF4-FFF2-40B4-BE49-F238E27FC236}">
                <a16:creationId xmlns:a16="http://schemas.microsoft.com/office/drawing/2014/main" id="{54A36DF6-F6DF-22F6-A4D0-242D447D7D76}"/>
              </a:ext>
            </a:extLst>
          </p:cNvPr>
          <p:cNvSpPr/>
          <p:nvPr/>
        </p:nvSpPr>
        <p:spPr>
          <a:xfrm>
            <a:off x="5039116" y="4233256"/>
            <a:ext cx="20567" cy="254817"/>
          </a:xfrm>
          <a:prstGeom prst="roundRect">
            <a:avLst>
              <a:gd name="adj" fmla="val 50000"/>
            </a:avLst>
          </a:prstGeom>
          <a:solidFill>
            <a:srgbClr val="8A6FC0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F86D8BFA-D5A0-6F20-C0ED-837C59106FC9}"/>
              </a:ext>
            </a:extLst>
          </p:cNvPr>
          <p:cNvSpPr/>
          <p:nvPr/>
        </p:nvSpPr>
        <p:spPr>
          <a:xfrm>
            <a:off x="5100820" y="4241476"/>
            <a:ext cx="238588" cy="238377"/>
          </a:xfrm>
          <a:prstGeom prst="ellipse">
            <a:avLst/>
          </a:prstGeom>
          <a:solidFill>
            <a:srgbClr val="EEEAF7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233" name="Picture 232">
            <a:extLst>
              <a:ext uri="{FF2B5EF4-FFF2-40B4-BE49-F238E27FC236}">
                <a16:creationId xmlns:a16="http://schemas.microsoft.com/office/drawing/2014/main" id="{408D410F-D700-A1BB-B24A-CE0CB9B8024F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113160" y="4253806"/>
            <a:ext cx="213906" cy="213717"/>
          </a:xfrm>
          <a:custGeom>
            <a:avLst/>
            <a:gdLst>
              <a:gd name="csX0" fmla="*/ 445 w 213906"/>
              <a:gd name="csY0" fmla="*/ 720 h 213717"/>
              <a:gd name="csX1" fmla="*/ 214352 w 213906"/>
              <a:gd name="csY1" fmla="*/ 720 h 213717"/>
              <a:gd name="csX2" fmla="*/ 214352 w 213906"/>
              <a:gd name="csY2" fmla="*/ 214438 h 213717"/>
              <a:gd name="csX3" fmla="*/ 445 w 213906"/>
              <a:gd name="csY3" fmla="*/ 214438 h 2137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3906" h="213717">
                <a:moveTo>
                  <a:pt x="445" y="720"/>
                </a:moveTo>
                <a:lnTo>
                  <a:pt x="214352" y="720"/>
                </a:lnTo>
                <a:lnTo>
                  <a:pt x="214352" y="214438"/>
                </a:lnTo>
                <a:lnTo>
                  <a:pt x="445" y="214438"/>
                </a:lnTo>
                <a:close/>
              </a:path>
            </a:pathLst>
          </a:custGeom>
        </p:spPr>
      </p:pic>
      <p:sp>
        <p:nvSpPr>
          <p:cNvPr id="234" name="Oval 233">
            <a:extLst>
              <a:ext uri="{FF2B5EF4-FFF2-40B4-BE49-F238E27FC236}">
                <a16:creationId xmlns:a16="http://schemas.microsoft.com/office/drawing/2014/main" id="{43B41F4B-51F4-8803-6A42-7BD54EA3875C}"/>
              </a:ext>
            </a:extLst>
          </p:cNvPr>
          <p:cNvSpPr/>
          <p:nvPr/>
        </p:nvSpPr>
        <p:spPr>
          <a:xfrm>
            <a:off x="5100820" y="4241476"/>
            <a:ext cx="238588" cy="238377"/>
          </a:xfrm>
          <a:prstGeom prst="ellipse">
            <a:avLst/>
          </a:prstGeom>
          <a:noFill/>
          <a:ln w="8221" cap="flat">
            <a:solidFill>
              <a:srgbClr val="8A6FC0">
                <a:alpha val="8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D6C9E387-A69E-9444-F43C-C5FC50C8F2FB}"/>
              </a:ext>
            </a:extLst>
          </p:cNvPr>
          <p:cNvSpPr txBox="1"/>
          <p:nvPr/>
        </p:nvSpPr>
        <p:spPr>
          <a:xfrm>
            <a:off x="5285770" y="4194797"/>
            <a:ext cx="1262823" cy="187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69" b="1" spc="0" baseline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Romantic rejection (dpSP)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21A3C379-BC2A-D295-AFB1-DBE4A33D428B}"/>
              </a:ext>
            </a:extLst>
          </p:cNvPr>
          <p:cNvSpPr txBox="1"/>
          <p:nvPr/>
        </p:nvSpPr>
        <p:spPr>
          <a:xfrm>
            <a:off x="5285770" y="4321979"/>
            <a:ext cx="501853" cy="160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64" i="1" spc="0" baseline="0" dirty="0">
                <a:ln/>
                <a:solidFill>
                  <a:srgbClr val="7C8598"/>
                </a:solidFill>
                <a:latin typeface="Arial"/>
                <a:cs typeface="Arial"/>
                <a:sym typeface="Arial"/>
                <a:rtl val="0"/>
              </a:rPr>
              <a:t>Woo · 2015</a:t>
            </a:r>
          </a:p>
        </p:txBody>
      </p:sp>
      <p:sp>
        <p:nvSpPr>
          <p:cNvPr id="237" name="Rounded Rectangle 236">
            <a:extLst>
              <a:ext uri="{FF2B5EF4-FFF2-40B4-BE49-F238E27FC236}">
                <a16:creationId xmlns:a16="http://schemas.microsoft.com/office/drawing/2014/main" id="{33A06F5F-80E3-9C07-DF9D-04562CFD42E8}"/>
              </a:ext>
            </a:extLst>
          </p:cNvPr>
          <p:cNvSpPr/>
          <p:nvPr/>
        </p:nvSpPr>
        <p:spPr>
          <a:xfrm>
            <a:off x="4989753" y="4648362"/>
            <a:ext cx="2213110" cy="1606993"/>
          </a:xfrm>
          <a:prstGeom prst="roundRect">
            <a:avLst>
              <a:gd name="adj" fmla="val 4607"/>
            </a:avLst>
          </a:prstGeom>
          <a:solidFill>
            <a:srgbClr val="E6F2EA">
              <a:alpha val="50000"/>
            </a:srgbClr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38" name="Rounded Rectangle 237">
            <a:extLst>
              <a:ext uri="{FF2B5EF4-FFF2-40B4-BE49-F238E27FC236}">
                <a16:creationId xmlns:a16="http://schemas.microsoft.com/office/drawing/2014/main" id="{C99E32AD-A215-2597-FF44-4C6ADFB491BF}"/>
              </a:ext>
            </a:extLst>
          </p:cNvPr>
          <p:cNvSpPr/>
          <p:nvPr/>
        </p:nvSpPr>
        <p:spPr>
          <a:xfrm>
            <a:off x="5006207" y="4664801"/>
            <a:ext cx="2180201" cy="263037"/>
          </a:xfrm>
          <a:prstGeom prst="roundRect">
            <a:avLst>
              <a:gd name="adj" fmla="val 23458"/>
            </a:avLst>
          </a:prstGeom>
          <a:solidFill>
            <a:srgbClr val="5AA46E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239" name="Graphic 2">
            <a:extLst>
              <a:ext uri="{FF2B5EF4-FFF2-40B4-BE49-F238E27FC236}">
                <a16:creationId xmlns:a16="http://schemas.microsoft.com/office/drawing/2014/main" id="{6A4FF4B0-AA97-F537-4E61-5FFFD9F640C7}"/>
              </a:ext>
            </a:extLst>
          </p:cNvPr>
          <p:cNvGrpSpPr/>
          <p:nvPr/>
        </p:nvGrpSpPr>
        <p:grpSpPr>
          <a:xfrm>
            <a:off x="5054667" y="4724804"/>
            <a:ext cx="172807" cy="145246"/>
            <a:chOff x="5054667" y="4724804"/>
            <a:chExt cx="172807" cy="145246"/>
          </a:xfrm>
        </p:grpSpPr>
        <p:sp>
          <p:nvSpPr>
            <p:cNvPr id="240" name="Freeform 239">
              <a:extLst>
                <a:ext uri="{FF2B5EF4-FFF2-40B4-BE49-F238E27FC236}">
                  <a16:creationId xmlns:a16="http://schemas.microsoft.com/office/drawing/2014/main" id="{9D7D06C5-AA3B-FDBA-0473-838D9FBEB604}"/>
                </a:ext>
              </a:extLst>
            </p:cNvPr>
            <p:cNvSpPr/>
            <p:nvPr/>
          </p:nvSpPr>
          <p:spPr>
            <a:xfrm>
              <a:off x="5054667" y="4724804"/>
              <a:ext cx="172807" cy="145246"/>
            </a:xfrm>
            <a:custGeom>
              <a:avLst/>
              <a:gdLst>
                <a:gd name="csX0" fmla="*/ 168821 w 172807"/>
                <a:gd name="csY0" fmla="*/ 71516 h 145246"/>
                <a:gd name="csX1" fmla="*/ 171450 w 172807"/>
                <a:gd name="csY1" fmla="*/ 64815 h 145246"/>
                <a:gd name="csX2" fmla="*/ 172807 w 172807"/>
                <a:gd name="csY2" fmla="*/ 57788 h 145246"/>
                <a:gd name="csX3" fmla="*/ 172601 w 172807"/>
                <a:gd name="csY3" fmla="*/ 50718 h 145246"/>
                <a:gd name="csX4" fmla="*/ 170632 w 172807"/>
                <a:gd name="csY4" fmla="*/ 43896 h 145246"/>
                <a:gd name="csX5" fmla="*/ 167009 w 172807"/>
                <a:gd name="csY5" fmla="*/ 37607 h 145246"/>
                <a:gd name="csX6" fmla="*/ 161951 w 172807"/>
                <a:gd name="csY6" fmla="*/ 32062 h 145246"/>
                <a:gd name="csX7" fmla="*/ 155862 w 172807"/>
                <a:gd name="csY7" fmla="*/ 27378 h 145246"/>
                <a:gd name="csX8" fmla="*/ 149198 w 172807"/>
                <a:gd name="csY8" fmla="*/ 23467 h 145246"/>
                <a:gd name="csX9" fmla="*/ 142285 w 172807"/>
                <a:gd name="csY9" fmla="*/ 20265 h 145246"/>
                <a:gd name="csX10" fmla="*/ 135500 w 172807"/>
                <a:gd name="csY10" fmla="*/ 17426 h 145246"/>
                <a:gd name="csX11" fmla="*/ 128957 w 172807"/>
                <a:gd name="csY11" fmla="*/ 14800 h 145246"/>
                <a:gd name="csX12" fmla="*/ 122663 w 172807"/>
                <a:gd name="csY12" fmla="*/ 12209 h 145246"/>
                <a:gd name="csX13" fmla="*/ 116495 w 172807"/>
                <a:gd name="csY13" fmla="*/ 9539 h 145246"/>
                <a:gd name="csX14" fmla="*/ 110285 w 172807"/>
                <a:gd name="csY14" fmla="*/ 6864 h 145246"/>
                <a:gd name="csX15" fmla="*/ 103906 w 172807"/>
                <a:gd name="csY15" fmla="*/ 4358 h 145246"/>
                <a:gd name="csX16" fmla="*/ 97284 w 172807"/>
                <a:gd name="csY16" fmla="*/ 2221 h 145246"/>
                <a:gd name="csX17" fmla="*/ 90329 w 172807"/>
                <a:gd name="csY17" fmla="*/ 702 h 145246"/>
                <a:gd name="csX18" fmla="*/ 83174 w 172807"/>
                <a:gd name="csY18" fmla="*/ 0 h 145246"/>
                <a:gd name="csX19" fmla="*/ 75977 w 172807"/>
                <a:gd name="csY19" fmla="*/ 206 h 145246"/>
                <a:gd name="csX20" fmla="*/ 68901 w 172807"/>
                <a:gd name="csY20" fmla="*/ 1277 h 145246"/>
                <a:gd name="csX21" fmla="*/ 62031 w 172807"/>
                <a:gd name="csY21" fmla="*/ 3123 h 145246"/>
                <a:gd name="csX22" fmla="*/ 55488 w 172807"/>
                <a:gd name="csY22" fmla="*/ 5508 h 145246"/>
                <a:gd name="csX23" fmla="*/ 49157 w 172807"/>
                <a:gd name="csY23" fmla="*/ 8305 h 145246"/>
                <a:gd name="csX24" fmla="*/ 43026 w 172807"/>
                <a:gd name="csY24" fmla="*/ 11222 h 145246"/>
                <a:gd name="csX25" fmla="*/ 36980 w 172807"/>
                <a:gd name="csY25" fmla="*/ 14267 h 145246"/>
                <a:gd name="csX26" fmla="*/ 30849 w 172807"/>
                <a:gd name="csY26" fmla="*/ 17469 h 145246"/>
                <a:gd name="csX27" fmla="*/ 24760 w 172807"/>
                <a:gd name="csY27" fmla="*/ 20840 h 145246"/>
                <a:gd name="csX28" fmla="*/ 18757 w 172807"/>
                <a:gd name="csY28" fmla="*/ 24660 h 145246"/>
                <a:gd name="csX29" fmla="*/ 13122 w 172807"/>
                <a:gd name="csY29" fmla="*/ 28975 h 145246"/>
                <a:gd name="csX30" fmla="*/ 8143 w 172807"/>
                <a:gd name="csY30" fmla="*/ 33951 h 145246"/>
                <a:gd name="csX31" fmla="*/ 4114 w 172807"/>
                <a:gd name="csY31" fmla="*/ 39538 h 145246"/>
                <a:gd name="csX32" fmla="*/ 1357 w 172807"/>
                <a:gd name="csY32" fmla="*/ 45706 h 145246"/>
                <a:gd name="csX33" fmla="*/ 0 w 172807"/>
                <a:gd name="csY33" fmla="*/ 52201 h 145246"/>
                <a:gd name="csX34" fmla="*/ 0 w 172807"/>
                <a:gd name="csY34" fmla="*/ 58816 h 145246"/>
                <a:gd name="csX35" fmla="*/ 1151 w 172807"/>
                <a:gd name="csY35" fmla="*/ 65311 h 145246"/>
                <a:gd name="csX36" fmla="*/ 3126 w 172807"/>
                <a:gd name="csY36" fmla="*/ 71516 h 145246"/>
                <a:gd name="csX37" fmla="*/ 5550 w 172807"/>
                <a:gd name="csY37" fmla="*/ 77393 h 145246"/>
                <a:gd name="csX38" fmla="*/ 7979 w 172807"/>
                <a:gd name="csY38" fmla="*/ 83022 h 145246"/>
                <a:gd name="csX39" fmla="*/ 10160 w 172807"/>
                <a:gd name="csY39" fmla="*/ 88488 h 145246"/>
                <a:gd name="csX40" fmla="*/ 11929 w 172807"/>
                <a:gd name="csY40" fmla="*/ 93996 h 145246"/>
                <a:gd name="csX41" fmla="*/ 13365 w 172807"/>
                <a:gd name="csY41" fmla="*/ 99753 h 145246"/>
                <a:gd name="csX42" fmla="*/ 14722 w 172807"/>
                <a:gd name="csY42" fmla="*/ 105794 h 145246"/>
                <a:gd name="csX43" fmla="*/ 16327 w 172807"/>
                <a:gd name="csY43" fmla="*/ 112125 h 145246"/>
                <a:gd name="csX44" fmla="*/ 18508 w 172807"/>
                <a:gd name="csY44" fmla="*/ 118578 h 145246"/>
                <a:gd name="csX45" fmla="*/ 21634 w 172807"/>
                <a:gd name="csY45" fmla="*/ 124903 h 145246"/>
                <a:gd name="csX46" fmla="*/ 25875 w 172807"/>
                <a:gd name="csY46" fmla="*/ 130738 h 145246"/>
                <a:gd name="csX47" fmla="*/ 31219 w 172807"/>
                <a:gd name="csY47" fmla="*/ 135834 h 145246"/>
                <a:gd name="csX48" fmla="*/ 37634 w 172807"/>
                <a:gd name="csY48" fmla="*/ 139866 h 145246"/>
                <a:gd name="csX49" fmla="*/ 44880 w 172807"/>
                <a:gd name="csY49" fmla="*/ 142783 h 145246"/>
                <a:gd name="csX50" fmla="*/ 52526 w 172807"/>
                <a:gd name="csY50" fmla="*/ 144508 h 145246"/>
                <a:gd name="csX51" fmla="*/ 60383 w 172807"/>
                <a:gd name="csY51" fmla="*/ 145247 h 145246"/>
                <a:gd name="csX52" fmla="*/ 68198 w 172807"/>
                <a:gd name="csY52" fmla="*/ 145168 h 145246"/>
                <a:gd name="csX53" fmla="*/ 75814 w 172807"/>
                <a:gd name="csY53" fmla="*/ 144593 h 145246"/>
                <a:gd name="csX54" fmla="*/ 83174 w 172807"/>
                <a:gd name="csY54" fmla="*/ 143685 h 145246"/>
                <a:gd name="csX55" fmla="*/ 90329 w 172807"/>
                <a:gd name="csY55" fmla="*/ 142577 h 145246"/>
                <a:gd name="csX56" fmla="*/ 97369 w 172807"/>
                <a:gd name="csY56" fmla="*/ 141343 h 145246"/>
                <a:gd name="csX57" fmla="*/ 104276 w 172807"/>
                <a:gd name="csY57" fmla="*/ 139823 h 145246"/>
                <a:gd name="csX58" fmla="*/ 111067 w 172807"/>
                <a:gd name="csY58" fmla="*/ 137935 h 145246"/>
                <a:gd name="csX59" fmla="*/ 117604 w 172807"/>
                <a:gd name="csY59" fmla="*/ 135508 h 145246"/>
                <a:gd name="csX60" fmla="*/ 123735 w 172807"/>
                <a:gd name="csY60" fmla="*/ 132427 h 145246"/>
                <a:gd name="csX61" fmla="*/ 129327 w 172807"/>
                <a:gd name="csY61" fmla="*/ 128643 h 145246"/>
                <a:gd name="csX62" fmla="*/ 134222 w 172807"/>
                <a:gd name="csY62" fmla="*/ 124285 h 145246"/>
                <a:gd name="csX63" fmla="*/ 138420 w 172807"/>
                <a:gd name="csY63" fmla="*/ 119394 h 145246"/>
                <a:gd name="csX64" fmla="*/ 141958 w 172807"/>
                <a:gd name="csY64" fmla="*/ 114262 h 145246"/>
                <a:gd name="csX65" fmla="*/ 145000 w 172807"/>
                <a:gd name="csY65" fmla="*/ 109080 h 145246"/>
                <a:gd name="csX66" fmla="*/ 147883 w 172807"/>
                <a:gd name="csY66" fmla="*/ 103905 h 145246"/>
                <a:gd name="csX67" fmla="*/ 150846 w 172807"/>
                <a:gd name="csY67" fmla="*/ 98887 h 145246"/>
                <a:gd name="csX68" fmla="*/ 154051 w 172807"/>
                <a:gd name="csY68" fmla="*/ 93875 h 145246"/>
                <a:gd name="csX69" fmla="*/ 157631 w 172807"/>
                <a:gd name="csY69" fmla="*/ 88821 h 145246"/>
                <a:gd name="csX70" fmla="*/ 161496 w 172807"/>
                <a:gd name="csY70" fmla="*/ 83476 h 145246"/>
                <a:gd name="csX71" fmla="*/ 165362 w 172807"/>
                <a:gd name="csY71" fmla="*/ 77762 h 1452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172807" h="145246">
                  <a:moveTo>
                    <a:pt x="168821" y="71516"/>
                  </a:moveTo>
                  <a:lnTo>
                    <a:pt x="171450" y="64815"/>
                  </a:lnTo>
                  <a:lnTo>
                    <a:pt x="172807" y="57788"/>
                  </a:lnTo>
                  <a:lnTo>
                    <a:pt x="172601" y="50718"/>
                  </a:lnTo>
                  <a:lnTo>
                    <a:pt x="170632" y="43896"/>
                  </a:lnTo>
                  <a:lnTo>
                    <a:pt x="167009" y="37607"/>
                  </a:lnTo>
                  <a:lnTo>
                    <a:pt x="161951" y="32062"/>
                  </a:lnTo>
                  <a:lnTo>
                    <a:pt x="155862" y="27378"/>
                  </a:lnTo>
                  <a:lnTo>
                    <a:pt x="149198" y="23467"/>
                  </a:lnTo>
                  <a:lnTo>
                    <a:pt x="142285" y="20265"/>
                  </a:lnTo>
                  <a:lnTo>
                    <a:pt x="135500" y="17426"/>
                  </a:lnTo>
                  <a:lnTo>
                    <a:pt x="128957" y="14800"/>
                  </a:lnTo>
                  <a:lnTo>
                    <a:pt x="122663" y="12209"/>
                  </a:lnTo>
                  <a:lnTo>
                    <a:pt x="116495" y="9539"/>
                  </a:lnTo>
                  <a:lnTo>
                    <a:pt x="110285" y="6864"/>
                  </a:lnTo>
                  <a:lnTo>
                    <a:pt x="103906" y="4358"/>
                  </a:lnTo>
                  <a:lnTo>
                    <a:pt x="97284" y="2221"/>
                  </a:lnTo>
                  <a:lnTo>
                    <a:pt x="90329" y="702"/>
                  </a:lnTo>
                  <a:lnTo>
                    <a:pt x="83174" y="0"/>
                  </a:lnTo>
                  <a:lnTo>
                    <a:pt x="75977" y="206"/>
                  </a:lnTo>
                  <a:lnTo>
                    <a:pt x="68901" y="1277"/>
                  </a:lnTo>
                  <a:lnTo>
                    <a:pt x="62031" y="3123"/>
                  </a:lnTo>
                  <a:lnTo>
                    <a:pt x="55488" y="5508"/>
                  </a:lnTo>
                  <a:lnTo>
                    <a:pt x="49157" y="8305"/>
                  </a:lnTo>
                  <a:lnTo>
                    <a:pt x="43026" y="11222"/>
                  </a:lnTo>
                  <a:lnTo>
                    <a:pt x="36980" y="14267"/>
                  </a:lnTo>
                  <a:lnTo>
                    <a:pt x="30849" y="17469"/>
                  </a:lnTo>
                  <a:lnTo>
                    <a:pt x="24760" y="20840"/>
                  </a:lnTo>
                  <a:lnTo>
                    <a:pt x="18757" y="24660"/>
                  </a:lnTo>
                  <a:lnTo>
                    <a:pt x="13122" y="28975"/>
                  </a:lnTo>
                  <a:lnTo>
                    <a:pt x="8143" y="33951"/>
                  </a:lnTo>
                  <a:lnTo>
                    <a:pt x="4114" y="39538"/>
                  </a:lnTo>
                  <a:lnTo>
                    <a:pt x="1357" y="45706"/>
                  </a:lnTo>
                  <a:lnTo>
                    <a:pt x="0" y="52201"/>
                  </a:lnTo>
                  <a:lnTo>
                    <a:pt x="0" y="58816"/>
                  </a:lnTo>
                  <a:lnTo>
                    <a:pt x="1151" y="65311"/>
                  </a:lnTo>
                  <a:lnTo>
                    <a:pt x="3126" y="71516"/>
                  </a:lnTo>
                  <a:lnTo>
                    <a:pt x="5550" y="77393"/>
                  </a:lnTo>
                  <a:lnTo>
                    <a:pt x="7979" y="83022"/>
                  </a:lnTo>
                  <a:lnTo>
                    <a:pt x="10160" y="88488"/>
                  </a:lnTo>
                  <a:lnTo>
                    <a:pt x="11929" y="93996"/>
                  </a:lnTo>
                  <a:lnTo>
                    <a:pt x="13365" y="99753"/>
                  </a:lnTo>
                  <a:lnTo>
                    <a:pt x="14722" y="105794"/>
                  </a:lnTo>
                  <a:lnTo>
                    <a:pt x="16327" y="112125"/>
                  </a:lnTo>
                  <a:lnTo>
                    <a:pt x="18508" y="118578"/>
                  </a:lnTo>
                  <a:lnTo>
                    <a:pt x="21634" y="124903"/>
                  </a:lnTo>
                  <a:lnTo>
                    <a:pt x="25875" y="130738"/>
                  </a:lnTo>
                  <a:lnTo>
                    <a:pt x="31219" y="135834"/>
                  </a:lnTo>
                  <a:lnTo>
                    <a:pt x="37634" y="139866"/>
                  </a:lnTo>
                  <a:lnTo>
                    <a:pt x="44880" y="142783"/>
                  </a:lnTo>
                  <a:lnTo>
                    <a:pt x="52526" y="144508"/>
                  </a:lnTo>
                  <a:lnTo>
                    <a:pt x="60383" y="145247"/>
                  </a:lnTo>
                  <a:lnTo>
                    <a:pt x="68198" y="145168"/>
                  </a:lnTo>
                  <a:lnTo>
                    <a:pt x="75814" y="144593"/>
                  </a:lnTo>
                  <a:lnTo>
                    <a:pt x="83174" y="143685"/>
                  </a:lnTo>
                  <a:lnTo>
                    <a:pt x="90329" y="142577"/>
                  </a:lnTo>
                  <a:lnTo>
                    <a:pt x="97369" y="141343"/>
                  </a:lnTo>
                  <a:lnTo>
                    <a:pt x="104276" y="139823"/>
                  </a:lnTo>
                  <a:lnTo>
                    <a:pt x="111067" y="137935"/>
                  </a:lnTo>
                  <a:lnTo>
                    <a:pt x="117604" y="135508"/>
                  </a:lnTo>
                  <a:lnTo>
                    <a:pt x="123735" y="132427"/>
                  </a:lnTo>
                  <a:lnTo>
                    <a:pt x="129327" y="128643"/>
                  </a:lnTo>
                  <a:lnTo>
                    <a:pt x="134222" y="124285"/>
                  </a:lnTo>
                  <a:lnTo>
                    <a:pt x="138420" y="119394"/>
                  </a:lnTo>
                  <a:lnTo>
                    <a:pt x="141958" y="114262"/>
                  </a:lnTo>
                  <a:lnTo>
                    <a:pt x="145000" y="109080"/>
                  </a:lnTo>
                  <a:lnTo>
                    <a:pt x="147883" y="103905"/>
                  </a:lnTo>
                  <a:lnTo>
                    <a:pt x="150846" y="98887"/>
                  </a:lnTo>
                  <a:lnTo>
                    <a:pt x="154051" y="93875"/>
                  </a:lnTo>
                  <a:lnTo>
                    <a:pt x="157631" y="88821"/>
                  </a:lnTo>
                  <a:lnTo>
                    <a:pt x="161496" y="83476"/>
                  </a:lnTo>
                  <a:lnTo>
                    <a:pt x="165362" y="77762"/>
                  </a:lnTo>
                  <a:close/>
                </a:path>
              </a:pathLst>
            </a:custGeom>
            <a:solidFill>
              <a:srgbClr val="FFFFFF"/>
            </a:solidFill>
            <a:ln w="7029" cap="flat">
              <a:solidFill>
                <a:srgbClr val="3B7A5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1" name="Freeform 240">
              <a:extLst>
                <a:ext uri="{FF2B5EF4-FFF2-40B4-BE49-F238E27FC236}">
                  <a16:creationId xmlns:a16="http://schemas.microsoft.com/office/drawing/2014/main" id="{B72181CB-2625-69C3-3068-694BBCC77B10}"/>
                </a:ext>
              </a:extLst>
            </p:cNvPr>
            <p:cNvSpPr/>
            <p:nvPr/>
          </p:nvSpPr>
          <p:spPr>
            <a:xfrm>
              <a:off x="5135586" y="4729162"/>
              <a:ext cx="4512" cy="131191"/>
            </a:xfrm>
            <a:custGeom>
              <a:avLst/>
              <a:gdLst>
                <a:gd name="csX0" fmla="*/ 2256 w 4512"/>
                <a:gd name="csY0" fmla="*/ 0 h 131191"/>
                <a:gd name="csX1" fmla="*/ 2256 w 4512"/>
                <a:gd name="csY1" fmla="*/ 131192 h 1311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512" h="131191">
                  <a:moveTo>
                    <a:pt x="2256" y="0"/>
                  </a:moveTo>
                  <a:cubicBezTo>
                    <a:pt x="10071" y="43733"/>
                    <a:pt x="-5559" y="90583"/>
                    <a:pt x="2256" y="131192"/>
                  </a:cubicBezTo>
                </a:path>
              </a:pathLst>
            </a:custGeom>
            <a:noFill/>
            <a:ln w="5963" cap="rnd">
              <a:solidFill>
                <a:srgbClr val="5AA46E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E7C0C655-1516-CBDD-C8DE-E26300611252}"/>
                </a:ext>
              </a:extLst>
            </p:cNvPr>
            <p:cNvSpPr/>
            <p:nvPr/>
          </p:nvSpPr>
          <p:spPr>
            <a:xfrm>
              <a:off x="5076877" y="4765087"/>
              <a:ext cx="46897" cy="14060"/>
            </a:xfrm>
            <a:custGeom>
              <a:avLst/>
              <a:gdLst>
                <a:gd name="csX0" fmla="*/ 0 w 46897"/>
                <a:gd name="csY0" fmla="*/ 6247 h 14060"/>
                <a:gd name="csX1" fmla="*/ 23452 w 46897"/>
                <a:gd name="csY1" fmla="*/ 6247 h 14060"/>
                <a:gd name="csX2" fmla="*/ 46897 w 46897"/>
                <a:gd name="csY2" fmla="*/ 11259 h 140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6897" h="14060">
                  <a:moveTo>
                    <a:pt x="0" y="6247"/>
                  </a:moveTo>
                  <a:cubicBezTo>
                    <a:pt x="15634" y="-2082"/>
                    <a:pt x="23452" y="-2082"/>
                    <a:pt x="23452" y="6247"/>
                  </a:cubicBezTo>
                  <a:cubicBezTo>
                    <a:pt x="23452" y="14576"/>
                    <a:pt x="31267" y="16246"/>
                    <a:pt x="46897" y="11259"/>
                  </a:cubicBezTo>
                </a:path>
              </a:pathLst>
            </a:custGeom>
            <a:noFill/>
            <a:ln w="5261" cap="rnd">
              <a:solidFill>
                <a:srgbClr val="5AA46E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3" name="Freeform 242">
              <a:extLst>
                <a:ext uri="{FF2B5EF4-FFF2-40B4-BE49-F238E27FC236}">
                  <a16:creationId xmlns:a16="http://schemas.microsoft.com/office/drawing/2014/main" id="{D328D7F8-4036-EC16-E800-5FC92B6CF4C9}"/>
                </a:ext>
              </a:extLst>
            </p:cNvPr>
            <p:cNvSpPr/>
            <p:nvPr/>
          </p:nvSpPr>
          <p:spPr>
            <a:xfrm>
              <a:off x="5081566" y="4808032"/>
              <a:ext cx="40645" cy="12292"/>
            </a:xfrm>
            <a:custGeom>
              <a:avLst/>
              <a:gdLst>
                <a:gd name="csX0" fmla="*/ 0 w 40645"/>
                <a:gd name="csY0" fmla="*/ 5466 h 12292"/>
                <a:gd name="csX1" fmla="*/ 20326 w 40645"/>
                <a:gd name="csY1" fmla="*/ 5466 h 12292"/>
                <a:gd name="csX2" fmla="*/ 40645 w 40645"/>
                <a:gd name="csY2" fmla="*/ 9824 h 122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0645" h="12292">
                  <a:moveTo>
                    <a:pt x="0" y="5466"/>
                  </a:moveTo>
                  <a:cubicBezTo>
                    <a:pt x="13550" y="-1822"/>
                    <a:pt x="20326" y="-1822"/>
                    <a:pt x="20326" y="5466"/>
                  </a:cubicBezTo>
                  <a:cubicBezTo>
                    <a:pt x="20326" y="12754"/>
                    <a:pt x="27099" y="14206"/>
                    <a:pt x="40645" y="9824"/>
                  </a:cubicBezTo>
                </a:path>
              </a:pathLst>
            </a:custGeom>
            <a:noFill/>
            <a:ln w="5261" cap="rnd">
              <a:solidFill>
                <a:srgbClr val="5AA46E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4" name="Freeform 243">
              <a:extLst>
                <a:ext uri="{FF2B5EF4-FFF2-40B4-BE49-F238E27FC236}">
                  <a16:creationId xmlns:a16="http://schemas.microsoft.com/office/drawing/2014/main" id="{530282D1-92B2-9E3B-6FD1-8D3A24B832EF}"/>
                </a:ext>
              </a:extLst>
            </p:cNvPr>
            <p:cNvSpPr/>
            <p:nvPr/>
          </p:nvSpPr>
          <p:spPr>
            <a:xfrm>
              <a:off x="5151909" y="4766648"/>
              <a:ext cx="46897" cy="14060"/>
            </a:xfrm>
            <a:custGeom>
              <a:avLst/>
              <a:gdLst>
                <a:gd name="csX0" fmla="*/ 0 w 46897"/>
                <a:gd name="csY0" fmla="*/ 6247 h 14060"/>
                <a:gd name="csX1" fmla="*/ 23446 w 46897"/>
                <a:gd name="csY1" fmla="*/ 6247 h 14060"/>
                <a:gd name="csX2" fmla="*/ 46898 w 46897"/>
                <a:gd name="csY2" fmla="*/ 11259 h 140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6897" h="14060">
                  <a:moveTo>
                    <a:pt x="0" y="6247"/>
                  </a:moveTo>
                  <a:cubicBezTo>
                    <a:pt x="15631" y="-2082"/>
                    <a:pt x="23446" y="-2082"/>
                    <a:pt x="23446" y="6247"/>
                  </a:cubicBezTo>
                  <a:cubicBezTo>
                    <a:pt x="23446" y="14575"/>
                    <a:pt x="31263" y="16246"/>
                    <a:pt x="46898" y="11259"/>
                  </a:cubicBezTo>
                </a:path>
              </a:pathLst>
            </a:custGeom>
            <a:noFill/>
            <a:ln w="5261" cap="rnd">
              <a:solidFill>
                <a:srgbClr val="5AA46E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" name="Freeform 244">
              <a:extLst>
                <a:ext uri="{FF2B5EF4-FFF2-40B4-BE49-F238E27FC236}">
                  <a16:creationId xmlns:a16="http://schemas.microsoft.com/office/drawing/2014/main" id="{F0C9A38A-6C5D-DF8B-96DB-025E1BB4999B}"/>
                </a:ext>
              </a:extLst>
            </p:cNvPr>
            <p:cNvSpPr/>
            <p:nvPr/>
          </p:nvSpPr>
          <p:spPr>
            <a:xfrm>
              <a:off x="5153472" y="4809594"/>
              <a:ext cx="40645" cy="12292"/>
            </a:xfrm>
            <a:custGeom>
              <a:avLst/>
              <a:gdLst>
                <a:gd name="csX0" fmla="*/ 0 w 40645"/>
                <a:gd name="csY0" fmla="*/ 5466 h 12292"/>
                <a:gd name="csX1" fmla="*/ 20320 w 40645"/>
                <a:gd name="csY1" fmla="*/ 5466 h 12292"/>
                <a:gd name="csX2" fmla="*/ 40645 w 40645"/>
                <a:gd name="csY2" fmla="*/ 9824 h 122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0645" h="12292">
                  <a:moveTo>
                    <a:pt x="0" y="5466"/>
                  </a:moveTo>
                  <a:cubicBezTo>
                    <a:pt x="13546" y="-1822"/>
                    <a:pt x="20320" y="-1822"/>
                    <a:pt x="20320" y="5466"/>
                  </a:cubicBezTo>
                  <a:cubicBezTo>
                    <a:pt x="20320" y="12754"/>
                    <a:pt x="27095" y="14206"/>
                    <a:pt x="40645" y="9824"/>
                  </a:cubicBezTo>
                </a:path>
              </a:pathLst>
            </a:custGeom>
            <a:noFill/>
            <a:ln w="5261" cap="rnd">
              <a:solidFill>
                <a:srgbClr val="5AA46E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6" name="TextBox 245">
            <a:extLst>
              <a:ext uri="{FF2B5EF4-FFF2-40B4-BE49-F238E27FC236}">
                <a16:creationId xmlns:a16="http://schemas.microsoft.com/office/drawing/2014/main" id="{B42DC899-F560-02A7-D0BB-25714575FEB4}"/>
              </a:ext>
            </a:extLst>
          </p:cNvPr>
          <p:cNvSpPr txBox="1"/>
          <p:nvPr/>
        </p:nvSpPr>
        <p:spPr>
          <a:xfrm>
            <a:off x="5153355" y="4679129"/>
            <a:ext cx="431599" cy="169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66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Clinical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B8E61580-4680-C36E-1D4E-535DD5E8E193}"/>
              </a:ext>
            </a:extLst>
          </p:cNvPr>
          <p:cNvSpPr txBox="1"/>
          <p:nvPr/>
        </p:nvSpPr>
        <p:spPr>
          <a:xfrm>
            <a:off x="5153355" y="4779932"/>
            <a:ext cx="451797" cy="1465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1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3 signatures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D5512E07-0C84-D143-4A57-3B0592DE1AF4}"/>
              </a:ext>
            </a:extLst>
          </p:cNvPr>
          <p:cNvSpPr txBox="1"/>
          <p:nvPr/>
        </p:nvSpPr>
        <p:spPr>
          <a:xfrm>
            <a:off x="4955903" y="5008226"/>
            <a:ext cx="1154173" cy="148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37" b="1" spc="27" baseline="0">
                <a:ln/>
                <a:solidFill>
                  <a:srgbClr val="3B7A50"/>
                </a:solidFill>
                <a:latin typeface="Arial"/>
                <a:cs typeface="Arial"/>
                <a:sym typeface="Arial"/>
                <a:rtl val="0"/>
              </a:rPr>
              <a:t>PATIENT &amp; CHRONIC-PAIN MARKERS</a:t>
            </a:r>
          </a:p>
        </p:txBody>
      </p:sp>
      <p:sp>
        <p:nvSpPr>
          <p:cNvPr id="249" name="Freeform 248">
            <a:extLst>
              <a:ext uri="{FF2B5EF4-FFF2-40B4-BE49-F238E27FC236}">
                <a16:creationId xmlns:a16="http://schemas.microsoft.com/office/drawing/2014/main" id="{FAC83D38-6AD7-E5E5-2E70-3A1F0FA08E2B}"/>
              </a:ext>
            </a:extLst>
          </p:cNvPr>
          <p:cNvSpPr/>
          <p:nvPr/>
        </p:nvSpPr>
        <p:spPr>
          <a:xfrm>
            <a:off x="6059286" y="5079907"/>
            <a:ext cx="1094214" cy="6052"/>
          </a:xfrm>
          <a:custGeom>
            <a:avLst/>
            <a:gdLst>
              <a:gd name="csX0" fmla="*/ 0 w 1094214"/>
              <a:gd name="csY0" fmla="*/ 0 h 6052"/>
              <a:gd name="csX1" fmla="*/ 1094215 w 1094214"/>
              <a:gd name="csY1" fmla="*/ 0 h 605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94214" h="6052">
                <a:moveTo>
                  <a:pt x="0" y="0"/>
                </a:moveTo>
                <a:lnTo>
                  <a:pt x="1094215" y="0"/>
                </a:lnTo>
              </a:path>
            </a:pathLst>
          </a:custGeom>
          <a:ln w="6163" cap="flat">
            <a:solidFill>
              <a:srgbClr val="5AA46E">
                <a:alpha val="35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50" name="Rounded Rectangle 249">
            <a:extLst>
              <a:ext uri="{FF2B5EF4-FFF2-40B4-BE49-F238E27FC236}">
                <a16:creationId xmlns:a16="http://schemas.microsoft.com/office/drawing/2014/main" id="{8C260BB1-5A68-086B-6CC1-FB99A82BCF89}"/>
              </a:ext>
            </a:extLst>
          </p:cNvPr>
          <p:cNvSpPr/>
          <p:nvPr/>
        </p:nvSpPr>
        <p:spPr>
          <a:xfrm>
            <a:off x="5039116" y="5149776"/>
            <a:ext cx="2114384" cy="353456"/>
          </a:xfrm>
          <a:prstGeom prst="roundRect">
            <a:avLst>
              <a:gd name="adj" fmla="val 13965"/>
            </a:avLst>
          </a:prstGeom>
          <a:solidFill>
            <a:srgbClr val="FFFFFF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51" name="Rounded Rectangle 250">
            <a:extLst>
              <a:ext uri="{FF2B5EF4-FFF2-40B4-BE49-F238E27FC236}">
                <a16:creationId xmlns:a16="http://schemas.microsoft.com/office/drawing/2014/main" id="{93FD9931-1BB3-5AF5-8920-92EEEC9645D6}"/>
              </a:ext>
            </a:extLst>
          </p:cNvPr>
          <p:cNvSpPr/>
          <p:nvPr/>
        </p:nvSpPr>
        <p:spPr>
          <a:xfrm>
            <a:off x="5039116" y="5149776"/>
            <a:ext cx="20567" cy="353456"/>
          </a:xfrm>
          <a:prstGeom prst="roundRect">
            <a:avLst>
              <a:gd name="adj" fmla="val 50000"/>
            </a:avLst>
          </a:prstGeom>
          <a:solidFill>
            <a:srgbClr val="5AA46E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52" name="Oval 251">
            <a:extLst>
              <a:ext uri="{FF2B5EF4-FFF2-40B4-BE49-F238E27FC236}">
                <a16:creationId xmlns:a16="http://schemas.microsoft.com/office/drawing/2014/main" id="{EF3E027A-5878-C7E6-9AE6-489F411A756B}"/>
              </a:ext>
            </a:extLst>
          </p:cNvPr>
          <p:cNvSpPr/>
          <p:nvPr/>
        </p:nvSpPr>
        <p:spPr>
          <a:xfrm>
            <a:off x="5100820" y="5207316"/>
            <a:ext cx="238588" cy="238377"/>
          </a:xfrm>
          <a:prstGeom prst="ellipse">
            <a:avLst/>
          </a:prstGeom>
          <a:solidFill>
            <a:srgbClr val="E6F2EA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253" name="Picture 252">
            <a:extLst>
              <a:ext uri="{FF2B5EF4-FFF2-40B4-BE49-F238E27FC236}">
                <a16:creationId xmlns:a16="http://schemas.microsoft.com/office/drawing/2014/main" id="{28FDE5B5-9775-F8A1-6878-76B4AED99632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113160" y="5219646"/>
            <a:ext cx="213906" cy="213717"/>
          </a:xfrm>
          <a:custGeom>
            <a:avLst/>
            <a:gdLst>
              <a:gd name="csX0" fmla="*/ 445 w 213906"/>
              <a:gd name="csY0" fmla="*/ 880 h 213717"/>
              <a:gd name="csX1" fmla="*/ 214352 w 213906"/>
              <a:gd name="csY1" fmla="*/ 880 h 213717"/>
              <a:gd name="csX2" fmla="*/ 214352 w 213906"/>
              <a:gd name="csY2" fmla="*/ 214598 h 213717"/>
              <a:gd name="csX3" fmla="*/ 445 w 213906"/>
              <a:gd name="csY3" fmla="*/ 214598 h 2137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3906" h="213717">
                <a:moveTo>
                  <a:pt x="445" y="880"/>
                </a:moveTo>
                <a:lnTo>
                  <a:pt x="214352" y="880"/>
                </a:lnTo>
                <a:lnTo>
                  <a:pt x="214352" y="214598"/>
                </a:lnTo>
                <a:lnTo>
                  <a:pt x="445" y="214598"/>
                </a:lnTo>
                <a:close/>
              </a:path>
            </a:pathLst>
          </a:custGeom>
        </p:spPr>
      </p:pic>
      <p:sp>
        <p:nvSpPr>
          <p:cNvPr id="254" name="Oval 253">
            <a:extLst>
              <a:ext uri="{FF2B5EF4-FFF2-40B4-BE49-F238E27FC236}">
                <a16:creationId xmlns:a16="http://schemas.microsoft.com/office/drawing/2014/main" id="{60971A3E-AA28-10AD-A9DA-E15AD3901187}"/>
              </a:ext>
            </a:extLst>
          </p:cNvPr>
          <p:cNvSpPr/>
          <p:nvPr/>
        </p:nvSpPr>
        <p:spPr>
          <a:xfrm>
            <a:off x="5100820" y="5207316"/>
            <a:ext cx="238588" cy="238377"/>
          </a:xfrm>
          <a:prstGeom prst="ellipse">
            <a:avLst/>
          </a:prstGeom>
          <a:noFill/>
          <a:ln w="8221" cap="flat">
            <a:solidFill>
              <a:srgbClr val="5AA46E">
                <a:alpha val="8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F55103F5-CF13-A76B-E1D8-CFAE775862BD}"/>
              </a:ext>
            </a:extLst>
          </p:cNvPr>
          <p:cNvSpPr txBox="1"/>
          <p:nvPr/>
        </p:nvSpPr>
        <p:spPr>
          <a:xfrm>
            <a:off x="5266518" y="5110721"/>
            <a:ext cx="18450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b="1" spc="0" baseline="0" dirty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Fibromyalgia — pain &amp;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274C065C-A967-F403-5272-A320EC698211}"/>
              </a:ext>
            </a:extLst>
          </p:cNvPr>
          <p:cNvSpPr txBox="1"/>
          <p:nvPr/>
        </p:nvSpPr>
        <p:spPr>
          <a:xfrm>
            <a:off x="5266519" y="5209360"/>
            <a:ext cx="9028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spc="0" baseline="0" dirty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multisensory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C3A24C69-D8A1-7F9F-0CB9-0BAD30D7ED15}"/>
              </a:ext>
            </a:extLst>
          </p:cNvPr>
          <p:cNvSpPr txBox="1"/>
          <p:nvPr/>
        </p:nvSpPr>
        <p:spPr>
          <a:xfrm>
            <a:off x="5271331" y="5346166"/>
            <a:ext cx="687146" cy="160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64" i="1" spc="0" baseline="0" dirty="0">
                <a:ln/>
                <a:solidFill>
                  <a:srgbClr val="7C8598"/>
                </a:solidFill>
                <a:latin typeface="Arial"/>
                <a:cs typeface="Arial"/>
                <a:sym typeface="Arial"/>
                <a:rtl val="0"/>
              </a:rPr>
              <a:t>López-</a:t>
            </a:r>
            <a:r>
              <a:rPr lang="en-US" sz="764" i="1" spc="0" baseline="0" dirty="0" err="1">
                <a:ln/>
                <a:solidFill>
                  <a:srgbClr val="7C8598"/>
                </a:solidFill>
                <a:latin typeface="Arial"/>
                <a:cs typeface="Arial"/>
                <a:sym typeface="Arial"/>
                <a:rtl val="0"/>
              </a:rPr>
              <a:t>Solà</a:t>
            </a:r>
            <a:r>
              <a:rPr lang="en-US" sz="764" i="1" spc="0" baseline="0" dirty="0">
                <a:ln/>
                <a:solidFill>
                  <a:srgbClr val="7C8598"/>
                </a:solidFill>
                <a:latin typeface="Arial"/>
                <a:cs typeface="Arial"/>
                <a:sym typeface="Arial"/>
                <a:rtl val="0"/>
              </a:rPr>
              <a:t> · 2017</a:t>
            </a:r>
          </a:p>
        </p:txBody>
      </p:sp>
      <p:sp>
        <p:nvSpPr>
          <p:cNvPr id="258" name="Rounded Rectangle 257">
            <a:extLst>
              <a:ext uri="{FF2B5EF4-FFF2-40B4-BE49-F238E27FC236}">
                <a16:creationId xmlns:a16="http://schemas.microsoft.com/office/drawing/2014/main" id="{9223D0F5-B43C-1342-55E2-72F33DB2CC9F}"/>
              </a:ext>
            </a:extLst>
          </p:cNvPr>
          <p:cNvSpPr/>
          <p:nvPr/>
        </p:nvSpPr>
        <p:spPr>
          <a:xfrm>
            <a:off x="5039116" y="5540222"/>
            <a:ext cx="2114384" cy="254817"/>
          </a:xfrm>
          <a:prstGeom prst="roundRect">
            <a:avLst>
              <a:gd name="adj" fmla="val 19371"/>
            </a:avLst>
          </a:prstGeom>
          <a:solidFill>
            <a:srgbClr val="FFFFFF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59" name="Rounded Rectangle 258">
            <a:extLst>
              <a:ext uri="{FF2B5EF4-FFF2-40B4-BE49-F238E27FC236}">
                <a16:creationId xmlns:a16="http://schemas.microsoft.com/office/drawing/2014/main" id="{262D1F1D-ADDD-04F3-49E8-7AF989356AA5}"/>
              </a:ext>
            </a:extLst>
          </p:cNvPr>
          <p:cNvSpPr/>
          <p:nvPr/>
        </p:nvSpPr>
        <p:spPr>
          <a:xfrm>
            <a:off x="5039116" y="5540222"/>
            <a:ext cx="20567" cy="254817"/>
          </a:xfrm>
          <a:prstGeom prst="roundRect">
            <a:avLst>
              <a:gd name="adj" fmla="val 50000"/>
            </a:avLst>
          </a:prstGeom>
          <a:solidFill>
            <a:srgbClr val="5AA46E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4828723D-C9E1-1CDC-9D16-551F95D271AC}"/>
              </a:ext>
            </a:extLst>
          </p:cNvPr>
          <p:cNvSpPr/>
          <p:nvPr/>
        </p:nvSpPr>
        <p:spPr>
          <a:xfrm>
            <a:off x="5100820" y="5548442"/>
            <a:ext cx="238588" cy="238377"/>
          </a:xfrm>
          <a:prstGeom prst="ellipse">
            <a:avLst/>
          </a:prstGeom>
          <a:solidFill>
            <a:srgbClr val="E6F2EA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261" name="Picture 260">
            <a:extLst>
              <a:ext uri="{FF2B5EF4-FFF2-40B4-BE49-F238E27FC236}">
                <a16:creationId xmlns:a16="http://schemas.microsoft.com/office/drawing/2014/main" id="{70517BAB-547B-81E2-B13D-72FFB38C5A8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113160" y="5560772"/>
            <a:ext cx="213906" cy="213717"/>
          </a:xfrm>
          <a:custGeom>
            <a:avLst/>
            <a:gdLst>
              <a:gd name="csX0" fmla="*/ 445 w 213906"/>
              <a:gd name="csY0" fmla="*/ 936 h 213717"/>
              <a:gd name="csX1" fmla="*/ 214352 w 213906"/>
              <a:gd name="csY1" fmla="*/ 936 h 213717"/>
              <a:gd name="csX2" fmla="*/ 214352 w 213906"/>
              <a:gd name="csY2" fmla="*/ 214654 h 213717"/>
              <a:gd name="csX3" fmla="*/ 445 w 213906"/>
              <a:gd name="csY3" fmla="*/ 214654 h 2137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3906" h="213717">
                <a:moveTo>
                  <a:pt x="445" y="936"/>
                </a:moveTo>
                <a:lnTo>
                  <a:pt x="214352" y="936"/>
                </a:lnTo>
                <a:lnTo>
                  <a:pt x="214352" y="214654"/>
                </a:lnTo>
                <a:lnTo>
                  <a:pt x="445" y="214654"/>
                </a:lnTo>
                <a:close/>
              </a:path>
            </a:pathLst>
          </a:custGeom>
        </p:spPr>
      </p:pic>
      <p:sp>
        <p:nvSpPr>
          <p:cNvPr id="262" name="Oval 261">
            <a:extLst>
              <a:ext uri="{FF2B5EF4-FFF2-40B4-BE49-F238E27FC236}">
                <a16:creationId xmlns:a16="http://schemas.microsoft.com/office/drawing/2014/main" id="{12F2C629-0080-DA9D-5279-2E9DB0E45049}"/>
              </a:ext>
            </a:extLst>
          </p:cNvPr>
          <p:cNvSpPr/>
          <p:nvPr/>
        </p:nvSpPr>
        <p:spPr>
          <a:xfrm>
            <a:off x="5100820" y="5548442"/>
            <a:ext cx="238588" cy="238377"/>
          </a:xfrm>
          <a:prstGeom prst="ellipse">
            <a:avLst/>
          </a:prstGeom>
          <a:noFill/>
          <a:ln w="8221" cap="flat">
            <a:solidFill>
              <a:srgbClr val="5AA46E">
                <a:alpha val="8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EEFA4670-0D98-57D5-446D-3B4BA02D105F}"/>
              </a:ext>
            </a:extLst>
          </p:cNvPr>
          <p:cNvSpPr txBox="1"/>
          <p:nvPr/>
        </p:nvSpPr>
        <p:spPr>
          <a:xfrm>
            <a:off x="5271332" y="5511388"/>
            <a:ext cx="1118904" cy="187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69" b="1" spc="0" baseline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Chronic back pain (S1)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4571342B-0E56-8552-F8C8-336745E97D1B}"/>
              </a:ext>
            </a:extLst>
          </p:cNvPr>
          <p:cNvSpPr txBox="1"/>
          <p:nvPr/>
        </p:nvSpPr>
        <p:spPr>
          <a:xfrm>
            <a:off x="5271332" y="5648196"/>
            <a:ext cx="477931" cy="160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64" i="1" spc="0" baseline="0" dirty="0">
                <a:ln/>
                <a:solidFill>
                  <a:srgbClr val="7C8598"/>
                </a:solidFill>
                <a:latin typeface="Arial"/>
                <a:cs typeface="Arial"/>
                <a:sym typeface="Arial"/>
                <a:rtl val="0"/>
              </a:rPr>
              <a:t>Lee · 2019</a:t>
            </a:r>
          </a:p>
        </p:txBody>
      </p:sp>
      <p:sp>
        <p:nvSpPr>
          <p:cNvPr id="265" name="Rounded Rectangle 264">
            <a:extLst>
              <a:ext uri="{FF2B5EF4-FFF2-40B4-BE49-F238E27FC236}">
                <a16:creationId xmlns:a16="http://schemas.microsoft.com/office/drawing/2014/main" id="{3FFDF9E2-B9F7-6119-7684-B2ACA280E0AD}"/>
              </a:ext>
            </a:extLst>
          </p:cNvPr>
          <p:cNvSpPr/>
          <p:nvPr/>
        </p:nvSpPr>
        <p:spPr>
          <a:xfrm>
            <a:off x="5039116" y="5832029"/>
            <a:ext cx="2114384" cy="353456"/>
          </a:xfrm>
          <a:prstGeom prst="roundRect">
            <a:avLst>
              <a:gd name="adj" fmla="val 13965"/>
            </a:avLst>
          </a:prstGeom>
          <a:solidFill>
            <a:srgbClr val="FFFFFF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66" name="Rounded Rectangle 265">
            <a:extLst>
              <a:ext uri="{FF2B5EF4-FFF2-40B4-BE49-F238E27FC236}">
                <a16:creationId xmlns:a16="http://schemas.microsoft.com/office/drawing/2014/main" id="{6A25A371-940B-B25F-4FF3-4060CB30C8C3}"/>
              </a:ext>
            </a:extLst>
          </p:cNvPr>
          <p:cNvSpPr/>
          <p:nvPr/>
        </p:nvSpPr>
        <p:spPr>
          <a:xfrm>
            <a:off x="5039116" y="5832029"/>
            <a:ext cx="20567" cy="353456"/>
          </a:xfrm>
          <a:prstGeom prst="roundRect">
            <a:avLst>
              <a:gd name="adj" fmla="val 50000"/>
            </a:avLst>
          </a:prstGeom>
          <a:solidFill>
            <a:srgbClr val="5AA46E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67" name="Oval 266">
            <a:extLst>
              <a:ext uri="{FF2B5EF4-FFF2-40B4-BE49-F238E27FC236}">
                <a16:creationId xmlns:a16="http://schemas.microsoft.com/office/drawing/2014/main" id="{83BC6458-1CB9-743D-273E-67ECA61F46FE}"/>
              </a:ext>
            </a:extLst>
          </p:cNvPr>
          <p:cNvSpPr/>
          <p:nvPr/>
        </p:nvSpPr>
        <p:spPr>
          <a:xfrm>
            <a:off x="5100820" y="5889569"/>
            <a:ext cx="238588" cy="238377"/>
          </a:xfrm>
          <a:prstGeom prst="ellipse">
            <a:avLst/>
          </a:prstGeom>
          <a:solidFill>
            <a:srgbClr val="E6F2EA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268" name="Picture 267">
            <a:extLst>
              <a:ext uri="{FF2B5EF4-FFF2-40B4-BE49-F238E27FC236}">
                <a16:creationId xmlns:a16="http://schemas.microsoft.com/office/drawing/2014/main" id="{73793899-6D6B-A018-732E-EDCBFB918D2B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113160" y="5901899"/>
            <a:ext cx="213906" cy="213717"/>
          </a:xfrm>
          <a:custGeom>
            <a:avLst/>
            <a:gdLst>
              <a:gd name="csX0" fmla="*/ 445 w 213906"/>
              <a:gd name="csY0" fmla="*/ 993 h 213717"/>
              <a:gd name="csX1" fmla="*/ 214352 w 213906"/>
              <a:gd name="csY1" fmla="*/ 993 h 213717"/>
              <a:gd name="csX2" fmla="*/ 214352 w 213906"/>
              <a:gd name="csY2" fmla="*/ 214711 h 213717"/>
              <a:gd name="csX3" fmla="*/ 445 w 213906"/>
              <a:gd name="csY3" fmla="*/ 214711 h 2137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3906" h="213717">
                <a:moveTo>
                  <a:pt x="445" y="993"/>
                </a:moveTo>
                <a:lnTo>
                  <a:pt x="214352" y="993"/>
                </a:lnTo>
                <a:lnTo>
                  <a:pt x="214352" y="214711"/>
                </a:lnTo>
                <a:lnTo>
                  <a:pt x="445" y="214711"/>
                </a:lnTo>
                <a:close/>
              </a:path>
            </a:pathLst>
          </a:custGeom>
        </p:spPr>
      </p:pic>
      <p:sp>
        <p:nvSpPr>
          <p:cNvPr id="269" name="Oval 268">
            <a:extLst>
              <a:ext uri="{FF2B5EF4-FFF2-40B4-BE49-F238E27FC236}">
                <a16:creationId xmlns:a16="http://schemas.microsoft.com/office/drawing/2014/main" id="{16237B67-BCA1-1343-C11B-503833960769}"/>
              </a:ext>
            </a:extLst>
          </p:cNvPr>
          <p:cNvSpPr/>
          <p:nvPr/>
        </p:nvSpPr>
        <p:spPr>
          <a:xfrm>
            <a:off x="5100820" y="5889569"/>
            <a:ext cx="238588" cy="238377"/>
          </a:xfrm>
          <a:prstGeom prst="ellipse">
            <a:avLst/>
          </a:prstGeom>
          <a:noFill/>
          <a:ln w="8221" cap="flat">
            <a:solidFill>
              <a:srgbClr val="5AA46E">
                <a:alpha val="8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F9325471-9D5F-548D-C998-124B1702E704}"/>
              </a:ext>
            </a:extLst>
          </p:cNvPr>
          <p:cNvSpPr txBox="1"/>
          <p:nvPr/>
        </p:nvSpPr>
        <p:spPr>
          <a:xfrm>
            <a:off x="5271332" y="5778536"/>
            <a:ext cx="1147839" cy="187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69" b="1" spc="0" baseline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Fear of neck movement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BB10F578-B027-12EA-DF44-EDC8B260AD43}"/>
              </a:ext>
            </a:extLst>
          </p:cNvPr>
          <p:cNvSpPr txBox="1"/>
          <p:nvPr/>
        </p:nvSpPr>
        <p:spPr>
          <a:xfrm>
            <a:off x="5271332" y="5891612"/>
            <a:ext cx="7425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spc="0" baseline="0" dirty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(</a:t>
            </a:r>
            <a:r>
              <a:rPr lang="en-US" sz="900" b="1" spc="0" baseline="0" dirty="0" err="1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PiFoneM</a:t>
            </a:r>
            <a:r>
              <a:rPr lang="en-US" sz="900" b="1" spc="0" baseline="0" dirty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)</a:t>
            </a: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1B3DE427-2D40-16EE-BAC7-3E91E7BEE861}"/>
              </a:ext>
            </a:extLst>
          </p:cNvPr>
          <p:cNvSpPr txBox="1"/>
          <p:nvPr/>
        </p:nvSpPr>
        <p:spPr>
          <a:xfrm>
            <a:off x="5276145" y="6018793"/>
            <a:ext cx="556688" cy="160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64" i="1" spc="0" baseline="0" dirty="0">
                <a:ln/>
                <a:solidFill>
                  <a:srgbClr val="7C8598"/>
                </a:solidFill>
                <a:latin typeface="Arial"/>
                <a:cs typeface="Arial"/>
                <a:sym typeface="Arial"/>
                <a:rtl val="0"/>
              </a:rPr>
              <a:t>Murillo · 2026</a:t>
            </a:r>
          </a:p>
        </p:txBody>
      </p:sp>
      <p:sp>
        <p:nvSpPr>
          <p:cNvPr id="273" name="Rounded Rectangle 272">
            <a:extLst>
              <a:ext uri="{FF2B5EF4-FFF2-40B4-BE49-F238E27FC236}">
                <a16:creationId xmlns:a16="http://schemas.microsoft.com/office/drawing/2014/main" id="{31AB9FE3-9D6C-0FA7-023D-17AD61745A4D}"/>
              </a:ext>
            </a:extLst>
          </p:cNvPr>
          <p:cNvSpPr/>
          <p:nvPr/>
        </p:nvSpPr>
        <p:spPr>
          <a:xfrm>
            <a:off x="7293362" y="945077"/>
            <a:ext cx="2213110" cy="2774221"/>
          </a:xfrm>
          <a:prstGeom prst="roundRect">
            <a:avLst>
              <a:gd name="adj" fmla="val 3345"/>
            </a:avLst>
          </a:prstGeom>
          <a:solidFill>
            <a:srgbClr val="FBF2E0">
              <a:alpha val="50000"/>
            </a:srgbClr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74" name="Rounded Rectangle 273">
            <a:extLst>
              <a:ext uri="{FF2B5EF4-FFF2-40B4-BE49-F238E27FC236}">
                <a16:creationId xmlns:a16="http://schemas.microsoft.com/office/drawing/2014/main" id="{5031D8A2-638F-E3BB-1A27-E25FBA716DD9}"/>
              </a:ext>
            </a:extLst>
          </p:cNvPr>
          <p:cNvSpPr/>
          <p:nvPr/>
        </p:nvSpPr>
        <p:spPr>
          <a:xfrm>
            <a:off x="7309817" y="1019269"/>
            <a:ext cx="2180201" cy="263037"/>
          </a:xfrm>
          <a:prstGeom prst="roundRect">
            <a:avLst>
              <a:gd name="adj" fmla="val 23458"/>
            </a:avLst>
          </a:prstGeom>
          <a:solidFill>
            <a:srgbClr val="E3A33C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275" name="Graphic 2">
            <a:extLst>
              <a:ext uri="{FF2B5EF4-FFF2-40B4-BE49-F238E27FC236}">
                <a16:creationId xmlns:a16="http://schemas.microsoft.com/office/drawing/2014/main" id="{8AB620D9-26ED-AFF3-C1B6-0AE0D333B58D}"/>
              </a:ext>
            </a:extLst>
          </p:cNvPr>
          <p:cNvGrpSpPr/>
          <p:nvPr/>
        </p:nvGrpSpPr>
        <p:grpSpPr>
          <a:xfrm>
            <a:off x="7358277" y="1079272"/>
            <a:ext cx="172807" cy="145246"/>
            <a:chOff x="7358277" y="1079272"/>
            <a:chExt cx="172807" cy="145246"/>
          </a:xfrm>
        </p:grpSpPr>
        <p:sp>
          <p:nvSpPr>
            <p:cNvPr id="276" name="Freeform 275">
              <a:extLst>
                <a:ext uri="{FF2B5EF4-FFF2-40B4-BE49-F238E27FC236}">
                  <a16:creationId xmlns:a16="http://schemas.microsoft.com/office/drawing/2014/main" id="{A4BDECCB-6899-44D8-D747-0BF4E80205E0}"/>
                </a:ext>
              </a:extLst>
            </p:cNvPr>
            <p:cNvSpPr/>
            <p:nvPr/>
          </p:nvSpPr>
          <p:spPr>
            <a:xfrm>
              <a:off x="7358277" y="1079272"/>
              <a:ext cx="172807" cy="145246"/>
            </a:xfrm>
            <a:custGeom>
              <a:avLst/>
              <a:gdLst>
                <a:gd name="csX0" fmla="*/ 168821 w 172807"/>
                <a:gd name="csY0" fmla="*/ 71516 h 145246"/>
                <a:gd name="csX1" fmla="*/ 171450 w 172807"/>
                <a:gd name="csY1" fmla="*/ 64815 h 145246"/>
                <a:gd name="csX2" fmla="*/ 172807 w 172807"/>
                <a:gd name="csY2" fmla="*/ 57788 h 145246"/>
                <a:gd name="csX3" fmla="*/ 172601 w 172807"/>
                <a:gd name="csY3" fmla="*/ 50718 h 145246"/>
                <a:gd name="csX4" fmla="*/ 170632 w 172807"/>
                <a:gd name="csY4" fmla="*/ 43896 h 145246"/>
                <a:gd name="csX5" fmla="*/ 167009 w 172807"/>
                <a:gd name="csY5" fmla="*/ 37607 h 145246"/>
                <a:gd name="csX6" fmla="*/ 161951 w 172807"/>
                <a:gd name="csY6" fmla="*/ 32063 h 145246"/>
                <a:gd name="csX7" fmla="*/ 155862 w 172807"/>
                <a:gd name="csY7" fmla="*/ 27378 h 145246"/>
                <a:gd name="csX8" fmla="*/ 149198 w 172807"/>
                <a:gd name="csY8" fmla="*/ 23467 h 145246"/>
                <a:gd name="csX9" fmla="*/ 142285 w 172807"/>
                <a:gd name="csY9" fmla="*/ 20265 h 145246"/>
                <a:gd name="csX10" fmla="*/ 135500 w 172807"/>
                <a:gd name="csY10" fmla="*/ 17427 h 145246"/>
                <a:gd name="csX11" fmla="*/ 128957 w 172807"/>
                <a:gd name="csY11" fmla="*/ 14800 h 145246"/>
                <a:gd name="csX12" fmla="*/ 122663 w 172807"/>
                <a:gd name="csY12" fmla="*/ 12209 h 145246"/>
                <a:gd name="csX13" fmla="*/ 116495 w 172807"/>
                <a:gd name="csY13" fmla="*/ 9539 h 145246"/>
                <a:gd name="csX14" fmla="*/ 110286 w 172807"/>
                <a:gd name="csY14" fmla="*/ 6864 h 145246"/>
                <a:gd name="csX15" fmla="*/ 103906 w 172807"/>
                <a:gd name="csY15" fmla="*/ 4358 h 145246"/>
                <a:gd name="csX16" fmla="*/ 97285 w 172807"/>
                <a:gd name="csY16" fmla="*/ 2221 h 145246"/>
                <a:gd name="csX17" fmla="*/ 90330 w 172807"/>
                <a:gd name="csY17" fmla="*/ 702 h 145246"/>
                <a:gd name="csX18" fmla="*/ 83174 w 172807"/>
                <a:gd name="csY18" fmla="*/ 0 h 145246"/>
                <a:gd name="csX19" fmla="*/ 75977 w 172807"/>
                <a:gd name="csY19" fmla="*/ 206 h 145246"/>
                <a:gd name="csX20" fmla="*/ 68901 w 172807"/>
                <a:gd name="csY20" fmla="*/ 1277 h 145246"/>
                <a:gd name="csX21" fmla="*/ 62031 w 172807"/>
                <a:gd name="csY21" fmla="*/ 3123 h 145246"/>
                <a:gd name="csX22" fmla="*/ 55488 w 172807"/>
                <a:gd name="csY22" fmla="*/ 5508 h 145246"/>
                <a:gd name="csX23" fmla="*/ 49157 w 172807"/>
                <a:gd name="csY23" fmla="*/ 8305 h 145246"/>
                <a:gd name="csX24" fmla="*/ 43026 w 172807"/>
                <a:gd name="csY24" fmla="*/ 11222 h 145246"/>
                <a:gd name="csX25" fmla="*/ 36980 w 172807"/>
                <a:gd name="csY25" fmla="*/ 14267 h 145246"/>
                <a:gd name="csX26" fmla="*/ 30849 w 172807"/>
                <a:gd name="csY26" fmla="*/ 17469 h 145246"/>
                <a:gd name="csX27" fmla="*/ 24761 w 172807"/>
                <a:gd name="csY27" fmla="*/ 20840 h 145246"/>
                <a:gd name="csX28" fmla="*/ 18757 w 172807"/>
                <a:gd name="csY28" fmla="*/ 24660 h 145246"/>
                <a:gd name="csX29" fmla="*/ 13122 w 172807"/>
                <a:gd name="csY29" fmla="*/ 28976 h 145246"/>
                <a:gd name="csX30" fmla="*/ 8142 w 172807"/>
                <a:gd name="csY30" fmla="*/ 33951 h 145246"/>
                <a:gd name="csX31" fmla="*/ 4114 w 172807"/>
                <a:gd name="csY31" fmla="*/ 39538 h 145246"/>
                <a:gd name="csX32" fmla="*/ 1357 w 172807"/>
                <a:gd name="csY32" fmla="*/ 45706 h 145246"/>
                <a:gd name="csX33" fmla="*/ 0 w 172807"/>
                <a:gd name="csY33" fmla="*/ 52201 h 145246"/>
                <a:gd name="csX34" fmla="*/ 0 w 172807"/>
                <a:gd name="csY34" fmla="*/ 58817 h 145246"/>
                <a:gd name="csX35" fmla="*/ 1151 w 172807"/>
                <a:gd name="csY35" fmla="*/ 65311 h 145246"/>
                <a:gd name="csX36" fmla="*/ 3126 w 172807"/>
                <a:gd name="csY36" fmla="*/ 71516 h 145246"/>
                <a:gd name="csX37" fmla="*/ 5550 w 172807"/>
                <a:gd name="csY37" fmla="*/ 77393 h 145246"/>
                <a:gd name="csX38" fmla="*/ 7979 w 172807"/>
                <a:gd name="csY38" fmla="*/ 83022 h 145246"/>
                <a:gd name="csX39" fmla="*/ 10160 w 172807"/>
                <a:gd name="csY39" fmla="*/ 88488 h 145246"/>
                <a:gd name="csX40" fmla="*/ 11929 w 172807"/>
                <a:gd name="csY40" fmla="*/ 93996 h 145246"/>
                <a:gd name="csX41" fmla="*/ 13365 w 172807"/>
                <a:gd name="csY41" fmla="*/ 99753 h 145246"/>
                <a:gd name="csX42" fmla="*/ 14722 w 172807"/>
                <a:gd name="csY42" fmla="*/ 105794 h 145246"/>
                <a:gd name="csX43" fmla="*/ 16327 w 172807"/>
                <a:gd name="csY43" fmla="*/ 112125 h 145246"/>
                <a:gd name="csX44" fmla="*/ 18508 w 172807"/>
                <a:gd name="csY44" fmla="*/ 118577 h 145246"/>
                <a:gd name="csX45" fmla="*/ 21634 w 172807"/>
                <a:gd name="csY45" fmla="*/ 124903 h 145246"/>
                <a:gd name="csX46" fmla="*/ 25875 w 172807"/>
                <a:gd name="csY46" fmla="*/ 130738 h 145246"/>
                <a:gd name="csX47" fmla="*/ 31219 w 172807"/>
                <a:gd name="csY47" fmla="*/ 135834 h 145246"/>
                <a:gd name="csX48" fmla="*/ 37634 w 172807"/>
                <a:gd name="csY48" fmla="*/ 139866 h 145246"/>
                <a:gd name="csX49" fmla="*/ 44880 w 172807"/>
                <a:gd name="csY49" fmla="*/ 142783 h 145246"/>
                <a:gd name="csX50" fmla="*/ 52526 w 172807"/>
                <a:gd name="csY50" fmla="*/ 144508 h 145246"/>
                <a:gd name="csX51" fmla="*/ 60383 w 172807"/>
                <a:gd name="csY51" fmla="*/ 145247 h 145246"/>
                <a:gd name="csX52" fmla="*/ 68198 w 172807"/>
                <a:gd name="csY52" fmla="*/ 145168 h 145246"/>
                <a:gd name="csX53" fmla="*/ 75814 w 172807"/>
                <a:gd name="csY53" fmla="*/ 144593 h 145246"/>
                <a:gd name="csX54" fmla="*/ 83174 w 172807"/>
                <a:gd name="csY54" fmla="*/ 143685 h 145246"/>
                <a:gd name="csX55" fmla="*/ 90330 w 172807"/>
                <a:gd name="csY55" fmla="*/ 142577 h 145246"/>
                <a:gd name="csX56" fmla="*/ 97369 w 172807"/>
                <a:gd name="csY56" fmla="*/ 141343 h 145246"/>
                <a:gd name="csX57" fmla="*/ 104276 w 172807"/>
                <a:gd name="csY57" fmla="*/ 139823 h 145246"/>
                <a:gd name="csX58" fmla="*/ 111067 w 172807"/>
                <a:gd name="csY58" fmla="*/ 137935 h 145246"/>
                <a:gd name="csX59" fmla="*/ 117604 w 172807"/>
                <a:gd name="csY59" fmla="*/ 135508 h 145246"/>
                <a:gd name="csX60" fmla="*/ 123735 w 172807"/>
                <a:gd name="csY60" fmla="*/ 132427 h 145246"/>
                <a:gd name="csX61" fmla="*/ 129327 w 172807"/>
                <a:gd name="csY61" fmla="*/ 128644 h 145246"/>
                <a:gd name="csX62" fmla="*/ 134222 w 172807"/>
                <a:gd name="csY62" fmla="*/ 124285 h 145246"/>
                <a:gd name="csX63" fmla="*/ 138420 w 172807"/>
                <a:gd name="csY63" fmla="*/ 119395 h 145246"/>
                <a:gd name="csX64" fmla="*/ 141958 w 172807"/>
                <a:gd name="csY64" fmla="*/ 114262 h 145246"/>
                <a:gd name="csX65" fmla="*/ 145000 w 172807"/>
                <a:gd name="csY65" fmla="*/ 109080 h 145246"/>
                <a:gd name="csX66" fmla="*/ 147883 w 172807"/>
                <a:gd name="csY66" fmla="*/ 103905 h 145246"/>
                <a:gd name="csX67" fmla="*/ 150846 w 172807"/>
                <a:gd name="csY67" fmla="*/ 98887 h 145246"/>
                <a:gd name="csX68" fmla="*/ 154051 w 172807"/>
                <a:gd name="csY68" fmla="*/ 93875 h 145246"/>
                <a:gd name="csX69" fmla="*/ 157631 w 172807"/>
                <a:gd name="csY69" fmla="*/ 88821 h 145246"/>
                <a:gd name="csX70" fmla="*/ 161496 w 172807"/>
                <a:gd name="csY70" fmla="*/ 83476 h 145246"/>
                <a:gd name="csX71" fmla="*/ 165362 w 172807"/>
                <a:gd name="csY71" fmla="*/ 77762 h 1452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172807" h="145246">
                  <a:moveTo>
                    <a:pt x="168821" y="71516"/>
                  </a:moveTo>
                  <a:lnTo>
                    <a:pt x="171450" y="64815"/>
                  </a:lnTo>
                  <a:lnTo>
                    <a:pt x="172807" y="57788"/>
                  </a:lnTo>
                  <a:lnTo>
                    <a:pt x="172601" y="50718"/>
                  </a:lnTo>
                  <a:lnTo>
                    <a:pt x="170632" y="43896"/>
                  </a:lnTo>
                  <a:lnTo>
                    <a:pt x="167009" y="37607"/>
                  </a:lnTo>
                  <a:lnTo>
                    <a:pt x="161951" y="32063"/>
                  </a:lnTo>
                  <a:lnTo>
                    <a:pt x="155862" y="27378"/>
                  </a:lnTo>
                  <a:lnTo>
                    <a:pt x="149198" y="23467"/>
                  </a:lnTo>
                  <a:lnTo>
                    <a:pt x="142285" y="20265"/>
                  </a:lnTo>
                  <a:lnTo>
                    <a:pt x="135500" y="17427"/>
                  </a:lnTo>
                  <a:lnTo>
                    <a:pt x="128957" y="14800"/>
                  </a:lnTo>
                  <a:lnTo>
                    <a:pt x="122663" y="12209"/>
                  </a:lnTo>
                  <a:lnTo>
                    <a:pt x="116495" y="9539"/>
                  </a:lnTo>
                  <a:lnTo>
                    <a:pt x="110286" y="6864"/>
                  </a:lnTo>
                  <a:lnTo>
                    <a:pt x="103906" y="4358"/>
                  </a:lnTo>
                  <a:lnTo>
                    <a:pt x="97285" y="2221"/>
                  </a:lnTo>
                  <a:lnTo>
                    <a:pt x="90330" y="702"/>
                  </a:lnTo>
                  <a:lnTo>
                    <a:pt x="83174" y="0"/>
                  </a:lnTo>
                  <a:lnTo>
                    <a:pt x="75977" y="206"/>
                  </a:lnTo>
                  <a:lnTo>
                    <a:pt x="68901" y="1277"/>
                  </a:lnTo>
                  <a:lnTo>
                    <a:pt x="62031" y="3123"/>
                  </a:lnTo>
                  <a:lnTo>
                    <a:pt x="55488" y="5508"/>
                  </a:lnTo>
                  <a:lnTo>
                    <a:pt x="49157" y="8305"/>
                  </a:lnTo>
                  <a:lnTo>
                    <a:pt x="43026" y="11222"/>
                  </a:lnTo>
                  <a:lnTo>
                    <a:pt x="36980" y="14267"/>
                  </a:lnTo>
                  <a:lnTo>
                    <a:pt x="30849" y="17469"/>
                  </a:lnTo>
                  <a:lnTo>
                    <a:pt x="24761" y="20840"/>
                  </a:lnTo>
                  <a:lnTo>
                    <a:pt x="18757" y="24660"/>
                  </a:lnTo>
                  <a:lnTo>
                    <a:pt x="13122" y="28976"/>
                  </a:lnTo>
                  <a:lnTo>
                    <a:pt x="8142" y="33951"/>
                  </a:lnTo>
                  <a:lnTo>
                    <a:pt x="4114" y="39538"/>
                  </a:lnTo>
                  <a:lnTo>
                    <a:pt x="1357" y="45706"/>
                  </a:lnTo>
                  <a:lnTo>
                    <a:pt x="0" y="52201"/>
                  </a:lnTo>
                  <a:lnTo>
                    <a:pt x="0" y="58817"/>
                  </a:lnTo>
                  <a:lnTo>
                    <a:pt x="1151" y="65311"/>
                  </a:lnTo>
                  <a:lnTo>
                    <a:pt x="3126" y="71516"/>
                  </a:lnTo>
                  <a:lnTo>
                    <a:pt x="5550" y="77393"/>
                  </a:lnTo>
                  <a:lnTo>
                    <a:pt x="7979" y="83022"/>
                  </a:lnTo>
                  <a:lnTo>
                    <a:pt x="10160" y="88488"/>
                  </a:lnTo>
                  <a:lnTo>
                    <a:pt x="11929" y="93996"/>
                  </a:lnTo>
                  <a:lnTo>
                    <a:pt x="13365" y="99753"/>
                  </a:lnTo>
                  <a:lnTo>
                    <a:pt x="14722" y="105794"/>
                  </a:lnTo>
                  <a:lnTo>
                    <a:pt x="16327" y="112125"/>
                  </a:lnTo>
                  <a:lnTo>
                    <a:pt x="18508" y="118577"/>
                  </a:lnTo>
                  <a:lnTo>
                    <a:pt x="21634" y="124903"/>
                  </a:lnTo>
                  <a:lnTo>
                    <a:pt x="25875" y="130738"/>
                  </a:lnTo>
                  <a:lnTo>
                    <a:pt x="31219" y="135834"/>
                  </a:lnTo>
                  <a:lnTo>
                    <a:pt x="37634" y="139866"/>
                  </a:lnTo>
                  <a:lnTo>
                    <a:pt x="44880" y="142783"/>
                  </a:lnTo>
                  <a:lnTo>
                    <a:pt x="52526" y="144508"/>
                  </a:lnTo>
                  <a:lnTo>
                    <a:pt x="60383" y="145247"/>
                  </a:lnTo>
                  <a:lnTo>
                    <a:pt x="68198" y="145168"/>
                  </a:lnTo>
                  <a:lnTo>
                    <a:pt x="75814" y="144593"/>
                  </a:lnTo>
                  <a:lnTo>
                    <a:pt x="83174" y="143685"/>
                  </a:lnTo>
                  <a:lnTo>
                    <a:pt x="90330" y="142577"/>
                  </a:lnTo>
                  <a:lnTo>
                    <a:pt x="97369" y="141343"/>
                  </a:lnTo>
                  <a:lnTo>
                    <a:pt x="104276" y="139823"/>
                  </a:lnTo>
                  <a:lnTo>
                    <a:pt x="111067" y="137935"/>
                  </a:lnTo>
                  <a:lnTo>
                    <a:pt x="117604" y="135508"/>
                  </a:lnTo>
                  <a:lnTo>
                    <a:pt x="123735" y="132427"/>
                  </a:lnTo>
                  <a:lnTo>
                    <a:pt x="129327" y="128644"/>
                  </a:lnTo>
                  <a:lnTo>
                    <a:pt x="134222" y="124285"/>
                  </a:lnTo>
                  <a:lnTo>
                    <a:pt x="138420" y="119395"/>
                  </a:lnTo>
                  <a:lnTo>
                    <a:pt x="141958" y="114262"/>
                  </a:lnTo>
                  <a:lnTo>
                    <a:pt x="145000" y="109080"/>
                  </a:lnTo>
                  <a:lnTo>
                    <a:pt x="147883" y="103905"/>
                  </a:lnTo>
                  <a:lnTo>
                    <a:pt x="150846" y="98887"/>
                  </a:lnTo>
                  <a:lnTo>
                    <a:pt x="154051" y="93875"/>
                  </a:lnTo>
                  <a:lnTo>
                    <a:pt x="157631" y="88821"/>
                  </a:lnTo>
                  <a:lnTo>
                    <a:pt x="161496" y="83476"/>
                  </a:lnTo>
                  <a:lnTo>
                    <a:pt x="165362" y="77762"/>
                  </a:lnTo>
                  <a:close/>
                </a:path>
              </a:pathLst>
            </a:custGeom>
            <a:solidFill>
              <a:srgbClr val="FFFFFF"/>
            </a:solidFill>
            <a:ln w="7029" cap="flat">
              <a:solidFill>
                <a:srgbClr val="B57516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" name="Freeform 276">
              <a:extLst>
                <a:ext uri="{FF2B5EF4-FFF2-40B4-BE49-F238E27FC236}">
                  <a16:creationId xmlns:a16="http://schemas.microsoft.com/office/drawing/2014/main" id="{ED7B1412-FFD6-4B85-2E2B-05F7FA70EC05}"/>
                </a:ext>
              </a:extLst>
            </p:cNvPr>
            <p:cNvSpPr/>
            <p:nvPr/>
          </p:nvSpPr>
          <p:spPr>
            <a:xfrm>
              <a:off x="7439195" y="1083630"/>
              <a:ext cx="4512" cy="131191"/>
            </a:xfrm>
            <a:custGeom>
              <a:avLst/>
              <a:gdLst>
                <a:gd name="csX0" fmla="*/ 2256 w 4512"/>
                <a:gd name="csY0" fmla="*/ 0 h 131191"/>
                <a:gd name="csX1" fmla="*/ 2256 w 4512"/>
                <a:gd name="csY1" fmla="*/ 131192 h 1311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512" h="131191">
                  <a:moveTo>
                    <a:pt x="2256" y="0"/>
                  </a:moveTo>
                  <a:cubicBezTo>
                    <a:pt x="10071" y="43733"/>
                    <a:pt x="-5559" y="90583"/>
                    <a:pt x="2256" y="131192"/>
                  </a:cubicBezTo>
                </a:path>
              </a:pathLst>
            </a:custGeom>
            <a:noFill/>
            <a:ln w="5963" cap="rnd">
              <a:solidFill>
                <a:srgbClr val="E3A33C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8" name="Freeform 277">
              <a:extLst>
                <a:ext uri="{FF2B5EF4-FFF2-40B4-BE49-F238E27FC236}">
                  <a16:creationId xmlns:a16="http://schemas.microsoft.com/office/drawing/2014/main" id="{BB4925B5-DB99-2CB9-0E72-A0235D44F47A}"/>
                </a:ext>
              </a:extLst>
            </p:cNvPr>
            <p:cNvSpPr/>
            <p:nvPr/>
          </p:nvSpPr>
          <p:spPr>
            <a:xfrm>
              <a:off x="7380487" y="1119554"/>
              <a:ext cx="46897" cy="14060"/>
            </a:xfrm>
            <a:custGeom>
              <a:avLst/>
              <a:gdLst>
                <a:gd name="csX0" fmla="*/ 0 w 46897"/>
                <a:gd name="csY0" fmla="*/ 6247 h 14060"/>
                <a:gd name="csX1" fmla="*/ 23452 w 46897"/>
                <a:gd name="csY1" fmla="*/ 6247 h 14060"/>
                <a:gd name="csX2" fmla="*/ 46898 w 46897"/>
                <a:gd name="csY2" fmla="*/ 11259 h 140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6897" h="14060">
                  <a:moveTo>
                    <a:pt x="0" y="6247"/>
                  </a:moveTo>
                  <a:cubicBezTo>
                    <a:pt x="15635" y="-2082"/>
                    <a:pt x="23452" y="-2082"/>
                    <a:pt x="23452" y="6247"/>
                  </a:cubicBezTo>
                  <a:cubicBezTo>
                    <a:pt x="23452" y="14576"/>
                    <a:pt x="31267" y="16246"/>
                    <a:pt x="46898" y="11259"/>
                  </a:cubicBezTo>
                </a:path>
              </a:pathLst>
            </a:custGeom>
            <a:noFill/>
            <a:ln w="5261" cap="rnd">
              <a:solidFill>
                <a:srgbClr val="E3A33C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9" name="Freeform 278">
              <a:extLst>
                <a:ext uri="{FF2B5EF4-FFF2-40B4-BE49-F238E27FC236}">
                  <a16:creationId xmlns:a16="http://schemas.microsoft.com/office/drawing/2014/main" id="{B382F259-F6A4-E994-C8E9-B017397CEDE8}"/>
                </a:ext>
              </a:extLst>
            </p:cNvPr>
            <p:cNvSpPr/>
            <p:nvPr/>
          </p:nvSpPr>
          <p:spPr>
            <a:xfrm>
              <a:off x="7385176" y="1162500"/>
              <a:ext cx="40645" cy="12292"/>
            </a:xfrm>
            <a:custGeom>
              <a:avLst/>
              <a:gdLst>
                <a:gd name="csX0" fmla="*/ 0 w 40645"/>
                <a:gd name="csY0" fmla="*/ 5466 h 12292"/>
                <a:gd name="csX1" fmla="*/ 20326 w 40645"/>
                <a:gd name="csY1" fmla="*/ 5466 h 12292"/>
                <a:gd name="csX2" fmla="*/ 40645 w 40645"/>
                <a:gd name="csY2" fmla="*/ 9824 h 122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0645" h="12292">
                  <a:moveTo>
                    <a:pt x="0" y="5466"/>
                  </a:moveTo>
                  <a:cubicBezTo>
                    <a:pt x="13551" y="-1822"/>
                    <a:pt x="20326" y="-1822"/>
                    <a:pt x="20326" y="5466"/>
                  </a:cubicBezTo>
                  <a:cubicBezTo>
                    <a:pt x="20326" y="12754"/>
                    <a:pt x="27099" y="14206"/>
                    <a:pt x="40645" y="9824"/>
                  </a:cubicBezTo>
                </a:path>
              </a:pathLst>
            </a:custGeom>
            <a:noFill/>
            <a:ln w="5261" cap="rnd">
              <a:solidFill>
                <a:srgbClr val="E3A33C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0" name="Freeform 279">
              <a:extLst>
                <a:ext uri="{FF2B5EF4-FFF2-40B4-BE49-F238E27FC236}">
                  <a16:creationId xmlns:a16="http://schemas.microsoft.com/office/drawing/2014/main" id="{64A56BFB-BEBC-5293-28E8-DA81FEE1ACE1}"/>
                </a:ext>
              </a:extLst>
            </p:cNvPr>
            <p:cNvSpPr/>
            <p:nvPr/>
          </p:nvSpPr>
          <p:spPr>
            <a:xfrm>
              <a:off x="7455519" y="1121116"/>
              <a:ext cx="46897" cy="14060"/>
            </a:xfrm>
            <a:custGeom>
              <a:avLst/>
              <a:gdLst>
                <a:gd name="csX0" fmla="*/ 0 w 46897"/>
                <a:gd name="csY0" fmla="*/ 6247 h 14060"/>
                <a:gd name="csX1" fmla="*/ 23446 w 46897"/>
                <a:gd name="csY1" fmla="*/ 6247 h 14060"/>
                <a:gd name="csX2" fmla="*/ 46897 w 46897"/>
                <a:gd name="csY2" fmla="*/ 11259 h 140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6897" h="14060">
                  <a:moveTo>
                    <a:pt x="0" y="6247"/>
                  </a:moveTo>
                  <a:cubicBezTo>
                    <a:pt x="15631" y="-2082"/>
                    <a:pt x="23446" y="-2082"/>
                    <a:pt x="23446" y="6247"/>
                  </a:cubicBezTo>
                  <a:cubicBezTo>
                    <a:pt x="23446" y="14576"/>
                    <a:pt x="31263" y="16246"/>
                    <a:pt x="46897" y="11259"/>
                  </a:cubicBezTo>
                </a:path>
              </a:pathLst>
            </a:custGeom>
            <a:noFill/>
            <a:ln w="5261" cap="rnd">
              <a:solidFill>
                <a:srgbClr val="E3A33C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1" name="Freeform 280">
              <a:extLst>
                <a:ext uri="{FF2B5EF4-FFF2-40B4-BE49-F238E27FC236}">
                  <a16:creationId xmlns:a16="http://schemas.microsoft.com/office/drawing/2014/main" id="{88E0EAD4-00EB-648D-FB06-867D96B2C314}"/>
                </a:ext>
              </a:extLst>
            </p:cNvPr>
            <p:cNvSpPr/>
            <p:nvPr/>
          </p:nvSpPr>
          <p:spPr>
            <a:xfrm>
              <a:off x="7457082" y="1164062"/>
              <a:ext cx="40645" cy="12292"/>
            </a:xfrm>
            <a:custGeom>
              <a:avLst/>
              <a:gdLst>
                <a:gd name="csX0" fmla="*/ 0 w 40645"/>
                <a:gd name="csY0" fmla="*/ 5466 h 12292"/>
                <a:gd name="csX1" fmla="*/ 20320 w 40645"/>
                <a:gd name="csY1" fmla="*/ 5466 h 12292"/>
                <a:gd name="csX2" fmla="*/ 40645 w 40645"/>
                <a:gd name="csY2" fmla="*/ 9824 h 122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0645" h="12292">
                  <a:moveTo>
                    <a:pt x="0" y="5466"/>
                  </a:moveTo>
                  <a:cubicBezTo>
                    <a:pt x="13547" y="-1822"/>
                    <a:pt x="20320" y="-1822"/>
                    <a:pt x="20320" y="5466"/>
                  </a:cubicBezTo>
                  <a:cubicBezTo>
                    <a:pt x="20320" y="12754"/>
                    <a:pt x="27095" y="14206"/>
                    <a:pt x="40645" y="9824"/>
                  </a:cubicBezTo>
                </a:path>
              </a:pathLst>
            </a:custGeom>
            <a:noFill/>
            <a:ln w="5261" cap="rnd">
              <a:solidFill>
                <a:srgbClr val="E3A33C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2" name="TextBox 281">
            <a:extLst>
              <a:ext uri="{FF2B5EF4-FFF2-40B4-BE49-F238E27FC236}">
                <a16:creationId xmlns:a16="http://schemas.microsoft.com/office/drawing/2014/main" id="{84EE4F95-BE9D-F9FB-E8EE-C0B3A2191FDC}"/>
              </a:ext>
            </a:extLst>
          </p:cNvPr>
          <p:cNvSpPr txBox="1"/>
          <p:nvPr/>
        </p:nvSpPr>
        <p:spPr>
          <a:xfrm>
            <a:off x="7456965" y="1033597"/>
            <a:ext cx="831824" cy="169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66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Appetitive / Reward</a:t>
            </a: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EE146122-4E09-40DF-7BA7-905A72567214}"/>
              </a:ext>
            </a:extLst>
          </p:cNvPr>
          <p:cNvSpPr txBox="1"/>
          <p:nvPr/>
        </p:nvSpPr>
        <p:spPr>
          <a:xfrm>
            <a:off x="7456965" y="1134399"/>
            <a:ext cx="451797" cy="1465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1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7 signatures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438A810F-A1D6-752C-76E1-F93E24E7F1BD}"/>
              </a:ext>
            </a:extLst>
          </p:cNvPr>
          <p:cNvSpPr txBox="1"/>
          <p:nvPr/>
        </p:nvSpPr>
        <p:spPr>
          <a:xfrm>
            <a:off x="7259512" y="1362694"/>
            <a:ext cx="731863" cy="148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37" b="1" spc="27" baseline="0">
                <a:ln/>
                <a:solidFill>
                  <a:srgbClr val="B57516"/>
                </a:solidFill>
                <a:latin typeface="Arial"/>
                <a:cs typeface="Arial"/>
                <a:sym typeface="Arial"/>
                <a:rtl val="0"/>
              </a:rPr>
              <a:t>REWARD &amp; CRAVING</a:t>
            </a:r>
          </a:p>
        </p:txBody>
      </p:sp>
      <p:sp>
        <p:nvSpPr>
          <p:cNvPr id="285" name="Freeform 284">
            <a:extLst>
              <a:ext uri="{FF2B5EF4-FFF2-40B4-BE49-F238E27FC236}">
                <a16:creationId xmlns:a16="http://schemas.microsoft.com/office/drawing/2014/main" id="{19764AB3-75DA-7478-6966-1A198FBE6DD5}"/>
              </a:ext>
            </a:extLst>
          </p:cNvPr>
          <p:cNvSpPr/>
          <p:nvPr/>
        </p:nvSpPr>
        <p:spPr>
          <a:xfrm>
            <a:off x="7939196" y="1434375"/>
            <a:ext cx="1517914" cy="6052"/>
          </a:xfrm>
          <a:custGeom>
            <a:avLst/>
            <a:gdLst>
              <a:gd name="csX0" fmla="*/ 0 w 1517914"/>
              <a:gd name="csY0" fmla="*/ 0 h 6052"/>
              <a:gd name="csX1" fmla="*/ 1517914 w 1517914"/>
              <a:gd name="csY1" fmla="*/ 0 h 605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17914" h="6052">
                <a:moveTo>
                  <a:pt x="0" y="0"/>
                </a:moveTo>
                <a:lnTo>
                  <a:pt x="1517914" y="0"/>
                </a:lnTo>
              </a:path>
            </a:pathLst>
          </a:custGeom>
          <a:ln w="6163" cap="flat">
            <a:solidFill>
              <a:srgbClr val="E3A33C">
                <a:alpha val="35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86" name="Rounded Rectangle 285">
            <a:extLst>
              <a:ext uri="{FF2B5EF4-FFF2-40B4-BE49-F238E27FC236}">
                <a16:creationId xmlns:a16="http://schemas.microsoft.com/office/drawing/2014/main" id="{FA74EE2C-BBAC-C840-F547-BA8D430B07B8}"/>
              </a:ext>
            </a:extLst>
          </p:cNvPr>
          <p:cNvSpPr/>
          <p:nvPr/>
        </p:nvSpPr>
        <p:spPr>
          <a:xfrm>
            <a:off x="7342725" y="1504244"/>
            <a:ext cx="2114384" cy="254817"/>
          </a:xfrm>
          <a:prstGeom prst="roundRect">
            <a:avLst>
              <a:gd name="adj" fmla="val 19371"/>
            </a:avLst>
          </a:prstGeom>
          <a:solidFill>
            <a:srgbClr val="FFFFFF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87" name="Rounded Rectangle 286">
            <a:extLst>
              <a:ext uri="{FF2B5EF4-FFF2-40B4-BE49-F238E27FC236}">
                <a16:creationId xmlns:a16="http://schemas.microsoft.com/office/drawing/2014/main" id="{247E0DD1-71B7-A793-FF21-0058577482FC}"/>
              </a:ext>
            </a:extLst>
          </p:cNvPr>
          <p:cNvSpPr/>
          <p:nvPr/>
        </p:nvSpPr>
        <p:spPr>
          <a:xfrm>
            <a:off x="7342725" y="1504244"/>
            <a:ext cx="20567" cy="254817"/>
          </a:xfrm>
          <a:prstGeom prst="roundRect">
            <a:avLst>
              <a:gd name="adj" fmla="val 50000"/>
            </a:avLst>
          </a:prstGeom>
          <a:solidFill>
            <a:srgbClr val="E3A33C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88" name="Oval 287">
            <a:extLst>
              <a:ext uri="{FF2B5EF4-FFF2-40B4-BE49-F238E27FC236}">
                <a16:creationId xmlns:a16="http://schemas.microsoft.com/office/drawing/2014/main" id="{99F7BDC0-82C0-E5B8-CBCE-EEF99E37CEE3}"/>
              </a:ext>
            </a:extLst>
          </p:cNvPr>
          <p:cNvSpPr/>
          <p:nvPr/>
        </p:nvSpPr>
        <p:spPr>
          <a:xfrm>
            <a:off x="7404429" y="1512464"/>
            <a:ext cx="238588" cy="238377"/>
          </a:xfrm>
          <a:prstGeom prst="ellipse">
            <a:avLst/>
          </a:prstGeom>
          <a:solidFill>
            <a:srgbClr val="FBF2E0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289" name="Picture 288">
            <a:extLst>
              <a:ext uri="{FF2B5EF4-FFF2-40B4-BE49-F238E27FC236}">
                <a16:creationId xmlns:a16="http://schemas.microsoft.com/office/drawing/2014/main" id="{45F19451-78F1-086A-6E89-1C69D75297BE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16770" y="1524794"/>
            <a:ext cx="213906" cy="213717"/>
          </a:xfrm>
          <a:custGeom>
            <a:avLst/>
            <a:gdLst>
              <a:gd name="csX0" fmla="*/ 826 w 213906"/>
              <a:gd name="csY0" fmla="*/ 270 h 213717"/>
              <a:gd name="csX1" fmla="*/ 214732 w 213906"/>
              <a:gd name="csY1" fmla="*/ 270 h 213717"/>
              <a:gd name="csX2" fmla="*/ 214732 w 213906"/>
              <a:gd name="csY2" fmla="*/ 213987 h 213717"/>
              <a:gd name="csX3" fmla="*/ 826 w 213906"/>
              <a:gd name="csY3" fmla="*/ 213987 h 2137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3906" h="213717">
                <a:moveTo>
                  <a:pt x="826" y="270"/>
                </a:moveTo>
                <a:lnTo>
                  <a:pt x="214732" y="270"/>
                </a:lnTo>
                <a:lnTo>
                  <a:pt x="214732" y="213987"/>
                </a:lnTo>
                <a:lnTo>
                  <a:pt x="826" y="213987"/>
                </a:lnTo>
                <a:close/>
              </a:path>
            </a:pathLst>
          </a:custGeom>
        </p:spPr>
      </p:pic>
      <p:sp>
        <p:nvSpPr>
          <p:cNvPr id="290" name="Oval 289">
            <a:extLst>
              <a:ext uri="{FF2B5EF4-FFF2-40B4-BE49-F238E27FC236}">
                <a16:creationId xmlns:a16="http://schemas.microsoft.com/office/drawing/2014/main" id="{56C768A4-975F-2AC5-88A6-A1110307D13A}"/>
              </a:ext>
            </a:extLst>
          </p:cNvPr>
          <p:cNvSpPr/>
          <p:nvPr/>
        </p:nvSpPr>
        <p:spPr>
          <a:xfrm>
            <a:off x="7404429" y="1512464"/>
            <a:ext cx="238588" cy="238377"/>
          </a:xfrm>
          <a:prstGeom prst="ellipse">
            <a:avLst/>
          </a:prstGeom>
          <a:noFill/>
          <a:ln w="8221" cap="flat">
            <a:solidFill>
              <a:srgbClr val="E3A33C">
                <a:alpha val="8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374471B8-CE02-16C3-4AD8-F2D99352050C}"/>
              </a:ext>
            </a:extLst>
          </p:cNvPr>
          <p:cNvSpPr txBox="1"/>
          <p:nvPr/>
        </p:nvSpPr>
        <p:spPr>
          <a:xfrm>
            <a:off x="7589379" y="1451345"/>
            <a:ext cx="184537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spc="0" baseline="0" dirty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Brain Reward Signature (BRS)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4593B042-BDF7-5B23-6AA5-3AA4984B0F87}"/>
              </a:ext>
            </a:extLst>
          </p:cNvPr>
          <p:cNvSpPr txBox="1"/>
          <p:nvPr/>
        </p:nvSpPr>
        <p:spPr>
          <a:xfrm>
            <a:off x="7589379" y="1588153"/>
            <a:ext cx="539635" cy="160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64" i="1" spc="0" baseline="0">
                <a:ln/>
                <a:solidFill>
                  <a:srgbClr val="7C8598"/>
                </a:solidFill>
                <a:latin typeface="Arial"/>
                <a:cs typeface="Arial"/>
                <a:sym typeface="Arial"/>
                <a:rtl val="0"/>
              </a:rPr>
              <a:t>Speer · 2023</a:t>
            </a:r>
          </a:p>
        </p:txBody>
      </p:sp>
      <p:sp>
        <p:nvSpPr>
          <p:cNvPr id="293" name="Rounded Rectangle 292">
            <a:extLst>
              <a:ext uri="{FF2B5EF4-FFF2-40B4-BE49-F238E27FC236}">
                <a16:creationId xmlns:a16="http://schemas.microsoft.com/office/drawing/2014/main" id="{B74D1F94-5D7D-2568-81BD-24E9E0CE9602}"/>
              </a:ext>
            </a:extLst>
          </p:cNvPr>
          <p:cNvSpPr/>
          <p:nvPr/>
        </p:nvSpPr>
        <p:spPr>
          <a:xfrm>
            <a:off x="7342725" y="1796051"/>
            <a:ext cx="2114384" cy="254817"/>
          </a:xfrm>
          <a:prstGeom prst="roundRect">
            <a:avLst>
              <a:gd name="adj" fmla="val 19371"/>
            </a:avLst>
          </a:prstGeom>
          <a:solidFill>
            <a:srgbClr val="FFFFFF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94" name="Rounded Rectangle 293">
            <a:extLst>
              <a:ext uri="{FF2B5EF4-FFF2-40B4-BE49-F238E27FC236}">
                <a16:creationId xmlns:a16="http://schemas.microsoft.com/office/drawing/2014/main" id="{35CC0061-8CAF-7FC4-E2BB-F42A01C683FA}"/>
              </a:ext>
            </a:extLst>
          </p:cNvPr>
          <p:cNvSpPr/>
          <p:nvPr/>
        </p:nvSpPr>
        <p:spPr>
          <a:xfrm>
            <a:off x="7342725" y="1796051"/>
            <a:ext cx="20567" cy="254817"/>
          </a:xfrm>
          <a:prstGeom prst="roundRect">
            <a:avLst>
              <a:gd name="adj" fmla="val 50000"/>
            </a:avLst>
          </a:prstGeom>
          <a:solidFill>
            <a:srgbClr val="E3A33C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95" name="Oval 294">
            <a:extLst>
              <a:ext uri="{FF2B5EF4-FFF2-40B4-BE49-F238E27FC236}">
                <a16:creationId xmlns:a16="http://schemas.microsoft.com/office/drawing/2014/main" id="{682FE8D3-D0F1-31FE-BC26-50DE4FB2AD2B}"/>
              </a:ext>
            </a:extLst>
          </p:cNvPr>
          <p:cNvSpPr/>
          <p:nvPr/>
        </p:nvSpPr>
        <p:spPr>
          <a:xfrm>
            <a:off x="7404429" y="1804271"/>
            <a:ext cx="238588" cy="238377"/>
          </a:xfrm>
          <a:prstGeom prst="ellipse">
            <a:avLst/>
          </a:prstGeom>
          <a:solidFill>
            <a:srgbClr val="FBF2E0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296" name="Picture 295">
            <a:extLst>
              <a:ext uri="{FF2B5EF4-FFF2-40B4-BE49-F238E27FC236}">
                <a16:creationId xmlns:a16="http://schemas.microsoft.com/office/drawing/2014/main" id="{E4E0E94D-E646-7473-A0BE-FB573372E999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416770" y="1816601"/>
            <a:ext cx="213906" cy="213717"/>
          </a:xfrm>
          <a:custGeom>
            <a:avLst/>
            <a:gdLst>
              <a:gd name="csX0" fmla="*/ 826 w 213906"/>
              <a:gd name="csY0" fmla="*/ 318 h 213717"/>
              <a:gd name="csX1" fmla="*/ 214732 w 213906"/>
              <a:gd name="csY1" fmla="*/ 318 h 213717"/>
              <a:gd name="csX2" fmla="*/ 214732 w 213906"/>
              <a:gd name="csY2" fmla="*/ 214036 h 213717"/>
              <a:gd name="csX3" fmla="*/ 826 w 213906"/>
              <a:gd name="csY3" fmla="*/ 214036 h 2137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3906" h="213717">
                <a:moveTo>
                  <a:pt x="826" y="318"/>
                </a:moveTo>
                <a:lnTo>
                  <a:pt x="214732" y="318"/>
                </a:lnTo>
                <a:lnTo>
                  <a:pt x="214732" y="214036"/>
                </a:lnTo>
                <a:lnTo>
                  <a:pt x="826" y="214036"/>
                </a:lnTo>
                <a:close/>
              </a:path>
            </a:pathLst>
          </a:custGeom>
        </p:spPr>
      </p:pic>
      <p:sp>
        <p:nvSpPr>
          <p:cNvPr id="297" name="Oval 296">
            <a:extLst>
              <a:ext uri="{FF2B5EF4-FFF2-40B4-BE49-F238E27FC236}">
                <a16:creationId xmlns:a16="http://schemas.microsoft.com/office/drawing/2014/main" id="{CD3181A0-6D48-8999-CE2A-71B35E5F9427}"/>
              </a:ext>
            </a:extLst>
          </p:cNvPr>
          <p:cNvSpPr/>
          <p:nvPr/>
        </p:nvSpPr>
        <p:spPr>
          <a:xfrm>
            <a:off x="7404429" y="1804271"/>
            <a:ext cx="238588" cy="238377"/>
          </a:xfrm>
          <a:prstGeom prst="ellipse">
            <a:avLst/>
          </a:prstGeom>
          <a:noFill/>
          <a:ln w="8221" cap="flat">
            <a:solidFill>
              <a:srgbClr val="E3A33C">
                <a:alpha val="8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235E0387-B3DA-14D0-4E3C-68C6CF62A29E}"/>
              </a:ext>
            </a:extLst>
          </p:cNvPr>
          <p:cNvSpPr txBox="1"/>
          <p:nvPr/>
        </p:nvSpPr>
        <p:spPr>
          <a:xfrm>
            <a:off x="7589379" y="1743152"/>
            <a:ext cx="180049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spc="0" baseline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Craving — drug &amp; food (NCS)</a:t>
            </a:r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3B01F7F3-F0B8-C949-E1F9-8B389F1A5943}"/>
              </a:ext>
            </a:extLst>
          </p:cNvPr>
          <p:cNvSpPr txBox="1"/>
          <p:nvPr/>
        </p:nvSpPr>
        <p:spPr>
          <a:xfrm>
            <a:off x="7589379" y="1879960"/>
            <a:ext cx="553404" cy="160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64" i="1" spc="0" baseline="0">
                <a:ln/>
                <a:solidFill>
                  <a:srgbClr val="7C8598"/>
                </a:solidFill>
                <a:latin typeface="Arial"/>
                <a:cs typeface="Arial"/>
                <a:sym typeface="Arial"/>
                <a:rtl val="0"/>
              </a:rPr>
              <a:t>Koban · 2022</a:t>
            </a:r>
          </a:p>
        </p:txBody>
      </p:sp>
      <p:sp>
        <p:nvSpPr>
          <p:cNvPr id="300" name="Rounded Rectangle 299">
            <a:extLst>
              <a:ext uri="{FF2B5EF4-FFF2-40B4-BE49-F238E27FC236}">
                <a16:creationId xmlns:a16="http://schemas.microsoft.com/office/drawing/2014/main" id="{51A94B90-1563-C6FC-C84C-B4022B440B78}"/>
              </a:ext>
            </a:extLst>
          </p:cNvPr>
          <p:cNvSpPr/>
          <p:nvPr/>
        </p:nvSpPr>
        <p:spPr>
          <a:xfrm>
            <a:off x="7342725" y="2087858"/>
            <a:ext cx="2114384" cy="254817"/>
          </a:xfrm>
          <a:prstGeom prst="roundRect">
            <a:avLst>
              <a:gd name="adj" fmla="val 19371"/>
            </a:avLst>
          </a:prstGeom>
          <a:solidFill>
            <a:srgbClr val="FFFFFF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01" name="Rounded Rectangle 300">
            <a:extLst>
              <a:ext uri="{FF2B5EF4-FFF2-40B4-BE49-F238E27FC236}">
                <a16:creationId xmlns:a16="http://schemas.microsoft.com/office/drawing/2014/main" id="{1727AB75-69DB-46D5-9F71-398AD4713031}"/>
              </a:ext>
            </a:extLst>
          </p:cNvPr>
          <p:cNvSpPr/>
          <p:nvPr/>
        </p:nvSpPr>
        <p:spPr>
          <a:xfrm>
            <a:off x="7342725" y="2087858"/>
            <a:ext cx="20567" cy="254817"/>
          </a:xfrm>
          <a:prstGeom prst="roundRect">
            <a:avLst>
              <a:gd name="adj" fmla="val 50000"/>
            </a:avLst>
          </a:prstGeom>
          <a:solidFill>
            <a:srgbClr val="E3A33C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02" name="Oval 301">
            <a:extLst>
              <a:ext uri="{FF2B5EF4-FFF2-40B4-BE49-F238E27FC236}">
                <a16:creationId xmlns:a16="http://schemas.microsoft.com/office/drawing/2014/main" id="{7F08152F-A0AA-46AC-4641-4056CB4EDDD5}"/>
              </a:ext>
            </a:extLst>
          </p:cNvPr>
          <p:cNvSpPr/>
          <p:nvPr/>
        </p:nvSpPr>
        <p:spPr>
          <a:xfrm>
            <a:off x="7404429" y="2096078"/>
            <a:ext cx="238588" cy="238377"/>
          </a:xfrm>
          <a:prstGeom prst="ellipse">
            <a:avLst/>
          </a:prstGeom>
          <a:solidFill>
            <a:srgbClr val="FBF2E0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303" name="Picture 302">
            <a:extLst>
              <a:ext uri="{FF2B5EF4-FFF2-40B4-BE49-F238E27FC236}">
                <a16:creationId xmlns:a16="http://schemas.microsoft.com/office/drawing/2014/main" id="{24112C72-2B3B-D0BE-E39C-B7EEA7280579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16770" y="2108408"/>
            <a:ext cx="213906" cy="213717"/>
          </a:xfrm>
          <a:custGeom>
            <a:avLst/>
            <a:gdLst>
              <a:gd name="csX0" fmla="*/ 826 w 213906"/>
              <a:gd name="csY0" fmla="*/ 366 h 213717"/>
              <a:gd name="csX1" fmla="*/ 214732 w 213906"/>
              <a:gd name="csY1" fmla="*/ 366 h 213717"/>
              <a:gd name="csX2" fmla="*/ 214732 w 213906"/>
              <a:gd name="csY2" fmla="*/ 214084 h 213717"/>
              <a:gd name="csX3" fmla="*/ 826 w 213906"/>
              <a:gd name="csY3" fmla="*/ 214084 h 2137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3906" h="213717">
                <a:moveTo>
                  <a:pt x="826" y="366"/>
                </a:moveTo>
                <a:lnTo>
                  <a:pt x="214732" y="366"/>
                </a:lnTo>
                <a:lnTo>
                  <a:pt x="214732" y="214084"/>
                </a:lnTo>
                <a:lnTo>
                  <a:pt x="826" y="214084"/>
                </a:lnTo>
                <a:close/>
              </a:path>
            </a:pathLst>
          </a:custGeom>
        </p:spPr>
      </p:pic>
      <p:sp>
        <p:nvSpPr>
          <p:cNvPr id="304" name="Oval 303">
            <a:extLst>
              <a:ext uri="{FF2B5EF4-FFF2-40B4-BE49-F238E27FC236}">
                <a16:creationId xmlns:a16="http://schemas.microsoft.com/office/drawing/2014/main" id="{D54D568A-3B49-C71B-5DE3-4D164353A3D3}"/>
              </a:ext>
            </a:extLst>
          </p:cNvPr>
          <p:cNvSpPr/>
          <p:nvPr/>
        </p:nvSpPr>
        <p:spPr>
          <a:xfrm>
            <a:off x="7404429" y="2096078"/>
            <a:ext cx="238588" cy="238377"/>
          </a:xfrm>
          <a:prstGeom prst="ellipse">
            <a:avLst/>
          </a:prstGeom>
          <a:noFill/>
          <a:ln w="8221" cap="flat">
            <a:solidFill>
              <a:srgbClr val="E3A33C">
                <a:alpha val="8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CDD4C1EE-C956-DC65-0CEA-4B38AB1ACEE6}"/>
              </a:ext>
            </a:extLst>
          </p:cNvPr>
          <p:cNvSpPr txBox="1"/>
          <p:nvPr/>
        </p:nvSpPr>
        <p:spPr>
          <a:xfrm>
            <a:off x="7589379" y="2034959"/>
            <a:ext cx="19287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spc="0" baseline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Sexual-image classifier (BASIC)</a:t>
            </a:r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54606053-2D4E-75A7-2D56-BA71C9CDB23A}"/>
              </a:ext>
            </a:extLst>
          </p:cNvPr>
          <p:cNvSpPr txBox="1"/>
          <p:nvPr/>
        </p:nvSpPr>
        <p:spPr>
          <a:xfrm>
            <a:off x="7589379" y="2171767"/>
            <a:ext cx="633697" cy="160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64" i="1" spc="0" baseline="0">
                <a:ln/>
                <a:solidFill>
                  <a:srgbClr val="7C8598"/>
                </a:solidFill>
                <a:latin typeface="Arial"/>
                <a:cs typeface="Arial"/>
                <a:sym typeface="Arial"/>
                <a:rtl val="0"/>
              </a:rPr>
              <a:t>van 't Hof · 2021</a:t>
            </a:r>
          </a:p>
        </p:txBody>
      </p:sp>
      <p:sp>
        <p:nvSpPr>
          <p:cNvPr id="307" name="Rounded Rectangle 306">
            <a:extLst>
              <a:ext uri="{FF2B5EF4-FFF2-40B4-BE49-F238E27FC236}">
                <a16:creationId xmlns:a16="http://schemas.microsoft.com/office/drawing/2014/main" id="{A9E8778B-A5EB-1F09-D718-59B1227CFCBE}"/>
              </a:ext>
            </a:extLst>
          </p:cNvPr>
          <p:cNvSpPr/>
          <p:nvPr/>
        </p:nvSpPr>
        <p:spPr>
          <a:xfrm>
            <a:off x="7342725" y="2379665"/>
            <a:ext cx="2114384" cy="254817"/>
          </a:xfrm>
          <a:prstGeom prst="roundRect">
            <a:avLst>
              <a:gd name="adj" fmla="val 19371"/>
            </a:avLst>
          </a:prstGeom>
          <a:solidFill>
            <a:srgbClr val="FFFFFF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08" name="Rounded Rectangle 307">
            <a:extLst>
              <a:ext uri="{FF2B5EF4-FFF2-40B4-BE49-F238E27FC236}">
                <a16:creationId xmlns:a16="http://schemas.microsoft.com/office/drawing/2014/main" id="{BEFD9E5A-45E2-B132-815D-9FD1E374EF31}"/>
              </a:ext>
            </a:extLst>
          </p:cNvPr>
          <p:cNvSpPr/>
          <p:nvPr/>
        </p:nvSpPr>
        <p:spPr>
          <a:xfrm>
            <a:off x="7342725" y="2379665"/>
            <a:ext cx="20567" cy="254817"/>
          </a:xfrm>
          <a:prstGeom prst="roundRect">
            <a:avLst>
              <a:gd name="adj" fmla="val 50000"/>
            </a:avLst>
          </a:prstGeom>
          <a:solidFill>
            <a:srgbClr val="E3A33C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09" name="Oval 308">
            <a:extLst>
              <a:ext uri="{FF2B5EF4-FFF2-40B4-BE49-F238E27FC236}">
                <a16:creationId xmlns:a16="http://schemas.microsoft.com/office/drawing/2014/main" id="{D236A51C-F62A-7B86-38FD-9BBDB7020781}"/>
              </a:ext>
            </a:extLst>
          </p:cNvPr>
          <p:cNvSpPr/>
          <p:nvPr/>
        </p:nvSpPr>
        <p:spPr>
          <a:xfrm>
            <a:off x="7404429" y="2387885"/>
            <a:ext cx="238588" cy="238377"/>
          </a:xfrm>
          <a:prstGeom prst="ellipse">
            <a:avLst/>
          </a:prstGeom>
          <a:solidFill>
            <a:srgbClr val="FBF2E0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310" name="Picture 309">
            <a:extLst>
              <a:ext uri="{FF2B5EF4-FFF2-40B4-BE49-F238E27FC236}">
                <a16:creationId xmlns:a16="http://schemas.microsoft.com/office/drawing/2014/main" id="{712F84E7-C937-F1F6-1642-FD93FC83F694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416770" y="2400215"/>
            <a:ext cx="213906" cy="213717"/>
          </a:xfrm>
          <a:custGeom>
            <a:avLst/>
            <a:gdLst>
              <a:gd name="csX0" fmla="*/ 826 w 213906"/>
              <a:gd name="csY0" fmla="*/ 414 h 213717"/>
              <a:gd name="csX1" fmla="*/ 214732 w 213906"/>
              <a:gd name="csY1" fmla="*/ 414 h 213717"/>
              <a:gd name="csX2" fmla="*/ 214732 w 213906"/>
              <a:gd name="csY2" fmla="*/ 214132 h 213717"/>
              <a:gd name="csX3" fmla="*/ 826 w 213906"/>
              <a:gd name="csY3" fmla="*/ 214132 h 2137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3906" h="213717">
                <a:moveTo>
                  <a:pt x="826" y="414"/>
                </a:moveTo>
                <a:lnTo>
                  <a:pt x="214732" y="414"/>
                </a:lnTo>
                <a:lnTo>
                  <a:pt x="214732" y="214132"/>
                </a:lnTo>
                <a:lnTo>
                  <a:pt x="826" y="214132"/>
                </a:lnTo>
                <a:close/>
              </a:path>
            </a:pathLst>
          </a:custGeom>
        </p:spPr>
      </p:pic>
      <p:sp>
        <p:nvSpPr>
          <p:cNvPr id="311" name="Oval 310">
            <a:extLst>
              <a:ext uri="{FF2B5EF4-FFF2-40B4-BE49-F238E27FC236}">
                <a16:creationId xmlns:a16="http://schemas.microsoft.com/office/drawing/2014/main" id="{36136B5A-E607-9EBB-1160-BEC517B215AE}"/>
              </a:ext>
            </a:extLst>
          </p:cNvPr>
          <p:cNvSpPr/>
          <p:nvPr/>
        </p:nvSpPr>
        <p:spPr>
          <a:xfrm>
            <a:off x="7404429" y="2387885"/>
            <a:ext cx="238588" cy="238377"/>
          </a:xfrm>
          <a:prstGeom prst="ellipse">
            <a:avLst/>
          </a:prstGeom>
          <a:noFill/>
          <a:ln w="8221" cap="flat">
            <a:solidFill>
              <a:srgbClr val="E3A33C">
                <a:alpha val="8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F587790B-8C1C-BFE9-E131-45057F0509A7}"/>
              </a:ext>
            </a:extLst>
          </p:cNvPr>
          <p:cNvSpPr txBox="1"/>
          <p:nvPr/>
        </p:nvSpPr>
        <p:spPr>
          <a:xfrm>
            <a:off x="7589379" y="2326766"/>
            <a:ext cx="1114264" cy="187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69" b="1" spc="0" baseline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Reward decision value</a:t>
            </a:r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3217F74C-D924-2071-E086-00B137D194F1}"/>
              </a:ext>
            </a:extLst>
          </p:cNvPr>
          <p:cNvSpPr txBox="1"/>
          <p:nvPr/>
        </p:nvSpPr>
        <p:spPr>
          <a:xfrm>
            <a:off x="7589379" y="2463574"/>
            <a:ext cx="481275" cy="160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64" i="1" spc="0" baseline="0">
                <a:ln/>
                <a:solidFill>
                  <a:srgbClr val="7C8598"/>
                </a:solidFill>
                <a:latin typeface="Arial"/>
                <a:cs typeface="Arial"/>
                <a:sym typeface="Arial"/>
                <a:rtl val="0"/>
              </a:rPr>
              <a:t>Coll · 2022</a:t>
            </a:r>
          </a:p>
        </p:txBody>
      </p:sp>
      <p:sp>
        <p:nvSpPr>
          <p:cNvPr id="314" name="Rounded Rectangle 313">
            <a:extLst>
              <a:ext uri="{FF2B5EF4-FFF2-40B4-BE49-F238E27FC236}">
                <a16:creationId xmlns:a16="http://schemas.microsoft.com/office/drawing/2014/main" id="{D318F1BA-0ECB-5002-9FC3-7ED81B519D52}"/>
              </a:ext>
            </a:extLst>
          </p:cNvPr>
          <p:cNvSpPr/>
          <p:nvPr/>
        </p:nvSpPr>
        <p:spPr>
          <a:xfrm>
            <a:off x="7342725" y="2671472"/>
            <a:ext cx="2114384" cy="254817"/>
          </a:xfrm>
          <a:prstGeom prst="roundRect">
            <a:avLst>
              <a:gd name="adj" fmla="val 19371"/>
            </a:avLst>
          </a:prstGeom>
          <a:solidFill>
            <a:srgbClr val="FFFFFF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15" name="Rounded Rectangle 314">
            <a:extLst>
              <a:ext uri="{FF2B5EF4-FFF2-40B4-BE49-F238E27FC236}">
                <a16:creationId xmlns:a16="http://schemas.microsoft.com/office/drawing/2014/main" id="{407F1599-CA05-281C-6553-7857E6430504}"/>
              </a:ext>
            </a:extLst>
          </p:cNvPr>
          <p:cNvSpPr/>
          <p:nvPr/>
        </p:nvSpPr>
        <p:spPr>
          <a:xfrm>
            <a:off x="7342725" y="2671472"/>
            <a:ext cx="20567" cy="254817"/>
          </a:xfrm>
          <a:prstGeom prst="roundRect">
            <a:avLst>
              <a:gd name="adj" fmla="val 50000"/>
            </a:avLst>
          </a:prstGeom>
          <a:solidFill>
            <a:srgbClr val="E3A33C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16" name="Oval 315">
            <a:extLst>
              <a:ext uri="{FF2B5EF4-FFF2-40B4-BE49-F238E27FC236}">
                <a16:creationId xmlns:a16="http://schemas.microsoft.com/office/drawing/2014/main" id="{47E80904-9FC4-E8DB-202D-DDD61BEFBDCF}"/>
              </a:ext>
            </a:extLst>
          </p:cNvPr>
          <p:cNvSpPr/>
          <p:nvPr/>
        </p:nvSpPr>
        <p:spPr>
          <a:xfrm>
            <a:off x="7404429" y="2679692"/>
            <a:ext cx="238588" cy="238377"/>
          </a:xfrm>
          <a:prstGeom prst="ellipse">
            <a:avLst/>
          </a:prstGeom>
          <a:solidFill>
            <a:srgbClr val="FBF2E0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317" name="Picture 316">
            <a:extLst>
              <a:ext uri="{FF2B5EF4-FFF2-40B4-BE49-F238E27FC236}">
                <a16:creationId xmlns:a16="http://schemas.microsoft.com/office/drawing/2014/main" id="{B8465FBD-0A9C-F42B-0C6D-C67779F9A4FE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416770" y="2692022"/>
            <a:ext cx="213906" cy="213717"/>
          </a:xfrm>
          <a:custGeom>
            <a:avLst/>
            <a:gdLst>
              <a:gd name="csX0" fmla="*/ 826 w 213906"/>
              <a:gd name="csY0" fmla="*/ 462 h 213717"/>
              <a:gd name="csX1" fmla="*/ 214732 w 213906"/>
              <a:gd name="csY1" fmla="*/ 462 h 213717"/>
              <a:gd name="csX2" fmla="*/ 214732 w 213906"/>
              <a:gd name="csY2" fmla="*/ 214180 h 213717"/>
              <a:gd name="csX3" fmla="*/ 826 w 213906"/>
              <a:gd name="csY3" fmla="*/ 214180 h 2137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3906" h="213717">
                <a:moveTo>
                  <a:pt x="826" y="462"/>
                </a:moveTo>
                <a:lnTo>
                  <a:pt x="214732" y="462"/>
                </a:lnTo>
                <a:lnTo>
                  <a:pt x="214732" y="214180"/>
                </a:lnTo>
                <a:lnTo>
                  <a:pt x="826" y="214180"/>
                </a:lnTo>
                <a:close/>
              </a:path>
            </a:pathLst>
          </a:custGeom>
        </p:spPr>
      </p:pic>
      <p:sp>
        <p:nvSpPr>
          <p:cNvPr id="318" name="Oval 317">
            <a:extLst>
              <a:ext uri="{FF2B5EF4-FFF2-40B4-BE49-F238E27FC236}">
                <a16:creationId xmlns:a16="http://schemas.microsoft.com/office/drawing/2014/main" id="{FDCC4681-D94F-BC89-B723-93F66FAAD80A}"/>
              </a:ext>
            </a:extLst>
          </p:cNvPr>
          <p:cNvSpPr/>
          <p:nvPr/>
        </p:nvSpPr>
        <p:spPr>
          <a:xfrm>
            <a:off x="7404429" y="2679692"/>
            <a:ext cx="238588" cy="238377"/>
          </a:xfrm>
          <a:prstGeom prst="ellipse">
            <a:avLst/>
          </a:prstGeom>
          <a:noFill/>
          <a:ln w="8221" cap="flat">
            <a:solidFill>
              <a:srgbClr val="E3A33C">
                <a:alpha val="8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A6F1967D-2A4F-146C-9BB2-E120B548AD04}"/>
              </a:ext>
            </a:extLst>
          </p:cNvPr>
          <p:cNvSpPr txBox="1"/>
          <p:nvPr/>
        </p:nvSpPr>
        <p:spPr>
          <a:xfrm>
            <a:off x="7589379" y="2618573"/>
            <a:ext cx="773447" cy="187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69" b="1" spc="0" baseline="0" dirty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Empathic care</a:t>
            </a:r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FBB973A3-38DC-B6FB-C138-22EE8B3F0B07}"/>
              </a:ext>
            </a:extLst>
          </p:cNvPr>
          <p:cNvSpPr txBox="1"/>
          <p:nvPr/>
        </p:nvSpPr>
        <p:spPr>
          <a:xfrm>
            <a:off x="7589379" y="2755381"/>
            <a:ext cx="536170" cy="160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64" i="1" spc="0" baseline="0">
                <a:ln/>
                <a:solidFill>
                  <a:srgbClr val="7C8598"/>
                </a:solidFill>
                <a:latin typeface="Arial"/>
                <a:cs typeface="Arial"/>
                <a:sym typeface="Arial"/>
                <a:rtl val="0"/>
              </a:rPr>
              <a:t>Ashar · 2017</a:t>
            </a: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8854E740-8C9F-270B-0068-75C243EEC7A5}"/>
              </a:ext>
            </a:extLst>
          </p:cNvPr>
          <p:cNvSpPr txBox="1"/>
          <p:nvPr/>
        </p:nvSpPr>
        <p:spPr>
          <a:xfrm>
            <a:off x="7259512" y="3019007"/>
            <a:ext cx="697379" cy="148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37" b="1" spc="27" baseline="0">
                <a:ln/>
                <a:solidFill>
                  <a:srgbClr val="B57516"/>
                </a:solidFill>
                <a:latin typeface="Arial"/>
                <a:cs typeface="Arial"/>
                <a:sym typeface="Arial"/>
                <a:rtl val="0"/>
              </a:rPr>
              <a:t>POSITIVE EMOTION</a:t>
            </a:r>
          </a:p>
        </p:txBody>
      </p:sp>
      <p:sp>
        <p:nvSpPr>
          <p:cNvPr id="322" name="Freeform 321">
            <a:extLst>
              <a:ext uri="{FF2B5EF4-FFF2-40B4-BE49-F238E27FC236}">
                <a16:creationId xmlns:a16="http://schemas.microsoft.com/office/drawing/2014/main" id="{4CC5EFFF-B84A-E1D8-6ABE-1292F147026D}"/>
              </a:ext>
            </a:extLst>
          </p:cNvPr>
          <p:cNvSpPr/>
          <p:nvPr/>
        </p:nvSpPr>
        <p:spPr>
          <a:xfrm>
            <a:off x="7914514" y="3090688"/>
            <a:ext cx="1542595" cy="6052"/>
          </a:xfrm>
          <a:custGeom>
            <a:avLst/>
            <a:gdLst>
              <a:gd name="csX0" fmla="*/ 0 w 1542595"/>
              <a:gd name="csY0" fmla="*/ 0 h 6052"/>
              <a:gd name="csX1" fmla="*/ 1542595 w 1542595"/>
              <a:gd name="csY1" fmla="*/ 0 h 605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42595" h="6052">
                <a:moveTo>
                  <a:pt x="0" y="0"/>
                </a:moveTo>
                <a:lnTo>
                  <a:pt x="1542595" y="0"/>
                </a:lnTo>
              </a:path>
            </a:pathLst>
          </a:custGeom>
          <a:ln w="6163" cap="flat">
            <a:solidFill>
              <a:srgbClr val="E3A33C">
                <a:alpha val="35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23" name="Rounded Rectangle 322">
            <a:extLst>
              <a:ext uri="{FF2B5EF4-FFF2-40B4-BE49-F238E27FC236}">
                <a16:creationId xmlns:a16="http://schemas.microsoft.com/office/drawing/2014/main" id="{72B4A8EF-1883-C429-283D-87A73EE5C4FF}"/>
              </a:ext>
            </a:extLst>
          </p:cNvPr>
          <p:cNvSpPr/>
          <p:nvPr/>
        </p:nvSpPr>
        <p:spPr>
          <a:xfrm>
            <a:off x="7342725" y="3160557"/>
            <a:ext cx="2114384" cy="254817"/>
          </a:xfrm>
          <a:prstGeom prst="roundRect">
            <a:avLst>
              <a:gd name="adj" fmla="val 19371"/>
            </a:avLst>
          </a:prstGeom>
          <a:solidFill>
            <a:srgbClr val="FFFFFF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24" name="Rounded Rectangle 323">
            <a:extLst>
              <a:ext uri="{FF2B5EF4-FFF2-40B4-BE49-F238E27FC236}">
                <a16:creationId xmlns:a16="http://schemas.microsoft.com/office/drawing/2014/main" id="{E08C269D-EA4B-1F6F-D823-BFF77EF573B7}"/>
              </a:ext>
            </a:extLst>
          </p:cNvPr>
          <p:cNvSpPr/>
          <p:nvPr/>
        </p:nvSpPr>
        <p:spPr>
          <a:xfrm>
            <a:off x="7342725" y="3160557"/>
            <a:ext cx="20567" cy="254817"/>
          </a:xfrm>
          <a:prstGeom prst="roundRect">
            <a:avLst>
              <a:gd name="adj" fmla="val 50000"/>
            </a:avLst>
          </a:prstGeom>
          <a:solidFill>
            <a:srgbClr val="E3A33C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25" name="Oval 324">
            <a:extLst>
              <a:ext uri="{FF2B5EF4-FFF2-40B4-BE49-F238E27FC236}">
                <a16:creationId xmlns:a16="http://schemas.microsoft.com/office/drawing/2014/main" id="{957FD449-781A-9C7F-9EFA-A69EFA92DF05}"/>
              </a:ext>
            </a:extLst>
          </p:cNvPr>
          <p:cNvSpPr/>
          <p:nvPr/>
        </p:nvSpPr>
        <p:spPr>
          <a:xfrm>
            <a:off x="7404429" y="3168777"/>
            <a:ext cx="238588" cy="238377"/>
          </a:xfrm>
          <a:prstGeom prst="ellipse">
            <a:avLst/>
          </a:prstGeom>
          <a:solidFill>
            <a:srgbClr val="FBF2E0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326" name="Picture 325">
            <a:extLst>
              <a:ext uri="{FF2B5EF4-FFF2-40B4-BE49-F238E27FC236}">
                <a16:creationId xmlns:a16="http://schemas.microsoft.com/office/drawing/2014/main" id="{E8C212AD-ABFE-7523-48CD-1164F4167834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416770" y="3181107"/>
            <a:ext cx="213906" cy="213717"/>
          </a:xfrm>
          <a:custGeom>
            <a:avLst/>
            <a:gdLst>
              <a:gd name="csX0" fmla="*/ 826 w 213906"/>
              <a:gd name="csY0" fmla="*/ 543 h 213717"/>
              <a:gd name="csX1" fmla="*/ 214732 w 213906"/>
              <a:gd name="csY1" fmla="*/ 543 h 213717"/>
              <a:gd name="csX2" fmla="*/ 214732 w 213906"/>
              <a:gd name="csY2" fmla="*/ 214261 h 213717"/>
              <a:gd name="csX3" fmla="*/ 826 w 213906"/>
              <a:gd name="csY3" fmla="*/ 214261 h 2137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3906" h="213717">
                <a:moveTo>
                  <a:pt x="826" y="543"/>
                </a:moveTo>
                <a:lnTo>
                  <a:pt x="214732" y="543"/>
                </a:lnTo>
                <a:lnTo>
                  <a:pt x="214732" y="214261"/>
                </a:lnTo>
                <a:lnTo>
                  <a:pt x="826" y="214261"/>
                </a:lnTo>
                <a:close/>
              </a:path>
            </a:pathLst>
          </a:custGeom>
        </p:spPr>
      </p:pic>
      <p:sp>
        <p:nvSpPr>
          <p:cNvPr id="327" name="Oval 326">
            <a:extLst>
              <a:ext uri="{FF2B5EF4-FFF2-40B4-BE49-F238E27FC236}">
                <a16:creationId xmlns:a16="http://schemas.microsoft.com/office/drawing/2014/main" id="{3911DA77-C678-FEDD-1E3A-2FDD6F621CEC}"/>
              </a:ext>
            </a:extLst>
          </p:cNvPr>
          <p:cNvSpPr/>
          <p:nvPr/>
        </p:nvSpPr>
        <p:spPr>
          <a:xfrm>
            <a:off x="7404429" y="3168777"/>
            <a:ext cx="238588" cy="238377"/>
          </a:xfrm>
          <a:prstGeom prst="ellipse">
            <a:avLst/>
          </a:prstGeom>
          <a:noFill/>
          <a:ln w="8221" cap="flat">
            <a:solidFill>
              <a:srgbClr val="E3A33C">
                <a:alpha val="8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30471333-B555-C8DC-8765-CAD3E374F06F}"/>
              </a:ext>
            </a:extLst>
          </p:cNvPr>
          <p:cNvSpPr txBox="1"/>
          <p:nvPr/>
        </p:nvSpPr>
        <p:spPr>
          <a:xfrm>
            <a:off x="7579754" y="3107658"/>
            <a:ext cx="1234056" cy="187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69" b="1" spc="0" baseline="0" dirty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Positive emotions (BPLS)</a:t>
            </a:r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3E0954BC-0726-73FC-8EF0-38380508AB66}"/>
              </a:ext>
            </a:extLst>
          </p:cNvPr>
          <p:cNvSpPr txBox="1"/>
          <p:nvPr/>
        </p:nvSpPr>
        <p:spPr>
          <a:xfrm>
            <a:off x="7579754" y="3244466"/>
            <a:ext cx="553343" cy="160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64" i="1" spc="0" baseline="0">
                <a:ln/>
                <a:solidFill>
                  <a:srgbClr val="7C8598"/>
                </a:solidFill>
                <a:latin typeface="Arial"/>
                <a:cs typeface="Arial"/>
                <a:sym typeface="Arial"/>
                <a:rtl val="0"/>
              </a:rPr>
              <a:t>Kragel · 2015</a:t>
            </a:r>
          </a:p>
        </p:txBody>
      </p:sp>
      <p:sp>
        <p:nvSpPr>
          <p:cNvPr id="330" name="Rounded Rectangle 329">
            <a:extLst>
              <a:ext uri="{FF2B5EF4-FFF2-40B4-BE49-F238E27FC236}">
                <a16:creationId xmlns:a16="http://schemas.microsoft.com/office/drawing/2014/main" id="{F6532418-55D1-40F1-9045-E6A7C91D2A91}"/>
              </a:ext>
            </a:extLst>
          </p:cNvPr>
          <p:cNvSpPr/>
          <p:nvPr/>
        </p:nvSpPr>
        <p:spPr>
          <a:xfrm>
            <a:off x="7342725" y="3452364"/>
            <a:ext cx="2114384" cy="254817"/>
          </a:xfrm>
          <a:prstGeom prst="roundRect">
            <a:avLst>
              <a:gd name="adj" fmla="val 19371"/>
            </a:avLst>
          </a:prstGeom>
          <a:solidFill>
            <a:srgbClr val="FFFFFF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31" name="Rounded Rectangle 330">
            <a:extLst>
              <a:ext uri="{FF2B5EF4-FFF2-40B4-BE49-F238E27FC236}">
                <a16:creationId xmlns:a16="http://schemas.microsoft.com/office/drawing/2014/main" id="{E0647FF7-79F3-5B4F-A3B3-9E1E4361E09B}"/>
              </a:ext>
            </a:extLst>
          </p:cNvPr>
          <p:cNvSpPr/>
          <p:nvPr/>
        </p:nvSpPr>
        <p:spPr>
          <a:xfrm>
            <a:off x="7342725" y="3452364"/>
            <a:ext cx="20567" cy="254817"/>
          </a:xfrm>
          <a:prstGeom prst="roundRect">
            <a:avLst>
              <a:gd name="adj" fmla="val 50000"/>
            </a:avLst>
          </a:prstGeom>
          <a:solidFill>
            <a:srgbClr val="E3A33C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32" name="Oval 331">
            <a:extLst>
              <a:ext uri="{FF2B5EF4-FFF2-40B4-BE49-F238E27FC236}">
                <a16:creationId xmlns:a16="http://schemas.microsoft.com/office/drawing/2014/main" id="{02957A6C-B537-7937-D624-5EB852679439}"/>
              </a:ext>
            </a:extLst>
          </p:cNvPr>
          <p:cNvSpPr/>
          <p:nvPr/>
        </p:nvSpPr>
        <p:spPr>
          <a:xfrm>
            <a:off x="7404429" y="3460584"/>
            <a:ext cx="238588" cy="238377"/>
          </a:xfrm>
          <a:prstGeom prst="ellipse">
            <a:avLst/>
          </a:prstGeom>
          <a:solidFill>
            <a:srgbClr val="FBF2E0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333" name="Picture 332">
            <a:extLst>
              <a:ext uri="{FF2B5EF4-FFF2-40B4-BE49-F238E27FC236}">
                <a16:creationId xmlns:a16="http://schemas.microsoft.com/office/drawing/2014/main" id="{CF9F576C-92E9-C889-AB70-37B833A9FB4B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416770" y="3472914"/>
            <a:ext cx="213906" cy="213717"/>
          </a:xfrm>
          <a:custGeom>
            <a:avLst/>
            <a:gdLst>
              <a:gd name="csX0" fmla="*/ 826 w 213906"/>
              <a:gd name="csY0" fmla="*/ 591 h 213717"/>
              <a:gd name="csX1" fmla="*/ 214732 w 213906"/>
              <a:gd name="csY1" fmla="*/ 591 h 213717"/>
              <a:gd name="csX2" fmla="*/ 214732 w 213906"/>
              <a:gd name="csY2" fmla="*/ 214309 h 213717"/>
              <a:gd name="csX3" fmla="*/ 826 w 213906"/>
              <a:gd name="csY3" fmla="*/ 214309 h 2137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3906" h="213717">
                <a:moveTo>
                  <a:pt x="826" y="591"/>
                </a:moveTo>
                <a:lnTo>
                  <a:pt x="214732" y="591"/>
                </a:lnTo>
                <a:lnTo>
                  <a:pt x="214732" y="214309"/>
                </a:lnTo>
                <a:lnTo>
                  <a:pt x="826" y="214309"/>
                </a:lnTo>
                <a:close/>
              </a:path>
            </a:pathLst>
          </a:custGeom>
        </p:spPr>
      </p:pic>
      <p:sp>
        <p:nvSpPr>
          <p:cNvPr id="334" name="Oval 333">
            <a:extLst>
              <a:ext uri="{FF2B5EF4-FFF2-40B4-BE49-F238E27FC236}">
                <a16:creationId xmlns:a16="http://schemas.microsoft.com/office/drawing/2014/main" id="{4BA7039E-4E09-3CAF-6F19-D0B8725C432C}"/>
              </a:ext>
            </a:extLst>
          </p:cNvPr>
          <p:cNvSpPr/>
          <p:nvPr/>
        </p:nvSpPr>
        <p:spPr>
          <a:xfrm>
            <a:off x="7404429" y="3460584"/>
            <a:ext cx="238588" cy="238377"/>
          </a:xfrm>
          <a:prstGeom prst="ellipse">
            <a:avLst/>
          </a:prstGeom>
          <a:noFill/>
          <a:ln w="8221" cap="flat">
            <a:solidFill>
              <a:srgbClr val="E3A33C">
                <a:alpha val="8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35" name="TextBox 334">
            <a:extLst>
              <a:ext uri="{FF2B5EF4-FFF2-40B4-BE49-F238E27FC236}">
                <a16:creationId xmlns:a16="http://schemas.microsoft.com/office/drawing/2014/main" id="{E0A0EF25-28C2-DAC8-16D3-AE2C803B2AD8}"/>
              </a:ext>
            </a:extLst>
          </p:cNvPr>
          <p:cNvSpPr txBox="1"/>
          <p:nvPr/>
        </p:nvSpPr>
        <p:spPr>
          <a:xfrm>
            <a:off x="7579754" y="3404278"/>
            <a:ext cx="1267885" cy="187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69" b="1" spc="0" baseline="0" dirty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Positive emotion schemas</a:t>
            </a: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E9D14EA6-434E-CA11-2BB6-D8EBB419065E}"/>
              </a:ext>
            </a:extLst>
          </p:cNvPr>
          <p:cNvSpPr txBox="1"/>
          <p:nvPr/>
        </p:nvSpPr>
        <p:spPr>
          <a:xfrm>
            <a:off x="7579754" y="3536273"/>
            <a:ext cx="553343" cy="160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64" i="1" spc="0" baseline="0">
                <a:ln/>
                <a:solidFill>
                  <a:srgbClr val="7C8598"/>
                </a:solidFill>
                <a:latin typeface="Arial"/>
                <a:cs typeface="Arial"/>
                <a:sym typeface="Arial"/>
                <a:rtl val="0"/>
              </a:rPr>
              <a:t>Kragel · 2019</a:t>
            </a:r>
          </a:p>
        </p:txBody>
      </p:sp>
      <p:sp>
        <p:nvSpPr>
          <p:cNvPr id="337" name="Rounded Rectangle 336">
            <a:extLst>
              <a:ext uri="{FF2B5EF4-FFF2-40B4-BE49-F238E27FC236}">
                <a16:creationId xmlns:a16="http://schemas.microsoft.com/office/drawing/2014/main" id="{3908430B-65F0-D3D7-5126-69810DE06D29}"/>
              </a:ext>
            </a:extLst>
          </p:cNvPr>
          <p:cNvSpPr/>
          <p:nvPr/>
        </p:nvSpPr>
        <p:spPr>
          <a:xfrm>
            <a:off x="7293362" y="3867470"/>
            <a:ext cx="2213110" cy="1898800"/>
          </a:xfrm>
          <a:prstGeom prst="roundRect">
            <a:avLst>
              <a:gd name="adj" fmla="val 3899"/>
            </a:avLst>
          </a:prstGeom>
          <a:solidFill>
            <a:srgbClr val="E5EFF8">
              <a:alpha val="50000"/>
            </a:srgbClr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38" name="Rounded Rectangle 337">
            <a:extLst>
              <a:ext uri="{FF2B5EF4-FFF2-40B4-BE49-F238E27FC236}">
                <a16:creationId xmlns:a16="http://schemas.microsoft.com/office/drawing/2014/main" id="{2433BC59-3147-FD1F-8466-F6FEA66122D3}"/>
              </a:ext>
            </a:extLst>
          </p:cNvPr>
          <p:cNvSpPr/>
          <p:nvPr/>
        </p:nvSpPr>
        <p:spPr>
          <a:xfrm>
            <a:off x="7309817" y="3883909"/>
            <a:ext cx="2180201" cy="263037"/>
          </a:xfrm>
          <a:prstGeom prst="roundRect">
            <a:avLst>
              <a:gd name="adj" fmla="val 23458"/>
            </a:avLst>
          </a:prstGeom>
          <a:solidFill>
            <a:srgbClr val="3E86C0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339" name="Graphic 2">
            <a:extLst>
              <a:ext uri="{FF2B5EF4-FFF2-40B4-BE49-F238E27FC236}">
                <a16:creationId xmlns:a16="http://schemas.microsoft.com/office/drawing/2014/main" id="{464F4361-657A-932E-4C85-7C0378266EC9}"/>
              </a:ext>
            </a:extLst>
          </p:cNvPr>
          <p:cNvGrpSpPr/>
          <p:nvPr/>
        </p:nvGrpSpPr>
        <p:grpSpPr>
          <a:xfrm>
            <a:off x="7358277" y="3943912"/>
            <a:ext cx="172807" cy="145246"/>
            <a:chOff x="7358277" y="3943912"/>
            <a:chExt cx="172807" cy="145246"/>
          </a:xfrm>
        </p:grpSpPr>
        <p:sp>
          <p:nvSpPr>
            <p:cNvPr id="340" name="Freeform 339">
              <a:extLst>
                <a:ext uri="{FF2B5EF4-FFF2-40B4-BE49-F238E27FC236}">
                  <a16:creationId xmlns:a16="http://schemas.microsoft.com/office/drawing/2014/main" id="{C33E389F-0869-C6F5-71CB-BA63D3E3F1E0}"/>
                </a:ext>
              </a:extLst>
            </p:cNvPr>
            <p:cNvSpPr/>
            <p:nvPr/>
          </p:nvSpPr>
          <p:spPr>
            <a:xfrm>
              <a:off x="7358277" y="3943912"/>
              <a:ext cx="172807" cy="145246"/>
            </a:xfrm>
            <a:custGeom>
              <a:avLst/>
              <a:gdLst>
                <a:gd name="csX0" fmla="*/ 168821 w 172807"/>
                <a:gd name="csY0" fmla="*/ 71516 h 145246"/>
                <a:gd name="csX1" fmla="*/ 171450 w 172807"/>
                <a:gd name="csY1" fmla="*/ 64815 h 145246"/>
                <a:gd name="csX2" fmla="*/ 172807 w 172807"/>
                <a:gd name="csY2" fmla="*/ 57788 h 145246"/>
                <a:gd name="csX3" fmla="*/ 172601 w 172807"/>
                <a:gd name="csY3" fmla="*/ 50718 h 145246"/>
                <a:gd name="csX4" fmla="*/ 170632 w 172807"/>
                <a:gd name="csY4" fmla="*/ 43896 h 145246"/>
                <a:gd name="csX5" fmla="*/ 167009 w 172807"/>
                <a:gd name="csY5" fmla="*/ 37607 h 145246"/>
                <a:gd name="csX6" fmla="*/ 161951 w 172807"/>
                <a:gd name="csY6" fmla="*/ 32062 h 145246"/>
                <a:gd name="csX7" fmla="*/ 155862 w 172807"/>
                <a:gd name="csY7" fmla="*/ 27378 h 145246"/>
                <a:gd name="csX8" fmla="*/ 149198 w 172807"/>
                <a:gd name="csY8" fmla="*/ 23467 h 145246"/>
                <a:gd name="csX9" fmla="*/ 142285 w 172807"/>
                <a:gd name="csY9" fmla="*/ 20265 h 145246"/>
                <a:gd name="csX10" fmla="*/ 135500 w 172807"/>
                <a:gd name="csY10" fmla="*/ 17427 h 145246"/>
                <a:gd name="csX11" fmla="*/ 128957 w 172807"/>
                <a:gd name="csY11" fmla="*/ 14800 h 145246"/>
                <a:gd name="csX12" fmla="*/ 122663 w 172807"/>
                <a:gd name="csY12" fmla="*/ 12209 h 145246"/>
                <a:gd name="csX13" fmla="*/ 116495 w 172807"/>
                <a:gd name="csY13" fmla="*/ 9539 h 145246"/>
                <a:gd name="csX14" fmla="*/ 110286 w 172807"/>
                <a:gd name="csY14" fmla="*/ 6864 h 145246"/>
                <a:gd name="csX15" fmla="*/ 103906 w 172807"/>
                <a:gd name="csY15" fmla="*/ 4358 h 145246"/>
                <a:gd name="csX16" fmla="*/ 97285 w 172807"/>
                <a:gd name="csY16" fmla="*/ 2221 h 145246"/>
                <a:gd name="csX17" fmla="*/ 90330 w 172807"/>
                <a:gd name="csY17" fmla="*/ 702 h 145246"/>
                <a:gd name="csX18" fmla="*/ 83174 w 172807"/>
                <a:gd name="csY18" fmla="*/ 0 h 145246"/>
                <a:gd name="csX19" fmla="*/ 75977 w 172807"/>
                <a:gd name="csY19" fmla="*/ 206 h 145246"/>
                <a:gd name="csX20" fmla="*/ 68901 w 172807"/>
                <a:gd name="csY20" fmla="*/ 1277 h 145246"/>
                <a:gd name="csX21" fmla="*/ 62031 w 172807"/>
                <a:gd name="csY21" fmla="*/ 3123 h 145246"/>
                <a:gd name="csX22" fmla="*/ 55488 w 172807"/>
                <a:gd name="csY22" fmla="*/ 5508 h 145246"/>
                <a:gd name="csX23" fmla="*/ 49157 w 172807"/>
                <a:gd name="csY23" fmla="*/ 8305 h 145246"/>
                <a:gd name="csX24" fmla="*/ 43026 w 172807"/>
                <a:gd name="csY24" fmla="*/ 11222 h 145246"/>
                <a:gd name="csX25" fmla="*/ 36980 w 172807"/>
                <a:gd name="csY25" fmla="*/ 14267 h 145246"/>
                <a:gd name="csX26" fmla="*/ 30849 w 172807"/>
                <a:gd name="csY26" fmla="*/ 17469 h 145246"/>
                <a:gd name="csX27" fmla="*/ 24761 w 172807"/>
                <a:gd name="csY27" fmla="*/ 20840 h 145246"/>
                <a:gd name="csX28" fmla="*/ 18757 w 172807"/>
                <a:gd name="csY28" fmla="*/ 24660 h 145246"/>
                <a:gd name="csX29" fmla="*/ 13122 w 172807"/>
                <a:gd name="csY29" fmla="*/ 28975 h 145246"/>
                <a:gd name="csX30" fmla="*/ 8142 w 172807"/>
                <a:gd name="csY30" fmla="*/ 33951 h 145246"/>
                <a:gd name="csX31" fmla="*/ 4114 w 172807"/>
                <a:gd name="csY31" fmla="*/ 39538 h 145246"/>
                <a:gd name="csX32" fmla="*/ 1357 w 172807"/>
                <a:gd name="csY32" fmla="*/ 45706 h 145246"/>
                <a:gd name="csX33" fmla="*/ 0 w 172807"/>
                <a:gd name="csY33" fmla="*/ 52201 h 145246"/>
                <a:gd name="csX34" fmla="*/ 0 w 172807"/>
                <a:gd name="csY34" fmla="*/ 58816 h 145246"/>
                <a:gd name="csX35" fmla="*/ 1151 w 172807"/>
                <a:gd name="csY35" fmla="*/ 65311 h 145246"/>
                <a:gd name="csX36" fmla="*/ 3126 w 172807"/>
                <a:gd name="csY36" fmla="*/ 71516 h 145246"/>
                <a:gd name="csX37" fmla="*/ 5550 w 172807"/>
                <a:gd name="csY37" fmla="*/ 77393 h 145246"/>
                <a:gd name="csX38" fmla="*/ 7979 w 172807"/>
                <a:gd name="csY38" fmla="*/ 83022 h 145246"/>
                <a:gd name="csX39" fmla="*/ 10160 w 172807"/>
                <a:gd name="csY39" fmla="*/ 88488 h 145246"/>
                <a:gd name="csX40" fmla="*/ 11929 w 172807"/>
                <a:gd name="csY40" fmla="*/ 93996 h 145246"/>
                <a:gd name="csX41" fmla="*/ 13365 w 172807"/>
                <a:gd name="csY41" fmla="*/ 99753 h 145246"/>
                <a:gd name="csX42" fmla="*/ 14722 w 172807"/>
                <a:gd name="csY42" fmla="*/ 105794 h 145246"/>
                <a:gd name="csX43" fmla="*/ 16327 w 172807"/>
                <a:gd name="csY43" fmla="*/ 112125 h 145246"/>
                <a:gd name="csX44" fmla="*/ 18508 w 172807"/>
                <a:gd name="csY44" fmla="*/ 118578 h 145246"/>
                <a:gd name="csX45" fmla="*/ 21634 w 172807"/>
                <a:gd name="csY45" fmla="*/ 124903 h 145246"/>
                <a:gd name="csX46" fmla="*/ 25875 w 172807"/>
                <a:gd name="csY46" fmla="*/ 130738 h 145246"/>
                <a:gd name="csX47" fmla="*/ 31219 w 172807"/>
                <a:gd name="csY47" fmla="*/ 135834 h 145246"/>
                <a:gd name="csX48" fmla="*/ 37634 w 172807"/>
                <a:gd name="csY48" fmla="*/ 139866 h 145246"/>
                <a:gd name="csX49" fmla="*/ 44880 w 172807"/>
                <a:gd name="csY49" fmla="*/ 142783 h 145246"/>
                <a:gd name="csX50" fmla="*/ 52526 w 172807"/>
                <a:gd name="csY50" fmla="*/ 144508 h 145246"/>
                <a:gd name="csX51" fmla="*/ 60383 w 172807"/>
                <a:gd name="csY51" fmla="*/ 145247 h 145246"/>
                <a:gd name="csX52" fmla="*/ 68198 w 172807"/>
                <a:gd name="csY52" fmla="*/ 145168 h 145246"/>
                <a:gd name="csX53" fmla="*/ 75814 w 172807"/>
                <a:gd name="csY53" fmla="*/ 144593 h 145246"/>
                <a:gd name="csX54" fmla="*/ 83174 w 172807"/>
                <a:gd name="csY54" fmla="*/ 143685 h 145246"/>
                <a:gd name="csX55" fmla="*/ 90330 w 172807"/>
                <a:gd name="csY55" fmla="*/ 142577 h 145246"/>
                <a:gd name="csX56" fmla="*/ 97369 w 172807"/>
                <a:gd name="csY56" fmla="*/ 141343 h 145246"/>
                <a:gd name="csX57" fmla="*/ 104276 w 172807"/>
                <a:gd name="csY57" fmla="*/ 139824 h 145246"/>
                <a:gd name="csX58" fmla="*/ 111067 w 172807"/>
                <a:gd name="csY58" fmla="*/ 137935 h 145246"/>
                <a:gd name="csX59" fmla="*/ 117604 w 172807"/>
                <a:gd name="csY59" fmla="*/ 135508 h 145246"/>
                <a:gd name="csX60" fmla="*/ 123735 w 172807"/>
                <a:gd name="csY60" fmla="*/ 132427 h 145246"/>
                <a:gd name="csX61" fmla="*/ 129327 w 172807"/>
                <a:gd name="csY61" fmla="*/ 128643 h 145246"/>
                <a:gd name="csX62" fmla="*/ 134222 w 172807"/>
                <a:gd name="csY62" fmla="*/ 124285 h 145246"/>
                <a:gd name="csX63" fmla="*/ 138420 w 172807"/>
                <a:gd name="csY63" fmla="*/ 119395 h 145246"/>
                <a:gd name="csX64" fmla="*/ 141958 w 172807"/>
                <a:gd name="csY64" fmla="*/ 114262 h 145246"/>
                <a:gd name="csX65" fmla="*/ 145000 w 172807"/>
                <a:gd name="csY65" fmla="*/ 109080 h 145246"/>
                <a:gd name="csX66" fmla="*/ 147883 w 172807"/>
                <a:gd name="csY66" fmla="*/ 103905 h 145246"/>
                <a:gd name="csX67" fmla="*/ 150846 w 172807"/>
                <a:gd name="csY67" fmla="*/ 98887 h 145246"/>
                <a:gd name="csX68" fmla="*/ 154051 w 172807"/>
                <a:gd name="csY68" fmla="*/ 93876 h 145246"/>
                <a:gd name="csX69" fmla="*/ 157631 w 172807"/>
                <a:gd name="csY69" fmla="*/ 88821 h 145246"/>
                <a:gd name="csX70" fmla="*/ 161496 w 172807"/>
                <a:gd name="csY70" fmla="*/ 83476 h 145246"/>
                <a:gd name="csX71" fmla="*/ 165362 w 172807"/>
                <a:gd name="csY71" fmla="*/ 77762 h 1452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172807" h="145246">
                  <a:moveTo>
                    <a:pt x="168821" y="71516"/>
                  </a:moveTo>
                  <a:lnTo>
                    <a:pt x="171450" y="64815"/>
                  </a:lnTo>
                  <a:lnTo>
                    <a:pt x="172807" y="57788"/>
                  </a:lnTo>
                  <a:lnTo>
                    <a:pt x="172601" y="50718"/>
                  </a:lnTo>
                  <a:lnTo>
                    <a:pt x="170632" y="43896"/>
                  </a:lnTo>
                  <a:lnTo>
                    <a:pt x="167009" y="37607"/>
                  </a:lnTo>
                  <a:lnTo>
                    <a:pt x="161951" y="32062"/>
                  </a:lnTo>
                  <a:lnTo>
                    <a:pt x="155862" y="27378"/>
                  </a:lnTo>
                  <a:lnTo>
                    <a:pt x="149198" y="23467"/>
                  </a:lnTo>
                  <a:lnTo>
                    <a:pt x="142285" y="20265"/>
                  </a:lnTo>
                  <a:lnTo>
                    <a:pt x="135500" y="17427"/>
                  </a:lnTo>
                  <a:lnTo>
                    <a:pt x="128957" y="14800"/>
                  </a:lnTo>
                  <a:lnTo>
                    <a:pt x="122663" y="12209"/>
                  </a:lnTo>
                  <a:lnTo>
                    <a:pt x="116495" y="9539"/>
                  </a:lnTo>
                  <a:lnTo>
                    <a:pt x="110286" y="6864"/>
                  </a:lnTo>
                  <a:lnTo>
                    <a:pt x="103906" y="4358"/>
                  </a:lnTo>
                  <a:lnTo>
                    <a:pt x="97285" y="2221"/>
                  </a:lnTo>
                  <a:lnTo>
                    <a:pt x="90330" y="702"/>
                  </a:lnTo>
                  <a:lnTo>
                    <a:pt x="83174" y="0"/>
                  </a:lnTo>
                  <a:lnTo>
                    <a:pt x="75977" y="206"/>
                  </a:lnTo>
                  <a:lnTo>
                    <a:pt x="68901" y="1277"/>
                  </a:lnTo>
                  <a:lnTo>
                    <a:pt x="62031" y="3123"/>
                  </a:lnTo>
                  <a:lnTo>
                    <a:pt x="55488" y="5508"/>
                  </a:lnTo>
                  <a:lnTo>
                    <a:pt x="49157" y="8305"/>
                  </a:lnTo>
                  <a:lnTo>
                    <a:pt x="43026" y="11222"/>
                  </a:lnTo>
                  <a:lnTo>
                    <a:pt x="36980" y="14267"/>
                  </a:lnTo>
                  <a:lnTo>
                    <a:pt x="30849" y="17469"/>
                  </a:lnTo>
                  <a:lnTo>
                    <a:pt x="24761" y="20840"/>
                  </a:lnTo>
                  <a:lnTo>
                    <a:pt x="18757" y="24660"/>
                  </a:lnTo>
                  <a:lnTo>
                    <a:pt x="13122" y="28975"/>
                  </a:lnTo>
                  <a:lnTo>
                    <a:pt x="8142" y="33951"/>
                  </a:lnTo>
                  <a:lnTo>
                    <a:pt x="4114" y="39538"/>
                  </a:lnTo>
                  <a:lnTo>
                    <a:pt x="1357" y="45706"/>
                  </a:lnTo>
                  <a:lnTo>
                    <a:pt x="0" y="52201"/>
                  </a:lnTo>
                  <a:lnTo>
                    <a:pt x="0" y="58816"/>
                  </a:lnTo>
                  <a:lnTo>
                    <a:pt x="1151" y="65311"/>
                  </a:lnTo>
                  <a:lnTo>
                    <a:pt x="3126" y="71516"/>
                  </a:lnTo>
                  <a:lnTo>
                    <a:pt x="5550" y="77393"/>
                  </a:lnTo>
                  <a:lnTo>
                    <a:pt x="7979" y="83022"/>
                  </a:lnTo>
                  <a:lnTo>
                    <a:pt x="10160" y="88488"/>
                  </a:lnTo>
                  <a:lnTo>
                    <a:pt x="11929" y="93996"/>
                  </a:lnTo>
                  <a:lnTo>
                    <a:pt x="13365" y="99753"/>
                  </a:lnTo>
                  <a:lnTo>
                    <a:pt x="14722" y="105794"/>
                  </a:lnTo>
                  <a:lnTo>
                    <a:pt x="16327" y="112125"/>
                  </a:lnTo>
                  <a:lnTo>
                    <a:pt x="18508" y="118578"/>
                  </a:lnTo>
                  <a:lnTo>
                    <a:pt x="21634" y="124903"/>
                  </a:lnTo>
                  <a:lnTo>
                    <a:pt x="25875" y="130738"/>
                  </a:lnTo>
                  <a:lnTo>
                    <a:pt x="31219" y="135834"/>
                  </a:lnTo>
                  <a:lnTo>
                    <a:pt x="37634" y="139866"/>
                  </a:lnTo>
                  <a:lnTo>
                    <a:pt x="44880" y="142783"/>
                  </a:lnTo>
                  <a:lnTo>
                    <a:pt x="52526" y="144508"/>
                  </a:lnTo>
                  <a:lnTo>
                    <a:pt x="60383" y="145247"/>
                  </a:lnTo>
                  <a:lnTo>
                    <a:pt x="68198" y="145168"/>
                  </a:lnTo>
                  <a:lnTo>
                    <a:pt x="75814" y="144593"/>
                  </a:lnTo>
                  <a:lnTo>
                    <a:pt x="83174" y="143685"/>
                  </a:lnTo>
                  <a:lnTo>
                    <a:pt x="90330" y="142577"/>
                  </a:lnTo>
                  <a:lnTo>
                    <a:pt x="97369" y="141343"/>
                  </a:lnTo>
                  <a:lnTo>
                    <a:pt x="104276" y="139824"/>
                  </a:lnTo>
                  <a:lnTo>
                    <a:pt x="111067" y="137935"/>
                  </a:lnTo>
                  <a:lnTo>
                    <a:pt x="117604" y="135508"/>
                  </a:lnTo>
                  <a:lnTo>
                    <a:pt x="123735" y="132427"/>
                  </a:lnTo>
                  <a:lnTo>
                    <a:pt x="129327" y="128643"/>
                  </a:lnTo>
                  <a:lnTo>
                    <a:pt x="134222" y="124285"/>
                  </a:lnTo>
                  <a:lnTo>
                    <a:pt x="138420" y="119395"/>
                  </a:lnTo>
                  <a:lnTo>
                    <a:pt x="141958" y="114262"/>
                  </a:lnTo>
                  <a:lnTo>
                    <a:pt x="145000" y="109080"/>
                  </a:lnTo>
                  <a:lnTo>
                    <a:pt x="147883" y="103905"/>
                  </a:lnTo>
                  <a:lnTo>
                    <a:pt x="150846" y="98887"/>
                  </a:lnTo>
                  <a:lnTo>
                    <a:pt x="154051" y="93876"/>
                  </a:lnTo>
                  <a:lnTo>
                    <a:pt x="157631" y="88821"/>
                  </a:lnTo>
                  <a:lnTo>
                    <a:pt x="161496" y="83476"/>
                  </a:lnTo>
                  <a:lnTo>
                    <a:pt x="165362" y="77762"/>
                  </a:lnTo>
                  <a:close/>
                </a:path>
              </a:pathLst>
            </a:custGeom>
            <a:solidFill>
              <a:srgbClr val="FFFFFF"/>
            </a:solidFill>
            <a:ln w="7029" cap="flat">
              <a:solidFill>
                <a:srgbClr val="28608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1" name="Freeform 340">
              <a:extLst>
                <a:ext uri="{FF2B5EF4-FFF2-40B4-BE49-F238E27FC236}">
                  <a16:creationId xmlns:a16="http://schemas.microsoft.com/office/drawing/2014/main" id="{BAD61D25-B6CB-91F2-68DD-DC1A43396C02}"/>
                </a:ext>
              </a:extLst>
            </p:cNvPr>
            <p:cNvSpPr/>
            <p:nvPr/>
          </p:nvSpPr>
          <p:spPr>
            <a:xfrm>
              <a:off x="7439195" y="3948271"/>
              <a:ext cx="4512" cy="131191"/>
            </a:xfrm>
            <a:custGeom>
              <a:avLst/>
              <a:gdLst>
                <a:gd name="csX0" fmla="*/ 2256 w 4512"/>
                <a:gd name="csY0" fmla="*/ 0 h 131191"/>
                <a:gd name="csX1" fmla="*/ 2256 w 4512"/>
                <a:gd name="csY1" fmla="*/ 131191 h 1311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512" h="131191">
                  <a:moveTo>
                    <a:pt x="2256" y="0"/>
                  </a:moveTo>
                  <a:cubicBezTo>
                    <a:pt x="10071" y="43732"/>
                    <a:pt x="-5559" y="90582"/>
                    <a:pt x="2256" y="131191"/>
                  </a:cubicBezTo>
                </a:path>
              </a:pathLst>
            </a:custGeom>
            <a:noFill/>
            <a:ln w="5963" cap="rnd">
              <a:solidFill>
                <a:srgbClr val="3E86C0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2" name="Freeform 341">
              <a:extLst>
                <a:ext uri="{FF2B5EF4-FFF2-40B4-BE49-F238E27FC236}">
                  <a16:creationId xmlns:a16="http://schemas.microsoft.com/office/drawing/2014/main" id="{22C8A8D6-68A0-E6B3-C87D-81524E770D19}"/>
                </a:ext>
              </a:extLst>
            </p:cNvPr>
            <p:cNvSpPr/>
            <p:nvPr/>
          </p:nvSpPr>
          <p:spPr>
            <a:xfrm>
              <a:off x="7380487" y="3984195"/>
              <a:ext cx="46897" cy="14060"/>
            </a:xfrm>
            <a:custGeom>
              <a:avLst/>
              <a:gdLst>
                <a:gd name="csX0" fmla="*/ 0 w 46897"/>
                <a:gd name="csY0" fmla="*/ 6247 h 14060"/>
                <a:gd name="csX1" fmla="*/ 23452 w 46897"/>
                <a:gd name="csY1" fmla="*/ 6247 h 14060"/>
                <a:gd name="csX2" fmla="*/ 46898 w 46897"/>
                <a:gd name="csY2" fmla="*/ 11258 h 140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6897" h="14060">
                  <a:moveTo>
                    <a:pt x="0" y="6247"/>
                  </a:moveTo>
                  <a:cubicBezTo>
                    <a:pt x="15635" y="-2082"/>
                    <a:pt x="23452" y="-2082"/>
                    <a:pt x="23452" y="6247"/>
                  </a:cubicBezTo>
                  <a:cubicBezTo>
                    <a:pt x="23452" y="14575"/>
                    <a:pt x="31267" y="16246"/>
                    <a:pt x="46898" y="11258"/>
                  </a:cubicBezTo>
                </a:path>
              </a:pathLst>
            </a:custGeom>
            <a:noFill/>
            <a:ln w="5261" cap="rnd">
              <a:solidFill>
                <a:srgbClr val="3E86C0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3" name="Freeform 342">
              <a:extLst>
                <a:ext uri="{FF2B5EF4-FFF2-40B4-BE49-F238E27FC236}">
                  <a16:creationId xmlns:a16="http://schemas.microsoft.com/office/drawing/2014/main" id="{69783D73-C118-E092-E74C-C25A6E0D4500}"/>
                </a:ext>
              </a:extLst>
            </p:cNvPr>
            <p:cNvSpPr/>
            <p:nvPr/>
          </p:nvSpPr>
          <p:spPr>
            <a:xfrm>
              <a:off x="7385176" y="4027141"/>
              <a:ext cx="40645" cy="12292"/>
            </a:xfrm>
            <a:custGeom>
              <a:avLst/>
              <a:gdLst>
                <a:gd name="csX0" fmla="*/ 0 w 40645"/>
                <a:gd name="csY0" fmla="*/ 5466 h 12292"/>
                <a:gd name="csX1" fmla="*/ 20326 w 40645"/>
                <a:gd name="csY1" fmla="*/ 5466 h 12292"/>
                <a:gd name="csX2" fmla="*/ 40645 w 40645"/>
                <a:gd name="csY2" fmla="*/ 9824 h 122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0645" h="12292">
                  <a:moveTo>
                    <a:pt x="0" y="5466"/>
                  </a:moveTo>
                  <a:cubicBezTo>
                    <a:pt x="13551" y="-1822"/>
                    <a:pt x="20326" y="-1822"/>
                    <a:pt x="20326" y="5466"/>
                  </a:cubicBezTo>
                  <a:cubicBezTo>
                    <a:pt x="20326" y="12753"/>
                    <a:pt x="27099" y="14206"/>
                    <a:pt x="40645" y="9824"/>
                  </a:cubicBezTo>
                </a:path>
              </a:pathLst>
            </a:custGeom>
            <a:noFill/>
            <a:ln w="5261" cap="rnd">
              <a:solidFill>
                <a:srgbClr val="3E86C0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4" name="Freeform 343">
              <a:extLst>
                <a:ext uri="{FF2B5EF4-FFF2-40B4-BE49-F238E27FC236}">
                  <a16:creationId xmlns:a16="http://schemas.microsoft.com/office/drawing/2014/main" id="{8A1414AD-E1ED-9725-D8A6-5F6C03BBAB4A}"/>
                </a:ext>
              </a:extLst>
            </p:cNvPr>
            <p:cNvSpPr/>
            <p:nvPr/>
          </p:nvSpPr>
          <p:spPr>
            <a:xfrm>
              <a:off x="7455519" y="3985757"/>
              <a:ext cx="46897" cy="14060"/>
            </a:xfrm>
            <a:custGeom>
              <a:avLst/>
              <a:gdLst>
                <a:gd name="csX0" fmla="*/ 0 w 46897"/>
                <a:gd name="csY0" fmla="*/ 6247 h 14060"/>
                <a:gd name="csX1" fmla="*/ 23446 w 46897"/>
                <a:gd name="csY1" fmla="*/ 6247 h 14060"/>
                <a:gd name="csX2" fmla="*/ 46897 w 46897"/>
                <a:gd name="csY2" fmla="*/ 11258 h 140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6897" h="14060">
                  <a:moveTo>
                    <a:pt x="0" y="6247"/>
                  </a:moveTo>
                  <a:cubicBezTo>
                    <a:pt x="15631" y="-2082"/>
                    <a:pt x="23446" y="-2082"/>
                    <a:pt x="23446" y="6247"/>
                  </a:cubicBezTo>
                  <a:cubicBezTo>
                    <a:pt x="23446" y="14575"/>
                    <a:pt x="31263" y="16246"/>
                    <a:pt x="46897" y="11258"/>
                  </a:cubicBezTo>
                </a:path>
              </a:pathLst>
            </a:custGeom>
            <a:noFill/>
            <a:ln w="5261" cap="rnd">
              <a:solidFill>
                <a:srgbClr val="3E86C0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5" name="Freeform 344">
              <a:extLst>
                <a:ext uri="{FF2B5EF4-FFF2-40B4-BE49-F238E27FC236}">
                  <a16:creationId xmlns:a16="http://schemas.microsoft.com/office/drawing/2014/main" id="{755E5F4D-65FF-2C0A-B2E0-F6E951DDDAD7}"/>
                </a:ext>
              </a:extLst>
            </p:cNvPr>
            <p:cNvSpPr/>
            <p:nvPr/>
          </p:nvSpPr>
          <p:spPr>
            <a:xfrm>
              <a:off x="7457082" y="4028702"/>
              <a:ext cx="40645" cy="12292"/>
            </a:xfrm>
            <a:custGeom>
              <a:avLst/>
              <a:gdLst>
                <a:gd name="csX0" fmla="*/ 0 w 40645"/>
                <a:gd name="csY0" fmla="*/ 5466 h 12292"/>
                <a:gd name="csX1" fmla="*/ 20320 w 40645"/>
                <a:gd name="csY1" fmla="*/ 5466 h 12292"/>
                <a:gd name="csX2" fmla="*/ 40645 w 40645"/>
                <a:gd name="csY2" fmla="*/ 9824 h 122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0645" h="12292">
                  <a:moveTo>
                    <a:pt x="0" y="5466"/>
                  </a:moveTo>
                  <a:cubicBezTo>
                    <a:pt x="13547" y="-1822"/>
                    <a:pt x="20320" y="-1822"/>
                    <a:pt x="20320" y="5466"/>
                  </a:cubicBezTo>
                  <a:cubicBezTo>
                    <a:pt x="20320" y="12753"/>
                    <a:pt x="27095" y="14206"/>
                    <a:pt x="40645" y="9824"/>
                  </a:cubicBezTo>
                </a:path>
              </a:pathLst>
            </a:custGeom>
            <a:noFill/>
            <a:ln w="5261" cap="rnd">
              <a:solidFill>
                <a:srgbClr val="3E86C0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6" name="TextBox 345">
            <a:extLst>
              <a:ext uri="{FF2B5EF4-FFF2-40B4-BE49-F238E27FC236}">
                <a16:creationId xmlns:a16="http://schemas.microsoft.com/office/drawing/2014/main" id="{ACC883EF-90D3-8F07-9920-D66A8B71EEF5}"/>
              </a:ext>
            </a:extLst>
          </p:cNvPr>
          <p:cNvSpPr txBox="1"/>
          <p:nvPr/>
        </p:nvSpPr>
        <p:spPr>
          <a:xfrm>
            <a:off x="7456965" y="3898237"/>
            <a:ext cx="796825" cy="169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66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Cognitive &amp; Social</a:t>
            </a: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870447DE-8D03-279B-0495-A67321D4BAE7}"/>
              </a:ext>
            </a:extLst>
          </p:cNvPr>
          <p:cNvSpPr txBox="1"/>
          <p:nvPr/>
        </p:nvSpPr>
        <p:spPr>
          <a:xfrm>
            <a:off x="7456965" y="3999040"/>
            <a:ext cx="451797" cy="1465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1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4 signatures</a:t>
            </a: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40732597-C763-9AB7-D2E3-0E46BAB7866D}"/>
              </a:ext>
            </a:extLst>
          </p:cNvPr>
          <p:cNvSpPr txBox="1"/>
          <p:nvPr/>
        </p:nvSpPr>
        <p:spPr>
          <a:xfrm>
            <a:off x="7259512" y="4227334"/>
            <a:ext cx="819591" cy="148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37" b="1" spc="27" baseline="0">
                <a:ln/>
                <a:solidFill>
                  <a:srgbClr val="28608F"/>
                </a:solidFill>
                <a:latin typeface="Arial"/>
                <a:cs typeface="Arial"/>
                <a:sym typeface="Arial"/>
                <a:rtl val="0"/>
              </a:rPr>
              <a:t>ATTENTION &amp; CONTROL</a:t>
            </a:r>
          </a:p>
        </p:txBody>
      </p:sp>
      <p:sp>
        <p:nvSpPr>
          <p:cNvPr id="349" name="Freeform 348">
            <a:extLst>
              <a:ext uri="{FF2B5EF4-FFF2-40B4-BE49-F238E27FC236}">
                <a16:creationId xmlns:a16="http://schemas.microsoft.com/office/drawing/2014/main" id="{5EBF18D1-BA6E-94EB-53A6-715B9E96F7EF}"/>
              </a:ext>
            </a:extLst>
          </p:cNvPr>
          <p:cNvSpPr/>
          <p:nvPr/>
        </p:nvSpPr>
        <p:spPr>
          <a:xfrm>
            <a:off x="8025581" y="4299015"/>
            <a:ext cx="1431528" cy="6052"/>
          </a:xfrm>
          <a:custGeom>
            <a:avLst/>
            <a:gdLst>
              <a:gd name="csX0" fmla="*/ 0 w 1431528"/>
              <a:gd name="csY0" fmla="*/ 0 h 6052"/>
              <a:gd name="csX1" fmla="*/ 1431529 w 1431528"/>
              <a:gd name="csY1" fmla="*/ 0 h 605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31528" h="6052">
                <a:moveTo>
                  <a:pt x="0" y="0"/>
                </a:moveTo>
                <a:lnTo>
                  <a:pt x="1431529" y="0"/>
                </a:lnTo>
              </a:path>
            </a:pathLst>
          </a:custGeom>
          <a:ln w="6163" cap="flat">
            <a:solidFill>
              <a:srgbClr val="3E86C0">
                <a:alpha val="35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50" name="Rounded Rectangle 349">
            <a:extLst>
              <a:ext uri="{FF2B5EF4-FFF2-40B4-BE49-F238E27FC236}">
                <a16:creationId xmlns:a16="http://schemas.microsoft.com/office/drawing/2014/main" id="{326A3FEC-9443-153D-AFE6-475FD4901EB4}"/>
              </a:ext>
            </a:extLst>
          </p:cNvPr>
          <p:cNvSpPr/>
          <p:nvPr/>
        </p:nvSpPr>
        <p:spPr>
          <a:xfrm>
            <a:off x="7342725" y="4368884"/>
            <a:ext cx="2114384" cy="254817"/>
          </a:xfrm>
          <a:prstGeom prst="roundRect">
            <a:avLst>
              <a:gd name="adj" fmla="val 19371"/>
            </a:avLst>
          </a:prstGeom>
          <a:solidFill>
            <a:srgbClr val="FFFFFF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51" name="Rounded Rectangle 350">
            <a:extLst>
              <a:ext uri="{FF2B5EF4-FFF2-40B4-BE49-F238E27FC236}">
                <a16:creationId xmlns:a16="http://schemas.microsoft.com/office/drawing/2014/main" id="{1B0EB3F1-3590-E3B7-024F-AA53FD2578C5}"/>
              </a:ext>
            </a:extLst>
          </p:cNvPr>
          <p:cNvSpPr/>
          <p:nvPr/>
        </p:nvSpPr>
        <p:spPr>
          <a:xfrm>
            <a:off x="7342725" y="4368884"/>
            <a:ext cx="20567" cy="254817"/>
          </a:xfrm>
          <a:prstGeom prst="roundRect">
            <a:avLst>
              <a:gd name="adj" fmla="val 50000"/>
            </a:avLst>
          </a:prstGeom>
          <a:solidFill>
            <a:srgbClr val="3E86C0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52" name="Oval 351">
            <a:extLst>
              <a:ext uri="{FF2B5EF4-FFF2-40B4-BE49-F238E27FC236}">
                <a16:creationId xmlns:a16="http://schemas.microsoft.com/office/drawing/2014/main" id="{AC283C66-712E-A812-FDC7-2113AD931FE2}"/>
              </a:ext>
            </a:extLst>
          </p:cNvPr>
          <p:cNvSpPr/>
          <p:nvPr/>
        </p:nvSpPr>
        <p:spPr>
          <a:xfrm>
            <a:off x="7404429" y="4377104"/>
            <a:ext cx="238588" cy="238377"/>
          </a:xfrm>
          <a:prstGeom prst="ellipse">
            <a:avLst/>
          </a:prstGeom>
          <a:solidFill>
            <a:srgbClr val="E5EFF8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353" name="Graphic 2">
            <a:extLst>
              <a:ext uri="{FF2B5EF4-FFF2-40B4-BE49-F238E27FC236}">
                <a16:creationId xmlns:a16="http://schemas.microsoft.com/office/drawing/2014/main" id="{69B59C42-3C31-9C80-DE11-82108FA26A39}"/>
              </a:ext>
            </a:extLst>
          </p:cNvPr>
          <p:cNvGrpSpPr/>
          <p:nvPr/>
        </p:nvGrpSpPr>
        <p:grpSpPr>
          <a:xfrm>
            <a:off x="7432649" y="4417998"/>
            <a:ext cx="189225" cy="159017"/>
            <a:chOff x="7432649" y="4417998"/>
            <a:chExt cx="189225" cy="159017"/>
          </a:xfrm>
        </p:grpSpPr>
        <p:sp>
          <p:nvSpPr>
            <p:cNvPr id="354" name="Freeform 353">
              <a:extLst>
                <a:ext uri="{FF2B5EF4-FFF2-40B4-BE49-F238E27FC236}">
                  <a16:creationId xmlns:a16="http://schemas.microsoft.com/office/drawing/2014/main" id="{0BE01EA2-AA6A-90FC-B1CC-377EAB205970}"/>
                </a:ext>
              </a:extLst>
            </p:cNvPr>
            <p:cNvSpPr/>
            <p:nvPr/>
          </p:nvSpPr>
          <p:spPr>
            <a:xfrm>
              <a:off x="7432649" y="4417998"/>
              <a:ext cx="189225" cy="159017"/>
            </a:xfrm>
            <a:custGeom>
              <a:avLst/>
              <a:gdLst>
                <a:gd name="csX0" fmla="*/ 184821 w 189225"/>
                <a:gd name="csY0" fmla="*/ 78295 h 159017"/>
                <a:gd name="csX1" fmla="*/ 187747 w 189225"/>
                <a:gd name="csY1" fmla="*/ 70977 h 159017"/>
                <a:gd name="csX2" fmla="*/ 189225 w 189225"/>
                <a:gd name="csY2" fmla="*/ 63296 h 159017"/>
                <a:gd name="csX3" fmla="*/ 188977 w 189225"/>
                <a:gd name="csY3" fmla="*/ 55566 h 159017"/>
                <a:gd name="csX4" fmla="*/ 186838 w 189225"/>
                <a:gd name="csY4" fmla="*/ 48085 h 159017"/>
                <a:gd name="csX5" fmla="*/ 182846 w 189225"/>
                <a:gd name="csY5" fmla="*/ 41184 h 159017"/>
                <a:gd name="csX6" fmla="*/ 177339 w 189225"/>
                <a:gd name="csY6" fmla="*/ 35101 h 159017"/>
                <a:gd name="csX7" fmla="*/ 170675 w 189225"/>
                <a:gd name="csY7" fmla="*/ 29962 h 159017"/>
                <a:gd name="csX8" fmla="*/ 163350 w 189225"/>
                <a:gd name="csY8" fmla="*/ 25731 h 159017"/>
                <a:gd name="csX9" fmla="*/ 155783 w 189225"/>
                <a:gd name="csY9" fmla="*/ 22154 h 159017"/>
                <a:gd name="csX10" fmla="*/ 148374 w 189225"/>
                <a:gd name="csY10" fmla="*/ 19073 h 159017"/>
                <a:gd name="csX11" fmla="*/ 141177 w 189225"/>
                <a:gd name="csY11" fmla="*/ 16234 h 159017"/>
                <a:gd name="csX12" fmla="*/ 134307 w 189225"/>
                <a:gd name="csY12" fmla="*/ 13359 h 159017"/>
                <a:gd name="csX13" fmla="*/ 127564 w 189225"/>
                <a:gd name="csY13" fmla="*/ 10484 h 159017"/>
                <a:gd name="csX14" fmla="*/ 120772 w 189225"/>
                <a:gd name="csY14" fmla="*/ 7524 h 159017"/>
                <a:gd name="csX15" fmla="*/ 113781 w 189225"/>
                <a:gd name="csY15" fmla="*/ 4770 h 159017"/>
                <a:gd name="csX16" fmla="*/ 106499 w 189225"/>
                <a:gd name="csY16" fmla="*/ 2427 h 159017"/>
                <a:gd name="csX17" fmla="*/ 98890 w 189225"/>
                <a:gd name="csY17" fmla="*/ 781 h 159017"/>
                <a:gd name="csX18" fmla="*/ 91075 w 189225"/>
                <a:gd name="csY18" fmla="*/ 0 h 159017"/>
                <a:gd name="csX19" fmla="*/ 83217 w 189225"/>
                <a:gd name="csY19" fmla="*/ 206 h 159017"/>
                <a:gd name="csX20" fmla="*/ 75444 w 189225"/>
                <a:gd name="csY20" fmla="*/ 1398 h 159017"/>
                <a:gd name="csX21" fmla="*/ 67956 w 189225"/>
                <a:gd name="csY21" fmla="*/ 3414 h 159017"/>
                <a:gd name="csX22" fmla="*/ 60759 w 189225"/>
                <a:gd name="csY22" fmla="*/ 6041 h 159017"/>
                <a:gd name="csX23" fmla="*/ 53846 w 189225"/>
                <a:gd name="csY23" fmla="*/ 9086 h 159017"/>
                <a:gd name="csX24" fmla="*/ 47140 w 189225"/>
                <a:gd name="csY24" fmla="*/ 12288 h 159017"/>
                <a:gd name="csX25" fmla="*/ 40476 w 189225"/>
                <a:gd name="csY25" fmla="*/ 15659 h 159017"/>
                <a:gd name="csX26" fmla="*/ 33811 w 189225"/>
                <a:gd name="csY26" fmla="*/ 19109 h 159017"/>
                <a:gd name="csX27" fmla="*/ 27111 w 189225"/>
                <a:gd name="csY27" fmla="*/ 22850 h 159017"/>
                <a:gd name="csX28" fmla="*/ 20568 w 189225"/>
                <a:gd name="csY28" fmla="*/ 27002 h 159017"/>
                <a:gd name="csX29" fmla="*/ 14395 w 189225"/>
                <a:gd name="csY29" fmla="*/ 31730 h 159017"/>
                <a:gd name="csX30" fmla="*/ 8924 w 189225"/>
                <a:gd name="csY30" fmla="*/ 37153 h 159017"/>
                <a:gd name="csX31" fmla="*/ 4526 w 189225"/>
                <a:gd name="csY31" fmla="*/ 43279 h 159017"/>
                <a:gd name="csX32" fmla="*/ 1521 w 189225"/>
                <a:gd name="csY32" fmla="*/ 50016 h 159017"/>
                <a:gd name="csX33" fmla="*/ 0 w 189225"/>
                <a:gd name="csY33" fmla="*/ 57128 h 159017"/>
                <a:gd name="csX34" fmla="*/ 0 w 189225"/>
                <a:gd name="csY34" fmla="*/ 64361 h 159017"/>
                <a:gd name="csX35" fmla="*/ 1272 w 189225"/>
                <a:gd name="csY35" fmla="*/ 71473 h 159017"/>
                <a:gd name="csX36" fmla="*/ 3453 w 189225"/>
                <a:gd name="csY36" fmla="*/ 78295 h 159017"/>
                <a:gd name="csX37" fmla="*/ 6089 w 189225"/>
                <a:gd name="csY37" fmla="*/ 84748 h 159017"/>
                <a:gd name="csX38" fmla="*/ 8761 w 189225"/>
                <a:gd name="csY38" fmla="*/ 90873 h 159017"/>
                <a:gd name="csX39" fmla="*/ 11147 w 189225"/>
                <a:gd name="csY39" fmla="*/ 96872 h 159017"/>
                <a:gd name="csX40" fmla="*/ 13080 w 189225"/>
                <a:gd name="csY40" fmla="*/ 102912 h 159017"/>
                <a:gd name="csX41" fmla="*/ 14685 w 189225"/>
                <a:gd name="csY41" fmla="*/ 109201 h 159017"/>
                <a:gd name="csX42" fmla="*/ 16127 w 189225"/>
                <a:gd name="csY42" fmla="*/ 115817 h 159017"/>
                <a:gd name="csX43" fmla="*/ 17896 w 189225"/>
                <a:gd name="csY43" fmla="*/ 122724 h 159017"/>
                <a:gd name="csX44" fmla="*/ 20277 w 189225"/>
                <a:gd name="csY44" fmla="*/ 129794 h 159017"/>
                <a:gd name="csX45" fmla="*/ 23694 w 189225"/>
                <a:gd name="csY45" fmla="*/ 136736 h 159017"/>
                <a:gd name="csX46" fmla="*/ 28298 w 189225"/>
                <a:gd name="csY46" fmla="*/ 143153 h 159017"/>
                <a:gd name="csX47" fmla="*/ 34224 w 189225"/>
                <a:gd name="csY47" fmla="*/ 148697 h 159017"/>
                <a:gd name="csX48" fmla="*/ 41257 w 189225"/>
                <a:gd name="csY48" fmla="*/ 153140 h 159017"/>
                <a:gd name="csX49" fmla="*/ 49115 w 189225"/>
                <a:gd name="csY49" fmla="*/ 156300 h 159017"/>
                <a:gd name="csX50" fmla="*/ 57548 w 189225"/>
                <a:gd name="csY50" fmla="*/ 158194 h 159017"/>
                <a:gd name="csX51" fmla="*/ 66145 w 189225"/>
                <a:gd name="csY51" fmla="*/ 159017 h 159017"/>
                <a:gd name="csX52" fmla="*/ 74663 w 189225"/>
                <a:gd name="csY52" fmla="*/ 158933 h 159017"/>
                <a:gd name="csX53" fmla="*/ 83011 w 189225"/>
                <a:gd name="csY53" fmla="*/ 158273 h 159017"/>
                <a:gd name="csX54" fmla="*/ 91075 w 189225"/>
                <a:gd name="csY54" fmla="*/ 157286 h 159017"/>
                <a:gd name="csX55" fmla="*/ 98932 w 189225"/>
                <a:gd name="csY55" fmla="*/ 156094 h 159017"/>
                <a:gd name="csX56" fmla="*/ 106626 w 189225"/>
                <a:gd name="csY56" fmla="*/ 154738 h 159017"/>
                <a:gd name="csX57" fmla="*/ 114193 w 189225"/>
                <a:gd name="csY57" fmla="*/ 153098 h 159017"/>
                <a:gd name="csX58" fmla="*/ 121597 w 189225"/>
                <a:gd name="csY58" fmla="*/ 151003 h 159017"/>
                <a:gd name="csX59" fmla="*/ 128757 w 189225"/>
                <a:gd name="csY59" fmla="*/ 148370 h 159017"/>
                <a:gd name="csX60" fmla="*/ 135458 w 189225"/>
                <a:gd name="csY60" fmla="*/ 144999 h 159017"/>
                <a:gd name="csX61" fmla="*/ 141589 w 189225"/>
                <a:gd name="csY61" fmla="*/ 140846 h 159017"/>
                <a:gd name="csX62" fmla="*/ 146981 w 189225"/>
                <a:gd name="csY62" fmla="*/ 136040 h 159017"/>
                <a:gd name="csX63" fmla="*/ 151543 w 189225"/>
                <a:gd name="csY63" fmla="*/ 130738 h 159017"/>
                <a:gd name="csX64" fmla="*/ 155414 w 189225"/>
                <a:gd name="csY64" fmla="*/ 125109 h 159017"/>
                <a:gd name="csX65" fmla="*/ 158782 w 189225"/>
                <a:gd name="csY65" fmla="*/ 119395 h 159017"/>
                <a:gd name="csX66" fmla="*/ 161908 w 189225"/>
                <a:gd name="csY66" fmla="*/ 113765 h 159017"/>
                <a:gd name="csX67" fmla="*/ 165162 w 189225"/>
                <a:gd name="csY67" fmla="*/ 108257 h 159017"/>
                <a:gd name="csX68" fmla="*/ 168657 w 189225"/>
                <a:gd name="csY68" fmla="*/ 102791 h 159017"/>
                <a:gd name="csX69" fmla="*/ 172607 w 189225"/>
                <a:gd name="csY69" fmla="*/ 97241 h 159017"/>
                <a:gd name="csX70" fmla="*/ 176800 w 189225"/>
                <a:gd name="csY70" fmla="*/ 91406 h 159017"/>
                <a:gd name="csX71" fmla="*/ 181040 w 189225"/>
                <a:gd name="csY71" fmla="*/ 85117 h 1590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189225" h="159017">
                  <a:moveTo>
                    <a:pt x="184821" y="78295"/>
                  </a:moveTo>
                  <a:lnTo>
                    <a:pt x="187747" y="70977"/>
                  </a:lnTo>
                  <a:lnTo>
                    <a:pt x="189225" y="63296"/>
                  </a:lnTo>
                  <a:lnTo>
                    <a:pt x="188977" y="55566"/>
                  </a:lnTo>
                  <a:lnTo>
                    <a:pt x="186838" y="48085"/>
                  </a:lnTo>
                  <a:lnTo>
                    <a:pt x="182846" y="41184"/>
                  </a:lnTo>
                  <a:lnTo>
                    <a:pt x="177339" y="35101"/>
                  </a:lnTo>
                  <a:lnTo>
                    <a:pt x="170675" y="29962"/>
                  </a:lnTo>
                  <a:lnTo>
                    <a:pt x="163350" y="25731"/>
                  </a:lnTo>
                  <a:lnTo>
                    <a:pt x="155783" y="22154"/>
                  </a:lnTo>
                  <a:lnTo>
                    <a:pt x="148374" y="19073"/>
                  </a:lnTo>
                  <a:lnTo>
                    <a:pt x="141177" y="16234"/>
                  </a:lnTo>
                  <a:lnTo>
                    <a:pt x="134307" y="13359"/>
                  </a:lnTo>
                  <a:lnTo>
                    <a:pt x="127564" y="10484"/>
                  </a:lnTo>
                  <a:lnTo>
                    <a:pt x="120772" y="7524"/>
                  </a:lnTo>
                  <a:lnTo>
                    <a:pt x="113781" y="4770"/>
                  </a:lnTo>
                  <a:lnTo>
                    <a:pt x="106499" y="2427"/>
                  </a:lnTo>
                  <a:lnTo>
                    <a:pt x="98890" y="781"/>
                  </a:lnTo>
                  <a:lnTo>
                    <a:pt x="91075" y="0"/>
                  </a:lnTo>
                  <a:lnTo>
                    <a:pt x="83217" y="206"/>
                  </a:lnTo>
                  <a:lnTo>
                    <a:pt x="75444" y="1398"/>
                  </a:lnTo>
                  <a:lnTo>
                    <a:pt x="67956" y="3414"/>
                  </a:lnTo>
                  <a:lnTo>
                    <a:pt x="60759" y="6041"/>
                  </a:lnTo>
                  <a:lnTo>
                    <a:pt x="53846" y="9086"/>
                  </a:lnTo>
                  <a:lnTo>
                    <a:pt x="47140" y="12288"/>
                  </a:lnTo>
                  <a:lnTo>
                    <a:pt x="40476" y="15659"/>
                  </a:lnTo>
                  <a:lnTo>
                    <a:pt x="33811" y="19109"/>
                  </a:lnTo>
                  <a:lnTo>
                    <a:pt x="27111" y="22850"/>
                  </a:lnTo>
                  <a:lnTo>
                    <a:pt x="20568" y="27002"/>
                  </a:lnTo>
                  <a:lnTo>
                    <a:pt x="14395" y="31730"/>
                  </a:lnTo>
                  <a:lnTo>
                    <a:pt x="8924" y="37153"/>
                  </a:lnTo>
                  <a:lnTo>
                    <a:pt x="4526" y="43279"/>
                  </a:lnTo>
                  <a:lnTo>
                    <a:pt x="1521" y="50016"/>
                  </a:lnTo>
                  <a:lnTo>
                    <a:pt x="0" y="57128"/>
                  </a:lnTo>
                  <a:lnTo>
                    <a:pt x="0" y="64361"/>
                  </a:lnTo>
                  <a:lnTo>
                    <a:pt x="1272" y="71473"/>
                  </a:lnTo>
                  <a:lnTo>
                    <a:pt x="3453" y="78295"/>
                  </a:lnTo>
                  <a:lnTo>
                    <a:pt x="6089" y="84748"/>
                  </a:lnTo>
                  <a:lnTo>
                    <a:pt x="8761" y="90873"/>
                  </a:lnTo>
                  <a:lnTo>
                    <a:pt x="11147" y="96872"/>
                  </a:lnTo>
                  <a:lnTo>
                    <a:pt x="13080" y="102912"/>
                  </a:lnTo>
                  <a:lnTo>
                    <a:pt x="14685" y="109201"/>
                  </a:lnTo>
                  <a:lnTo>
                    <a:pt x="16127" y="115817"/>
                  </a:lnTo>
                  <a:lnTo>
                    <a:pt x="17896" y="122724"/>
                  </a:lnTo>
                  <a:lnTo>
                    <a:pt x="20277" y="129794"/>
                  </a:lnTo>
                  <a:lnTo>
                    <a:pt x="23694" y="136736"/>
                  </a:lnTo>
                  <a:lnTo>
                    <a:pt x="28298" y="143153"/>
                  </a:lnTo>
                  <a:lnTo>
                    <a:pt x="34224" y="148697"/>
                  </a:lnTo>
                  <a:lnTo>
                    <a:pt x="41257" y="153140"/>
                  </a:lnTo>
                  <a:lnTo>
                    <a:pt x="49115" y="156300"/>
                  </a:lnTo>
                  <a:lnTo>
                    <a:pt x="57548" y="158194"/>
                  </a:lnTo>
                  <a:lnTo>
                    <a:pt x="66145" y="159017"/>
                  </a:lnTo>
                  <a:lnTo>
                    <a:pt x="74663" y="158933"/>
                  </a:lnTo>
                  <a:lnTo>
                    <a:pt x="83011" y="158273"/>
                  </a:lnTo>
                  <a:lnTo>
                    <a:pt x="91075" y="157286"/>
                  </a:lnTo>
                  <a:lnTo>
                    <a:pt x="98932" y="156094"/>
                  </a:lnTo>
                  <a:lnTo>
                    <a:pt x="106626" y="154738"/>
                  </a:lnTo>
                  <a:lnTo>
                    <a:pt x="114193" y="153098"/>
                  </a:lnTo>
                  <a:lnTo>
                    <a:pt x="121597" y="151003"/>
                  </a:lnTo>
                  <a:lnTo>
                    <a:pt x="128757" y="148370"/>
                  </a:lnTo>
                  <a:lnTo>
                    <a:pt x="135458" y="144999"/>
                  </a:lnTo>
                  <a:lnTo>
                    <a:pt x="141589" y="140846"/>
                  </a:lnTo>
                  <a:lnTo>
                    <a:pt x="146981" y="136040"/>
                  </a:lnTo>
                  <a:lnTo>
                    <a:pt x="151543" y="130738"/>
                  </a:lnTo>
                  <a:lnTo>
                    <a:pt x="155414" y="125109"/>
                  </a:lnTo>
                  <a:lnTo>
                    <a:pt x="158782" y="119395"/>
                  </a:lnTo>
                  <a:lnTo>
                    <a:pt x="161908" y="113765"/>
                  </a:lnTo>
                  <a:lnTo>
                    <a:pt x="165162" y="108257"/>
                  </a:lnTo>
                  <a:lnTo>
                    <a:pt x="168657" y="102791"/>
                  </a:lnTo>
                  <a:lnTo>
                    <a:pt x="172607" y="97241"/>
                  </a:lnTo>
                  <a:lnTo>
                    <a:pt x="176800" y="91406"/>
                  </a:lnTo>
                  <a:lnTo>
                    <a:pt x="181040" y="85117"/>
                  </a:lnTo>
                  <a:close/>
                </a:path>
              </a:pathLst>
            </a:custGeom>
            <a:solidFill>
              <a:srgbClr val="3E86C0"/>
            </a:solidFill>
            <a:ln w="7689" cap="flat">
              <a:solidFill>
                <a:srgbClr val="28608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5" name="Freeform 354">
              <a:extLst>
                <a:ext uri="{FF2B5EF4-FFF2-40B4-BE49-F238E27FC236}">
                  <a16:creationId xmlns:a16="http://schemas.microsoft.com/office/drawing/2014/main" id="{0D182B2C-7DAF-6ADF-72EE-B33C9914DD11}"/>
                </a:ext>
              </a:extLst>
            </p:cNvPr>
            <p:cNvSpPr/>
            <p:nvPr/>
          </p:nvSpPr>
          <p:spPr>
            <a:xfrm>
              <a:off x="7521254" y="4422768"/>
              <a:ext cx="4938" cy="143642"/>
            </a:xfrm>
            <a:custGeom>
              <a:avLst/>
              <a:gdLst>
                <a:gd name="csX0" fmla="*/ 2469 w 4938"/>
                <a:gd name="csY0" fmla="*/ 0 h 143642"/>
                <a:gd name="csX1" fmla="*/ 2469 w 4938"/>
                <a:gd name="csY1" fmla="*/ 143642 h 1436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938" h="143642">
                  <a:moveTo>
                    <a:pt x="2469" y="0"/>
                  </a:moveTo>
                  <a:cubicBezTo>
                    <a:pt x="11024" y="47879"/>
                    <a:pt x="-6085" y="99171"/>
                    <a:pt x="2469" y="143642"/>
                  </a:cubicBezTo>
                </a:path>
              </a:pathLst>
            </a:custGeom>
            <a:noFill/>
            <a:ln w="6538" cap="rnd">
              <a:solidFill>
                <a:srgbClr val="FFFFFF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6" name="Freeform 355">
              <a:extLst>
                <a:ext uri="{FF2B5EF4-FFF2-40B4-BE49-F238E27FC236}">
                  <a16:creationId xmlns:a16="http://schemas.microsoft.com/office/drawing/2014/main" id="{818E3FAA-5869-C342-CAC1-806F0A2697DB}"/>
                </a:ext>
              </a:extLst>
            </p:cNvPr>
            <p:cNvSpPr/>
            <p:nvPr/>
          </p:nvSpPr>
          <p:spPr>
            <a:xfrm>
              <a:off x="7457003" y="4462100"/>
              <a:ext cx="51338" cy="15368"/>
            </a:xfrm>
            <a:custGeom>
              <a:avLst/>
              <a:gdLst>
                <a:gd name="csX0" fmla="*/ 0 w 51338"/>
                <a:gd name="csY0" fmla="*/ 6822 h 15368"/>
                <a:gd name="csX1" fmla="*/ 25669 w 51338"/>
                <a:gd name="csY1" fmla="*/ 6822 h 15368"/>
                <a:gd name="csX2" fmla="*/ 51338 w 51338"/>
                <a:gd name="csY2" fmla="*/ 12330 h 153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1338" h="15368">
                  <a:moveTo>
                    <a:pt x="0" y="6822"/>
                  </a:moveTo>
                  <a:cubicBezTo>
                    <a:pt x="17113" y="-2274"/>
                    <a:pt x="25669" y="-2274"/>
                    <a:pt x="25669" y="6822"/>
                  </a:cubicBezTo>
                  <a:cubicBezTo>
                    <a:pt x="25669" y="15917"/>
                    <a:pt x="34226" y="17753"/>
                    <a:pt x="51338" y="12330"/>
                  </a:cubicBezTo>
                </a:path>
              </a:pathLst>
            </a:custGeom>
            <a:noFill/>
            <a:ln w="5757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7" name="Freeform 356">
              <a:extLst>
                <a:ext uri="{FF2B5EF4-FFF2-40B4-BE49-F238E27FC236}">
                  <a16:creationId xmlns:a16="http://schemas.microsoft.com/office/drawing/2014/main" id="{F2582A2F-916B-2856-5C7F-F0A35292B25B}"/>
                </a:ext>
              </a:extLst>
            </p:cNvPr>
            <p:cNvSpPr/>
            <p:nvPr/>
          </p:nvSpPr>
          <p:spPr>
            <a:xfrm>
              <a:off x="7462104" y="4509116"/>
              <a:ext cx="44504" cy="13488"/>
            </a:xfrm>
            <a:custGeom>
              <a:avLst/>
              <a:gdLst>
                <a:gd name="csX0" fmla="*/ 0 w 44504"/>
                <a:gd name="csY0" fmla="*/ 6001 h 13488"/>
                <a:gd name="csX1" fmla="*/ 22252 w 44504"/>
                <a:gd name="csY1" fmla="*/ 6001 h 13488"/>
                <a:gd name="csX2" fmla="*/ 44504 w 44504"/>
                <a:gd name="csY2" fmla="*/ 10765 h 134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4504" h="13488">
                  <a:moveTo>
                    <a:pt x="0" y="6001"/>
                  </a:moveTo>
                  <a:cubicBezTo>
                    <a:pt x="14835" y="-2000"/>
                    <a:pt x="22252" y="-2000"/>
                    <a:pt x="22252" y="6001"/>
                  </a:cubicBezTo>
                  <a:cubicBezTo>
                    <a:pt x="22252" y="14003"/>
                    <a:pt x="29670" y="15591"/>
                    <a:pt x="44504" y="10765"/>
                  </a:cubicBezTo>
                </a:path>
              </a:pathLst>
            </a:custGeom>
            <a:noFill/>
            <a:ln w="5757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8" name="Freeform 357">
              <a:extLst>
                <a:ext uri="{FF2B5EF4-FFF2-40B4-BE49-F238E27FC236}">
                  <a16:creationId xmlns:a16="http://schemas.microsoft.com/office/drawing/2014/main" id="{BEDC61D5-ED0D-5B23-3F89-7D30AFA78DDD}"/>
                </a:ext>
              </a:extLst>
            </p:cNvPr>
            <p:cNvSpPr/>
            <p:nvPr/>
          </p:nvSpPr>
          <p:spPr>
            <a:xfrm>
              <a:off x="7539105" y="4463804"/>
              <a:ext cx="51338" cy="15393"/>
            </a:xfrm>
            <a:custGeom>
              <a:avLst/>
              <a:gdLst>
                <a:gd name="csX0" fmla="*/ 0 w 51338"/>
                <a:gd name="csY0" fmla="*/ 6843 h 15393"/>
                <a:gd name="csX1" fmla="*/ 25669 w 51338"/>
                <a:gd name="csY1" fmla="*/ 6843 h 15393"/>
                <a:gd name="csX2" fmla="*/ 51338 w 51338"/>
                <a:gd name="csY2" fmla="*/ 12309 h 153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1338" h="15393">
                  <a:moveTo>
                    <a:pt x="0" y="6843"/>
                  </a:moveTo>
                  <a:cubicBezTo>
                    <a:pt x="17113" y="-2281"/>
                    <a:pt x="25669" y="-2281"/>
                    <a:pt x="25669" y="6843"/>
                  </a:cubicBezTo>
                  <a:cubicBezTo>
                    <a:pt x="25669" y="15967"/>
                    <a:pt x="34226" y="17789"/>
                    <a:pt x="51338" y="12309"/>
                  </a:cubicBezTo>
                </a:path>
              </a:pathLst>
            </a:custGeom>
            <a:noFill/>
            <a:ln w="5757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" name="Freeform 358">
              <a:extLst>
                <a:ext uri="{FF2B5EF4-FFF2-40B4-BE49-F238E27FC236}">
                  <a16:creationId xmlns:a16="http://schemas.microsoft.com/office/drawing/2014/main" id="{3116FF4D-CDF5-32C6-7C27-2C839AEB10AE}"/>
                </a:ext>
              </a:extLst>
            </p:cNvPr>
            <p:cNvSpPr/>
            <p:nvPr/>
          </p:nvSpPr>
          <p:spPr>
            <a:xfrm>
              <a:off x="7540838" y="4510820"/>
              <a:ext cx="44504" cy="13466"/>
            </a:xfrm>
            <a:custGeom>
              <a:avLst/>
              <a:gdLst>
                <a:gd name="csX0" fmla="*/ 0 w 44504"/>
                <a:gd name="csY0" fmla="*/ 5980 h 13466"/>
                <a:gd name="csX1" fmla="*/ 22252 w 44504"/>
                <a:gd name="csY1" fmla="*/ 5980 h 13466"/>
                <a:gd name="csX2" fmla="*/ 44504 w 44504"/>
                <a:gd name="csY2" fmla="*/ 10792 h 134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4504" h="13466">
                  <a:moveTo>
                    <a:pt x="0" y="5980"/>
                  </a:moveTo>
                  <a:cubicBezTo>
                    <a:pt x="14835" y="-1993"/>
                    <a:pt x="22252" y="-1993"/>
                    <a:pt x="22252" y="5980"/>
                  </a:cubicBezTo>
                  <a:cubicBezTo>
                    <a:pt x="22252" y="13954"/>
                    <a:pt x="29670" y="15558"/>
                    <a:pt x="44504" y="10792"/>
                  </a:cubicBezTo>
                </a:path>
              </a:pathLst>
            </a:custGeom>
            <a:noFill/>
            <a:ln w="5757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0" name="Oval 359">
            <a:extLst>
              <a:ext uri="{FF2B5EF4-FFF2-40B4-BE49-F238E27FC236}">
                <a16:creationId xmlns:a16="http://schemas.microsoft.com/office/drawing/2014/main" id="{C7A9FDC1-94C8-0190-BF97-95244303A515}"/>
              </a:ext>
            </a:extLst>
          </p:cNvPr>
          <p:cNvSpPr/>
          <p:nvPr/>
        </p:nvSpPr>
        <p:spPr>
          <a:xfrm>
            <a:off x="7404429" y="4377104"/>
            <a:ext cx="238588" cy="238377"/>
          </a:xfrm>
          <a:prstGeom prst="ellipse">
            <a:avLst/>
          </a:prstGeom>
          <a:noFill/>
          <a:ln w="8221" cap="flat">
            <a:solidFill>
              <a:srgbClr val="3E86C0">
                <a:alpha val="8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61" name="TextBox 360">
            <a:extLst>
              <a:ext uri="{FF2B5EF4-FFF2-40B4-BE49-F238E27FC236}">
                <a16:creationId xmlns:a16="http://schemas.microsoft.com/office/drawing/2014/main" id="{E562542B-4AB9-ED2B-69C0-E14E1A2BBA89}"/>
              </a:ext>
            </a:extLst>
          </p:cNvPr>
          <p:cNvSpPr txBox="1"/>
          <p:nvPr/>
        </p:nvSpPr>
        <p:spPr>
          <a:xfrm>
            <a:off x="7584567" y="4340050"/>
            <a:ext cx="174919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b="1" spc="0" baseline="0" dirty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Sustained attention (</a:t>
            </a:r>
            <a:r>
              <a:rPr lang="en-US" sz="900" b="1" spc="0" baseline="0" dirty="0" err="1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saCPM</a:t>
            </a:r>
            <a:r>
              <a:rPr lang="en-US" sz="900" b="1" spc="0" baseline="0" dirty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)</a:t>
            </a:r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B668E7B6-70C6-8C2A-41CD-E3E8901A9EB5}"/>
              </a:ext>
            </a:extLst>
          </p:cNvPr>
          <p:cNvSpPr txBox="1"/>
          <p:nvPr/>
        </p:nvSpPr>
        <p:spPr>
          <a:xfrm>
            <a:off x="7584567" y="4476858"/>
            <a:ext cx="676842" cy="160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64" i="1" spc="0" baseline="0" dirty="0">
                <a:ln/>
                <a:solidFill>
                  <a:srgbClr val="7C8598"/>
                </a:solidFill>
                <a:latin typeface="Arial"/>
                <a:cs typeface="Arial"/>
                <a:sym typeface="Arial"/>
                <a:rtl val="0"/>
              </a:rPr>
              <a:t>Rosenberg · 2017</a:t>
            </a:r>
          </a:p>
        </p:txBody>
      </p:sp>
      <p:sp>
        <p:nvSpPr>
          <p:cNvPr id="363" name="Rounded Rectangle 362">
            <a:extLst>
              <a:ext uri="{FF2B5EF4-FFF2-40B4-BE49-F238E27FC236}">
                <a16:creationId xmlns:a16="http://schemas.microsoft.com/office/drawing/2014/main" id="{69A81B52-65EE-454E-9A17-4C1A1728FEF2}"/>
              </a:ext>
            </a:extLst>
          </p:cNvPr>
          <p:cNvSpPr/>
          <p:nvPr/>
        </p:nvSpPr>
        <p:spPr>
          <a:xfrm>
            <a:off x="7342725" y="4660691"/>
            <a:ext cx="2114384" cy="254817"/>
          </a:xfrm>
          <a:prstGeom prst="roundRect">
            <a:avLst>
              <a:gd name="adj" fmla="val 19371"/>
            </a:avLst>
          </a:prstGeom>
          <a:solidFill>
            <a:srgbClr val="FFFFFF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64" name="Rounded Rectangle 363">
            <a:extLst>
              <a:ext uri="{FF2B5EF4-FFF2-40B4-BE49-F238E27FC236}">
                <a16:creationId xmlns:a16="http://schemas.microsoft.com/office/drawing/2014/main" id="{A83378B8-50BE-92F1-9097-1B4A79B66F71}"/>
              </a:ext>
            </a:extLst>
          </p:cNvPr>
          <p:cNvSpPr/>
          <p:nvPr/>
        </p:nvSpPr>
        <p:spPr>
          <a:xfrm>
            <a:off x="7342725" y="4660691"/>
            <a:ext cx="20567" cy="254817"/>
          </a:xfrm>
          <a:prstGeom prst="roundRect">
            <a:avLst>
              <a:gd name="adj" fmla="val 50000"/>
            </a:avLst>
          </a:prstGeom>
          <a:solidFill>
            <a:srgbClr val="3E86C0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65" name="Oval 364">
            <a:extLst>
              <a:ext uri="{FF2B5EF4-FFF2-40B4-BE49-F238E27FC236}">
                <a16:creationId xmlns:a16="http://schemas.microsoft.com/office/drawing/2014/main" id="{B5A1ACF0-ECD3-43A1-2FF3-81FAD313B764}"/>
              </a:ext>
            </a:extLst>
          </p:cNvPr>
          <p:cNvSpPr/>
          <p:nvPr/>
        </p:nvSpPr>
        <p:spPr>
          <a:xfrm>
            <a:off x="7404429" y="4668911"/>
            <a:ext cx="238588" cy="238377"/>
          </a:xfrm>
          <a:prstGeom prst="ellipse">
            <a:avLst/>
          </a:prstGeom>
          <a:solidFill>
            <a:srgbClr val="E5EFF8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366" name="Picture 365">
            <a:extLst>
              <a:ext uri="{FF2B5EF4-FFF2-40B4-BE49-F238E27FC236}">
                <a16:creationId xmlns:a16="http://schemas.microsoft.com/office/drawing/2014/main" id="{C94F8FC3-EB48-6123-16F5-88F8710D068B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416770" y="4681241"/>
            <a:ext cx="213906" cy="213717"/>
          </a:xfrm>
          <a:custGeom>
            <a:avLst/>
            <a:gdLst>
              <a:gd name="csX0" fmla="*/ 826 w 213906"/>
              <a:gd name="csY0" fmla="*/ 791 h 213717"/>
              <a:gd name="csX1" fmla="*/ 214732 w 213906"/>
              <a:gd name="csY1" fmla="*/ 791 h 213717"/>
              <a:gd name="csX2" fmla="*/ 214732 w 213906"/>
              <a:gd name="csY2" fmla="*/ 214509 h 213717"/>
              <a:gd name="csX3" fmla="*/ 826 w 213906"/>
              <a:gd name="csY3" fmla="*/ 214509 h 2137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3906" h="213717">
                <a:moveTo>
                  <a:pt x="826" y="791"/>
                </a:moveTo>
                <a:lnTo>
                  <a:pt x="214732" y="791"/>
                </a:lnTo>
                <a:lnTo>
                  <a:pt x="214732" y="214509"/>
                </a:lnTo>
                <a:lnTo>
                  <a:pt x="826" y="214509"/>
                </a:lnTo>
                <a:close/>
              </a:path>
            </a:pathLst>
          </a:custGeom>
        </p:spPr>
      </p:pic>
      <p:sp>
        <p:nvSpPr>
          <p:cNvPr id="367" name="Oval 366">
            <a:extLst>
              <a:ext uri="{FF2B5EF4-FFF2-40B4-BE49-F238E27FC236}">
                <a16:creationId xmlns:a16="http://schemas.microsoft.com/office/drawing/2014/main" id="{590D45F3-4346-0439-A1C1-D9286ED285D8}"/>
              </a:ext>
            </a:extLst>
          </p:cNvPr>
          <p:cNvSpPr/>
          <p:nvPr/>
        </p:nvSpPr>
        <p:spPr>
          <a:xfrm>
            <a:off x="7404429" y="4668911"/>
            <a:ext cx="238588" cy="238377"/>
          </a:xfrm>
          <a:prstGeom prst="ellipse">
            <a:avLst/>
          </a:prstGeom>
          <a:noFill/>
          <a:ln w="8221" cap="flat">
            <a:solidFill>
              <a:srgbClr val="3E86C0">
                <a:alpha val="8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E523B0BE-9F11-5371-DF87-2B193ABFD65B}"/>
              </a:ext>
            </a:extLst>
          </p:cNvPr>
          <p:cNvSpPr txBox="1"/>
          <p:nvPr/>
        </p:nvSpPr>
        <p:spPr>
          <a:xfrm>
            <a:off x="7584567" y="4631858"/>
            <a:ext cx="1252995" cy="187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69" b="1" spc="0" baseline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Cognitive control (Stroop)</a:t>
            </a: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785FFDC8-BB48-5552-E825-7D3B604EA481}"/>
              </a:ext>
            </a:extLst>
          </p:cNvPr>
          <p:cNvSpPr txBox="1"/>
          <p:nvPr/>
        </p:nvSpPr>
        <p:spPr>
          <a:xfrm>
            <a:off x="7584567" y="4768665"/>
            <a:ext cx="639000" cy="160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64" i="1" spc="0" baseline="0" dirty="0">
                <a:ln/>
                <a:solidFill>
                  <a:srgbClr val="7C8598"/>
                </a:solidFill>
                <a:latin typeface="Arial"/>
                <a:cs typeface="Arial"/>
                <a:sym typeface="Arial"/>
                <a:rtl val="0"/>
              </a:rPr>
              <a:t>Silvestrini · 2020</a:t>
            </a:r>
          </a:p>
        </p:txBody>
      </p:sp>
      <p:sp>
        <p:nvSpPr>
          <p:cNvPr id="370" name="Rounded Rectangle 369">
            <a:extLst>
              <a:ext uri="{FF2B5EF4-FFF2-40B4-BE49-F238E27FC236}">
                <a16:creationId xmlns:a16="http://schemas.microsoft.com/office/drawing/2014/main" id="{223FA0E6-0664-6821-17CB-A9442332C2A8}"/>
              </a:ext>
            </a:extLst>
          </p:cNvPr>
          <p:cNvSpPr/>
          <p:nvPr/>
        </p:nvSpPr>
        <p:spPr>
          <a:xfrm>
            <a:off x="7342725" y="4952498"/>
            <a:ext cx="2114384" cy="254817"/>
          </a:xfrm>
          <a:prstGeom prst="roundRect">
            <a:avLst>
              <a:gd name="adj" fmla="val 19371"/>
            </a:avLst>
          </a:prstGeom>
          <a:solidFill>
            <a:srgbClr val="FFFFFF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71" name="Rounded Rectangle 370">
            <a:extLst>
              <a:ext uri="{FF2B5EF4-FFF2-40B4-BE49-F238E27FC236}">
                <a16:creationId xmlns:a16="http://schemas.microsoft.com/office/drawing/2014/main" id="{C02A8665-10B5-2A0B-6CA6-D5679B09D1E1}"/>
              </a:ext>
            </a:extLst>
          </p:cNvPr>
          <p:cNvSpPr/>
          <p:nvPr/>
        </p:nvSpPr>
        <p:spPr>
          <a:xfrm>
            <a:off x="7342725" y="4952498"/>
            <a:ext cx="20567" cy="254817"/>
          </a:xfrm>
          <a:prstGeom prst="roundRect">
            <a:avLst>
              <a:gd name="adj" fmla="val 50000"/>
            </a:avLst>
          </a:prstGeom>
          <a:solidFill>
            <a:srgbClr val="3E86C0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72" name="Oval 371">
            <a:extLst>
              <a:ext uri="{FF2B5EF4-FFF2-40B4-BE49-F238E27FC236}">
                <a16:creationId xmlns:a16="http://schemas.microsoft.com/office/drawing/2014/main" id="{91441CB8-F1A0-5BDF-EBCC-61A969F62C61}"/>
              </a:ext>
            </a:extLst>
          </p:cNvPr>
          <p:cNvSpPr/>
          <p:nvPr/>
        </p:nvSpPr>
        <p:spPr>
          <a:xfrm>
            <a:off x="7404429" y="4960718"/>
            <a:ext cx="238588" cy="238377"/>
          </a:xfrm>
          <a:prstGeom prst="ellipse">
            <a:avLst/>
          </a:prstGeom>
          <a:solidFill>
            <a:srgbClr val="E5EFF8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373" name="Picture 372">
            <a:extLst>
              <a:ext uri="{FF2B5EF4-FFF2-40B4-BE49-F238E27FC236}">
                <a16:creationId xmlns:a16="http://schemas.microsoft.com/office/drawing/2014/main" id="{65208086-F4B7-C73B-88A4-412738CA3991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416770" y="4973048"/>
            <a:ext cx="213906" cy="213717"/>
          </a:xfrm>
          <a:custGeom>
            <a:avLst/>
            <a:gdLst>
              <a:gd name="csX0" fmla="*/ 826 w 213906"/>
              <a:gd name="csY0" fmla="*/ 839 h 213717"/>
              <a:gd name="csX1" fmla="*/ 214732 w 213906"/>
              <a:gd name="csY1" fmla="*/ 839 h 213717"/>
              <a:gd name="csX2" fmla="*/ 214732 w 213906"/>
              <a:gd name="csY2" fmla="*/ 214557 h 213717"/>
              <a:gd name="csX3" fmla="*/ 826 w 213906"/>
              <a:gd name="csY3" fmla="*/ 214557 h 2137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3906" h="213717">
                <a:moveTo>
                  <a:pt x="826" y="839"/>
                </a:moveTo>
                <a:lnTo>
                  <a:pt x="214732" y="839"/>
                </a:lnTo>
                <a:lnTo>
                  <a:pt x="214732" y="214557"/>
                </a:lnTo>
                <a:lnTo>
                  <a:pt x="826" y="214557"/>
                </a:lnTo>
                <a:close/>
              </a:path>
            </a:pathLst>
          </a:custGeom>
        </p:spPr>
      </p:pic>
      <p:sp>
        <p:nvSpPr>
          <p:cNvPr id="374" name="Oval 373">
            <a:extLst>
              <a:ext uri="{FF2B5EF4-FFF2-40B4-BE49-F238E27FC236}">
                <a16:creationId xmlns:a16="http://schemas.microsoft.com/office/drawing/2014/main" id="{CBAAB113-6398-7BD7-40D4-9CA16A75F045}"/>
              </a:ext>
            </a:extLst>
          </p:cNvPr>
          <p:cNvSpPr/>
          <p:nvPr/>
        </p:nvSpPr>
        <p:spPr>
          <a:xfrm>
            <a:off x="7404429" y="4960718"/>
            <a:ext cx="238588" cy="238377"/>
          </a:xfrm>
          <a:prstGeom prst="ellipse">
            <a:avLst/>
          </a:prstGeom>
          <a:noFill/>
          <a:ln w="8221" cap="flat">
            <a:solidFill>
              <a:srgbClr val="3E86C0">
                <a:alpha val="8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40100B1C-DA99-E3B5-48AB-63F76C3CB3B4}"/>
              </a:ext>
            </a:extLst>
          </p:cNvPr>
          <p:cNvSpPr txBox="1"/>
          <p:nvPr/>
        </p:nvSpPr>
        <p:spPr>
          <a:xfrm>
            <a:off x="7584567" y="4923665"/>
            <a:ext cx="1018093" cy="187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69" b="1" spc="0" baseline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MFC generalizability</a:t>
            </a:r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806E0303-B0D1-0558-842F-EC10C1706E29}"/>
              </a:ext>
            </a:extLst>
          </p:cNvPr>
          <p:cNvSpPr txBox="1"/>
          <p:nvPr/>
        </p:nvSpPr>
        <p:spPr>
          <a:xfrm>
            <a:off x="7584567" y="5060473"/>
            <a:ext cx="553343" cy="160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64" i="1" spc="0" baseline="0">
                <a:ln/>
                <a:solidFill>
                  <a:srgbClr val="7C8598"/>
                </a:solidFill>
                <a:latin typeface="Arial"/>
                <a:cs typeface="Arial"/>
                <a:sym typeface="Arial"/>
                <a:rtl val="0"/>
              </a:rPr>
              <a:t>Kragel · 2018</a:t>
            </a: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3719B307-2D2E-EE74-BE28-4853EBEDFD9E}"/>
              </a:ext>
            </a:extLst>
          </p:cNvPr>
          <p:cNvSpPr txBox="1"/>
          <p:nvPr/>
        </p:nvSpPr>
        <p:spPr>
          <a:xfrm>
            <a:off x="7259512" y="5300033"/>
            <a:ext cx="704962" cy="148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37" b="1" spc="27" baseline="0">
                <a:ln/>
                <a:solidFill>
                  <a:srgbClr val="28608F"/>
                </a:solidFill>
                <a:latin typeface="Arial"/>
                <a:cs typeface="Arial"/>
                <a:sym typeface="Arial"/>
                <a:rtl val="0"/>
              </a:rPr>
              <a:t>SOCIAL COGNITION</a:t>
            </a:r>
          </a:p>
        </p:txBody>
      </p:sp>
      <p:sp>
        <p:nvSpPr>
          <p:cNvPr id="378" name="Freeform 377">
            <a:extLst>
              <a:ext uri="{FF2B5EF4-FFF2-40B4-BE49-F238E27FC236}">
                <a16:creationId xmlns:a16="http://schemas.microsoft.com/office/drawing/2014/main" id="{DB9A6F73-C75C-9416-C47E-1A84870BE678}"/>
              </a:ext>
            </a:extLst>
          </p:cNvPr>
          <p:cNvSpPr/>
          <p:nvPr/>
        </p:nvSpPr>
        <p:spPr>
          <a:xfrm>
            <a:off x="7910401" y="5371714"/>
            <a:ext cx="1546709" cy="6052"/>
          </a:xfrm>
          <a:custGeom>
            <a:avLst/>
            <a:gdLst>
              <a:gd name="csX0" fmla="*/ 0 w 1546709"/>
              <a:gd name="csY0" fmla="*/ 0 h 6052"/>
              <a:gd name="csX1" fmla="*/ 1546709 w 1546709"/>
              <a:gd name="csY1" fmla="*/ 0 h 605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46709" h="6052">
                <a:moveTo>
                  <a:pt x="0" y="0"/>
                </a:moveTo>
                <a:lnTo>
                  <a:pt x="1546709" y="0"/>
                </a:lnTo>
              </a:path>
            </a:pathLst>
          </a:custGeom>
          <a:ln w="6163" cap="flat">
            <a:solidFill>
              <a:srgbClr val="3E86C0">
                <a:alpha val="35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79" name="Rounded Rectangle 378">
            <a:extLst>
              <a:ext uri="{FF2B5EF4-FFF2-40B4-BE49-F238E27FC236}">
                <a16:creationId xmlns:a16="http://schemas.microsoft.com/office/drawing/2014/main" id="{14AB10F1-3E18-63F9-8702-6ACFDDFC80CB}"/>
              </a:ext>
            </a:extLst>
          </p:cNvPr>
          <p:cNvSpPr/>
          <p:nvPr/>
        </p:nvSpPr>
        <p:spPr>
          <a:xfrm>
            <a:off x="7342725" y="5441583"/>
            <a:ext cx="2114384" cy="254817"/>
          </a:xfrm>
          <a:prstGeom prst="roundRect">
            <a:avLst>
              <a:gd name="adj" fmla="val 19371"/>
            </a:avLst>
          </a:prstGeom>
          <a:solidFill>
            <a:srgbClr val="FFFFFF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80" name="Rounded Rectangle 379">
            <a:extLst>
              <a:ext uri="{FF2B5EF4-FFF2-40B4-BE49-F238E27FC236}">
                <a16:creationId xmlns:a16="http://schemas.microsoft.com/office/drawing/2014/main" id="{2C06BAF6-0E89-2E34-8513-AD4BB17E7C88}"/>
              </a:ext>
            </a:extLst>
          </p:cNvPr>
          <p:cNvSpPr/>
          <p:nvPr/>
        </p:nvSpPr>
        <p:spPr>
          <a:xfrm>
            <a:off x="7342725" y="5441583"/>
            <a:ext cx="20567" cy="254817"/>
          </a:xfrm>
          <a:prstGeom prst="roundRect">
            <a:avLst>
              <a:gd name="adj" fmla="val 50000"/>
            </a:avLst>
          </a:prstGeom>
          <a:solidFill>
            <a:srgbClr val="3E86C0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81" name="Oval 380">
            <a:extLst>
              <a:ext uri="{FF2B5EF4-FFF2-40B4-BE49-F238E27FC236}">
                <a16:creationId xmlns:a16="http://schemas.microsoft.com/office/drawing/2014/main" id="{8BB1D246-E795-F8F7-2092-8DD8DB48DBEE}"/>
              </a:ext>
            </a:extLst>
          </p:cNvPr>
          <p:cNvSpPr/>
          <p:nvPr/>
        </p:nvSpPr>
        <p:spPr>
          <a:xfrm>
            <a:off x="7404429" y="5449803"/>
            <a:ext cx="238588" cy="238377"/>
          </a:xfrm>
          <a:prstGeom prst="ellipse">
            <a:avLst/>
          </a:prstGeom>
          <a:solidFill>
            <a:srgbClr val="E5EFF8"/>
          </a:solidFill>
          <a:ln w="6054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382" name="Picture 381">
            <a:extLst>
              <a:ext uri="{FF2B5EF4-FFF2-40B4-BE49-F238E27FC236}">
                <a16:creationId xmlns:a16="http://schemas.microsoft.com/office/drawing/2014/main" id="{2F1A9810-4422-6297-D14B-F3B1B4A22D88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416770" y="5462133"/>
            <a:ext cx="213906" cy="213717"/>
          </a:xfrm>
          <a:custGeom>
            <a:avLst/>
            <a:gdLst>
              <a:gd name="csX0" fmla="*/ 826 w 213906"/>
              <a:gd name="csY0" fmla="*/ 920 h 213717"/>
              <a:gd name="csX1" fmla="*/ 214732 w 213906"/>
              <a:gd name="csY1" fmla="*/ 920 h 213717"/>
              <a:gd name="csX2" fmla="*/ 214732 w 213906"/>
              <a:gd name="csY2" fmla="*/ 214638 h 213717"/>
              <a:gd name="csX3" fmla="*/ 826 w 213906"/>
              <a:gd name="csY3" fmla="*/ 214638 h 2137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3906" h="213717">
                <a:moveTo>
                  <a:pt x="826" y="920"/>
                </a:moveTo>
                <a:lnTo>
                  <a:pt x="214732" y="920"/>
                </a:lnTo>
                <a:lnTo>
                  <a:pt x="214732" y="214638"/>
                </a:lnTo>
                <a:lnTo>
                  <a:pt x="826" y="214638"/>
                </a:lnTo>
                <a:close/>
              </a:path>
            </a:pathLst>
          </a:custGeom>
        </p:spPr>
      </p:pic>
      <p:sp>
        <p:nvSpPr>
          <p:cNvPr id="383" name="Oval 382">
            <a:extLst>
              <a:ext uri="{FF2B5EF4-FFF2-40B4-BE49-F238E27FC236}">
                <a16:creationId xmlns:a16="http://schemas.microsoft.com/office/drawing/2014/main" id="{EB923FAF-3604-BC16-928A-349559E7B2CA}"/>
              </a:ext>
            </a:extLst>
          </p:cNvPr>
          <p:cNvSpPr/>
          <p:nvPr/>
        </p:nvSpPr>
        <p:spPr>
          <a:xfrm>
            <a:off x="7404429" y="5449803"/>
            <a:ext cx="238588" cy="238377"/>
          </a:xfrm>
          <a:prstGeom prst="ellipse">
            <a:avLst/>
          </a:prstGeom>
          <a:noFill/>
          <a:ln w="8221" cap="flat">
            <a:solidFill>
              <a:srgbClr val="3E86C0">
                <a:alpha val="8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2494DC2A-5F1E-8CDE-790F-CE0DF6993143}"/>
              </a:ext>
            </a:extLst>
          </p:cNvPr>
          <p:cNvSpPr txBox="1"/>
          <p:nvPr/>
        </p:nvSpPr>
        <p:spPr>
          <a:xfrm>
            <a:off x="7584567" y="5412749"/>
            <a:ext cx="1224397" cy="1878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69" b="1" spc="0" baseline="0">
                <a:ln/>
                <a:solidFill>
                  <a:srgbClr val="22314A"/>
                </a:solidFill>
                <a:latin typeface="Arial"/>
                <a:cs typeface="Arial"/>
                <a:sym typeface="Arial"/>
                <a:rtl val="0"/>
              </a:rPr>
              <a:t>Mentalizing — self / other</a:t>
            </a: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5C769428-D3BA-7A8C-670C-D507C2B83123}"/>
              </a:ext>
            </a:extLst>
          </p:cNvPr>
          <p:cNvSpPr txBox="1"/>
          <p:nvPr/>
        </p:nvSpPr>
        <p:spPr>
          <a:xfrm>
            <a:off x="7584567" y="5549557"/>
            <a:ext cx="477841" cy="160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64" i="1" spc="0" baseline="0">
                <a:ln/>
                <a:solidFill>
                  <a:srgbClr val="7C8598"/>
                </a:solidFill>
                <a:latin typeface="Arial"/>
                <a:cs typeface="Arial"/>
                <a:sym typeface="Arial"/>
                <a:rtl val="0"/>
              </a:rPr>
              <a:t>Açıl · 2026</a:t>
            </a:r>
          </a:p>
        </p:txBody>
      </p:sp>
    </p:spTree>
    <p:extLst>
      <p:ext uri="{BB962C8B-B14F-4D97-AF65-F5344CB8AC3E}">
        <p14:creationId xmlns:p14="http://schemas.microsoft.com/office/powerpoint/2010/main" val="4027122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80A3DE-E8AC-BC55-91AD-1FD51B6AF9BB}"/>
              </a:ext>
            </a:extLst>
          </p:cNvPr>
          <p:cNvSpPr txBox="1"/>
          <p:nvPr/>
        </p:nvSpPr>
        <p:spPr>
          <a:xfrm>
            <a:off x="4061507" y="1789531"/>
            <a:ext cx="141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Old versions</a:t>
            </a:r>
          </a:p>
        </p:txBody>
      </p:sp>
    </p:spTree>
    <p:extLst>
      <p:ext uri="{BB962C8B-B14F-4D97-AF65-F5344CB8AC3E}">
        <p14:creationId xmlns:p14="http://schemas.microsoft.com/office/powerpoint/2010/main" val="1847794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2CB9010-0EDE-80BC-71F0-846A1D9CC3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9095" y="0"/>
            <a:ext cx="11377471" cy="6970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347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71FEC-3765-3084-54EF-6615C2AF5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4FF5DD-A30E-89E8-228D-F66585314FCF}"/>
              </a:ext>
            </a:extLst>
          </p:cNvPr>
          <p:cNvSpPr/>
          <p:nvPr/>
        </p:nvSpPr>
        <p:spPr>
          <a:xfrm>
            <a:off x="499095" y="0"/>
            <a:ext cx="11377471" cy="6970522"/>
          </a:xfrm>
          <a:prstGeom prst="rect">
            <a:avLst/>
          </a:prstGeom>
          <a:gradFill>
            <a:gsLst>
              <a:gs pos="0">
                <a:srgbClr val="FBFCFE"/>
              </a:gs>
              <a:gs pos="50000">
                <a:srgbClr val="F4F6FA"/>
              </a:gs>
              <a:gs pos="100000">
                <a:srgbClr val="EEF1F7"/>
              </a:gs>
            </a:gsLst>
            <a:lin ang="5400000" scaled="1"/>
          </a:gra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11F4D0-58C4-91DF-3BC1-4C93C196FA61}"/>
              </a:ext>
            </a:extLst>
          </p:cNvPr>
          <p:cNvSpPr txBox="1"/>
          <p:nvPr/>
        </p:nvSpPr>
        <p:spPr>
          <a:xfrm>
            <a:off x="716196" y="101213"/>
            <a:ext cx="3416550" cy="3520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550" b="1" spc="0" baseline="0">
                <a:ln/>
                <a:solidFill>
                  <a:srgbClr val="22314A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Multivariate Signature Patterns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1A4238-6F34-CFB2-D49E-F64CD033273C}"/>
              </a:ext>
            </a:extLst>
          </p:cNvPr>
          <p:cNvSpPr txBox="1"/>
          <p:nvPr/>
        </p:nvSpPr>
        <p:spPr>
          <a:xfrm>
            <a:off x="729052" y="383622"/>
            <a:ext cx="4305201" cy="2113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spc="0" baseline="0">
                <a:ln/>
                <a:solidFill>
                  <a:srgbClr val="6B7089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29 published neuromarkers, grouped by what they predict · first author &amp; year below each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CEED540-5B3B-DDA3-0387-AB1AF120C360}"/>
              </a:ext>
            </a:extLst>
          </p:cNvPr>
          <p:cNvSpPr/>
          <p:nvPr/>
        </p:nvSpPr>
        <p:spPr>
          <a:xfrm>
            <a:off x="717645" y="1337517"/>
            <a:ext cx="2146935" cy="5298625"/>
          </a:xfrm>
          <a:prstGeom prst="roundRect">
            <a:avLst>
              <a:gd name="adj" fmla="val 5988"/>
            </a:avLst>
          </a:prstGeom>
          <a:solidFill>
            <a:srgbClr val="FBEAE7">
              <a:alpha val="55000"/>
            </a:srgbClr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A83835F-C6B2-3BEF-F287-C1AA1FD8B1B7}"/>
              </a:ext>
            </a:extLst>
          </p:cNvPr>
          <p:cNvSpPr/>
          <p:nvPr/>
        </p:nvSpPr>
        <p:spPr>
          <a:xfrm>
            <a:off x="2916004" y="1337517"/>
            <a:ext cx="2146935" cy="4938524"/>
          </a:xfrm>
          <a:prstGeom prst="roundRect">
            <a:avLst>
              <a:gd name="adj" fmla="val 5988"/>
            </a:avLst>
          </a:prstGeom>
          <a:solidFill>
            <a:srgbClr val="EEEAF7">
              <a:alpha val="55000"/>
            </a:srgbClr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BCA1530-E99F-7855-1358-B375CADA8440}"/>
              </a:ext>
            </a:extLst>
          </p:cNvPr>
          <p:cNvSpPr/>
          <p:nvPr/>
        </p:nvSpPr>
        <p:spPr>
          <a:xfrm>
            <a:off x="5114362" y="1337517"/>
            <a:ext cx="2146935" cy="2031997"/>
          </a:xfrm>
          <a:prstGeom prst="roundRect">
            <a:avLst>
              <a:gd name="adj" fmla="val 6326"/>
            </a:avLst>
          </a:prstGeom>
          <a:solidFill>
            <a:srgbClr val="FBF1E1">
              <a:alpha val="55000"/>
            </a:srgbClr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EAE128C-F57C-1C93-5ADF-EC83BEB84F06}"/>
              </a:ext>
            </a:extLst>
          </p:cNvPr>
          <p:cNvSpPr/>
          <p:nvPr/>
        </p:nvSpPr>
        <p:spPr>
          <a:xfrm>
            <a:off x="7312721" y="1337517"/>
            <a:ext cx="2146935" cy="3485261"/>
          </a:xfrm>
          <a:prstGeom prst="roundRect">
            <a:avLst>
              <a:gd name="adj" fmla="val 5988"/>
            </a:avLst>
          </a:prstGeom>
          <a:solidFill>
            <a:srgbClr val="E5EFF8">
              <a:alpha val="55000"/>
            </a:srgbClr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DFF2AE8-0CF0-F85E-AC36-BC387B8C13B8}"/>
              </a:ext>
            </a:extLst>
          </p:cNvPr>
          <p:cNvSpPr/>
          <p:nvPr/>
        </p:nvSpPr>
        <p:spPr>
          <a:xfrm>
            <a:off x="9511080" y="1337517"/>
            <a:ext cx="2146935" cy="2031997"/>
          </a:xfrm>
          <a:prstGeom prst="roundRect">
            <a:avLst>
              <a:gd name="adj" fmla="val 6326"/>
            </a:avLst>
          </a:prstGeom>
          <a:solidFill>
            <a:srgbClr val="E4F2ED">
              <a:alpha val="55000"/>
            </a:srgbClr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BCA747C-D68A-783A-BA19-1C0722811725}"/>
              </a:ext>
            </a:extLst>
          </p:cNvPr>
          <p:cNvSpPr/>
          <p:nvPr/>
        </p:nvSpPr>
        <p:spPr>
          <a:xfrm>
            <a:off x="4805821" y="604454"/>
            <a:ext cx="2764018" cy="437265"/>
          </a:xfrm>
          <a:prstGeom prst="roundRect">
            <a:avLst>
              <a:gd name="adj" fmla="val 49981"/>
            </a:avLst>
          </a:prstGeom>
          <a:solidFill>
            <a:srgbClr val="2C4A63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3" name="Graphic 2">
            <a:extLst>
              <a:ext uri="{FF2B5EF4-FFF2-40B4-BE49-F238E27FC236}">
                <a16:creationId xmlns:a16="http://schemas.microsoft.com/office/drawing/2014/main" id="{7C8E6C58-F723-E8F5-8F6F-E288564E9AE0}"/>
              </a:ext>
            </a:extLst>
          </p:cNvPr>
          <p:cNvGrpSpPr/>
          <p:nvPr/>
        </p:nvGrpSpPr>
        <p:grpSpPr>
          <a:xfrm>
            <a:off x="4957392" y="693515"/>
            <a:ext cx="312783" cy="263130"/>
            <a:chOff x="4957392" y="693515"/>
            <a:chExt cx="312783" cy="263130"/>
          </a:xfrm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6EEF218-DD87-CC1F-1463-CE6D12708277}"/>
                </a:ext>
              </a:extLst>
            </p:cNvPr>
            <p:cNvSpPr/>
            <p:nvPr/>
          </p:nvSpPr>
          <p:spPr>
            <a:xfrm>
              <a:off x="4957392" y="693515"/>
              <a:ext cx="312783" cy="263130"/>
            </a:xfrm>
            <a:custGeom>
              <a:avLst/>
              <a:gdLst>
                <a:gd name="csX0" fmla="*/ 305520 w 312783"/>
                <a:gd name="csY0" fmla="*/ 129572 h 263130"/>
                <a:gd name="csX1" fmla="*/ 310277 w 312783"/>
                <a:gd name="csY1" fmla="*/ 117419 h 263130"/>
                <a:gd name="csX2" fmla="*/ 312784 w 312783"/>
                <a:gd name="csY2" fmla="*/ 104751 h 263130"/>
                <a:gd name="csX3" fmla="*/ 312334 w 312783"/>
                <a:gd name="csY3" fmla="*/ 91954 h 263130"/>
                <a:gd name="csX4" fmla="*/ 308799 w 312783"/>
                <a:gd name="csY4" fmla="*/ 79544 h 263130"/>
                <a:gd name="csX5" fmla="*/ 302242 w 312783"/>
                <a:gd name="csY5" fmla="*/ 68162 h 263130"/>
                <a:gd name="csX6" fmla="*/ 293050 w 312783"/>
                <a:gd name="csY6" fmla="*/ 58131 h 263130"/>
                <a:gd name="csX7" fmla="*/ 282058 w 312783"/>
                <a:gd name="csY7" fmla="*/ 49578 h 263130"/>
                <a:gd name="csX8" fmla="*/ 269974 w 312783"/>
                <a:gd name="csY8" fmla="*/ 42569 h 263130"/>
                <a:gd name="csX9" fmla="*/ 257504 w 312783"/>
                <a:gd name="csY9" fmla="*/ 36717 h 263130"/>
                <a:gd name="csX10" fmla="*/ 245226 w 312783"/>
                <a:gd name="csY10" fmla="*/ 31573 h 263130"/>
                <a:gd name="csX11" fmla="*/ 233399 w 312783"/>
                <a:gd name="csY11" fmla="*/ 26879 h 263130"/>
                <a:gd name="csX12" fmla="*/ 221957 w 312783"/>
                <a:gd name="csY12" fmla="*/ 22120 h 263130"/>
                <a:gd name="csX13" fmla="*/ 210837 w 312783"/>
                <a:gd name="csY13" fmla="*/ 17298 h 263130"/>
                <a:gd name="csX14" fmla="*/ 199652 w 312783"/>
                <a:gd name="csY14" fmla="*/ 12475 h 263130"/>
                <a:gd name="csX15" fmla="*/ 188082 w 312783"/>
                <a:gd name="csY15" fmla="*/ 7909 h 263130"/>
                <a:gd name="csX16" fmla="*/ 176061 w 312783"/>
                <a:gd name="csY16" fmla="*/ 4051 h 263130"/>
                <a:gd name="csX17" fmla="*/ 163463 w 312783"/>
                <a:gd name="csY17" fmla="*/ 1286 h 263130"/>
                <a:gd name="csX18" fmla="*/ 150542 w 312783"/>
                <a:gd name="csY18" fmla="*/ 0 h 263130"/>
                <a:gd name="csX19" fmla="*/ 137494 w 312783"/>
                <a:gd name="csY19" fmla="*/ 386 h 263130"/>
                <a:gd name="csX20" fmla="*/ 124702 w 312783"/>
                <a:gd name="csY20" fmla="*/ 2315 h 263130"/>
                <a:gd name="csX21" fmla="*/ 112296 w 312783"/>
                <a:gd name="csY21" fmla="*/ 5659 h 263130"/>
                <a:gd name="csX22" fmla="*/ 100405 w 312783"/>
                <a:gd name="csY22" fmla="*/ 10031 h 263130"/>
                <a:gd name="csX23" fmla="*/ 89027 w 312783"/>
                <a:gd name="csY23" fmla="*/ 15047 h 263130"/>
                <a:gd name="csX24" fmla="*/ 77907 w 312783"/>
                <a:gd name="csY24" fmla="*/ 20384 h 263130"/>
                <a:gd name="csX25" fmla="*/ 66915 w 312783"/>
                <a:gd name="csY25" fmla="*/ 25914 h 263130"/>
                <a:gd name="csX26" fmla="*/ 55923 w 312783"/>
                <a:gd name="csY26" fmla="*/ 31637 h 263130"/>
                <a:gd name="csX27" fmla="*/ 44867 w 312783"/>
                <a:gd name="csY27" fmla="*/ 37811 h 263130"/>
                <a:gd name="csX28" fmla="*/ 34004 w 312783"/>
                <a:gd name="csY28" fmla="*/ 44691 h 263130"/>
                <a:gd name="csX29" fmla="*/ 23783 w 312783"/>
                <a:gd name="csY29" fmla="*/ 52536 h 263130"/>
                <a:gd name="csX30" fmla="*/ 14720 w 312783"/>
                <a:gd name="csY30" fmla="*/ 61474 h 263130"/>
                <a:gd name="csX31" fmla="*/ 7521 w 312783"/>
                <a:gd name="csY31" fmla="*/ 71634 h 263130"/>
                <a:gd name="csX32" fmla="*/ 2507 w 312783"/>
                <a:gd name="csY32" fmla="*/ 82759 h 263130"/>
                <a:gd name="csX33" fmla="*/ 0 w 312783"/>
                <a:gd name="csY33" fmla="*/ 94526 h 263130"/>
                <a:gd name="csX34" fmla="*/ 0 w 312783"/>
                <a:gd name="csY34" fmla="*/ 106551 h 263130"/>
                <a:gd name="csX35" fmla="*/ 2121 w 312783"/>
                <a:gd name="csY35" fmla="*/ 118319 h 263130"/>
                <a:gd name="csX36" fmla="*/ 5721 w 312783"/>
                <a:gd name="csY36" fmla="*/ 129572 h 263130"/>
                <a:gd name="csX37" fmla="*/ 10092 w 312783"/>
                <a:gd name="csY37" fmla="*/ 140246 h 263130"/>
                <a:gd name="csX38" fmla="*/ 14463 w 312783"/>
                <a:gd name="csY38" fmla="*/ 150406 h 263130"/>
                <a:gd name="csX39" fmla="*/ 18384 w 312783"/>
                <a:gd name="csY39" fmla="*/ 160309 h 263130"/>
                <a:gd name="csX40" fmla="*/ 21662 w 312783"/>
                <a:gd name="csY40" fmla="*/ 170341 h 263130"/>
                <a:gd name="csX41" fmla="*/ 24233 w 312783"/>
                <a:gd name="csY41" fmla="*/ 180693 h 263130"/>
                <a:gd name="csX42" fmla="*/ 26676 w 312783"/>
                <a:gd name="csY42" fmla="*/ 191625 h 263130"/>
                <a:gd name="csX43" fmla="*/ 29568 w 312783"/>
                <a:gd name="csY43" fmla="*/ 203135 h 263130"/>
                <a:gd name="csX44" fmla="*/ 33554 w 312783"/>
                <a:gd name="csY44" fmla="*/ 214839 h 263130"/>
                <a:gd name="csX45" fmla="*/ 39146 w 312783"/>
                <a:gd name="csY45" fmla="*/ 226285 h 263130"/>
                <a:gd name="csX46" fmla="*/ 46795 w 312783"/>
                <a:gd name="csY46" fmla="*/ 236895 h 263130"/>
                <a:gd name="csX47" fmla="*/ 56566 w 312783"/>
                <a:gd name="csY47" fmla="*/ 246090 h 263130"/>
                <a:gd name="csX48" fmla="*/ 68200 w 312783"/>
                <a:gd name="csY48" fmla="*/ 253421 h 263130"/>
                <a:gd name="csX49" fmla="*/ 81185 w 312783"/>
                <a:gd name="csY49" fmla="*/ 258630 h 263130"/>
                <a:gd name="csX50" fmla="*/ 95134 w 312783"/>
                <a:gd name="csY50" fmla="*/ 261780 h 263130"/>
                <a:gd name="csX51" fmla="*/ 109339 w 312783"/>
                <a:gd name="csY51" fmla="*/ 263131 h 263130"/>
                <a:gd name="csX52" fmla="*/ 123417 w 312783"/>
                <a:gd name="csY52" fmla="*/ 263002 h 263130"/>
                <a:gd name="csX53" fmla="*/ 137172 w 312783"/>
                <a:gd name="csY53" fmla="*/ 261973 h 263130"/>
                <a:gd name="csX54" fmla="*/ 150542 w 312783"/>
                <a:gd name="csY54" fmla="*/ 260301 h 263130"/>
                <a:gd name="csX55" fmla="*/ 163527 w 312783"/>
                <a:gd name="csY55" fmla="*/ 258308 h 263130"/>
                <a:gd name="csX56" fmla="*/ 176254 w 312783"/>
                <a:gd name="csY56" fmla="*/ 256057 h 263130"/>
                <a:gd name="csX57" fmla="*/ 188725 w 312783"/>
                <a:gd name="csY57" fmla="*/ 253357 h 263130"/>
                <a:gd name="csX58" fmla="*/ 201002 w 312783"/>
                <a:gd name="csY58" fmla="*/ 249884 h 263130"/>
                <a:gd name="csX59" fmla="*/ 212829 w 312783"/>
                <a:gd name="csY59" fmla="*/ 245512 h 263130"/>
                <a:gd name="csX60" fmla="*/ 223950 w 312783"/>
                <a:gd name="csY60" fmla="*/ 239917 h 263130"/>
                <a:gd name="csX61" fmla="*/ 234041 w 312783"/>
                <a:gd name="csY61" fmla="*/ 233101 h 263130"/>
                <a:gd name="csX62" fmla="*/ 242912 w 312783"/>
                <a:gd name="csY62" fmla="*/ 225127 h 263130"/>
                <a:gd name="csX63" fmla="*/ 250497 w 312783"/>
                <a:gd name="csY63" fmla="*/ 216318 h 263130"/>
                <a:gd name="csX64" fmla="*/ 256861 w 312783"/>
                <a:gd name="csY64" fmla="*/ 207058 h 263130"/>
                <a:gd name="csX65" fmla="*/ 262453 w 312783"/>
                <a:gd name="csY65" fmla="*/ 197605 h 263130"/>
                <a:gd name="csX66" fmla="*/ 267660 w 312783"/>
                <a:gd name="csY66" fmla="*/ 188281 h 263130"/>
                <a:gd name="csX67" fmla="*/ 272931 w 312783"/>
                <a:gd name="csY67" fmla="*/ 179150 h 263130"/>
                <a:gd name="csX68" fmla="*/ 278780 w 312783"/>
                <a:gd name="csY68" fmla="*/ 170083 h 263130"/>
                <a:gd name="csX69" fmla="*/ 285272 w 312783"/>
                <a:gd name="csY69" fmla="*/ 160888 h 263130"/>
                <a:gd name="csX70" fmla="*/ 292214 w 312783"/>
                <a:gd name="csY70" fmla="*/ 151242 h 263130"/>
                <a:gd name="csX71" fmla="*/ 299221 w 312783"/>
                <a:gd name="csY71" fmla="*/ 140889 h 263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312783" h="263130">
                  <a:moveTo>
                    <a:pt x="305520" y="129572"/>
                  </a:moveTo>
                  <a:lnTo>
                    <a:pt x="310277" y="117419"/>
                  </a:lnTo>
                  <a:lnTo>
                    <a:pt x="312784" y="104751"/>
                  </a:lnTo>
                  <a:lnTo>
                    <a:pt x="312334" y="91954"/>
                  </a:lnTo>
                  <a:lnTo>
                    <a:pt x="308799" y="79544"/>
                  </a:lnTo>
                  <a:lnTo>
                    <a:pt x="302242" y="68162"/>
                  </a:lnTo>
                  <a:lnTo>
                    <a:pt x="293050" y="58131"/>
                  </a:lnTo>
                  <a:lnTo>
                    <a:pt x="282058" y="49578"/>
                  </a:lnTo>
                  <a:lnTo>
                    <a:pt x="269974" y="42569"/>
                  </a:lnTo>
                  <a:lnTo>
                    <a:pt x="257504" y="36717"/>
                  </a:lnTo>
                  <a:lnTo>
                    <a:pt x="245226" y="31573"/>
                  </a:lnTo>
                  <a:lnTo>
                    <a:pt x="233399" y="26879"/>
                  </a:lnTo>
                  <a:lnTo>
                    <a:pt x="221957" y="22120"/>
                  </a:lnTo>
                  <a:lnTo>
                    <a:pt x="210837" y="17298"/>
                  </a:lnTo>
                  <a:lnTo>
                    <a:pt x="199652" y="12475"/>
                  </a:lnTo>
                  <a:lnTo>
                    <a:pt x="188082" y="7909"/>
                  </a:lnTo>
                  <a:lnTo>
                    <a:pt x="176061" y="4051"/>
                  </a:lnTo>
                  <a:lnTo>
                    <a:pt x="163463" y="1286"/>
                  </a:lnTo>
                  <a:lnTo>
                    <a:pt x="150542" y="0"/>
                  </a:lnTo>
                  <a:lnTo>
                    <a:pt x="137494" y="386"/>
                  </a:lnTo>
                  <a:lnTo>
                    <a:pt x="124702" y="2315"/>
                  </a:lnTo>
                  <a:lnTo>
                    <a:pt x="112296" y="5659"/>
                  </a:lnTo>
                  <a:lnTo>
                    <a:pt x="100405" y="10031"/>
                  </a:lnTo>
                  <a:lnTo>
                    <a:pt x="89027" y="15047"/>
                  </a:lnTo>
                  <a:lnTo>
                    <a:pt x="77907" y="20384"/>
                  </a:lnTo>
                  <a:lnTo>
                    <a:pt x="66915" y="25914"/>
                  </a:lnTo>
                  <a:lnTo>
                    <a:pt x="55923" y="31637"/>
                  </a:lnTo>
                  <a:lnTo>
                    <a:pt x="44867" y="37811"/>
                  </a:lnTo>
                  <a:lnTo>
                    <a:pt x="34004" y="44691"/>
                  </a:lnTo>
                  <a:lnTo>
                    <a:pt x="23783" y="52536"/>
                  </a:lnTo>
                  <a:lnTo>
                    <a:pt x="14720" y="61474"/>
                  </a:lnTo>
                  <a:lnTo>
                    <a:pt x="7521" y="71634"/>
                  </a:lnTo>
                  <a:lnTo>
                    <a:pt x="2507" y="82759"/>
                  </a:lnTo>
                  <a:lnTo>
                    <a:pt x="0" y="94526"/>
                  </a:lnTo>
                  <a:lnTo>
                    <a:pt x="0" y="106551"/>
                  </a:lnTo>
                  <a:lnTo>
                    <a:pt x="2121" y="118319"/>
                  </a:lnTo>
                  <a:lnTo>
                    <a:pt x="5721" y="129572"/>
                  </a:lnTo>
                  <a:lnTo>
                    <a:pt x="10092" y="140246"/>
                  </a:lnTo>
                  <a:lnTo>
                    <a:pt x="14463" y="150406"/>
                  </a:lnTo>
                  <a:lnTo>
                    <a:pt x="18384" y="160309"/>
                  </a:lnTo>
                  <a:lnTo>
                    <a:pt x="21662" y="170341"/>
                  </a:lnTo>
                  <a:lnTo>
                    <a:pt x="24233" y="180693"/>
                  </a:lnTo>
                  <a:lnTo>
                    <a:pt x="26676" y="191625"/>
                  </a:lnTo>
                  <a:lnTo>
                    <a:pt x="29568" y="203135"/>
                  </a:lnTo>
                  <a:lnTo>
                    <a:pt x="33554" y="214839"/>
                  </a:lnTo>
                  <a:lnTo>
                    <a:pt x="39146" y="226285"/>
                  </a:lnTo>
                  <a:lnTo>
                    <a:pt x="46795" y="236895"/>
                  </a:lnTo>
                  <a:lnTo>
                    <a:pt x="56566" y="246090"/>
                  </a:lnTo>
                  <a:lnTo>
                    <a:pt x="68200" y="253421"/>
                  </a:lnTo>
                  <a:lnTo>
                    <a:pt x="81185" y="258630"/>
                  </a:lnTo>
                  <a:lnTo>
                    <a:pt x="95134" y="261780"/>
                  </a:lnTo>
                  <a:lnTo>
                    <a:pt x="109339" y="263131"/>
                  </a:lnTo>
                  <a:lnTo>
                    <a:pt x="123417" y="263002"/>
                  </a:lnTo>
                  <a:lnTo>
                    <a:pt x="137172" y="261973"/>
                  </a:lnTo>
                  <a:lnTo>
                    <a:pt x="150542" y="260301"/>
                  </a:lnTo>
                  <a:lnTo>
                    <a:pt x="163527" y="258308"/>
                  </a:lnTo>
                  <a:lnTo>
                    <a:pt x="176254" y="256057"/>
                  </a:lnTo>
                  <a:lnTo>
                    <a:pt x="188725" y="253357"/>
                  </a:lnTo>
                  <a:lnTo>
                    <a:pt x="201002" y="249884"/>
                  </a:lnTo>
                  <a:lnTo>
                    <a:pt x="212829" y="245512"/>
                  </a:lnTo>
                  <a:lnTo>
                    <a:pt x="223950" y="239917"/>
                  </a:lnTo>
                  <a:lnTo>
                    <a:pt x="234041" y="233101"/>
                  </a:lnTo>
                  <a:lnTo>
                    <a:pt x="242912" y="225127"/>
                  </a:lnTo>
                  <a:lnTo>
                    <a:pt x="250497" y="216318"/>
                  </a:lnTo>
                  <a:lnTo>
                    <a:pt x="256861" y="207058"/>
                  </a:lnTo>
                  <a:lnTo>
                    <a:pt x="262453" y="197605"/>
                  </a:lnTo>
                  <a:lnTo>
                    <a:pt x="267660" y="188281"/>
                  </a:lnTo>
                  <a:lnTo>
                    <a:pt x="272931" y="179150"/>
                  </a:lnTo>
                  <a:lnTo>
                    <a:pt x="278780" y="170083"/>
                  </a:lnTo>
                  <a:lnTo>
                    <a:pt x="285272" y="160888"/>
                  </a:lnTo>
                  <a:lnTo>
                    <a:pt x="292214" y="151242"/>
                  </a:lnTo>
                  <a:lnTo>
                    <a:pt x="299221" y="140889"/>
                  </a:lnTo>
                  <a:close/>
                </a:path>
              </a:pathLst>
            </a:custGeom>
            <a:solidFill>
              <a:srgbClr val="7FD3CE"/>
            </a:solidFill>
            <a:ln w="12722" cap="flat">
              <a:solidFill>
                <a:srgbClr val="2FA4A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D796A4BB-E70E-9642-54D0-D0AD95649156}"/>
                </a:ext>
              </a:extLst>
            </p:cNvPr>
            <p:cNvSpPr/>
            <p:nvPr/>
          </p:nvSpPr>
          <p:spPr>
            <a:xfrm>
              <a:off x="5103852" y="701424"/>
              <a:ext cx="8164" cy="237666"/>
            </a:xfrm>
            <a:custGeom>
              <a:avLst/>
              <a:gdLst>
                <a:gd name="csX0" fmla="*/ 4082 w 8164"/>
                <a:gd name="csY0" fmla="*/ 0 h 237666"/>
                <a:gd name="csX1" fmla="*/ 4082 w 8164"/>
                <a:gd name="csY1" fmla="*/ 237666 h 2376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164" h="237666">
                  <a:moveTo>
                    <a:pt x="4082" y="0"/>
                  </a:moveTo>
                  <a:cubicBezTo>
                    <a:pt x="18224" y="79222"/>
                    <a:pt x="-10059" y="164103"/>
                    <a:pt x="4082" y="237666"/>
                  </a:cubicBezTo>
                </a:path>
              </a:pathLst>
            </a:custGeom>
            <a:noFill/>
            <a:ln w="10795" cap="rnd">
              <a:solidFill>
                <a:srgbClr val="EAFFFD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855F81F-9DB9-1382-2653-D8C593ABC9EA}"/>
                </a:ext>
              </a:extLst>
            </p:cNvPr>
            <p:cNvSpPr/>
            <p:nvPr/>
          </p:nvSpPr>
          <p:spPr>
            <a:xfrm>
              <a:off x="4997631" y="766500"/>
              <a:ext cx="84848" cy="25469"/>
            </a:xfrm>
            <a:custGeom>
              <a:avLst/>
              <a:gdLst>
                <a:gd name="csX0" fmla="*/ 0 w 84848"/>
                <a:gd name="csY0" fmla="*/ 11317 h 25469"/>
                <a:gd name="csX1" fmla="*/ 42424 w 84848"/>
                <a:gd name="csY1" fmla="*/ 11317 h 25469"/>
                <a:gd name="csX2" fmla="*/ 84849 w 84848"/>
                <a:gd name="csY2" fmla="*/ 20384 h 254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84848" h="25469">
                  <a:moveTo>
                    <a:pt x="0" y="11317"/>
                  </a:moveTo>
                  <a:cubicBezTo>
                    <a:pt x="28283" y="-3772"/>
                    <a:pt x="42424" y="-3772"/>
                    <a:pt x="42424" y="11317"/>
                  </a:cubicBezTo>
                  <a:cubicBezTo>
                    <a:pt x="42424" y="26407"/>
                    <a:pt x="56566" y="29430"/>
                    <a:pt x="84849" y="20384"/>
                  </a:cubicBezTo>
                </a:path>
              </a:pathLst>
            </a:custGeom>
            <a:noFill/>
            <a:ln w="9510" cap="rnd">
              <a:solidFill>
                <a:srgbClr val="EAFFFD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F21403EC-32E7-FE4A-50F3-B9C36335DB77}"/>
                </a:ext>
              </a:extLst>
            </p:cNvPr>
            <p:cNvSpPr/>
            <p:nvPr/>
          </p:nvSpPr>
          <p:spPr>
            <a:xfrm>
              <a:off x="5006116" y="844307"/>
              <a:ext cx="73535" cy="22276"/>
            </a:xfrm>
            <a:custGeom>
              <a:avLst/>
              <a:gdLst>
                <a:gd name="csX0" fmla="*/ 0 w 73535"/>
                <a:gd name="csY0" fmla="*/ 9903 h 22276"/>
                <a:gd name="csX1" fmla="*/ 36768 w 73535"/>
                <a:gd name="csY1" fmla="*/ 9903 h 22276"/>
                <a:gd name="csX2" fmla="*/ 73536 w 73535"/>
                <a:gd name="csY2" fmla="*/ 17812 h 222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3535" h="22276">
                  <a:moveTo>
                    <a:pt x="0" y="9903"/>
                  </a:moveTo>
                  <a:cubicBezTo>
                    <a:pt x="24512" y="-3301"/>
                    <a:pt x="36768" y="-3301"/>
                    <a:pt x="36768" y="9903"/>
                  </a:cubicBezTo>
                  <a:cubicBezTo>
                    <a:pt x="36768" y="23106"/>
                    <a:pt x="49024" y="25743"/>
                    <a:pt x="73536" y="17812"/>
                  </a:cubicBezTo>
                </a:path>
              </a:pathLst>
            </a:custGeom>
            <a:noFill/>
            <a:ln w="9510" cap="rnd">
              <a:solidFill>
                <a:srgbClr val="EAFFFD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2466582D-1F40-C6E6-9D3B-F1072BDC6EF2}"/>
                </a:ext>
              </a:extLst>
            </p:cNvPr>
            <p:cNvSpPr/>
            <p:nvPr/>
          </p:nvSpPr>
          <p:spPr>
            <a:xfrm>
              <a:off x="5133389" y="769329"/>
              <a:ext cx="84848" cy="25469"/>
            </a:xfrm>
            <a:custGeom>
              <a:avLst/>
              <a:gdLst>
                <a:gd name="csX0" fmla="*/ 0 w 84848"/>
                <a:gd name="csY0" fmla="*/ 11317 h 25469"/>
                <a:gd name="csX1" fmla="*/ 42424 w 84848"/>
                <a:gd name="csY1" fmla="*/ 11317 h 25469"/>
                <a:gd name="csX2" fmla="*/ 84849 w 84848"/>
                <a:gd name="csY2" fmla="*/ 20384 h 254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84848" h="25469">
                  <a:moveTo>
                    <a:pt x="0" y="11317"/>
                  </a:moveTo>
                  <a:cubicBezTo>
                    <a:pt x="28283" y="-3772"/>
                    <a:pt x="42424" y="-3772"/>
                    <a:pt x="42424" y="11317"/>
                  </a:cubicBezTo>
                  <a:cubicBezTo>
                    <a:pt x="42424" y="26407"/>
                    <a:pt x="56566" y="29430"/>
                    <a:pt x="84849" y="20384"/>
                  </a:cubicBezTo>
                </a:path>
              </a:pathLst>
            </a:custGeom>
            <a:noFill/>
            <a:ln w="9510" cap="rnd">
              <a:solidFill>
                <a:srgbClr val="EAFFFD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3F33489-ECCF-3A23-4D10-1BAE9E027563}"/>
                </a:ext>
              </a:extLst>
            </p:cNvPr>
            <p:cNvSpPr/>
            <p:nvPr/>
          </p:nvSpPr>
          <p:spPr>
            <a:xfrm>
              <a:off x="5136218" y="847137"/>
              <a:ext cx="73535" cy="22276"/>
            </a:xfrm>
            <a:custGeom>
              <a:avLst/>
              <a:gdLst>
                <a:gd name="csX0" fmla="*/ 0 w 73535"/>
                <a:gd name="csY0" fmla="*/ 9903 h 22276"/>
                <a:gd name="csX1" fmla="*/ 36768 w 73535"/>
                <a:gd name="csY1" fmla="*/ 9903 h 22276"/>
                <a:gd name="csX2" fmla="*/ 73536 w 73535"/>
                <a:gd name="csY2" fmla="*/ 17812 h 222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3535" h="22276">
                  <a:moveTo>
                    <a:pt x="0" y="9903"/>
                  </a:moveTo>
                  <a:cubicBezTo>
                    <a:pt x="24512" y="-3301"/>
                    <a:pt x="36768" y="-3301"/>
                    <a:pt x="36768" y="9903"/>
                  </a:cubicBezTo>
                  <a:cubicBezTo>
                    <a:pt x="36768" y="23106"/>
                    <a:pt x="49024" y="25743"/>
                    <a:pt x="73536" y="17812"/>
                  </a:cubicBezTo>
                </a:path>
              </a:pathLst>
            </a:custGeom>
            <a:noFill/>
            <a:ln w="9510" cap="rnd">
              <a:solidFill>
                <a:srgbClr val="EAFFFD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0C9A8886-C196-C5BD-55B5-F18E4CD794B4}"/>
              </a:ext>
            </a:extLst>
          </p:cNvPr>
          <p:cNvSpPr txBox="1"/>
          <p:nvPr/>
        </p:nvSpPr>
        <p:spPr>
          <a:xfrm>
            <a:off x="5247901" y="639114"/>
            <a:ext cx="1413703" cy="2447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500" b="1" spc="0" baseline="0">
                <a:ln/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Signature taxonomy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142345-2D80-03C6-91DD-321AF44C89BF}"/>
              </a:ext>
            </a:extLst>
          </p:cNvPr>
          <p:cNvSpPr txBox="1"/>
          <p:nvPr/>
        </p:nvSpPr>
        <p:spPr>
          <a:xfrm>
            <a:off x="5247901" y="829453"/>
            <a:ext cx="1233849" cy="185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spc="0" baseline="0">
                <a:ln/>
                <a:solidFill>
                  <a:srgbClr val="9FB4C4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5 domains · 10 sub-branches</a:t>
            </a: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D923D7DB-F669-B31C-DF70-707FF4461CAB}"/>
              </a:ext>
            </a:extLst>
          </p:cNvPr>
          <p:cNvSpPr/>
          <p:nvPr/>
        </p:nvSpPr>
        <p:spPr>
          <a:xfrm>
            <a:off x="1791112" y="1041720"/>
            <a:ext cx="4396717" cy="334379"/>
          </a:xfrm>
          <a:custGeom>
            <a:avLst/>
            <a:gdLst>
              <a:gd name="csX0" fmla="*/ 4396718 w 4396717"/>
              <a:gd name="csY0" fmla="*/ 0 h 334379"/>
              <a:gd name="csX1" fmla="*/ 0 w 4396717"/>
              <a:gd name="csY1" fmla="*/ 334379 h 33437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96717" h="334379">
                <a:moveTo>
                  <a:pt x="4396718" y="0"/>
                </a:moveTo>
                <a:cubicBezTo>
                  <a:pt x="4396718" y="167190"/>
                  <a:pt x="0" y="167190"/>
                  <a:pt x="0" y="334379"/>
                </a:cubicBezTo>
              </a:path>
            </a:pathLst>
          </a:custGeom>
          <a:noFill/>
          <a:ln w="19276" cap="flat">
            <a:solidFill>
              <a:srgbClr val="E05C4E">
                <a:alpha val="55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5ACE9419-16EA-A6C7-1DEB-DEEC74765515}"/>
              </a:ext>
            </a:extLst>
          </p:cNvPr>
          <p:cNvSpPr/>
          <p:nvPr/>
        </p:nvSpPr>
        <p:spPr>
          <a:xfrm>
            <a:off x="3989471" y="1041720"/>
            <a:ext cx="2198358" cy="334379"/>
          </a:xfrm>
          <a:custGeom>
            <a:avLst/>
            <a:gdLst>
              <a:gd name="csX0" fmla="*/ 2198359 w 2198358"/>
              <a:gd name="csY0" fmla="*/ 0 h 334379"/>
              <a:gd name="csX1" fmla="*/ 0 w 2198358"/>
              <a:gd name="csY1" fmla="*/ 334379 h 33437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198358" h="334379">
                <a:moveTo>
                  <a:pt x="2198359" y="0"/>
                </a:moveTo>
                <a:cubicBezTo>
                  <a:pt x="2198359" y="167190"/>
                  <a:pt x="0" y="167190"/>
                  <a:pt x="0" y="334379"/>
                </a:cubicBezTo>
              </a:path>
            </a:pathLst>
          </a:custGeom>
          <a:noFill/>
          <a:ln w="19276" cap="flat">
            <a:solidFill>
              <a:srgbClr val="8A6FC0">
                <a:alpha val="55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046BEB19-D8B5-B83E-A796-32E8BF72107C}"/>
              </a:ext>
            </a:extLst>
          </p:cNvPr>
          <p:cNvSpPr/>
          <p:nvPr/>
        </p:nvSpPr>
        <p:spPr>
          <a:xfrm>
            <a:off x="6187830" y="1041720"/>
            <a:ext cx="6427" cy="334379"/>
          </a:xfrm>
          <a:custGeom>
            <a:avLst/>
            <a:gdLst>
              <a:gd name="csX0" fmla="*/ 0 w 6427"/>
              <a:gd name="csY0" fmla="*/ 0 h 334379"/>
              <a:gd name="csX1" fmla="*/ 0 w 6427"/>
              <a:gd name="csY1" fmla="*/ 334379 h 33437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27" h="334379">
                <a:moveTo>
                  <a:pt x="0" y="0"/>
                </a:moveTo>
                <a:cubicBezTo>
                  <a:pt x="0" y="167190"/>
                  <a:pt x="0" y="167190"/>
                  <a:pt x="0" y="334379"/>
                </a:cubicBezTo>
              </a:path>
            </a:pathLst>
          </a:custGeom>
          <a:noFill/>
          <a:ln w="19276" cap="flat">
            <a:solidFill>
              <a:srgbClr val="E39A3C">
                <a:alpha val="55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2E97CF68-87CE-FE5D-93A9-6C71852516AD}"/>
              </a:ext>
            </a:extLst>
          </p:cNvPr>
          <p:cNvSpPr/>
          <p:nvPr/>
        </p:nvSpPr>
        <p:spPr>
          <a:xfrm>
            <a:off x="6187830" y="1041720"/>
            <a:ext cx="2198358" cy="334379"/>
          </a:xfrm>
          <a:custGeom>
            <a:avLst/>
            <a:gdLst>
              <a:gd name="csX0" fmla="*/ 0 w 2198358"/>
              <a:gd name="csY0" fmla="*/ 0 h 334379"/>
              <a:gd name="csX1" fmla="*/ 2198359 w 2198358"/>
              <a:gd name="csY1" fmla="*/ 334379 h 33437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198358" h="334379">
                <a:moveTo>
                  <a:pt x="0" y="0"/>
                </a:moveTo>
                <a:cubicBezTo>
                  <a:pt x="0" y="167190"/>
                  <a:pt x="2198359" y="167190"/>
                  <a:pt x="2198359" y="334379"/>
                </a:cubicBezTo>
              </a:path>
            </a:pathLst>
          </a:custGeom>
          <a:noFill/>
          <a:ln w="19276" cap="flat">
            <a:solidFill>
              <a:srgbClr val="3E86C0">
                <a:alpha val="55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DD01FD17-659A-CA6C-64BE-ECA35348A1EF}"/>
              </a:ext>
            </a:extLst>
          </p:cNvPr>
          <p:cNvSpPr/>
          <p:nvPr/>
        </p:nvSpPr>
        <p:spPr>
          <a:xfrm>
            <a:off x="6187830" y="1041720"/>
            <a:ext cx="4396717" cy="334379"/>
          </a:xfrm>
          <a:custGeom>
            <a:avLst/>
            <a:gdLst>
              <a:gd name="csX0" fmla="*/ 0 w 4396717"/>
              <a:gd name="csY0" fmla="*/ 0 h 334379"/>
              <a:gd name="csX1" fmla="*/ 4396718 w 4396717"/>
              <a:gd name="csY1" fmla="*/ 334379 h 33437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96717" h="334379">
                <a:moveTo>
                  <a:pt x="0" y="0"/>
                </a:moveTo>
                <a:cubicBezTo>
                  <a:pt x="0" y="167190"/>
                  <a:pt x="4396718" y="167190"/>
                  <a:pt x="4396718" y="334379"/>
                </a:cubicBezTo>
              </a:path>
            </a:pathLst>
          </a:custGeom>
          <a:noFill/>
          <a:ln w="19276" cap="flat">
            <a:solidFill>
              <a:srgbClr val="4FA88E">
                <a:alpha val="55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B6A10976-E882-0AA1-D5A8-1DCEB5B4B359}"/>
              </a:ext>
            </a:extLst>
          </p:cNvPr>
          <p:cNvSpPr/>
          <p:nvPr/>
        </p:nvSpPr>
        <p:spPr>
          <a:xfrm>
            <a:off x="756212" y="1376099"/>
            <a:ext cx="2069799" cy="398682"/>
          </a:xfrm>
          <a:prstGeom prst="roundRect">
            <a:avLst>
              <a:gd name="adj" fmla="val 25796"/>
            </a:avLst>
          </a:prstGeom>
          <a:solidFill>
            <a:srgbClr val="E05C4E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28" name="Graphic 2">
            <a:extLst>
              <a:ext uri="{FF2B5EF4-FFF2-40B4-BE49-F238E27FC236}">
                <a16:creationId xmlns:a16="http://schemas.microsoft.com/office/drawing/2014/main" id="{D832BB98-88E5-1EDF-A358-C0E612EB6D05}"/>
              </a:ext>
            </a:extLst>
          </p:cNvPr>
          <p:cNvGrpSpPr/>
          <p:nvPr/>
        </p:nvGrpSpPr>
        <p:grpSpPr>
          <a:xfrm>
            <a:off x="837912" y="1457636"/>
            <a:ext cx="284308" cy="239209"/>
            <a:chOff x="837912" y="1457636"/>
            <a:chExt cx="284308" cy="239209"/>
          </a:xfrm>
        </p:grpSpPr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77D77E14-CC06-EA1B-808E-B0CB1F91737F}"/>
                </a:ext>
              </a:extLst>
            </p:cNvPr>
            <p:cNvSpPr/>
            <p:nvPr/>
          </p:nvSpPr>
          <p:spPr>
            <a:xfrm>
              <a:off x="837912" y="1457636"/>
              <a:ext cx="284308" cy="239209"/>
            </a:xfrm>
            <a:custGeom>
              <a:avLst/>
              <a:gdLst>
                <a:gd name="csX0" fmla="*/ 277752 w 284308"/>
                <a:gd name="csY0" fmla="*/ 117804 h 239209"/>
                <a:gd name="csX1" fmla="*/ 282058 w 284308"/>
                <a:gd name="csY1" fmla="*/ 106744 h 239209"/>
                <a:gd name="csX2" fmla="*/ 284308 w 284308"/>
                <a:gd name="csY2" fmla="*/ 95234 h 239209"/>
                <a:gd name="csX3" fmla="*/ 283923 w 284308"/>
                <a:gd name="csY3" fmla="*/ 83595 h 239209"/>
                <a:gd name="csX4" fmla="*/ 280709 w 284308"/>
                <a:gd name="csY4" fmla="*/ 72342 h 239209"/>
                <a:gd name="csX5" fmla="*/ 274731 w 284308"/>
                <a:gd name="csY5" fmla="*/ 61989 h 239209"/>
                <a:gd name="csX6" fmla="*/ 266439 w 284308"/>
                <a:gd name="csY6" fmla="*/ 52858 h 239209"/>
                <a:gd name="csX7" fmla="*/ 256411 w 284308"/>
                <a:gd name="csY7" fmla="*/ 45141 h 239209"/>
                <a:gd name="csX8" fmla="*/ 245419 w 284308"/>
                <a:gd name="csY8" fmla="*/ 38711 h 239209"/>
                <a:gd name="csX9" fmla="*/ 234106 w 284308"/>
                <a:gd name="csY9" fmla="*/ 33374 h 239209"/>
                <a:gd name="csX10" fmla="*/ 222921 w 284308"/>
                <a:gd name="csY10" fmla="*/ 28744 h 239209"/>
                <a:gd name="csX11" fmla="*/ 212187 w 284308"/>
                <a:gd name="csY11" fmla="*/ 24435 h 239209"/>
                <a:gd name="csX12" fmla="*/ 201773 w 284308"/>
                <a:gd name="csY12" fmla="*/ 20127 h 239209"/>
                <a:gd name="csX13" fmla="*/ 191681 w 284308"/>
                <a:gd name="csY13" fmla="*/ 15754 h 239209"/>
                <a:gd name="csX14" fmla="*/ 181461 w 284308"/>
                <a:gd name="csY14" fmla="*/ 11382 h 239209"/>
                <a:gd name="csX15" fmla="*/ 170983 w 284308"/>
                <a:gd name="csY15" fmla="*/ 7202 h 239209"/>
                <a:gd name="csX16" fmla="*/ 160056 w 284308"/>
                <a:gd name="csY16" fmla="*/ 3665 h 239209"/>
                <a:gd name="csX17" fmla="*/ 148614 w 284308"/>
                <a:gd name="csY17" fmla="*/ 1158 h 239209"/>
                <a:gd name="csX18" fmla="*/ 136851 w 284308"/>
                <a:gd name="csY18" fmla="*/ 0 h 239209"/>
                <a:gd name="csX19" fmla="*/ 125024 w 284308"/>
                <a:gd name="csY19" fmla="*/ 322 h 239209"/>
                <a:gd name="csX20" fmla="*/ 113389 w 284308"/>
                <a:gd name="csY20" fmla="*/ 2122 h 239209"/>
                <a:gd name="csX21" fmla="*/ 102076 w 284308"/>
                <a:gd name="csY21" fmla="*/ 5144 h 239209"/>
                <a:gd name="csX22" fmla="*/ 91277 w 284308"/>
                <a:gd name="csY22" fmla="*/ 9131 h 239209"/>
                <a:gd name="csX23" fmla="*/ 80928 w 284308"/>
                <a:gd name="csY23" fmla="*/ 13697 h 239209"/>
                <a:gd name="csX24" fmla="*/ 70836 w 284308"/>
                <a:gd name="csY24" fmla="*/ 18520 h 239209"/>
                <a:gd name="csX25" fmla="*/ 60808 w 284308"/>
                <a:gd name="csY25" fmla="*/ 23535 h 239209"/>
                <a:gd name="csX26" fmla="*/ 50781 w 284308"/>
                <a:gd name="csY26" fmla="*/ 28744 h 239209"/>
                <a:gd name="csX27" fmla="*/ 40753 w 284308"/>
                <a:gd name="csY27" fmla="*/ 34403 h 239209"/>
                <a:gd name="csX28" fmla="*/ 30918 w 284308"/>
                <a:gd name="csY28" fmla="*/ 40640 h 239209"/>
                <a:gd name="csX29" fmla="*/ 21598 w 284308"/>
                <a:gd name="csY29" fmla="*/ 47713 h 239209"/>
                <a:gd name="csX30" fmla="*/ 13370 w 284308"/>
                <a:gd name="csY30" fmla="*/ 55944 h 239209"/>
                <a:gd name="csX31" fmla="*/ 6814 w 284308"/>
                <a:gd name="csY31" fmla="*/ 65140 h 239209"/>
                <a:gd name="csX32" fmla="*/ 2250 w 284308"/>
                <a:gd name="csY32" fmla="*/ 75300 h 239209"/>
                <a:gd name="csX33" fmla="*/ 0 w 284308"/>
                <a:gd name="csY33" fmla="*/ 85974 h 239209"/>
                <a:gd name="csX34" fmla="*/ 0 w 284308"/>
                <a:gd name="csY34" fmla="*/ 96841 h 239209"/>
                <a:gd name="csX35" fmla="*/ 1928 w 284308"/>
                <a:gd name="csY35" fmla="*/ 107580 h 239209"/>
                <a:gd name="csX36" fmla="*/ 5207 w 284308"/>
                <a:gd name="csY36" fmla="*/ 117804 h 239209"/>
                <a:gd name="csX37" fmla="*/ 9128 w 284308"/>
                <a:gd name="csY37" fmla="*/ 127514 h 239209"/>
                <a:gd name="csX38" fmla="*/ 13177 w 284308"/>
                <a:gd name="csY38" fmla="*/ 136710 h 239209"/>
                <a:gd name="csX39" fmla="*/ 16713 w 284308"/>
                <a:gd name="csY39" fmla="*/ 145777 h 239209"/>
                <a:gd name="csX40" fmla="*/ 19670 w 284308"/>
                <a:gd name="csY40" fmla="*/ 154843 h 239209"/>
                <a:gd name="csX41" fmla="*/ 22048 w 284308"/>
                <a:gd name="csY41" fmla="*/ 164296 h 239209"/>
                <a:gd name="csX42" fmla="*/ 24298 w 284308"/>
                <a:gd name="csY42" fmla="*/ 174263 h 239209"/>
                <a:gd name="csX43" fmla="*/ 26869 w 284308"/>
                <a:gd name="csY43" fmla="*/ 184680 h 239209"/>
                <a:gd name="csX44" fmla="*/ 30468 w 284308"/>
                <a:gd name="csY44" fmla="*/ 195290 h 239209"/>
                <a:gd name="csX45" fmla="*/ 35611 w 284308"/>
                <a:gd name="csY45" fmla="*/ 205708 h 239209"/>
                <a:gd name="csX46" fmla="*/ 42553 w 284308"/>
                <a:gd name="csY46" fmla="*/ 215353 h 239209"/>
                <a:gd name="csX47" fmla="*/ 51424 w 284308"/>
                <a:gd name="csY47" fmla="*/ 223713 h 239209"/>
                <a:gd name="csX48" fmla="*/ 61965 w 284308"/>
                <a:gd name="csY48" fmla="*/ 230400 h 239209"/>
                <a:gd name="csX49" fmla="*/ 73857 w 284308"/>
                <a:gd name="csY49" fmla="*/ 235159 h 239209"/>
                <a:gd name="csX50" fmla="*/ 86456 w 284308"/>
                <a:gd name="csY50" fmla="*/ 237988 h 239209"/>
                <a:gd name="csX51" fmla="*/ 99376 w 284308"/>
                <a:gd name="csY51" fmla="*/ 239210 h 239209"/>
                <a:gd name="csX52" fmla="*/ 112232 w 284308"/>
                <a:gd name="csY52" fmla="*/ 239146 h 239209"/>
                <a:gd name="csX53" fmla="*/ 124702 w 284308"/>
                <a:gd name="csY53" fmla="*/ 238181 h 239209"/>
                <a:gd name="csX54" fmla="*/ 136851 w 284308"/>
                <a:gd name="csY54" fmla="*/ 236638 h 239209"/>
                <a:gd name="csX55" fmla="*/ 148614 w 284308"/>
                <a:gd name="csY55" fmla="*/ 234837 h 239209"/>
                <a:gd name="csX56" fmla="*/ 160185 w 284308"/>
                <a:gd name="csY56" fmla="*/ 232780 h 239209"/>
                <a:gd name="csX57" fmla="*/ 171562 w 284308"/>
                <a:gd name="csY57" fmla="*/ 230336 h 239209"/>
                <a:gd name="csX58" fmla="*/ 182682 w 284308"/>
                <a:gd name="csY58" fmla="*/ 227185 h 239209"/>
                <a:gd name="csX59" fmla="*/ 193481 w 284308"/>
                <a:gd name="csY59" fmla="*/ 223198 h 239209"/>
                <a:gd name="csX60" fmla="*/ 203573 w 284308"/>
                <a:gd name="csY60" fmla="*/ 218118 h 239209"/>
                <a:gd name="csX61" fmla="*/ 212765 w 284308"/>
                <a:gd name="csY61" fmla="*/ 211945 h 239209"/>
                <a:gd name="csX62" fmla="*/ 220800 w 284308"/>
                <a:gd name="csY62" fmla="*/ 204679 h 239209"/>
                <a:gd name="csX63" fmla="*/ 227678 w 284308"/>
                <a:gd name="csY63" fmla="*/ 196705 h 239209"/>
                <a:gd name="csX64" fmla="*/ 233527 w 284308"/>
                <a:gd name="csY64" fmla="*/ 188217 h 239209"/>
                <a:gd name="csX65" fmla="*/ 238606 w 284308"/>
                <a:gd name="csY65" fmla="*/ 179665 h 239209"/>
                <a:gd name="csX66" fmla="*/ 243298 w 284308"/>
                <a:gd name="csY66" fmla="*/ 171177 h 239209"/>
                <a:gd name="csX67" fmla="*/ 248119 w 284308"/>
                <a:gd name="csY67" fmla="*/ 162881 h 239209"/>
                <a:gd name="csX68" fmla="*/ 253454 w 284308"/>
                <a:gd name="csY68" fmla="*/ 154650 h 239209"/>
                <a:gd name="csX69" fmla="*/ 259304 w 284308"/>
                <a:gd name="csY69" fmla="*/ 146291 h 239209"/>
                <a:gd name="csX70" fmla="*/ 265667 w 284308"/>
                <a:gd name="csY70" fmla="*/ 137546 h 239209"/>
                <a:gd name="csX71" fmla="*/ 272031 w 284308"/>
                <a:gd name="csY71" fmla="*/ 128093 h 2392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284308" h="239209">
                  <a:moveTo>
                    <a:pt x="277752" y="117804"/>
                  </a:moveTo>
                  <a:lnTo>
                    <a:pt x="282058" y="106744"/>
                  </a:lnTo>
                  <a:lnTo>
                    <a:pt x="284308" y="95234"/>
                  </a:lnTo>
                  <a:lnTo>
                    <a:pt x="283923" y="83595"/>
                  </a:lnTo>
                  <a:lnTo>
                    <a:pt x="280709" y="72342"/>
                  </a:lnTo>
                  <a:lnTo>
                    <a:pt x="274731" y="61989"/>
                  </a:lnTo>
                  <a:lnTo>
                    <a:pt x="266439" y="52858"/>
                  </a:lnTo>
                  <a:lnTo>
                    <a:pt x="256411" y="45141"/>
                  </a:lnTo>
                  <a:lnTo>
                    <a:pt x="245419" y="38711"/>
                  </a:lnTo>
                  <a:lnTo>
                    <a:pt x="234106" y="33374"/>
                  </a:lnTo>
                  <a:lnTo>
                    <a:pt x="222921" y="28744"/>
                  </a:lnTo>
                  <a:lnTo>
                    <a:pt x="212187" y="24435"/>
                  </a:lnTo>
                  <a:lnTo>
                    <a:pt x="201773" y="20127"/>
                  </a:lnTo>
                  <a:lnTo>
                    <a:pt x="191681" y="15754"/>
                  </a:lnTo>
                  <a:lnTo>
                    <a:pt x="181461" y="11382"/>
                  </a:lnTo>
                  <a:lnTo>
                    <a:pt x="170983" y="7202"/>
                  </a:lnTo>
                  <a:lnTo>
                    <a:pt x="160056" y="3665"/>
                  </a:lnTo>
                  <a:lnTo>
                    <a:pt x="148614" y="1158"/>
                  </a:lnTo>
                  <a:lnTo>
                    <a:pt x="136851" y="0"/>
                  </a:lnTo>
                  <a:lnTo>
                    <a:pt x="125024" y="322"/>
                  </a:lnTo>
                  <a:lnTo>
                    <a:pt x="113389" y="2122"/>
                  </a:lnTo>
                  <a:lnTo>
                    <a:pt x="102076" y="5144"/>
                  </a:lnTo>
                  <a:lnTo>
                    <a:pt x="91277" y="9131"/>
                  </a:lnTo>
                  <a:lnTo>
                    <a:pt x="80928" y="13697"/>
                  </a:lnTo>
                  <a:lnTo>
                    <a:pt x="70836" y="18520"/>
                  </a:lnTo>
                  <a:lnTo>
                    <a:pt x="60808" y="23535"/>
                  </a:lnTo>
                  <a:lnTo>
                    <a:pt x="50781" y="28744"/>
                  </a:lnTo>
                  <a:lnTo>
                    <a:pt x="40753" y="34403"/>
                  </a:lnTo>
                  <a:lnTo>
                    <a:pt x="30918" y="40640"/>
                  </a:lnTo>
                  <a:lnTo>
                    <a:pt x="21598" y="47713"/>
                  </a:lnTo>
                  <a:lnTo>
                    <a:pt x="13370" y="55944"/>
                  </a:lnTo>
                  <a:lnTo>
                    <a:pt x="6814" y="65140"/>
                  </a:lnTo>
                  <a:lnTo>
                    <a:pt x="2250" y="75300"/>
                  </a:lnTo>
                  <a:lnTo>
                    <a:pt x="0" y="85974"/>
                  </a:lnTo>
                  <a:lnTo>
                    <a:pt x="0" y="96841"/>
                  </a:lnTo>
                  <a:lnTo>
                    <a:pt x="1928" y="107580"/>
                  </a:lnTo>
                  <a:lnTo>
                    <a:pt x="5207" y="117804"/>
                  </a:lnTo>
                  <a:lnTo>
                    <a:pt x="9128" y="127514"/>
                  </a:lnTo>
                  <a:lnTo>
                    <a:pt x="13177" y="136710"/>
                  </a:lnTo>
                  <a:lnTo>
                    <a:pt x="16713" y="145777"/>
                  </a:lnTo>
                  <a:lnTo>
                    <a:pt x="19670" y="154843"/>
                  </a:lnTo>
                  <a:lnTo>
                    <a:pt x="22048" y="164296"/>
                  </a:lnTo>
                  <a:lnTo>
                    <a:pt x="24298" y="174263"/>
                  </a:lnTo>
                  <a:lnTo>
                    <a:pt x="26869" y="184680"/>
                  </a:lnTo>
                  <a:lnTo>
                    <a:pt x="30468" y="195290"/>
                  </a:lnTo>
                  <a:lnTo>
                    <a:pt x="35611" y="205708"/>
                  </a:lnTo>
                  <a:lnTo>
                    <a:pt x="42553" y="215353"/>
                  </a:lnTo>
                  <a:lnTo>
                    <a:pt x="51424" y="223713"/>
                  </a:lnTo>
                  <a:lnTo>
                    <a:pt x="61965" y="230400"/>
                  </a:lnTo>
                  <a:lnTo>
                    <a:pt x="73857" y="235159"/>
                  </a:lnTo>
                  <a:lnTo>
                    <a:pt x="86456" y="237988"/>
                  </a:lnTo>
                  <a:lnTo>
                    <a:pt x="99376" y="239210"/>
                  </a:lnTo>
                  <a:lnTo>
                    <a:pt x="112232" y="239146"/>
                  </a:lnTo>
                  <a:lnTo>
                    <a:pt x="124702" y="238181"/>
                  </a:lnTo>
                  <a:lnTo>
                    <a:pt x="136851" y="236638"/>
                  </a:lnTo>
                  <a:lnTo>
                    <a:pt x="148614" y="234837"/>
                  </a:lnTo>
                  <a:lnTo>
                    <a:pt x="160185" y="232780"/>
                  </a:lnTo>
                  <a:lnTo>
                    <a:pt x="171562" y="230336"/>
                  </a:lnTo>
                  <a:lnTo>
                    <a:pt x="182682" y="227185"/>
                  </a:lnTo>
                  <a:lnTo>
                    <a:pt x="193481" y="223198"/>
                  </a:lnTo>
                  <a:lnTo>
                    <a:pt x="203573" y="218118"/>
                  </a:lnTo>
                  <a:lnTo>
                    <a:pt x="212765" y="211945"/>
                  </a:lnTo>
                  <a:lnTo>
                    <a:pt x="220800" y="204679"/>
                  </a:lnTo>
                  <a:lnTo>
                    <a:pt x="227678" y="196705"/>
                  </a:lnTo>
                  <a:lnTo>
                    <a:pt x="233527" y="188217"/>
                  </a:lnTo>
                  <a:lnTo>
                    <a:pt x="238606" y="179665"/>
                  </a:lnTo>
                  <a:lnTo>
                    <a:pt x="243298" y="171177"/>
                  </a:lnTo>
                  <a:lnTo>
                    <a:pt x="248119" y="162881"/>
                  </a:lnTo>
                  <a:lnTo>
                    <a:pt x="253454" y="154650"/>
                  </a:lnTo>
                  <a:lnTo>
                    <a:pt x="259304" y="146291"/>
                  </a:lnTo>
                  <a:lnTo>
                    <a:pt x="265667" y="137546"/>
                  </a:lnTo>
                  <a:lnTo>
                    <a:pt x="272031" y="128093"/>
                  </a:lnTo>
                  <a:close/>
                </a:path>
              </a:pathLst>
            </a:custGeom>
            <a:solidFill>
              <a:srgbClr val="FFFFFF"/>
            </a:solidFill>
            <a:ln w="11566" cap="flat">
              <a:solidFill>
                <a:srgbClr val="B23F3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8C17280B-619F-E123-CD20-EC42DECC23F0}"/>
                </a:ext>
              </a:extLst>
            </p:cNvPr>
            <p:cNvSpPr/>
            <p:nvPr/>
          </p:nvSpPr>
          <p:spPr>
            <a:xfrm>
              <a:off x="971052" y="1464838"/>
              <a:ext cx="7422" cy="216060"/>
            </a:xfrm>
            <a:custGeom>
              <a:avLst/>
              <a:gdLst>
                <a:gd name="csX0" fmla="*/ 3711 w 7422"/>
                <a:gd name="csY0" fmla="*/ 0 h 216060"/>
                <a:gd name="csX1" fmla="*/ 3711 w 7422"/>
                <a:gd name="csY1" fmla="*/ 216060 h 2160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422" h="216060">
                  <a:moveTo>
                    <a:pt x="3711" y="0"/>
                  </a:moveTo>
                  <a:cubicBezTo>
                    <a:pt x="16567" y="72020"/>
                    <a:pt x="-9145" y="149185"/>
                    <a:pt x="3711" y="216060"/>
                  </a:cubicBezTo>
                </a:path>
              </a:pathLst>
            </a:custGeom>
            <a:noFill/>
            <a:ln w="9831" cap="rnd">
              <a:solidFill>
                <a:srgbClr val="E05C4E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DFCA59DA-CFA2-FC7D-4DF8-A2313E52CDEA}"/>
                </a:ext>
              </a:extLst>
            </p:cNvPr>
            <p:cNvSpPr/>
            <p:nvPr/>
          </p:nvSpPr>
          <p:spPr>
            <a:xfrm>
              <a:off x="874487" y="1523997"/>
              <a:ext cx="77135" cy="23149"/>
            </a:xfrm>
            <a:custGeom>
              <a:avLst/>
              <a:gdLst>
                <a:gd name="csX0" fmla="*/ 0 w 77135"/>
                <a:gd name="csY0" fmla="*/ 10289 h 23149"/>
                <a:gd name="csX1" fmla="*/ 38568 w 77135"/>
                <a:gd name="csY1" fmla="*/ 10289 h 23149"/>
                <a:gd name="csX2" fmla="*/ 77135 w 77135"/>
                <a:gd name="csY2" fmla="*/ 18519 h 231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7135" h="23149">
                  <a:moveTo>
                    <a:pt x="0" y="10289"/>
                  </a:moveTo>
                  <a:cubicBezTo>
                    <a:pt x="25712" y="-3429"/>
                    <a:pt x="38568" y="-3430"/>
                    <a:pt x="38568" y="10289"/>
                  </a:cubicBezTo>
                  <a:cubicBezTo>
                    <a:pt x="38568" y="24007"/>
                    <a:pt x="51424" y="26750"/>
                    <a:pt x="77135" y="18519"/>
                  </a:cubicBezTo>
                </a:path>
              </a:pathLst>
            </a:custGeom>
            <a:noFill/>
            <a:ln w="8674" cap="rnd">
              <a:solidFill>
                <a:srgbClr val="E05C4E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375B6F8C-64B7-9903-B85C-C11EC18C9679}"/>
                </a:ext>
              </a:extLst>
            </p:cNvPr>
            <p:cNvSpPr/>
            <p:nvPr/>
          </p:nvSpPr>
          <p:spPr>
            <a:xfrm>
              <a:off x="882200" y="1594731"/>
              <a:ext cx="66850" cy="20255"/>
            </a:xfrm>
            <a:custGeom>
              <a:avLst/>
              <a:gdLst>
                <a:gd name="csX0" fmla="*/ 0 w 66850"/>
                <a:gd name="csY0" fmla="*/ 9002 h 20255"/>
                <a:gd name="csX1" fmla="*/ 33425 w 66850"/>
                <a:gd name="csY1" fmla="*/ 9002 h 20255"/>
                <a:gd name="csX2" fmla="*/ 66851 w 66850"/>
                <a:gd name="csY2" fmla="*/ 16205 h 202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6850" h="20255">
                  <a:moveTo>
                    <a:pt x="0" y="9002"/>
                  </a:moveTo>
                  <a:cubicBezTo>
                    <a:pt x="22284" y="-3001"/>
                    <a:pt x="33425" y="-3001"/>
                    <a:pt x="33425" y="9002"/>
                  </a:cubicBezTo>
                  <a:cubicBezTo>
                    <a:pt x="33425" y="21006"/>
                    <a:pt x="44567" y="23407"/>
                    <a:pt x="66851" y="16205"/>
                  </a:cubicBezTo>
                </a:path>
              </a:pathLst>
            </a:custGeom>
            <a:noFill/>
            <a:ln w="8674" cap="rnd">
              <a:solidFill>
                <a:srgbClr val="E05C4E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1529DB4-7DC4-B029-8908-ADA1616BFF28}"/>
                </a:ext>
              </a:extLst>
            </p:cNvPr>
            <p:cNvSpPr/>
            <p:nvPr/>
          </p:nvSpPr>
          <p:spPr>
            <a:xfrm>
              <a:off x="997903" y="1526570"/>
              <a:ext cx="77135" cy="23149"/>
            </a:xfrm>
            <a:custGeom>
              <a:avLst/>
              <a:gdLst>
                <a:gd name="csX0" fmla="*/ 0 w 77135"/>
                <a:gd name="csY0" fmla="*/ 10289 h 23149"/>
                <a:gd name="csX1" fmla="*/ 38568 w 77135"/>
                <a:gd name="csY1" fmla="*/ 10289 h 23149"/>
                <a:gd name="csX2" fmla="*/ 77135 w 77135"/>
                <a:gd name="csY2" fmla="*/ 18519 h 231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7135" h="23149">
                  <a:moveTo>
                    <a:pt x="0" y="10289"/>
                  </a:moveTo>
                  <a:cubicBezTo>
                    <a:pt x="25712" y="-3430"/>
                    <a:pt x="38568" y="-3430"/>
                    <a:pt x="38568" y="10289"/>
                  </a:cubicBezTo>
                  <a:cubicBezTo>
                    <a:pt x="38568" y="24007"/>
                    <a:pt x="51424" y="26750"/>
                    <a:pt x="77135" y="18519"/>
                  </a:cubicBezTo>
                </a:path>
              </a:pathLst>
            </a:custGeom>
            <a:noFill/>
            <a:ln w="8674" cap="rnd">
              <a:solidFill>
                <a:srgbClr val="E05C4E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B9FB740B-9431-0F57-2217-02C7D5963915}"/>
                </a:ext>
              </a:extLst>
            </p:cNvPr>
            <p:cNvSpPr/>
            <p:nvPr/>
          </p:nvSpPr>
          <p:spPr>
            <a:xfrm>
              <a:off x="1000475" y="1597304"/>
              <a:ext cx="66850" cy="20255"/>
            </a:xfrm>
            <a:custGeom>
              <a:avLst/>
              <a:gdLst>
                <a:gd name="csX0" fmla="*/ 0 w 66850"/>
                <a:gd name="csY0" fmla="*/ 9003 h 20255"/>
                <a:gd name="csX1" fmla="*/ 33425 w 66850"/>
                <a:gd name="csY1" fmla="*/ 9003 h 20255"/>
                <a:gd name="csX2" fmla="*/ 66851 w 66850"/>
                <a:gd name="csY2" fmla="*/ 16205 h 202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6850" h="20255">
                  <a:moveTo>
                    <a:pt x="0" y="9003"/>
                  </a:moveTo>
                  <a:cubicBezTo>
                    <a:pt x="22284" y="-3001"/>
                    <a:pt x="33425" y="-3001"/>
                    <a:pt x="33425" y="9003"/>
                  </a:cubicBezTo>
                  <a:cubicBezTo>
                    <a:pt x="33425" y="21006"/>
                    <a:pt x="44567" y="23406"/>
                    <a:pt x="66851" y="16205"/>
                  </a:cubicBezTo>
                </a:path>
              </a:pathLst>
            </a:custGeom>
            <a:noFill/>
            <a:ln w="8674" cap="rnd">
              <a:solidFill>
                <a:srgbClr val="E05C4E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E2666D28-F524-CF9C-BCEE-C1F4814C7D46}"/>
              </a:ext>
            </a:extLst>
          </p:cNvPr>
          <p:cNvSpPr txBox="1"/>
          <p:nvPr/>
        </p:nvSpPr>
        <p:spPr>
          <a:xfrm>
            <a:off x="1076161" y="1397415"/>
            <a:ext cx="411483" cy="221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75" b="1" spc="0" baseline="0">
                <a:ln/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Pain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9CE0D3-7557-8D40-75B9-2152EF500EC5}"/>
              </a:ext>
            </a:extLst>
          </p:cNvPr>
          <p:cNvSpPr txBox="1"/>
          <p:nvPr/>
        </p:nvSpPr>
        <p:spPr>
          <a:xfrm>
            <a:off x="1076161" y="1565576"/>
            <a:ext cx="647235" cy="1813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spc="0" baseline="0">
                <a:ln/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10 signatures</a:t>
            </a:r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AFE1C4DC-5BA1-2D31-4B02-4CAADE330F16}"/>
              </a:ext>
            </a:extLst>
          </p:cNvPr>
          <p:cNvSpPr/>
          <p:nvPr/>
        </p:nvSpPr>
        <p:spPr>
          <a:xfrm>
            <a:off x="884771" y="1800503"/>
            <a:ext cx="6427" cy="4539841"/>
          </a:xfrm>
          <a:custGeom>
            <a:avLst/>
            <a:gdLst>
              <a:gd name="csX0" fmla="*/ 0 w 6427"/>
              <a:gd name="csY0" fmla="*/ 0 h 4539841"/>
              <a:gd name="csX1" fmla="*/ 0 w 6427"/>
              <a:gd name="csY1" fmla="*/ 4539842 h 453984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27" h="4539841">
                <a:moveTo>
                  <a:pt x="0" y="0"/>
                </a:moveTo>
                <a:lnTo>
                  <a:pt x="0" y="4539842"/>
                </a:lnTo>
              </a:path>
            </a:pathLst>
          </a:custGeom>
          <a:ln w="16063" cap="flat">
            <a:solidFill>
              <a:srgbClr val="E05C4E">
                <a:alpha val="45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4CB25AC-1E87-80D5-31FC-D862C81FA371}"/>
              </a:ext>
            </a:extLst>
          </p:cNvPr>
          <p:cNvSpPr/>
          <p:nvPr/>
        </p:nvSpPr>
        <p:spPr>
          <a:xfrm>
            <a:off x="852632" y="2025566"/>
            <a:ext cx="64279" cy="64303"/>
          </a:xfrm>
          <a:prstGeom prst="ellipse">
            <a:avLst/>
          </a:prstGeom>
          <a:solidFill>
            <a:srgbClr val="E05C4E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6B3217-C19A-EC35-FECD-0627E1AC4860}"/>
              </a:ext>
            </a:extLst>
          </p:cNvPr>
          <p:cNvSpPr txBox="1"/>
          <p:nvPr/>
        </p:nvSpPr>
        <p:spPr>
          <a:xfrm>
            <a:off x="896179" y="1965780"/>
            <a:ext cx="1168043" cy="187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b="1" spc="30" baseline="0">
                <a:ln/>
                <a:solidFill>
                  <a:srgbClr val="B23F33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NOCICEPTIVE SYSTEMS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DE9B9445-2FB9-9D24-18F0-4D5903D3C2C7}"/>
              </a:ext>
            </a:extLst>
          </p:cNvPr>
          <p:cNvSpPr/>
          <p:nvPr/>
        </p:nvSpPr>
        <p:spPr>
          <a:xfrm>
            <a:off x="884771" y="2089870"/>
            <a:ext cx="128558" cy="263645"/>
          </a:xfrm>
          <a:custGeom>
            <a:avLst/>
            <a:gdLst>
              <a:gd name="csX0" fmla="*/ 0 w 128558"/>
              <a:gd name="csY0" fmla="*/ 0 h 263645"/>
              <a:gd name="csX1" fmla="*/ 128559 w 128558"/>
              <a:gd name="csY1" fmla="*/ 263645 h 26364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8558" h="263645">
                <a:moveTo>
                  <a:pt x="0" y="0"/>
                </a:moveTo>
                <a:cubicBezTo>
                  <a:pt x="0" y="263645"/>
                  <a:pt x="64279" y="263645"/>
                  <a:pt x="128559" y="263645"/>
                </a:cubicBezTo>
              </a:path>
            </a:pathLst>
          </a:custGeom>
          <a:noFill/>
          <a:ln w="12851" cap="flat">
            <a:solidFill>
              <a:srgbClr val="E05C4E">
                <a:alpha val="4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038E0D8D-99DC-9723-EC43-561AEF84E7CF}"/>
              </a:ext>
            </a:extLst>
          </p:cNvPr>
          <p:cNvSpPr/>
          <p:nvPr/>
        </p:nvSpPr>
        <p:spPr>
          <a:xfrm>
            <a:off x="1013330" y="2199186"/>
            <a:ext cx="1722690" cy="308657"/>
          </a:xfrm>
          <a:prstGeom prst="roundRect">
            <a:avLst>
              <a:gd name="adj" fmla="val 24990"/>
            </a:avLst>
          </a:prstGeom>
          <a:solidFill>
            <a:srgbClr val="FFFFFF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83D834E8-7484-7545-1059-DEEFDA3E680D}"/>
              </a:ext>
            </a:extLst>
          </p:cNvPr>
          <p:cNvSpPr/>
          <p:nvPr/>
        </p:nvSpPr>
        <p:spPr>
          <a:xfrm>
            <a:off x="1013330" y="2199186"/>
            <a:ext cx="32139" cy="308657"/>
          </a:xfrm>
          <a:prstGeom prst="roundRect">
            <a:avLst>
              <a:gd name="adj" fmla="val 50000"/>
            </a:avLst>
          </a:prstGeom>
          <a:solidFill>
            <a:srgbClr val="E05C4E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1F91EED-4976-A05D-8959-A2E76CDABC68}"/>
              </a:ext>
            </a:extLst>
          </p:cNvPr>
          <p:cNvSpPr/>
          <p:nvPr/>
        </p:nvSpPr>
        <p:spPr>
          <a:xfrm>
            <a:off x="1084038" y="2257060"/>
            <a:ext cx="192838" cy="192911"/>
          </a:xfrm>
          <a:prstGeom prst="ellipse">
            <a:avLst/>
          </a:prstGeom>
          <a:solidFill>
            <a:srgbClr val="FBEAE7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44" name="Graphic 2">
            <a:extLst>
              <a:ext uri="{FF2B5EF4-FFF2-40B4-BE49-F238E27FC236}">
                <a16:creationId xmlns:a16="http://schemas.microsoft.com/office/drawing/2014/main" id="{BA09D049-63C9-F21D-73B8-730117053813}"/>
              </a:ext>
            </a:extLst>
          </p:cNvPr>
          <p:cNvGrpSpPr/>
          <p:nvPr/>
        </p:nvGrpSpPr>
        <p:grpSpPr>
          <a:xfrm>
            <a:off x="1105186" y="2288761"/>
            <a:ext cx="156392" cy="131501"/>
            <a:chOff x="1105186" y="2288761"/>
            <a:chExt cx="156392" cy="131501"/>
          </a:xfrm>
        </p:grpSpPr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98DF41E0-EED2-545E-DB7E-66F7CCA258F7}"/>
                </a:ext>
              </a:extLst>
            </p:cNvPr>
            <p:cNvSpPr/>
            <p:nvPr/>
          </p:nvSpPr>
          <p:spPr>
            <a:xfrm>
              <a:off x="1105186" y="2288761"/>
              <a:ext cx="156392" cy="131501"/>
            </a:xfrm>
            <a:custGeom>
              <a:avLst/>
              <a:gdLst>
                <a:gd name="csX0" fmla="*/ 152792 w 156392"/>
                <a:gd name="csY0" fmla="*/ 64754 h 131501"/>
                <a:gd name="csX1" fmla="*/ 155171 w 156392"/>
                <a:gd name="csY1" fmla="*/ 58709 h 131501"/>
                <a:gd name="csX2" fmla="*/ 156392 w 156392"/>
                <a:gd name="csY2" fmla="*/ 52343 h 131501"/>
                <a:gd name="csX3" fmla="*/ 156199 w 156392"/>
                <a:gd name="csY3" fmla="*/ 45913 h 131501"/>
                <a:gd name="csX4" fmla="*/ 154399 w 156392"/>
                <a:gd name="csY4" fmla="*/ 39740 h 131501"/>
                <a:gd name="csX5" fmla="*/ 151121 w 156392"/>
                <a:gd name="csY5" fmla="*/ 34081 h 131501"/>
                <a:gd name="csX6" fmla="*/ 146557 w 156392"/>
                <a:gd name="csY6" fmla="*/ 29001 h 131501"/>
                <a:gd name="csX7" fmla="*/ 141029 w 156392"/>
                <a:gd name="csY7" fmla="*/ 24757 h 131501"/>
                <a:gd name="csX8" fmla="*/ 134987 w 156392"/>
                <a:gd name="csY8" fmla="*/ 21220 h 131501"/>
                <a:gd name="csX9" fmla="*/ 128752 w 156392"/>
                <a:gd name="csY9" fmla="*/ 18327 h 131501"/>
                <a:gd name="csX10" fmla="*/ 122645 w 156392"/>
                <a:gd name="csY10" fmla="*/ 15754 h 131501"/>
                <a:gd name="csX11" fmla="*/ 116667 w 156392"/>
                <a:gd name="csY11" fmla="*/ 13375 h 131501"/>
                <a:gd name="csX12" fmla="*/ 111011 w 156392"/>
                <a:gd name="csY12" fmla="*/ 11060 h 131501"/>
                <a:gd name="csX13" fmla="*/ 105418 w 156392"/>
                <a:gd name="csY13" fmla="*/ 8617 h 131501"/>
                <a:gd name="csX14" fmla="*/ 99826 w 156392"/>
                <a:gd name="csY14" fmla="*/ 6237 h 131501"/>
                <a:gd name="csX15" fmla="*/ 94041 w 156392"/>
                <a:gd name="csY15" fmla="*/ 3923 h 131501"/>
                <a:gd name="csX16" fmla="*/ 87999 w 156392"/>
                <a:gd name="csY16" fmla="*/ 1993 h 131501"/>
                <a:gd name="csX17" fmla="*/ 81764 w 156392"/>
                <a:gd name="csY17" fmla="*/ 643 h 131501"/>
                <a:gd name="csX18" fmla="*/ 75271 w 156392"/>
                <a:gd name="csY18" fmla="*/ 0 h 131501"/>
                <a:gd name="csX19" fmla="*/ 68779 w 156392"/>
                <a:gd name="csY19" fmla="*/ 129 h 131501"/>
                <a:gd name="csX20" fmla="*/ 62351 w 156392"/>
                <a:gd name="csY20" fmla="*/ 1157 h 131501"/>
                <a:gd name="csX21" fmla="*/ 56180 w 156392"/>
                <a:gd name="csY21" fmla="*/ 2829 h 131501"/>
                <a:gd name="csX22" fmla="*/ 50202 w 156392"/>
                <a:gd name="csY22" fmla="*/ 4952 h 131501"/>
                <a:gd name="csX23" fmla="*/ 44481 w 156392"/>
                <a:gd name="csY23" fmla="*/ 7459 h 131501"/>
                <a:gd name="csX24" fmla="*/ 38953 w 156392"/>
                <a:gd name="csY24" fmla="*/ 10160 h 131501"/>
                <a:gd name="csX25" fmla="*/ 33490 w 156392"/>
                <a:gd name="csY25" fmla="*/ 12925 h 131501"/>
                <a:gd name="csX26" fmla="*/ 27962 w 156392"/>
                <a:gd name="csY26" fmla="*/ 15819 h 131501"/>
                <a:gd name="csX27" fmla="*/ 22434 w 156392"/>
                <a:gd name="csY27" fmla="*/ 18841 h 131501"/>
                <a:gd name="csX28" fmla="*/ 16970 w 156392"/>
                <a:gd name="csY28" fmla="*/ 22313 h 131501"/>
                <a:gd name="csX29" fmla="*/ 11892 w 156392"/>
                <a:gd name="csY29" fmla="*/ 26236 h 131501"/>
                <a:gd name="csX30" fmla="*/ 7392 w 156392"/>
                <a:gd name="csY30" fmla="*/ 30737 h 131501"/>
                <a:gd name="csX31" fmla="*/ 3728 w 156392"/>
                <a:gd name="csY31" fmla="*/ 35817 h 131501"/>
                <a:gd name="csX32" fmla="*/ 1221 w 156392"/>
                <a:gd name="csY32" fmla="*/ 41347 h 131501"/>
                <a:gd name="csX33" fmla="*/ 0 w 156392"/>
                <a:gd name="csY33" fmla="*/ 47263 h 131501"/>
                <a:gd name="csX34" fmla="*/ 0 w 156392"/>
                <a:gd name="csY34" fmla="*/ 53243 h 131501"/>
                <a:gd name="csX35" fmla="*/ 1093 w 156392"/>
                <a:gd name="csY35" fmla="*/ 59095 h 131501"/>
                <a:gd name="csX36" fmla="*/ 2893 w 156392"/>
                <a:gd name="csY36" fmla="*/ 64754 h 131501"/>
                <a:gd name="csX37" fmla="*/ 5014 w 156392"/>
                <a:gd name="csY37" fmla="*/ 70091 h 131501"/>
                <a:gd name="csX38" fmla="*/ 7264 w 156392"/>
                <a:gd name="csY38" fmla="*/ 75171 h 131501"/>
                <a:gd name="csX39" fmla="*/ 9192 w 156392"/>
                <a:gd name="csY39" fmla="*/ 80123 h 131501"/>
                <a:gd name="csX40" fmla="*/ 10799 w 156392"/>
                <a:gd name="csY40" fmla="*/ 85138 h 131501"/>
                <a:gd name="csX41" fmla="*/ 12149 w 156392"/>
                <a:gd name="csY41" fmla="*/ 90347 h 131501"/>
                <a:gd name="csX42" fmla="*/ 13370 w 156392"/>
                <a:gd name="csY42" fmla="*/ 95812 h 131501"/>
                <a:gd name="csX43" fmla="*/ 14784 w 156392"/>
                <a:gd name="csY43" fmla="*/ 101536 h 131501"/>
                <a:gd name="csX44" fmla="*/ 16777 w 156392"/>
                <a:gd name="csY44" fmla="*/ 107387 h 131501"/>
                <a:gd name="csX45" fmla="*/ 19605 w 156392"/>
                <a:gd name="csY45" fmla="*/ 113110 h 131501"/>
                <a:gd name="csX46" fmla="*/ 23398 w 156392"/>
                <a:gd name="csY46" fmla="*/ 118383 h 131501"/>
                <a:gd name="csX47" fmla="*/ 28283 w 156392"/>
                <a:gd name="csY47" fmla="*/ 123013 h 131501"/>
                <a:gd name="csX48" fmla="*/ 34068 w 156392"/>
                <a:gd name="csY48" fmla="*/ 126678 h 131501"/>
                <a:gd name="csX49" fmla="*/ 40625 w 156392"/>
                <a:gd name="csY49" fmla="*/ 129315 h 131501"/>
                <a:gd name="csX50" fmla="*/ 47567 w 156392"/>
                <a:gd name="csY50" fmla="*/ 130858 h 131501"/>
                <a:gd name="csX51" fmla="*/ 54638 w 156392"/>
                <a:gd name="csY51" fmla="*/ 131501 h 131501"/>
                <a:gd name="csX52" fmla="*/ 61708 w 156392"/>
                <a:gd name="csY52" fmla="*/ 131501 h 131501"/>
                <a:gd name="csX53" fmla="*/ 68586 w 156392"/>
                <a:gd name="csY53" fmla="*/ 130922 h 131501"/>
                <a:gd name="csX54" fmla="*/ 75271 w 156392"/>
                <a:gd name="csY54" fmla="*/ 130151 h 131501"/>
                <a:gd name="csX55" fmla="*/ 81764 w 156392"/>
                <a:gd name="csY55" fmla="*/ 129122 h 131501"/>
                <a:gd name="csX56" fmla="*/ 88127 w 156392"/>
                <a:gd name="csY56" fmla="*/ 127964 h 131501"/>
                <a:gd name="csX57" fmla="*/ 94362 w 156392"/>
                <a:gd name="csY57" fmla="*/ 126614 h 131501"/>
                <a:gd name="csX58" fmla="*/ 100469 w 156392"/>
                <a:gd name="csY58" fmla="*/ 124942 h 131501"/>
                <a:gd name="csX59" fmla="*/ 106383 w 156392"/>
                <a:gd name="csY59" fmla="*/ 122756 h 131501"/>
                <a:gd name="csX60" fmla="*/ 111975 w 156392"/>
                <a:gd name="csY60" fmla="*/ 119926 h 131501"/>
                <a:gd name="csX61" fmla="*/ 116989 w 156392"/>
                <a:gd name="csY61" fmla="*/ 116518 h 131501"/>
                <a:gd name="csX62" fmla="*/ 121424 w 156392"/>
                <a:gd name="csY62" fmla="*/ 112531 h 131501"/>
                <a:gd name="csX63" fmla="*/ 125216 w 156392"/>
                <a:gd name="csY63" fmla="*/ 108159 h 131501"/>
                <a:gd name="csX64" fmla="*/ 128430 w 156392"/>
                <a:gd name="csY64" fmla="*/ 103465 h 131501"/>
                <a:gd name="csX65" fmla="*/ 131194 w 156392"/>
                <a:gd name="csY65" fmla="*/ 98771 h 131501"/>
                <a:gd name="csX66" fmla="*/ 133830 w 156392"/>
                <a:gd name="csY66" fmla="*/ 94076 h 131501"/>
                <a:gd name="csX67" fmla="*/ 136465 w 156392"/>
                <a:gd name="csY67" fmla="*/ 89511 h 131501"/>
                <a:gd name="csX68" fmla="*/ 139422 w 156392"/>
                <a:gd name="csY68" fmla="*/ 85010 h 131501"/>
                <a:gd name="csX69" fmla="*/ 142636 w 156392"/>
                <a:gd name="csY69" fmla="*/ 80444 h 131501"/>
                <a:gd name="csX70" fmla="*/ 146107 w 156392"/>
                <a:gd name="csY70" fmla="*/ 75621 h 131501"/>
                <a:gd name="csX71" fmla="*/ 149643 w 156392"/>
                <a:gd name="csY71" fmla="*/ 70413 h 131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156392" h="131501">
                  <a:moveTo>
                    <a:pt x="152792" y="64754"/>
                  </a:moveTo>
                  <a:lnTo>
                    <a:pt x="155171" y="58709"/>
                  </a:lnTo>
                  <a:lnTo>
                    <a:pt x="156392" y="52343"/>
                  </a:lnTo>
                  <a:lnTo>
                    <a:pt x="156199" y="45913"/>
                  </a:lnTo>
                  <a:lnTo>
                    <a:pt x="154399" y="39740"/>
                  </a:lnTo>
                  <a:lnTo>
                    <a:pt x="151121" y="34081"/>
                  </a:lnTo>
                  <a:lnTo>
                    <a:pt x="146557" y="29001"/>
                  </a:lnTo>
                  <a:lnTo>
                    <a:pt x="141029" y="24757"/>
                  </a:lnTo>
                  <a:lnTo>
                    <a:pt x="134987" y="21220"/>
                  </a:lnTo>
                  <a:lnTo>
                    <a:pt x="128752" y="18327"/>
                  </a:lnTo>
                  <a:lnTo>
                    <a:pt x="122645" y="15754"/>
                  </a:lnTo>
                  <a:lnTo>
                    <a:pt x="116667" y="13375"/>
                  </a:lnTo>
                  <a:lnTo>
                    <a:pt x="111011" y="11060"/>
                  </a:lnTo>
                  <a:lnTo>
                    <a:pt x="105418" y="8617"/>
                  </a:lnTo>
                  <a:lnTo>
                    <a:pt x="99826" y="6237"/>
                  </a:lnTo>
                  <a:lnTo>
                    <a:pt x="94041" y="3923"/>
                  </a:lnTo>
                  <a:lnTo>
                    <a:pt x="87999" y="1993"/>
                  </a:lnTo>
                  <a:lnTo>
                    <a:pt x="81764" y="643"/>
                  </a:lnTo>
                  <a:lnTo>
                    <a:pt x="75271" y="0"/>
                  </a:lnTo>
                  <a:lnTo>
                    <a:pt x="68779" y="129"/>
                  </a:lnTo>
                  <a:lnTo>
                    <a:pt x="62351" y="1157"/>
                  </a:lnTo>
                  <a:lnTo>
                    <a:pt x="56180" y="2829"/>
                  </a:lnTo>
                  <a:lnTo>
                    <a:pt x="50202" y="4952"/>
                  </a:lnTo>
                  <a:lnTo>
                    <a:pt x="44481" y="7459"/>
                  </a:lnTo>
                  <a:lnTo>
                    <a:pt x="38953" y="10160"/>
                  </a:lnTo>
                  <a:lnTo>
                    <a:pt x="33490" y="12925"/>
                  </a:lnTo>
                  <a:lnTo>
                    <a:pt x="27962" y="15819"/>
                  </a:lnTo>
                  <a:lnTo>
                    <a:pt x="22434" y="18841"/>
                  </a:lnTo>
                  <a:lnTo>
                    <a:pt x="16970" y="22313"/>
                  </a:lnTo>
                  <a:lnTo>
                    <a:pt x="11892" y="26236"/>
                  </a:lnTo>
                  <a:lnTo>
                    <a:pt x="7392" y="30737"/>
                  </a:lnTo>
                  <a:lnTo>
                    <a:pt x="3728" y="35817"/>
                  </a:lnTo>
                  <a:lnTo>
                    <a:pt x="1221" y="41347"/>
                  </a:lnTo>
                  <a:lnTo>
                    <a:pt x="0" y="47263"/>
                  </a:lnTo>
                  <a:lnTo>
                    <a:pt x="0" y="53243"/>
                  </a:lnTo>
                  <a:lnTo>
                    <a:pt x="1093" y="59095"/>
                  </a:lnTo>
                  <a:lnTo>
                    <a:pt x="2893" y="64754"/>
                  </a:lnTo>
                  <a:lnTo>
                    <a:pt x="5014" y="70091"/>
                  </a:lnTo>
                  <a:lnTo>
                    <a:pt x="7264" y="75171"/>
                  </a:lnTo>
                  <a:lnTo>
                    <a:pt x="9192" y="80123"/>
                  </a:lnTo>
                  <a:lnTo>
                    <a:pt x="10799" y="85138"/>
                  </a:lnTo>
                  <a:lnTo>
                    <a:pt x="12149" y="90347"/>
                  </a:lnTo>
                  <a:lnTo>
                    <a:pt x="13370" y="95812"/>
                  </a:lnTo>
                  <a:lnTo>
                    <a:pt x="14784" y="101536"/>
                  </a:lnTo>
                  <a:lnTo>
                    <a:pt x="16777" y="107387"/>
                  </a:lnTo>
                  <a:lnTo>
                    <a:pt x="19605" y="113110"/>
                  </a:lnTo>
                  <a:lnTo>
                    <a:pt x="23398" y="118383"/>
                  </a:lnTo>
                  <a:lnTo>
                    <a:pt x="28283" y="123013"/>
                  </a:lnTo>
                  <a:lnTo>
                    <a:pt x="34068" y="126678"/>
                  </a:lnTo>
                  <a:lnTo>
                    <a:pt x="40625" y="129315"/>
                  </a:lnTo>
                  <a:lnTo>
                    <a:pt x="47567" y="130858"/>
                  </a:lnTo>
                  <a:lnTo>
                    <a:pt x="54638" y="131501"/>
                  </a:lnTo>
                  <a:lnTo>
                    <a:pt x="61708" y="131501"/>
                  </a:lnTo>
                  <a:lnTo>
                    <a:pt x="68586" y="130922"/>
                  </a:lnTo>
                  <a:lnTo>
                    <a:pt x="75271" y="130151"/>
                  </a:lnTo>
                  <a:lnTo>
                    <a:pt x="81764" y="129122"/>
                  </a:lnTo>
                  <a:lnTo>
                    <a:pt x="88127" y="127964"/>
                  </a:lnTo>
                  <a:lnTo>
                    <a:pt x="94362" y="126614"/>
                  </a:lnTo>
                  <a:lnTo>
                    <a:pt x="100469" y="124942"/>
                  </a:lnTo>
                  <a:lnTo>
                    <a:pt x="106383" y="122756"/>
                  </a:lnTo>
                  <a:lnTo>
                    <a:pt x="111975" y="119926"/>
                  </a:lnTo>
                  <a:lnTo>
                    <a:pt x="116989" y="116518"/>
                  </a:lnTo>
                  <a:lnTo>
                    <a:pt x="121424" y="112531"/>
                  </a:lnTo>
                  <a:lnTo>
                    <a:pt x="125216" y="108159"/>
                  </a:lnTo>
                  <a:lnTo>
                    <a:pt x="128430" y="103465"/>
                  </a:lnTo>
                  <a:lnTo>
                    <a:pt x="131194" y="98771"/>
                  </a:lnTo>
                  <a:lnTo>
                    <a:pt x="133830" y="94076"/>
                  </a:lnTo>
                  <a:lnTo>
                    <a:pt x="136465" y="89511"/>
                  </a:lnTo>
                  <a:lnTo>
                    <a:pt x="139422" y="85010"/>
                  </a:lnTo>
                  <a:lnTo>
                    <a:pt x="142636" y="80444"/>
                  </a:lnTo>
                  <a:lnTo>
                    <a:pt x="146107" y="75621"/>
                  </a:lnTo>
                  <a:lnTo>
                    <a:pt x="149643" y="70413"/>
                  </a:lnTo>
                  <a:close/>
                </a:path>
              </a:pathLst>
            </a:custGeom>
            <a:solidFill>
              <a:srgbClr val="E05C4E"/>
            </a:solidFill>
            <a:ln w="6425" cap="flat">
              <a:solidFill>
                <a:srgbClr val="B23F3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76B6CD34-0B26-C483-C079-43518680D232}"/>
                </a:ext>
              </a:extLst>
            </p:cNvPr>
            <p:cNvSpPr/>
            <p:nvPr/>
          </p:nvSpPr>
          <p:spPr>
            <a:xfrm>
              <a:off x="1178416" y="2292684"/>
              <a:ext cx="4082" cy="118833"/>
            </a:xfrm>
            <a:custGeom>
              <a:avLst/>
              <a:gdLst>
                <a:gd name="csX0" fmla="*/ 2041 w 4082"/>
                <a:gd name="csY0" fmla="*/ 0 h 118833"/>
                <a:gd name="csX1" fmla="*/ 2041 w 4082"/>
                <a:gd name="csY1" fmla="*/ 118833 h 118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082" h="118833">
                  <a:moveTo>
                    <a:pt x="2041" y="0"/>
                  </a:moveTo>
                  <a:cubicBezTo>
                    <a:pt x="9112" y="39611"/>
                    <a:pt x="-5030" y="82051"/>
                    <a:pt x="2041" y="118833"/>
                  </a:cubicBezTo>
                </a:path>
              </a:pathLst>
            </a:custGeom>
            <a:noFill/>
            <a:ln w="5462" cap="rnd">
              <a:solidFill>
                <a:srgbClr val="FFFFFF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27FA3709-D8B7-D8F5-CFAC-F400F0F70605}"/>
                </a:ext>
              </a:extLst>
            </p:cNvPr>
            <p:cNvSpPr/>
            <p:nvPr/>
          </p:nvSpPr>
          <p:spPr>
            <a:xfrm>
              <a:off x="1125305" y="2325222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2" y="-1886"/>
                    <a:pt x="21212" y="-1886"/>
                    <a:pt x="21212" y="5659"/>
                  </a:cubicBezTo>
                  <a:cubicBezTo>
                    <a:pt x="21212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62DC1861-ECB1-A679-B2B1-B96B08A6279E}"/>
                </a:ext>
              </a:extLst>
            </p:cNvPr>
            <p:cNvSpPr/>
            <p:nvPr/>
          </p:nvSpPr>
          <p:spPr>
            <a:xfrm>
              <a:off x="1129548" y="2364125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6945B30-4639-E982-393A-2FADF59FCC88}"/>
                </a:ext>
              </a:extLst>
            </p:cNvPr>
            <p:cNvSpPr/>
            <p:nvPr/>
          </p:nvSpPr>
          <p:spPr>
            <a:xfrm>
              <a:off x="1193185" y="2326636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1" y="-1886"/>
                    <a:pt x="21212" y="-1886"/>
                    <a:pt x="21212" y="5659"/>
                  </a:cubicBezTo>
                  <a:cubicBezTo>
                    <a:pt x="21212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D6DA5C77-DE08-5963-7B1F-9DD95E11683C}"/>
                </a:ext>
              </a:extLst>
            </p:cNvPr>
            <p:cNvSpPr/>
            <p:nvPr/>
          </p:nvSpPr>
          <p:spPr>
            <a:xfrm>
              <a:off x="1194599" y="2365540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DAAE4ED4-D948-2A4F-C47A-059C72968238}"/>
              </a:ext>
            </a:extLst>
          </p:cNvPr>
          <p:cNvSpPr txBox="1"/>
          <p:nvPr/>
        </p:nvSpPr>
        <p:spPr>
          <a:xfrm>
            <a:off x="1243288" y="2210134"/>
            <a:ext cx="1184113" cy="187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b="1" spc="0" baseline="0" dirty="0">
                <a:ln/>
                <a:solidFill>
                  <a:srgbClr val="22314A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Neurologic Pain Signature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C25928C-887A-9AC7-DF13-B0E1F7105EC9}"/>
              </a:ext>
            </a:extLst>
          </p:cNvPr>
          <p:cNvSpPr txBox="1"/>
          <p:nvPr/>
        </p:nvSpPr>
        <p:spPr>
          <a:xfrm>
            <a:off x="1243288" y="2330128"/>
            <a:ext cx="603377" cy="174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25" i="1" spc="0" baseline="0">
                <a:ln/>
                <a:solidFill>
                  <a:srgbClr val="7C8598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Wager · 2013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665C7AE5-414C-212C-3A96-981EA2CA57F2}"/>
              </a:ext>
            </a:extLst>
          </p:cNvPr>
          <p:cNvSpPr/>
          <p:nvPr/>
        </p:nvSpPr>
        <p:spPr>
          <a:xfrm>
            <a:off x="2183217" y="2372806"/>
            <a:ext cx="488524" cy="109316"/>
          </a:xfrm>
          <a:prstGeom prst="roundRect">
            <a:avLst>
              <a:gd name="adj" fmla="val 49981"/>
            </a:avLst>
          </a:prstGeom>
          <a:solidFill>
            <a:srgbClr val="E05C4E">
              <a:alpha val="16000"/>
            </a:srgbClr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85D5ECF-D369-8394-9B1F-223596004AFA}"/>
              </a:ext>
            </a:extLst>
          </p:cNvPr>
          <p:cNvSpPr txBox="1"/>
          <p:nvPr/>
        </p:nvSpPr>
        <p:spPr>
          <a:xfrm>
            <a:off x="2179956" y="2344689"/>
            <a:ext cx="495047" cy="1642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713" b="1" spc="0" baseline="0">
                <a:ln/>
                <a:solidFill>
                  <a:srgbClr val="B23F33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on request</a:t>
            </a:r>
          </a:p>
        </p:txBody>
      </p:sp>
      <p:sp>
        <p:nvSpPr>
          <p:cNvPr id="55" name="Freeform 54">
            <a:extLst>
              <a:ext uri="{FF2B5EF4-FFF2-40B4-BE49-F238E27FC236}">
                <a16:creationId xmlns:a16="http://schemas.microsoft.com/office/drawing/2014/main" id="{F99F5EBC-E6AC-0CB2-7E03-33DEA296ACDC}"/>
              </a:ext>
            </a:extLst>
          </p:cNvPr>
          <p:cNvSpPr/>
          <p:nvPr/>
        </p:nvSpPr>
        <p:spPr>
          <a:xfrm>
            <a:off x="884771" y="2089870"/>
            <a:ext cx="128558" cy="623745"/>
          </a:xfrm>
          <a:custGeom>
            <a:avLst/>
            <a:gdLst>
              <a:gd name="csX0" fmla="*/ 0 w 128558"/>
              <a:gd name="csY0" fmla="*/ 0 h 623745"/>
              <a:gd name="csX1" fmla="*/ 128559 w 128558"/>
              <a:gd name="csY1" fmla="*/ 623746 h 62374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8558" h="623745">
                <a:moveTo>
                  <a:pt x="0" y="0"/>
                </a:moveTo>
                <a:cubicBezTo>
                  <a:pt x="0" y="623746"/>
                  <a:pt x="64279" y="623746"/>
                  <a:pt x="128559" y="623746"/>
                </a:cubicBezTo>
              </a:path>
            </a:pathLst>
          </a:custGeom>
          <a:noFill/>
          <a:ln w="12851" cap="flat">
            <a:solidFill>
              <a:srgbClr val="E05C4E">
                <a:alpha val="4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95DF970E-1F50-5C01-C638-E948E4F1325C}"/>
              </a:ext>
            </a:extLst>
          </p:cNvPr>
          <p:cNvSpPr/>
          <p:nvPr/>
        </p:nvSpPr>
        <p:spPr>
          <a:xfrm>
            <a:off x="1013330" y="2559287"/>
            <a:ext cx="1722690" cy="308657"/>
          </a:xfrm>
          <a:prstGeom prst="roundRect">
            <a:avLst>
              <a:gd name="adj" fmla="val 24990"/>
            </a:avLst>
          </a:prstGeom>
          <a:solidFill>
            <a:srgbClr val="FFFFFF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05E973C1-9B0B-BDF9-F0D9-D26741756E9C}"/>
              </a:ext>
            </a:extLst>
          </p:cNvPr>
          <p:cNvSpPr/>
          <p:nvPr/>
        </p:nvSpPr>
        <p:spPr>
          <a:xfrm>
            <a:off x="1013330" y="2559287"/>
            <a:ext cx="32139" cy="308657"/>
          </a:xfrm>
          <a:prstGeom prst="roundRect">
            <a:avLst>
              <a:gd name="adj" fmla="val 50000"/>
            </a:avLst>
          </a:prstGeom>
          <a:solidFill>
            <a:srgbClr val="E05C4E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1F77212A-6FAE-896E-59FA-F446F43FDD32}"/>
              </a:ext>
            </a:extLst>
          </p:cNvPr>
          <p:cNvSpPr/>
          <p:nvPr/>
        </p:nvSpPr>
        <p:spPr>
          <a:xfrm>
            <a:off x="1084038" y="2617160"/>
            <a:ext cx="192838" cy="192911"/>
          </a:xfrm>
          <a:prstGeom prst="ellipse">
            <a:avLst/>
          </a:prstGeom>
          <a:solidFill>
            <a:srgbClr val="FBEAE7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59" name="Graphic 2">
            <a:extLst>
              <a:ext uri="{FF2B5EF4-FFF2-40B4-BE49-F238E27FC236}">
                <a16:creationId xmlns:a16="http://schemas.microsoft.com/office/drawing/2014/main" id="{FA02F08E-3F6D-17C1-F340-1EA52844356D}"/>
              </a:ext>
            </a:extLst>
          </p:cNvPr>
          <p:cNvGrpSpPr/>
          <p:nvPr/>
        </p:nvGrpSpPr>
        <p:grpSpPr>
          <a:xfrm>
            <a:off x="1105186" y="2648862"/>
            <a:ext cx="156392" cy="131501"/>
            <a:chOff x="1105186" y="2648862"/>
            <a:chExt cx="156392" cy="131501"/>
          </a:xfrm>
        </p:grpSpPr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04067912-C0F8-0653-E1F0-008CB264F876}"/>
                </a:ext>
              </a:extLst>
            </p:cNvPr>
            <p:cNvSpPr/>
            <p:nvPr/>
          </p:nvSpPr>
          <p:spPr>
            <a:xfrm>
              <a:off x="1105186" y="2648862"/>
              <a:ext cx="156392" cy="131501"/>
            </a:xfrm>
            <a:custGeom>
              <a:avLst/>
              <a:gdLst>
                <a:gd name="csX0" fmla="*/ 152792 w 156392"/>
                <a:gd name="csY0" fmla="*/ 64754 h 131501"/>
                <a:gd name="csX1" fmla="*/ 155171 w 156392"/>
                <a:gd name="csY1" fmla="*/ 58709 h 131501"/>
                <a:gd name="csX2" fmla="*/ 156392 w 156392"/>
                <a:gd name="csY2" fmla="*/ 52343 h 131501"/>
                <a:gd name="csX3" fmla="*/ 156199 w 156392"/>
                <a:gd name="csY3" fmla="*/ 45913 h 131501"/>
                <a:gd name="csX4" fmla="*/ 154399 w 156392"/>
                <a:gd name="csY4" fmla="*/ 39740 h 131501"/>
                <a:gd name="csX5" fmla="*/ 151121 w 156392"/>
                <a:gd name="csY5" fmla="*/ 34081 h 131501"/>
                <a:gd name="csX6" fmla="*/ 146557 w 156392"/>
                <a:gd name="csY6" fmla="*/ 29001 h 131501"/>
                <a:gd name="csX7" fmla="*/ 141029 w 156392"/>
                <a:gd name="csY7" fmla="*/ 24757 h 131501"/>
                <a:gd name="csX8" fmla="*/ 134987 w 156392"/>
                <a:gd name="csY8" fmla="*/ 21220 h 131501"/>
                <a:gd name="csX9" fmla="*/ 128752 w 156392"/>
                <a:gd name="csY9" fmla="*/ 18327 h 131501"/>
                <a:gd name="csX10" fmla="*/ 122645 w 156392"/>
                <a:gd name="csY10" fmla="*/ 15754 h 131501"/>
                <a:gd name="csX11" fmla="*/ 116667 w 156392"/>
                <a:gd name="csY11" fmla="*/ 13375 h 131501"/>
                <a:gd name="csX12" fmla="*/ 111011 w 156392"/>
                <a:gd name="csY12" fmla="*/ 11060 h 131501"/>
                <a:gd name="csX13" fmla="*/ 105418 w 156392"/>
                <a:gd name="csY13" fmla="*/ 8617 h 131501"/>
                <a:gd name="csX14" fmla="*/ 99826 w 156392"/>
                <a:gd name="csY14" fmla="*/ 6237 h 131501"/>
                <a:gd name="csX15" fmla="*/ 94041 w 156392"/>
                <a:gd name="csY15" fmla="*/ 3923 h 131501"/>
                <a:gd name="csX16" fmla="*/ 87999 w 156392"/>
                <a:gd name="csY16" fmla="*/ 1993 h 131501"/>
                <a:gd name="csX17" fmla="*/ 81764 w 156392"/>
                <a:gd name="csY17" fmla="*/ 643 h 131501"/>
                <a:gd name="csX18" fmla="*/ 75271 w 156392"/>
                <a:gd name="csY18" fmla="*/ 0 h 131501"/>
                <a:gd name="csX19" fmla="*/ 68779 w 156392"/>
                <a:gd name="csY19" fmla="*/ 129 h 131501"/>
                <a:gd name="csX20" fmla="*/ 62351 w 156392"/>
                <a:gd name="csY20" fmla="*/ 1157 h 131501"/>
                <a:gd name="csX21" fmla="*/ 56180 w 156392"/>
                <a:gd name="csY21" fmla="*/ 2829 h 131501"/>
                <a:gd name="csX22" fmla="*/ 50202 w 156392"/>
                <a:gd name="csY22" fmla="*/ 4952 h 131501"/>
                <a:gd name="csX23" fmla="*/ 44481 w 156392"/>
                <a:gd name="csY23" fmla="*/ 7459 h 131501"/>
                <a:gd name="csX24" fmla="*/ 38953 w 156392"/>
                <a:gd name="csY24" fmla="*/ 10160 h 131501"/>
                <a:gd name="csX25" fmla="*/ 33490 w 156392"/>
                <a:gd name="csY25" fmla="*/ 12925 h 131501"/>
                <a:gd name="csX26" fmla="*/ 27962 w 156392"/>
                <a:gd name="csY26" fmla="*/ 15819 h 131501"/>
                <a:gd name="csX27" fmla="*/ 22434 w 156392"/>
                <a:gd name="csY27" fmla="*/ 18841 h 131501"/>
                <a:gd name="csX28" fmla="*/ 16970 w 156392"/>
                <a:gd name="csY28" fmla="*/ 22313 h 131501"/>
                <a:gd name="csX29" fmla="*/ 11892 w 156392"/>
                <a:gd name="csY29" fmla="*/ 26236 h 131501"/>
                <a:gd name="csX30" fmla="*/ 7392 w 156392"/>
                <a:gd name="csY30" fmla="*/ 30737 h 131501"/>
                <a:gd name="csX31" fmla="*/ 3728 w 156392"/>
                <a:gd name="csY31" fmla="*/ 35817 h 131501"/>
                <a:gd name="csX32" fmla="*/ 1221 w 156392"/>
                <a:gd name="csY32" fmla="*/ 41347 h 131501"/>
                <a:gd name="csX33" fmla="*/ 0 w 156392"/>
                <a:gd name="csY33" fmla="*/ 47263 h 131501"/>
                <a:gd name="csX34" fmla="*/ 0 w 156392"/>
                <a:gd name="csY34" fmla="*/ 53243 h 131501"/>
                <a:gd name="csX35" fmla="*/ 1093 w 156392"/>
                <a:gd name="csY35" fmla="*/ 59095 h 131501"/>
                <a:gd name="csX36" fmla="*/ 2893 w 156392"/>
                <a:gd name="csY36" fmla="*/ 64754 h 131501"/>
                <a:gd name="csX37" fmla="*/ 5014 w 156392"/>
                <a:gd name="csY37" fmla="*/ 70091 h 131501"/>
                <a:gd name="csX38" fmla="*/ 7264 w 156392"/>
                <a:gd name="csY38" fmla="*/ 75171 h 131501"/>
                <a:gd name="csX39" fmla="*/ 9192 w 156392"/>
                <a:gd name="csY39" fmla="*/ 80123 h 131501"/>
                <a:gd name="csX40" fmla="*/ 10799 w 156392"/>
                <a:gd name="csY40" fmla="*/ 85138 h 131501"/>
                <a:gd name="csX41" fmla="*/ 12149 w 156392"/>
                <a:gd name="csY41" fmla="*/ 90347 h 131501"/>
                <a:gd name="csX42" fmla="*/ 13370 w 156392"/>
                <a:gd name="csY42" fmla="*/ 95812 h 131501"/>
                <a:gd name="csX43" fmla="*/ 14784 w 156392"/>
                <a:gd name="csY43" fmla="*/ 101536 h 131501"/>
                <a:gd name="csX44" fmla="*/ 16777 w 156392"/>
                <a:gd name="csY44" fmla="*/ 107387 h 131501"/>
                <a:gd name="csX45" fmla="*/ 19605 w 156392"/>
                <a:gd name="csY45" fmla="*/ 113110 h 131501"/>
                <a:gd name="csX46" fmla="*/ 23398 w 156392"/>
                <a:gd name="csY46" fmla="*/ 118383 h 131501"/>
                <a:gd name="csX47" fmla="*/ 28283 w 156392"/>
                <a:gd name="csY47" fmla="*/ 123013 h 131501"/>
                <a:gd name="csX48" fmla="*/ 34068 w 156392"/>
                <a:gd name="csY48" fmla="*/ 126678 h 131501"/>
                <a:gd name="csX49" fmla="*/ 40625 w 156392"/>
                <a:gd name="csY49" fmla="*/ 129315 h 131501"/>
                <a:gd name="csX50" fmla="*/ 47567 w 156392"/>
                <a:gd name="csY50" fmla="*/ 130858 h 131501"/>
                <a:gd name="csX51" fmla="*/ 54638 w 156392"/>
                <a:gd name="csY51" fmla="*/ 131501 h 131501"/>
                <a:gd name="csX52" fmla="*/ 61708 w 156392"/>
                <a:gd name="csY52" fmla="*/ 131501 h 131501"/>
                <a:gd name="csX53" fmla="*/ 68586 w 156392"/>
                <a:gd name="csY53" fmla="*/ 130922 h 131501"/>
                <a:gd name="csX54" fmla="*/ 75271 w 156392"/>
                <a:gd name="csY54" fmla="*/ 130151 h 131501"/>
                <a:gd name="csX55" fmla="*/ 81764 w 156392"/>
                <a:gd name="csY55" fmla="*/ 129122 h 131501"/>
                <a:gd name="csX56" fmla="*/ 88127 w 156392"/>
                <a:gd name="csY56" fmla="*/ 127964 h 131501"/>
                <a:gd name="csX57" fmla="*/ 94362 w 156392"/>
                <a:gd name="csY57" fmla="*/ 126614 h 131501"/>
                <a:gd name="csX58" fmla="*/ 100469 w 156392"/>
                <a:gd name="csY58" fmla="*/ 124942 h 131501"/>
                <a:gd name="csX59" fmla="*/ 106383 w 156392"/>
                <a:gd name="csY59" fmla="*/ 122756 h 131501"/>
                <a:gd name="csX60" fmla="*/ 111975 w 156392"/>
                <a:gd name="csY60" fmla="*/ 119926 h 131501"/>
                <a:gd name="csX61" fmla="*/ 116989 w 156392"/>
                <a:gd name="csY61" fmla="*/ 116518 h 131501"/>
                <a:gd name="csX62" fmla="*/ 121424 w 156392"/>
                <a:gd name="csY62" fmla="*/ 112531 h 131501"/>
                <a:gd name="csX63" fmla="*/ 125216 w 156392"/>
                <a:gd name="csY63" fmla="*/ 108159 h 131501"/>
                <a:gd name="csX64" fmla="*/ 128430 w 156392"/>
                <a:gd name="csY64" fmla="*/ 103465 h 131501"/>
                <a:gd name="csX65" fmla="*/ 131194 w 156392"/>
                <a:gd name="csY65" fmla="*/ 98771 h 131501"/>
                <a:gd name="csX66" fmla="*/ 133830 w 156392"/>
                <a:gd name="csY66" fmla="*/ 94076 h 131501"/>
                <a:gd name="csX67" fmla="*/ 136465 w 156392"/>
                <a:gd name="csY67" fmla="*/ 89511 h 131501"/>
                <a:gd name="csX68" fmla="*/ 139422 w 156392"/>
                <a:gd name="csY68" fmla="*/ 85010 h 131501"/>
                <a:gd name="csX69" fmla="*/ 142636 w 156392"/>
                <a:gd name="csY69" fmla="*/ 80444 h 131501"/>
                <a:gd name="csX70" fmla="*/ 146107 w 156392"/>
                <a:gd name="csY70" fmla="*/ 75621 h 131501"/>
                <a:gd name="csX71" fmla="*/ 149643 w 156392"/>
                <a:gd name="csY71" fmla="*/ 70413 h 131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156392" h="131501">
                  <a:moveTo>
                    <a:pt x="152792" y="64754"/>
                  </a:moveTo>
                  <a:lnTo>
                    <a:pt x="155171" y="58709"/>
                  </a:lnTo>
                  <a:lnTo>
                    <a:pt x="156392" y="52343"/>
                  </a:lnTo>
                  <a:lnTo>
                    <a:pt x="156199" y="45913"/>
                  </a:lnTo>
                  <a:lnTo>
                    <a:pt x="154399" y="39740"/>
                  </a:lnTo>
                  <a:lnTo>
                    <a:pt x="151121" y="34081"/>
                  </a:lnTo>
                  <a:lnTo>
                    <a:pt x="146557" y="29001"/>
                  </a:lnTo>
                  <a:lnTo>
                    <a:pt x="141029" y="24757"/>
                  </a:lnTo>
                  <a:lnTo>
                    <a:pt x="134987" y="21220"/>
                  </a:lnTo>
                  <a:lnTo>
                    <a:pt x="128752" y="18327"/>
                  </a:lnTo>
                  <a:lnTo>
                    <a:pt x="122645" y="15754"/>
                  </a:lnTo>
                  <a:lnTo>
                    <a:pt x="116667" y="13375"/>
                  </a:lnTo>
                  <a:lnTo>
                    <a:pt x="111011" y="11060"/>
                  </a:lnTo>
                  <a:lnTo>
                    <a:pt x="105418" y="8617"/>
                  </a:lnTo>
                  <a:lnTo>
                    <a:pt x="99826" y="6237"/>
                  </a:lnTo>
                  <a:lnTo>
                    <a:pt x="94041" y="3923"/>
                  </a:lnTo>
                  <a:lnTo>
                    <a:pt x="87999" y="1993"/>
                  </a:lnTo>
                  <a:lnTo>
                    <a:pt x="81764" y="643"/>
                  </a:lnTo>
                  <a:lnTo>
                    <a:pt x="75271" y="0"/>
                  </a:lnTo>
                  <a:lnTo>
                    <a:pt x="68779" y="129"/>
                  </a:lnTo>
                  <a:lnTo>
                    <a:pt x="62351" y="1157"/>
                  </a:lnTo>
                  <a:lnTo>
                    <a:pt x="56180" y="2829"/>
                  </a:lnTo>
                  <a:lnTo>
                    <a:pt x="50202" y="4952"/>
                  </a:lnTo>
                  <a:lnTo>
                    <a:pt x="44481" y="7459"/>
                  </a:lnTo>
                  <a:lnTo>
                    <a:pt x="38953" y="10160"/>
                  </a:lnTo>
                  <a:lnTo>
                    <a:pt x="33490" y="12925"/>
                  </a:lnTo>
                  <a:lnTo>
                    <a:pt x="27962" y="15819"/>
                  </a:lnTo>
                  <a:lnTo>
                    <a:pt x="22434" y="18841"/>
                  </a:lnTo>
                  <a:lnTo>
                    <a:pt x="16970" y="22313"/>
                  </a:lnTo>
                  <a:lnTo>
                    <a:pt x="11892" y="26236"/>
                  </a:lnTo>
                  <a:lnTo>
                    <a:pt x="7392" y="30737"/>
                  </a:lnTo>
                  <a:lnTo>
                    <a:pt x="3728" y="35817"/>
                  </a:lnTo>
                  <a:lnTo>
                    <a:pt x="1221" y="41347"/>
                  </a:lnTo>
                  <a:lnTo>
                    <a:pt x="0" y="47263"/>
                  </a:lnTo>
                  <a:lnTo>
                    <a:pt x="0" y="53243"/>
                  </a:lnTo>
                  <a:lnTo>
                    <a:pt x="1093" y="59095"/>
                  </a:lnTo>
                  <a:lnTo>
                    <a:pt x="2893" y="64754"/>
                  </a:lnTo>
                  <a:lnTo>
                    <a:pt x="5014" y="70091"/>
                  </a:lnTo>
                  <a:lnTo>
                    <a:pt x="7264" y="75171"/>
                  </a:lnTo>
                  <a:lnTo>
                    <a:pt x="9192" y="80123"/>
                  </a:lnTo>
                  <a:lnTo>
                    <a:pt x="10799" y="85138"/>
                  </a:lnTo>
                  <a:lnTo>
                    <a:pt x="12149" y="90347"/>
                  </a:lnTo>
                  <a:lnTo>
                    <a:pt x="13370" y="95812"/>
                  </a:lnTo>
                  <a:lnTo>
                    <a:pt x="14784" y="101536"/>
                  </a:lnTo>
                  <a:lnTo>
                    <a:pt x="16777" y="107387"/>
                  </a:lnTo>
                  <a:lnTo>
                    <a:pt x="19605" y="113110"/>
                  </a:lnTo>
                  <a:lnTo>
                    <a:pt x="23398" y="118383"/>
                  </a:lnTo>
                  <a:lnTo>
                    <a:pt x="28283" y="123013"/>
                  </a:lnTo>
                  <a:lnTo>
                    <a:pt x="34068" y="126678"/>
                  </a:lnTo>
                  <a:lnTo>
                    <a:pt x="40625" y="129315"/>
                  </a:lnTo>
                  <a:lnTo>
                    <a:pt x="47567" y="130858"/>
                  </a:lnTo>
                  <a:lnTo>
                    <a:pt x="54638" y="131501"/>
                  </a:lnTo>
                  <a:lnTo>
                    <a:pt x="61708" y="131501"/>
                  </a:lnTo>
                  <a:lnTo>
                    <a:pt x="68586" y="130922"/>
                  </a:lnTo>
                  <a:lnTo>
                    <a:pt x="75271" y="130151"/>
                  </a:lnTo>
                  <a:lnTo>
                    <a:pt x="81764" y="129122"/>
                  </a:lnTo>
                  <a:lnTo>
                    <a:pt x="88127" y="127964"/>
                  </a:lnTo>
                  <a:lnTo>
                    <a:pt x="94362" y="126614"/>
                  </a:lnTo>
                  <a:lnTo>
                    <a:pt x="100469" y="124942"/>
                  </a:lnTo>
                  <a:lnTo>
                    <a:pt x="106383" y="122756"/>
                  </a:lnTo>
                  <a:lnTo>
                    <a:pt x="111975" y="119926"/>
                  </a:lnTo>
                  <a:lnTo>
                    <a:pt x="116989" y="116518"/>
                  </a:lnTo>
                  <a:lnTo>
                    <a:pt x="121424" y="112531"/>
                  </a:lnTo>
                  <a:lnTo>
                    <a:pt x="125216" y="108159"/>
                  </a:lnTo>
                  <a:lnTo>
                    <a:pt x="128430" y="103465"/>
                  </a:lnTo>
                  <a:lnTo>
                    <a:pt x="131194" y="98771"/>
                  </a:lnTo>
                  <a:lnTo>
                    <a:pt x="133830" y="94076"/>
                  </a:lnTo>
                  <a:lnTo>
                    <a:pt x="136465" y="89511"/>
                  </a:lnTo>
                  <a:lnTo>
                    <a:pt x="139422" y="85010"/>
                  </a:lnTo>
                  <a:lnTo>
                    <a:pt x="142636" y="80444"/>
                  </a:lnTo>
                  <a:lnTo>
                    <a:pt x="146107" y="75621"/>
                  </a:lnTo>
                  <a:lnTo>
                    <a:pt x="149643" y="70413"/>
                  </a:lnTo>
                  <a:close/>
                </a:path>
              </a:pathLst>
            </a:custGeom>
            <a:solidFill>
              <a:srgbClr val="E05C4E"/>
            </a:solidFill>
            <a:ln w="6425" cap="flat">
              <a:solidFill>
                <a:srgbClr val="B23F3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DD8B66E7-EDFA-517F-B25C-FE9EEC2E11E1}"/>
                </a:ext>
              </a:extLst>
            </p:cNvPr>
            <p:cNvSpPr/>
            <p:nvPr/>
          </p:nvSpPr>
          <p:spPr>
            <a:xfrm>
              <a:off x="1178416" y="2652785"/>
              <a:ext cx="4082" cy="118833"/>
            </a:xfrm>
            <a:custGeom>
              <a:avLst/>
              <a:gdLst>
                <a:gd name="csX0" fmla="*/ 2041 w 4082"/>
                <a:gd name="csY0" fmla="*/ 0 h 118833"/>
                <a:gd name="csX1" fmla="*/ 2041 w 4082"/>
                <a:gd name="csY1" fmla="*/ 118833 h 118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082" h="118833">
                  <a:moveTo>
                    <a:pt x="2041" y="0"/>
                  </a:moveTo>
                  <a:cubicBezTo>
                    <a:pt x="9112" y="39611"/>
                    <a:pt x="-5030" y="82051"/>
                    <a:pt x="2041" y="118833"/>
                  </a:cubicBezTo>
                </a:path>
              </a:pathLst>
            </a:custGeom>
            <a:noFill/>
            <a:ln w="5462" cap="rnd">
              <a:solidFill>
                <a:srgbClr val="FFFFFF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1622984B-A4C3-FEFD-1E41-BF453078BEF5}"/>
                </a:ext>
              </a:extLst>
            </p:cNvPr>
            <p:cNvSpPr/>
            <p:nvPr/>
          </p:nvSpPr>
          <p:spPr>
            <a:xfrm>
              <a:off x="1125305" y="2685322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2" y="-1886"/>
                    <a:pt x="21212" y="-1886"/>
                    <a:pt x="21212" y="5659"/>
                  </a:cubicBezTo>
                  <a:cubicBezTo>
                    <a:pt x="21212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0101655E-40B5-2B43-E0BB-65B5B9664D4A}"/>
                </a:ext>
              </a:extLst>
            </p:cNvPr>
            <p:cNvSpPr/>
            <p:nvPr/>
          </p:nvSpPr>
          <p:spPr>
            <a:xfrm>
              <a:off x="1129548" y="2724226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78286946-601A-DDEE-BB61-A84B403A9281}"/>
                </a:ext>
              </a:extLst>
            </p:cNvPr>
            <p:cNvSpPr/>
            <p:nvPr/>
          </p:nvSpPr>
          <p:spPr>
            <a:xfrm>
              <a:off x="1193185" y="2686737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1" y="-1886"/>
                    <a:pt x="21212" y="-1886"/>
                    <a:pt x="21212" y="5659"/>
                  </a:cubicBezTo>
                  <a:cubicBezTo>
                    <a:pt x="21212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707CEEAB-9748-2F0F-A88C-6F57DF69BF15}"/>
                </a:ext>
              </a:extLst>
            </p:cNvPr>
            <p:cNvSpPr/>
            <p:nvPr/>
          </p:nvSpPr>
          <p:spPr>
            <a:xfrm>
              <a:off x="1194599" y="2725641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BE351425-5C91-456D-A6AF-79E771D723D5}"/>
              </a:ext>
            </a:extLst>
          </p:cNvPr>
          <p:cNvSpPr txBox="1"/>
          <p:nvPr/>
        </p:nvSpPr>
        <p:spPr>
          <a:xfrm>
            <a:off x="1243288" y="2570235"/>
            <a:ext cx="1313636" cy="187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b="1" spc="0" baseline="0">
                <a:ln/>
                <a:solidFill>
                  <a:srgbClr val="22314A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SIIPS1 — beyond nociception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91B9ABF-F854-CE71-2126-B974880A7F9D}"/>
              </a:ext>
            </a:extLst>
          </p:cNvPr>
          <p:cNvSpPr txBox="1"/>
          <p:nvPr/>
        </p:nvSpPr>
        <p:spPr>
          <a:xfrm>
            <a:off x="1243288" y="2690229"/>
            <a:ext cx="545750" cy="174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25" i="1" spc="0" baseline="0">
                <a:ln/>
                <a:solidFill>
                  <a:srgbClr val="7C8598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Woo · 2017</a:t>
            </a:r>
          </a:p>
        </p:txBody>
      </p:sp>
      <p:sp>
        <p:nvSpPr>
          <p:cNvPr id="68" name="Freeform 67">
            <a:extLst>
              <a:ext uri="{FF2B5EF4-FFF2-40B4-BE49-F238E27FC236}">
                <a16:creationId xmlns:a16="http://schemas.microsoft.com/office/drawing/2014/main" id="{4E7DFCB7-E798-AAF0-E16E-0AC80B82CED2}"/>
              </a:ext>
            </a:extLst>
          </p:cNvPr>
          <p:cNvSpPr/>
          <p:nvPr/>
        </p:nvSpPr>
        <p:spPr>
          <a:xfrm>
            <a:off x="884771" y="2089870"/>
            <a:ext cx="128558" cy="983846"/>
          </a:xfrm>
          <a:custGeom>
            <a:avLst/>
            <a:gdLst>
              <a:gd name="csX0" fmla="*/ 0 w 128558"/>
              <a:gd name="csY0" fmla="*/ 0 h 983846"/>
              <a:gd name="csX1" fmla="*/ 128559 w 128558"/>
              <a:gd name="csY1" fmla="*/ 983847 h 98384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8558" h="983846">
                <a:moveTo>
                  <a:pt x="0" y="0"/>
                </a:moveTo>
                <a:cubicBezTo>
                  <a:pt x="0" y="983847"/>
                  <a:pt x="64279" y="983847"/>
                  <a:pt x="128559" y="983847"/>
                </a:cubicBezTo>
              </a:path>
            </a:pathLst>
          </a:custGeom>
          <a:noFill/>
          <a:ln w="12851" cap="flat">
            <a:solidFill>
              <a:srgbClr val="E05C4E">
                <a:alpha val="4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265BAFEB-9342-90FB-9DF9-87ECC6107804}"/>
              </a:ext>
            </a:extLst>
          </p:cNvPr>
          <p:cNvSpPr/>
          <p:nvPr/>
        </p:nvSpPr>
        <p:spPr>
          <a:xfrm>
            <a:off x="1013330" y="2919388"/>
            <a:ext cx="1722690" cy="308657"/>
          </a:xfrm>
          <a:prstGeom prst="roundRect">
            <a:avLst>
              <a:gd name="adj" fmla="val 24990"/>
            </a:avLst>
          </a:prstGeom>
          <a:solidFill>
            <a:srgbClr val="FFFFFF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CB810FFF-ECAD-9C9A-F130-899EEE643F23}"/>
              </a:ext>
            </a:extLst>
          </p:cNvPr>
          <p:cNvSpPr/>
          <p:nvPr/>
        </p:nvSpPr>
        <p:spPr>
          <a:xfrm>
            <a:off x="1013330" y="2919388"/>
            <a:ext cx="32139" cy="308657"/>
          </a:xfrm>
          <a:prstGeom prst="roundRect">
            <a:avLst>
              <a:gd name="adj" fmla="val 50000"/>
            </a:avLst>
          </a:prstGeom>
          <a:solidFill>
            <a:srgbClr val="E05C4E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FC51067F-F0EE-A30B-672B-3A2FF97BBF0E}"/>
              </a:ext>
            </a:extLst>
          </p:cNvPr>
          <p:cNvSpPr/>
          <p:nvPr/>
        </p:nvSpPr>
        <p:spPr>
          <a:xfrm>
            <a:off x="1084038" y="2977261"/>
            <a:ext cx="192838" cy="192911"/>
          </a:xfrm>
          <a:prstGeom prst="ellipse">
            <a:avLst/>
          </a:prstGeom>
          <a:solidFill>
            <a:srgbClr val="FBEAE7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72" name="Graphic 2">
            <a:extLst>
              <a:ext uri="{FF2B5EF4-FFF2-40B4-BE49-F238E27FC236}">
                <a16:creationId xmlns:a16="http://schemas.microsoft.com/office/drawing/2014/main" id="{9AE71458-3674-0962-0604-4BF682ACD8D4}"/>
              </a:ext>
            </a:extLst>
          </p:cNvPr>
          <p:cNvGrpSpPr/>
          <p:nvPr/>
        </p:nvGrpSpPr>
        <p:grpSpPr>
          <a:xfrm>
            <a:off x="1105186" y="3008963"/>
            <a:ext cx="156392" cy="131501"/>
            <a:chOff x="1105186" y="3008963"/>
            <a:chExt cx="156392" cy="131501"/>
          </a:xfrm>
        </p:grpSpPr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DC748F5C-8149-AF68-1F6F-E947C6EAE2FF}"/>
                </a:ext>
              </a:extLst>
            </p:cNvPr>
            <p:cNvSpPr/>
            <p:nvPr/>
          </p:nvSpPr>
          <p:spPr>
            <a:xfrm>
              <a:off x="1105186" y="3008963"/>
              <a:ext cx="156392" cy="131501"/>
            </a:xfrm>
            <a:custGeom>
              <a:avLst/>
              <a:gdLst>
                <a:gd name="csX0" fmla="*/ 152792 w 156392"/>
                <a:gd name="csY0" fmla="*/ 64754 h 131501"/>
                <a:gd name="csX1" fmla="*/ 155171 w 156392"/>
                <a:gd name="csY1" fmla="*/ 58709 h 131501"/>
                <a:gd name="csX2" fmla="*/ 156392 w 156392"/>
                <a:gd name="csY2" fmla="*/ 52343 h 131501"/>
                <a:gd name="csX3" fmla="*/ 156199 w 156392"/>
                <a:gd name="csY3" fmla="*/ 45913 h 131501"/>
                <a:gd name="csX4" fmla="*/ 154399 w 156392"/>
                <a:gd name="csY4" fmla="*/ 39740 h 131501"/>
                <a:gd name="csX5" fmla="*/ 151121 w 156392"/>
                <a:gd name="csY5" fmla="*/ 34081 h 131501"/>
                <a:gd name="csX6" fmla="*/ 146557 w 156392"/>
                <a:gd name="csY6" fmla="*/ 29001 h 131501"/>
                <a:gd name="csX7" fmla="*/ 141029 w 156392"/>
                <a:gd name="csY7" fmla="*/ 24757 h 131501"/>
                <a:gd name="csX8" fmla="*/ 134987 w 156392"/>
                <a:gd name="csY8" fmla="*/ 21220 h 131501"/>
                <a:gd name="csX9" fmla="*/ 128752 w 156392"/>
                <a:gd name="csY9" fmla="*/ 18327 h 131501"/>
                <a:gd name="csX10" fmla="*/ 122645 w 156392"/>
                <a:gd name="csY10" fmla="*/ 15754 h 131501"/>
                <a:gd name="csX11" fmla="*/ 116667 w 156392"/>
                <a:gd name="csY11" fmla="*/ 13375 h 131501"/>
                <a:gd name="csX12" fmla="*/ 111011 w 156392"/>
                <a:gd name="csY12" fmla="*/ 11060 h 131501"/>
                <a:gd name="csX13" fmla="*/ 105418 w 156392"/>
                <a:gd name="csY13" fmla="*/ 8617 h 131501"/>
                <a:gd name="csX14" fmla="*/ 99826 w 156392"/>
                <a:gd name="csY14" fmla="*/ 6237 h 131501"/>
                <a:gd name="csX15" fmla="*/ 94041 w 156392"/>
                <a:gd name="csY15" fmla="*/ 3923 h 131501"/>
                <a:gd name="csX16" fmla="*/ 87999 w 156392"/>
                <a:gd name="csY16" fmla="*/ 1993 h 131501"/>
                <a:gd name="csX17" fmla="*/ 81764 w 156392"/>
                <a:gd name="csY17" fmla="*/ 643 h 131501"/>
                <a:gd name="csX18" fmla="*/ 75271 w 156392"/>
                <a:gd name="csY18" fmla="*/ 0 h 131501"/>
                <a:gd name="csX19" fmla="*/ 68779 w 156392"/>
                <a:gd name="csY19" fmla="*/ 129 h 131501"/>
                <a:gd name="csX20" fmla="*/ 62351 w 156392"/>
                <a:gd name="csY20" fmla="*/ 1157 h 131501"/>
                <a:gd name="csX21" fmla="*/ 56180 w 156392"/>
                <a:gd name="csY21" fmla="*/ 2829 h 131501"/>
                <a:gd name="csX22" fmla="*/ 50202 w 156392"/>
                <a:gd name="csY22" fmla="*/ 4952 h 131501"/>
                <a:gd name="csX23" fmla="*/ 44481 w 156392"/>
                <a:gd name="csY23" fmla="*/ 7459 h 131501"/>
                <a:gd name="csX24" fmla="*/ 38953 w 156392"/>
                <a:gd name="csY24" fmla="*/ 10160 h 131501"/>
                <a:gd name="csX25" fmla="*/ 33490 w 156392"/>
                <a:gd name="csY25" fmla="*/ 12925 h 131501"/>
                <a:gd name="csX26" fmla="*/ 27962 w 156392"/>
                <a:gd name="csY26" fmla="*/ 15819 h 131501"/>
                <a:gd name="csX27" fmla="*/ 22434 w 156392"/>
                <a:gd name="csY27" fmla="*/ 18841 h 131501"/>
                <a:gd name="csX28" fmla="*/ 16970 w 156392"/>
                <a:gd name="csY28" fmla="*/ 22313 h 131501"/>
                <a:gd name="csX29" fmla="*/ 11892 w 156392"/>
                <a:gd name="csY29" fmla="*/ 26236 h 131501"/>
                <a:gd name="csX30" fmla="*/ 7392 w 156392"/>
                <a:gd name="csY30" fmla="*/ 30737 h 131501"/>
                <a:gd name="csX31" fmla="*/ 3728 w 156392"/>
                <a:gd name="csY31" fmla="*/ 35817 h 131501"/>
                <a:gd name="csX32" fmla="*/ 1221 w 156392"/>
                <a:gd name="csY32" fmla="*/ 41347 h 131501"/>
                <a:gd name="csX33" fmla="*/ 0 w 156392"/>
                <a:gd name="csY33" fmla="*/ 47263 h 131501"/>
                <a:gd name="csX34" fmla="*/ 0 w 156392"/>
                <a:gd name="csY34" fmla="*/ 53243 h 131501"/>
                <a:gd name="csX35" fmla="*/ 1093 w 156392"/>
                <a:gd name="csY35" fmla="*/ 59095 h 131501"/>
                <a:gd name="csX36" fmla="*/ 2893 w 156392"/>
                <a:gd name="csY36" fmla="*/ 64754 h 131501"/>
                <a:gd name="csX37" fmla="*/ 5014 w 156392"/>
                <a:gd name="csY37" fmla="*/ 70091 h 131501"/>
                <a:gd name="csX38" fmla="*/ 7264 w 156392"/>
                <a:gd name="csY38" fmla="*/ 75171 h 131501"/>
                <a:gd name="csX39" fmla="*/ 9192 w 156392"/>
                <a:gd name="csY39" fmla="*/ 80123 h 131501"/>
                <a:gd name="csX40" fmla="*/ 10799 w 156392"/>
                <a:gd name="csY40" fmla="*/ 85138 h 131501"/>
                <a:gd name="csX41" fmla="*/ 12149 w 156392"/>
                <a:gd name="csY41" fmla="*/ 90347 h 131501"/>
                <a:gd name="csX42" fmla="*/ 13370 w 156392"/>
                <a:gd name="csY42" fmla="*/ 95812 h 131501"/>
                <a:gd name="csX43" fmla="*/ 14784 w 156392"/>
                <a:gd name="csY43" fmla="*/ 101536 h 131501"/>
                <a:gd name="csX44" fmla="*/ 16777 w 156392"/>
                <a:gd name="csY44" fmla="*/ 107387 h 131501"/>
                <a:gd name="csX45" fmla="*/ 19605 w 156392"/>
                <a:gd name="csY45" fmla="*/ 113110 h 131501"/>
                <a:gd name="csX46" fmla="*/ 23398 w 156392"/>
                <a:gd name="csY46" fmla="*/ 118383 h 131501"/>
                <a:gd name="csX47" fmla="*/ 28283 w 156392"/>
                <a:gd name="csY47" fmla="*/ 123013 h 131501"/>
                <a:gd name="csX48" fmla="*/ 34068 w 156392"/>
                <a:gd name="csY48" fmla="*/ 126678 h 131501"/>
                <a:gd name="csX49" fmla="*/ 40625 w 156392"/>
                <a:gd name="csY49" fmla="*/ 129315 h 131501"/>
                <a:gd name="csX50" fmla="*/ 47567 w 156392"/>
                <a:gd name="csY50" fmla="*/ 130858 h 131501"/>
                <a:gd name="csX51" fmla="*/ 54638 w 156392"/>
                <a:gd name="csY51" fmla="*/ 131501 h 131501"/>
                <a:gd name="csX52" fmla="*/ 61708 w 156392"/>
                <a:gd name="csY52" fmla="*/ 131501 h 131501"/>
                <a:gd name="csX53" fmla="*/ 68586 w 156392"/>
                <a:gd name="csY53" fmla="*/ 130922 h 131501"/>
                <a:gd name="csX54" fmla="*/ 75271 w 156392"/>
                <a:gd name="csY54" fmla="*/ 130151 h 131501"/>
                <a:gd name="csX55" fmla="*/ 81764 w 156392"/>
                <a:gd name="csY55" fmla="*/ 129122 h 131501"/>
                <a:gd name="csX56" fmla="*/ 88127 w 156392"/>
                <a:gd name="csY56" fmla="*/ 127964 h 131501"/>
                <a:gd name="csX57" fmla="*/ 94362 w 156392"/>
                <a:gd name="csY57" fmla="*/ 126614 h 131501"/>
                <a:gd name="csX58" fmla="*/ 100469 w 156392"/>
                <a:gd name="csY58" fmla="*/ 124942 h 131501"/>
                <a:gd name="csX59" fmla="*/ 106383 w 156392"/>
                <a:gd name="csY59" fmla="*/ 122756 h 131501"/>
                <a:gd name="csX60" fmla="*/ 111975 w 156392"/>
                <a:gd name="csY60" fmla="*/ 119926 h 131501"/>
                <a:gd name="csX61" fmla="*/ 116989 w 156392"/>
                <a:gd name="csY61" fmla="*/ 116518 h 131501"/>
                <a:gd name="csX62" fmla="*/ 121424 w 156392"/>
                <a:gd name="csY62" fmla="*/ 112531 h 131501"/>
                <a:gd name="csX63" fmla="*/ 125216 w 156392"/>
                <a:gd name="csY63" fmla="*/ 108159 h 131501"/>
                <a:gd name="csX64" fmla="*/ 128430 w 156392"/>
                <a:gd name="csY64" fmla="*/ 103465 h 131501"/>
                <a:gd name="csX65" fmla="*/ 131194 w 156392"/>
                <a:gd name="csY65" fmla="*/ 98771 h 131501"/>
                <a:gd name="csX66" fmla="*/ 133830 w 156392"/>
                <a:gd name="csY66" fmla="*/ 94076 h 131501"/>
                <a:gd name="csX67" fmla="*/ 136465 w 156392"/>
                <a:gd name="csY67" fmla="*/ 89511 h 131501"/>
                <a:gd name="csX68" fmla="*/ 139422 w 156392"/>
                <a:gd name="csY68" fmla="*/ 85010 h 131501"/>
                <a:gd name="csX69" fmla="*/ 142636 w 156392"/>
                <a:gd name="csY69" fmla="*/ 80444 h 131501"/>
                <a:gd name="csX70" fmla="*/ 146107 w 156392"/>
                <a:gd name="csY70" fmla="*/ 75621 h 131501"/>
                <a:gd name="csX71" fmla="*/ 149643 w 156392"/>
                <a:gd name="csY71" fmla="*/ 70413 h 131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156392" h="131501">
                  <a:moveTo>
                    <a:pt x="152792" y="64754"/>
                  </a:moveTo>
                  <a:lnTo>
                    <a:pt x="155171" y="58709"/>
                  </a:lnTo>
                  <a:lnTo>
                    <a:pt x="156392" y="52343"/>
                  </a:lnTo>
                  <a:lnTo>
                    <a:pt x="156199" y="45913"/>
                  </a:lnTo>
                  <a:lnTo>
                    <a:pt x="154399" y="39740"/>
                  </a:lnTo>
                  <a:lnTo>
                    <a:pt x="151121" y="34081"/>
                  </a:lnTo>
                  <a:lnTo>
                    <a:pt x="146557" y="29001"/>
                  </a:lnTo>
                  <a:lnTo>
                    <a:pt x="141029" y="24757"/>
                  </a:lnTo>
                  <a:lnTo>
                    <a:pt x="134987" y="21220"/>
                  </a:lnTo>
                  <a:lnTo>
                    <a:pt x="128752" y="18327"/>
                  </a:lnTo>
                  <a:lnTo>
                    <a:pt x="122645" y="15754"/>
                  </a:lnTo>
                  <a:lnTo>
                    <a:pt x="116667" y="13375"/>
                  </a:lnTo>
                  <a:lnTo>
                    <a:pt x="111011" y="11060"/>
                  </a:lnTo>
                  <a:lnTo>
                    <a:pt x="105418" y="8617"/>
                  </a:lnTo>
                  <a:lnTo>
                    <a:pt x="99826" y="6237"/>
                  </a:lnTo>
                  <a:lnTo>
                    <a:pt x="94041" y="3923"/>
                  </a:lnTo>
                  <a:lnTo>
                    <a:pt x="87999" y="1993"/>
                  </a:lnTo>
                  <a:lnTo>
                    <a:pt x="81764" y="643"/>
                  </a:lnTo>
                  <a:lnTo>
                    <a:pt x="75271" y="0"/>
                  </a:lnTo>
                  <a:lnTo>
                    <a:pt x="68779" y="129"/>
                  </a:lnTo>
                  <a:lnTo>
                    <a:pt x="62351" y="1157"/>
                  </a:lnTo>
                  <a:lnTo>
                    <a:pt x="56180" y="2829"/>
                  </a:lnTo>
                  <a:lnTo>
                    <a:pt x="50202" y="4952"/>
                  </a:lnTo>
                  <a:lnTo>
                    <a:pt x="44481" y="7459"/>
                  </a:lnTo>
                  <a:lnTo>
                    <a:pt x="38953" y="10160"/>
                  </a:lnTo>
                  <a:lnTo>
                    <a:pt x="33490" y="12925"/>
                  </a:lnTo>
                  <a:lnTo>
                    <a:pt x="27962" y="15819"/>
                  </a:lnTo>
                  <a:lnTo>
                    <a:pt x="22434" y="18841"/>
                  </a:lnTo>
                  <a:lnTo>
                    <a:pt x="16970" y="22313"/>
                  </a:lnTo>
                  <a:lnTo>
                    <a:pt x="11892" y="26236"/>
                  </a:lnTo>
                  <a:lnTo>
                    <a:pt x="7392" y="30737"/>
                  </a:lnTo>
                  <a:lnTo>
                    <a:pt x="3728" y="35817"/>
                  </a:lnTo>
                  <a:lnTo>
                    <a:pt x="1221" y="41347"/>
                  </a:lnTo>
                  <a:lnTo>
                    <a:pt x="0" y="47263"/>
                  </a:lnTo>
                  <a:lnTo>
                    <a:pt x="0" y="53243"/>
                  </a:lnTo>
                  <a:lnTo>
                    <a:pt x="1093" y="59095"/>
                  </a:lnTo>
                  <a:lnTo>
                    <a:pt x="2893" y="64754"/>
                  </a:lnTo>
                  <a:lnTo>
                    <a:pt x="5014" y="70091"/>
                  </a:lnTo>
                  <a:lnTo>
                    <a:pt x="7264" y="75171"/>
                  </a:lnTo>
                  <a:lnTo>
                    <a:pt x="9192" y="80123"/>
                  </a:lnTo>
                  <a:lnTo>
                    <a:pt x="10799" y="85138"/>
                  </a:lnTo>
                  <a:lnTo>
                    <a:pt x="12149" y="90347"/>
                  </a:lnTo>
                  <a:lnTo>
                    <a:pt x="13370" y="95812"/>
                  </a:lnTo>
                  <a:lnTo>
                    <a:pt x="14784" y="101536"/>
                  </a:lnTo>
                  <a:lnTo>
                    <a:pt x="16777" y="107387"/>
                  </a:lnTo>
                  <a:lnTo>
                    <a:pt x="19605" y="113110"/>
                  </a:lnTo>
                  <a:lnTo>
                    <a:pt x="23398" y="118383"/>
                  </a:lnTo>
                  <a:lnTo>
                    <a:pt x="28283" y="123013"/>
                  </a:lnTo>
                  <a:lnTo>
                    <a:pt x="34068" y="126678"/>
                  </a:lnTo>
                  <a:lnTo>
                    <a:pt x="40625" y="129315"/>
                  </a:lnTo>
                  <a:lnTo>
                    <a:pt x="47567" y="130858"/>
                  </a:lnTo>
                  <a:lnTo>
                    <a:pt x="54638" y="131501"/>
                  </a:lnTo>
                  <a:lnTo>
                    <a:pt x="61708" y="131501"/>
                  </a:lnTo>
                  <a:lnTo>
                    <a:pt x="68586" y="130922"/>
                  </a:lnTo>
                  <a:lnTo>
                    <a:pt x="75271" y="130151"/>
                  </a:lnTo>
                  <a:lnTo>
                    <a:pt x="81764" y="129122"/>
                  </a:lnTo>
                  <a:lnTo>
                    <a:pt x="88127" y="127964"/>
                  </a:lnTo>
                  <a:lnTo>
                    <a:pt x="94362" y="126614"/>
                  </a:lnTo>
                  <a:lnTo>
                    <a:pt x="100469" y="124942"/>
                  </a:lnTo>
                  <a:lnTo>
                    <a:pt x="106383" y="122756"/>
                  </a:lnTo>
                  <a:lnTo>
                    <a:pt x="111975" y="119926"/>
                  </a:lnTo>
                  <a:lnTo>
                    <a:pt x="116989" y="116518"/>
                  </a:lnTo>
                  <a:lnTo>
                    <a:pt x="121424" y="112531"/>
                  </a:lnTo>
                  <a:lnTo>
                    <a:pt x="125216" y="108159"/>
                  </a:lnTo>
                  <a:lnTo>
                    <a:pt x="128430" y="103465"/>
                  </a:lnTo>
                  <a:lnTo>
                    <a:pt x="131194" y="98771"/>
                  </a:lnTo>
                  <a:lnTo>
                    <a:pt x="133830" y="94076"/>
                  </a:lnTo>
                  <a:lnTo>
                    <a:pt x="136465" y="89511"/>
                  </a:lnTo>
                  <a:lnTo>
                    <a:pt x="139422" y="85010"/>
                  </a:lnTo>
                  <a:lnTo>
                    <a:pt x="142636" y="80444"/>
                  </a:lnTo>
                  <a:lnTo>
                    <a:pt x="146107" y="75621"/>
                  </a:lnTo>
                  <a:lnTo>
                    <a:pt x="149643" y="70413"/>
                  </a:lnTo>
                  <a:close/>
                </a:path>
              </a:pathLst>
            </a:custGeom>
            <a:solidFill>
              <a:srgbClr val="E05C4E"/>
            </a:solidFill>
            <a:ln w="6425" cap="flat">
              <a:solidFill>
                <a:srgbClr val="B23F3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E41862DA-ED0D-5D8C-192C-484F12583A87}"/>
                </a:ext>
              </a:extLst>
            </p:cNvPr>
            <p:cNvSpPr/>
            <p:nvPr/>
          </p:nvSpPr>
          <p:spPr>
            <a:xfrm>
              <a:off x="1178416" y="3012886"/>
              <a:ext cx="4082" cy="118833"/>
            </a:xfrm>
            <a:custGeom>
              <a:avLst/>
              <a:gdLst>
                <a:gd name="csX0" fmla="*/ 2041 w 4082"/>
                <a:gd name="csY0" fmla="*/ 0 h 118833"/>
                <a:gd name="csX1" fmla="*/ 2041 w 4082"/>
                <a:gd name="csY1" fmla="*/ 118833 h 118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082" h="118833">
                  <a:moveTo>
                    <a:pt x="2041" y="0"/>
                  </a:moveTo>
                  <a:cubicBezTo>
                    <a:pt x="9112" y="39611"/>
                    <a:pt x="-5030" y="82051"/>
                    <a:pt x="2041" y="118833"/>
                  </a:cubicBezTo>
                </a:path>
              </a:pathLst>
            </a:custGeom>
            <a:noFill/>
            <a:ln w="5462" cap="rnd">
              <a:solidFill>
                <a:srgbClr val="FFFFFF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0F1C9D41-3BA1-53DF-7B08-7FE797DBEA1C}"/>
                </a:ext>
              </a:extLst>
            </p:cNvPr>
            <p:cNvSpPr/>
            <p:nvPr/>
          </p:nvSpPr>
          <p:spPr>
            <a:xfrm>
              <a:off x="1125305" y="3045423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2" y="-1886"/>
                    <a:pt x="21212" y="-1886"/>
                    <a:pt x="21212" y="5659"/>
                  </a:cubicBezTo>
                  <a:cubicBezTo>
                    <a:pt x="21212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6C1D0F37-2F93-74FB-36F2-769F5DD5F947}"/>
                </a:ext>
              </a:extLst>
            </p:cNvPr>
            <p:cNvSpPr/>
            <p:nvPr/>
          </p:nvSpPr>
          <p:spPr>
            <a:xfrm>
              <a:off x="1129548" y="3084327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0D41E7E6-442C-E1EF-3B6C-2195E886217B}"/>
                </a:ext>
              </a:extLst>
            </p:cNvPr>
            <p:cNvSpPr/>
            <p:nvPr/>
          </p:nvSpPr>
          <p:spPr>
            <a:xfrm>
              <a:off x="1193185" y="3046838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1" y="-1886"/>
                    <a:pt x="21212" y="-1886"/>
                    <a:pt x="21212" y="5659"/>
                  </a:cubicBezTo>
                  <a:cubicBezTo>
                    <a:pt x="21212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BD52D845-198A-FD84-FCEA-21732DDE5A95}"/>
                </a:ext>
              </a:extLst>
            </p:cNvPr>
            <p:cNvSpPr/>
            <p:nvPr/>
          </p:nvSpPr>
          <p:spPr>
            <a:xfrm>
              <a:off x="1194599" y="3085742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7793D4FD-2B13-90BD-E372-72944AFF0BEE}"/>
              </a:ext>
            </a:extLst>
          </p:cNvPr>
          <p:cNvSpPr txBox="1"/>
          <p:nvPr/>
        </p:nvSpPr>
        <p:spPr>
          <a:xfrm>
            <a:off x="1243288" y="2930336"/>
            <a:ext cx="1411662" cy="187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b="1" spc="0" baseline="0">
                <a:ln/>
                <a:solidFill>
                  <a:srgbClr val="22314A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Facial expression of pain (FEPS)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FD37341-73E1-6323-01F6-5261ECB0B40F}"/>
              </a:ext>
            </a:extLst>
          </p:cNvPr>
          <p:cNvSpPr txBox="1"/>
          <p:nvPr/>
        </p:nvSpPr>
        <p:spPr>
          <a:xfrm>
            <a:off x="1243288" y="3050329"/>
            <a:ext cx="600760" cy="174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25" i="1" spc="0" baseline="0">
                <a:ln/>
                <a:solidFill>
                  <a:srgbClr val="7C8598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Picard · 2024</a:t>
            </a:r>
          </a:p>
        </p:txBody>
      </p:sp>
      <p:sp>
        <p:nvSpPr>
          <p:cNvPr id="81" name="Freeform 80">
            <a:extLst>
              <a:ext uri="{FF2B5EF4-FFF2-40B4-BE49-F238E27FC236}">
                <a16:creationId xmlns:a16="http://schemas.microsoft.com/office/drawing/2014/main" id="{76387C45-8F95-20C2-A051-777AC4CF5BB7}"/>
              </a:ext>
            </a:extLst>
          </p:cNvPr>
          <p:cNvSpPr/>
          <p:nvPr/>
        </p:nvSpPr>
        <p:spPr>
          <a:xfrm>
            <a:off x="884771" y="2089870"/>
            <a:ext cx="128558" cy="1343947"/>
          </a:xfrm>
          <a:custGeom>
            <a:avLst/>
            <a:gdLst>
              <a:gd name="csX0" fmla="*/ 0 w 128558"/>
              <a:gd name="csY0" fmla="*/ 0 h 1343947"/>
              <a:gd name="csX1" fmla="*/ 128559 w 128558"/>
              <a:gd name="csY1" fmla="*/ 1343948 h 134394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8558" h="1343947">
                <a:moveTo>
                  <a:pt x="0" y="0"/>
                </a:moveTo>
                <a:cubicBezTo>
                  <a:pt x="0" y="1343948"/>
                  <a:pt x="64279" y="1343948"/>
                  <a:pt x="128559" y="1343948"/>
                </a:cubicBezTo>
              </a:path>
            </a:pathLst>
          </a:custGeom>
          <a:noFill/>
          <a:ln w="12851" cap="flat">
            <a:solidFill>
              <a:srgbClr val="E05C4E">
                <a:alpha val="4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0FCAF512-CA11-6A3A-7611-68E87A672871}"/>
              </a:ext>
            </a:extLst>
          </p:cNvPr>
          <p:cNvSpPr/>
          <p:nvPr/>
        </p:nvSpPr>
        <p:spPr>
          <a:xfrm>
            <a:off x="1013330" y="3279489"/>
            <a:ext cx="1722690" cy="308657"/>
          </a:xfrm>
          <a:prstGeom prst="roundRect">
            <a:avLst>
              <a:gd name="adj" fmla="val 24990"/>
            </a:avLst>
          </a:prstGeom>
          <a:solidFill>
            <a:srgbClr val="FFFFFF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6E26424D-FAE8-EEAB-7731-FF5A10A02DE4}"/>
              </a:ext>
            </a:extLst>
          </p:cNvPr>
          <p:cNvSpPr/>
          <p:nvPr/>
        </p:nvSpPr>
        <p:spPr>
          <a:xfrm>
            <a:off x="1013330" y="3279489"/>
            <a:ext cx="32139" cy="308657"/>
          </a:xfrm>
          <a:prstGeom prst="roundRect">
            <a:avLst>
              <a:gd name="adj" fmla="val 50000"/>
            </a:avLst>
          </a:prstGeom>
          <a:solidFill>
            <a:srgbClr val="E05C4E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379312EB-31D4-CE71-E391-AC85F3055DEE}"/>
              </a:ext>
            </a:extLst>
          </p:cNvPr>
          <p:cNvSpPr/>
          <p:nvPr/>
        </p:nvSpPr>
        <p:spPr>
          <a:xfrm>
            <a:off x="1084038" y="3337362"/>
            <a:ext cx="192838" cy="192911"/>
          </a:xfrm>
          <a:prstGeom prst="ellipse">
            <a:avLst/>
          </a:prstGeom>
          <a:solidFill>
            <a:srgbClr val="FBEAE7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85" name="Graphic 2">
            <a:extLst>
              <a:ext uri="{FF2B5EF4-FFF2-40B4-BE49-F238E27FC236}">
                <a16:creationId xmlns:a16="http://schemas.microsoft.com/office/drawing/2014/main" id="{EC15E2E6-AA93-0224-6A99-88AE08ECA765}"/>
              </a:ext>
            </a:extLst>
          </p:cNvPr>
          <p:cNvGrpSpPr/>
          <p:nvPr/>
        </p:nvGrpSpPr>
        <p:grpSpPr>
          <a:xfrm>
            <a:off x="1105186" y="3369064"/>
            <a:ext cx="156392" cy="131501"/>
            <a:chOff x="1105186" y="3369064"/>
            <a:chExt cx="156392" cy="131501"/>
          </a:xfrm>
        </p:grpSpPr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7232AA82-5D9B-46C6-37B4-18E1382A632D}"/>
                </a:ext>
              </a:extLst>
            </p:cNvPr>
            <p:cNvSpPr/>
            <p:nvPr/>
          </p:nvSpPr>
          <p:spPr>
            <a:xfrm>
              <a:off x="1105186" y="3369064"/>
              <a:ext cx="156392" cy="131501"/>
            </a:xfrm>
            <a:custGeom>
              <a:avLst/>
              <a:gdLst>
                <a:gd name="csX0" fmla="*/ 152792 w 156392"/>
                <a:gd name="csY0" fmla="*/ 64754 h 131501"/>
                <a:gd name="csX1" fmla="*/ 155171 w 156392"/>
                <a:gd name="csY1" fmla="*/ 58709 h 131501"/>
                <a:gd name="csX2" fmla="*/ 156392 w 156392"/>
                <a:gd name="csY2" fmla="*/ 52343 h 131501"/>
                <a:gd name="csX3" fmla="*/ 156199 w 156392"/>
                <a:gd name="csY3" fmla="*/ 45913 h 131501"/>
                <a:gd name="csX4" fmla="*/ 154399 w 156392"/>
                <a:gd name="csY4" fmla="*/ 39740 h 131501"/>
                <a:gd name="csX5" fmla="*/ 151121 w 156392"/>
                <a:gd name="csY5" fmla="*/ 34081 h 131501"/>
                <a:gd name="csX6" fmla="*/ 146557 w 156392"/>
                <a:gd name="csY6" fmla="*/ 29001 h 131501"/>
                <a:gd name="csX7" fmla="*/ 141029 w 156392"/>
                <a:gd name="csY7" fmla="*/ 24757 h 131501"/>
                <a:gd name="csX8" fmla="*/ 134987 w 156392"/>
                <a:gd name="csY8" fmla="*/ 21220 h 131501"/>
                <a:gd name="csX9" fmla="*/ 128752 w 156392"/>
                <a:gd name="csY9" fmla="*/ 18327 h 131501"/>
                <a:gd name="csX10" fmla="*/ 122645 w 156392"/>
                <a:gd name="csY10" fmla="*/ 15754 h 131501"/>
                <a:gd name="csX11" fmla="*/ 116667 w 156392"/>
                <a:gd name="csY11" fmla="*/ 13375 h 131501"/>
                <a:gd name="csX12" fmla="*/ 111011 w 156392"/>
                <a:gd name="csY12" fmla="*/ 11060 h 131501"/>
                <a:gd name="csX13" fmla="*/ 105418 w 156392"/>
                <a:gd name="csY13" fmla="*/ 8617 h 131501"/>
                <a:gd name="csX14" fmla="*/ 99826 w 156392"/>
                <a:gd name="csY14" fmla="*/ 6238 h 131501"/>
                <a:gd name="csX15" fmla="*/ 94041 w 156392"/>
                <a:gd name="csY15" fmla="*/ 3922 h 131501"/>
                <a:gd name="csX16" fmla="*/ 87999 w 156392"/>
                <a:gd name="csY16" fmla="*/ 1993 h 131501"/>
                <a:gd name="csX17" fmla="*/ 81764 w 156392"/>
                <a:gd name="csY17" fmla="*/ 643 h 131501"/>
                <a:gd name="csX18" fmla="*/ 75271 w 156392"/>
                <a:gd name="csY18" fmla="*/ 0 h 131501"/>
                <a:gd name="csX19" fmla="*/ 68779 w 156392"/>
                <a:gd name="csY19" fmla="*/ 129 h 131501"/>
                <a:gd name="csX20" fmla="*/ 62351 w 156392"/>
                <a:gd name="csY20" fmla="*/ 1157 h 131501"/>
                <a:gd name="csX21" fmla="*/ 56180 w 156392"/>
                <a:gd name="csY21" fmla="*/ 2829 h 131501"/>
                <a:gd name="csX22" fmla="*/ 50202 w 156392"/>
                <a:gd name="csY22" fmla="*/ 4952 h 131501"/>
                <a:gd name="csX23" fmla="*/ 44481 w 156392"/>
                <a:gd name="csY23" fmla="*/ 7459 h 131501"/>
                <a:gd name="csX24" fmla="*/ 38953 w 156392"/>
                <a:gd name="csY24" fmla="*/ 10160 h 131501"/>
                <a:gd name="csX25" fmla="*/ 33490 w 156392"/>
                <a:gd name="csY25" fmla="*/ 12925 h 131501"/>
                <a:gd name="csX26" fmla="*/ 27962 w 156392"/>
                <a:gd name="csY26" fmla="*/ 15819 h 131501"/>
                <a:gd name="csX27" fmla="*/ 22434 w 156392"/>
                <a:gd name="csY27" fmla="*/ 18841 h 131501"/>
                <a:gd name="csX28" fmla="*/ 16970 w 156392"/>
                <a:gd name="csY28" fmla="*/ 22314 h 131501"/>
                <a:gd name="csX29" fmla="*/ 11892 w 156392"/>
                <a:gd name="csY29" fmla="*/ 26236 h 131501"/>
                <a:gd name="csX30" fmla="*/ 7392 w 156392"/>
                <a:gd name="csY30" fmla="*/ 30737 h 131501"/>
                <a:gd name="csX31" fmla="*/ 3728 w 156392"/>
                <a:gd name="csY31" fmla="*/ 35817 h 131501"/>
                <a:gd name="csX32" fmla="*/ 1221 w 156392"/>
                <a:gd name="csY32" fmla="*/ 41347 h 131501"/>
                <a:gd name="csX33" fmla="*/ 0 w 156392"/>
                <a:gd name="csY33" fmla="*/ 47263 h 131501"/>
                <a:gd name="csX34" fmla="*/ 0 w 156392"/>
                <a:gd name="csY34" fmla="*/ 53244 h 131501"/>
                <a:gd name="csX35" fmla="*/ 1093 w 156392"/>
                <a:gd name="csY35" fmla="*/ 59095 h 131501"/>
                <a:gd name="csX36" fmla="*/ 2893 w 156392"/>
                <a:gd name="csY36" fmla="*/ 64754 h 131501"/>
                <a:gd name="csX37" fmla="*/ 5014 w 156392"/>
                <a:gd name="csY37" fmla="*/ 70091 h 131501"/>
                <a:gd name="csX38" fmla="*/ 7264 w 156392"/>
                <a:gd name="csY38" fmla="*/ 75171 h 131501"/>
                <a:gd name="csX39" fmla="*/ 9192 w 156392"/>
                <a:gd name="csY39" fmla="*/ 80123 h 131501"/>
                <a:gd name="csX40" fmla="*/ 10799 w 156392"/>
                <a:gd name="csY40" fmla="*/ 85138 h 131501"/>
                <a:gd name="csX41" fmla="*/ 12149 w 156392"/>
                <a:gd name="csY41" fmla="*/ 90347 h 131501"/>
                <a:gd name="csX42" fmla="*/ 13370 w 156392"/>
                <a:gd name="csY42" fmla="*/ 95813 h 131501"/>
                <a:gd name="csX43" fmla="*/ 14784 w 156392"/>
                <a:gd name="csY43" fmla="*/ 101535 h 131501"/>
                <a:gd name="csX44" fmla="*/ 16777 w 156392"/>
                <a:gd name="csY44" fmla="*/ 107387 h 131501"/>
                <a:gd name="csX45" fmla="*/ 19605 w 156392"/>
                <a:gd name="csY45" fmla="*/ 113110 h 131501"/>
                <a:gd name="csX46" fmla="*/ 23398 w 156392"/>
                <a:gd name="csY46" fmla="*/ 118383 h 131501"/>
                <a:gd name="csX47" fmla="*/ 28283 w 156392"/>
                <a:gd name="csY47" fmla="*/ 123013 h 131501"/>
                <a:gd name="csX48" fmla="*/ 34068 w 156392"/>
                <a:gd name="csY48" fmla="*/ 126678 h 131501"/>
                <a:gd name="csX49" fmla="*/ 40625 w 156392"/>
                <a:gd name="csY49" fmla="*/ 129315 h 131501"/>
                <a:gd name="csX50" fmla="*/ 47567 w 156392"/>
                <a:gd name="csY50" fmla="*/ 130858 h 131501"/>
                <a:gd name="csX51" fmla="*/ 54638 w 156392"/>
                <a:gd name="csY51" fmla="*/ 131501 h 131501"/>
                <a:gd name="csX52" fmla="*/ 61708 w 156392"/>
                <a:gd name="csY52" fmla="*/ 131501 h 131501"/>
                <a:gd name="csX53" fmla="*/ 68586 w 156392"/>
                <a:gd name="csY53" fmla="*/ 130922 h 131501"/>
                <a:gd name="csX54" fmla="*/ 75271 w 156392"/>
                <a:gd name="csY54" fmla="*/ 130151 h 131501"/>
                <a:gd name="csX55" fmla="*/ 81764 w 156392"/>
                <a:gd name="csY55" fmla="*/ 129122 h 131501"/>
                <a:gd name="csX56" fmla="*/ 88127 w 156392"/>
                <a:gd name="csY56" fmla="*/ 127965 h 131501"/>
                <a:gd name="csX57" fmla="*/ 94362 w 156392"/>
                <a:gd name="csY57" fmla="*/ 126614 h 131501"/>
                <a:gd name="csX58" fmla="*/ 100469 w 156392"/>
                <a:gd name="csY58" fmla="*/ 124942 h 131501"/>
                <a:gd name="csX59" fmla="*/ 106383 w 156392"/>
                <a:gd name="csY59" fmla="*/ 122756 h 131501"/>
                <a:gd name="csX60" fmla="*/ 111975 w 156392"/>
                <a:gd name="csY60" fmla="*/ 119927 h 131501"/>
                <a:gd name="csX61" fmla="*/ 116989 w 156392"/>
                <a:gd name="csY61" fmla="*/ 116518 h 131501"/>
                <a:gd name="csX62" fmla="*/ 121424 w 156392"/>
                <a:gd name="csY62" fmla="*/ 112531 h 131501"/>
                <a:gd name="csX63" fmla="*/ 125216 w 156392"/>
                <a:gd name="csY63" fmla="*/ 108159 h 131501"/>
                <a:gd name="csX64" fmla="*/ 128430 w 156392"/>
                <a:gd name="csY64" fmla="*/ 103465 h 131501"/>
                <a:gd name="csX65" fmla="*/ 131194 w 156392"/>
                <a:gd name="csY65" fmla="*/ 98770 h 131501"/>
                <a:gd name="csX66" fmla="*/ 133830 w 156392"/>
                <a:gd name="csY66" fmla="*/ 94076 h 131501"/>
                <a:gd name="csX67" fmla="*/ 136465 w 156392"/>
                <a:gd name="csY67" fmla="*/ 89511 h 131501"/>
                <a:gd name="csX68" fmla="*/ 139422 w 156392"/>
                <a:gd name="csY68" fmla="*/ 85010 h 131501"/>
                <a:gd name="csX69" fmla="*/ 142636 w 156392"/>
                <a:gd name="csY69" fmla="*/ 80444 h 131501"/>
                <a:gd name="csX70" fmla="*/ 146107 w 156392"/>
                <a:gd name="csY70" fmla="*/ 75621 h 131501"/>
                <a:gd name="csX71" fmla="*/ 149643 w 156392"/>
                <a:gd name="csY71" fmla="*/ 70413 h 131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156392" h="131501">
                  <a:moveTo>
                    <a:pt x="152792" y="64754"/>
                  </a:moveTo>
                  <a:lnTo>
                    <a:pt x="155171" y="58709"/>
                  </a:lnTo>
                  <a:lnTo>
                    <a:pt x="156392" y="52343"/>
                  </a:lnTo>
                  <a:lnTo>
                    <a:pt x="156199" y="45913"/>
                  </a:lnTo>
                  <a:lnTo>
                    <a:pt x="154399" y="39740"/>
                  </a:lnTo>
                  <a:lnTo>
                    <a:pt x="151121" y="34081"/>
                  </a:lnTo>
                  <a:lnTo>
                    <a:pt x="146557" y="29001"/>
                  </a:lnTo>
                  <a:lnTo>
                    <a:pt x="141029" y="24757"/>
                  </a:lnTo>
                  <a:lnTo>
                    <a:pt x="134987" y="21220"/>
                  </a:lnTo>
                  <a:lnTo>
                    <a:pt x="128752" y="18327"/>
                  </a:lnTo>
                  <a:lnTo>
                    <a:pt x="122645" y="15754"/>
                  </a:lnTo>
                  <a:lnTo>
                    <a:pt x="116667" y="13375"/>
                  </a:lnTo>
                  <a:lnTo>
                    <a:pt x="111011" y="11060"/>
                  </a:lnTo>
                  <a:lnTo>
                    <a:pt x="105418" y="8617"/>
                  </a:lnTo>
                  <a:lnTo>
                    <a:pt x="99826" y="6238"/>
                  </a:lnTo>
                  <a:lnTo>
                    <a:pt x="94041" y="3922"/>
                  </a:lnTo>
                  <a:lnTo>
                    <a:pt x="87999" y="1993"/>
                  </a:lnTo>
                  <a:lnTo>
                    <a:pt x="81764" y="643"/>
                  </a:lnTo>
                  <a:lnTo>
                    <a:pt x="75271" y="0"/>
                  </a:lnTo>
                  <a:lnTo>
                    <a:pt x="68779" y="129"/>
                  </a:lnTo>
                  <a:lnTo>
                    <a:pt x="62351" y="1157"/>
                  </a:lnTo>
                  <a:lnTo>
                    <a:pt x="56180" y="2829"/>
                  </a:lnTo>
                  <a:lnTo>
                    <a:pt x="50202" y="4952"/>
                  </a:lnTo>
                  <a:lnTo>
                    <a:pt x="44481" y="7459"/>
                  </a:lnTo>
                  <a:lnTo>
                    <a:pt x="38953" y="10160"/>
                  </a:lnTo>
                  <a:lnTo>
                    <a:pt x="33490" y="12925"/>
                  </a:lnTo>
                  <a:lnTo>
                    <a:pt x="27962" y="15819"/>
                  </a:lnTo>
                  <a:lnTo>
                    <a:pt x="22434" y="18841"/>
                  </a:lnTo>
                  <a:lnTo>
                    <a:pt x="16970" y="22314"/>
                  </a:lnTo>
                  <a:lnTo>
                    <a:pt x="11892" y="26236"/>
                  </a:lnTo>
                  <a:lnTo>
                    <a:pt x="7392" y="30737"/>
                  </a:lnTo>
                  <a:lnTo>
                    <a:pt x="3728" y="35817"/>
                  </a:lnTo>
                  <a:lnTo>
                    <a:pt x="1221" y="41347"/>
                  </a:lnTo>
                  <a:lnTo>
                    <a:pt x="0" y="47263"/>
                  </a:lnTo>
                  <a:lnTo>
                    <a:pt x="0" y="53244"/>
                  </a:lnTo>
                  <a:lnTo>
                    <a:pt x="1093" y="59095"/>
                  </a:lnTo>
                  <a:lnTo>
                    <a:pt x="2893" y="64754"/>
                  </a:lnTo>
                  <a:lnTo>
                    <a:pt x="5014" y="70091"/>
                  </a:lnTo>
                  <a:lnTo>
                    <a:pt x="7264" y="75171"/>
                  </a:lnTo>
                  <a:lnTo>
                    <a:pt x="9192" y="80123"/>
                  </a:lnTo>
                  <a:lnTo>
                    <a:pt x="10799" y="85138"/>
                  </a:lnTo>
                  <a:lnTo>
                    <a:pt x="12149" y="90347"/>
                  </a:lnTo>
                  <a:lnTo>
                    <a:pt x="13370" y="95813"/>
                  </a:lnTo>
                  <a:lnTo>
                    <a:pt x="14784" y="101535"/>
                  </a:lnTo>
                  <a:lnTo>
                    <a:pt x="16777" y="107387"/>
                  </a:lnTo>
                  <a:lnTo>
                    <a:pt x="19605" y="113110"/>
                  </a:lnTo>
                  <a:lnTo>
                    <a:pt x="23398" y="118383"/>
                  </a:lnTo>
                  <a:lnTo>
                    <a:pt x="28283" y="123013"/>
                  </a:lnTo>
                  <a:lnTo>
                    <a:pt x="34068" y="126678"/>
                  </a:lnTo>
                  <a:lnTo>
                    <a:pt x="40625" y="129315"/>
                  </a:lnTo>
                  <a:lnTo>
                    <a:pt x="47567" y="130858"/>
                  </a:lnTo>
                  <a:lnTo>
                    <a:pt x="54638" y="131501"/>
                  </a:lnTo>
                  <a:lnTo>
                    <a:pt x="61708" y="131501"/>
                  </a:lnTo>
                  <a:lnTo>
                    <a:pt x="68586" y="130922"/>
                  </a:lnTo>
                  <a:lnTo>
                    <a:pt x="75271" y="130151"/>
                  </a:lnTo>
                  <a:lnTo>
                    <a:pt x="81764" y="129122"/>
                  </a:lnTo>
                  <a:lnTo>
                    <a:pt x="88127" y="127965"/>
                  </a:lnTo>
                  <a:lnTo>
                    <a:pt x="94362" y="126614"/>
                  </a:lnTo>
                  <a:lnTo>
                    <a:pt x="100469" y="124942"/>
                  </a:lnTo>
                  <a:lnTo>
                    <a:pt x="106383" y="122756"/>
                  </a:lnTo>
                  <a:lnTo>
                    <a:pt x="111975" y="119927"/>
                  </a:lnTo>
                  <a:lnTo>
                    <a:pt x="116989" y="116518"/>
                  </a:lnTo>
                  <a:lnTo>
                    <a:pt x="121424" y="112531"/>
                  </a:lnTo>
                  <a:lnTo>
                    <a:pt x="125216" y="108159"/>
                  </a:lnTo>
                  <a:lnTo>
                    <a:pt x="128430" y="103465"/>
                  </a:lnTo>
                  <a:lnTo>
                    <a:pt x="131194" y="98770"/>
                  </a:lnTo>
                  <a:lnTo>
                    <a:pt x="133830" y="94076"/>
                  </a:lnTo>
                  <a:lnTo>
                    <a:pt x="136465" y="89511"/>
                  </a:lnTo>
                  <a:lnTo>
                    <a:pt x="139422" y="85010"/>
                  </a:lnTo>
                  <a:lnTo>
                    <a:pt x="142636" y="80444"/>
                  </a:lnTo>
                  <a:lnTo>
                    <a:pt x="146107" y="75621"/>
                  </a:lnTo>
                  <a:lnTo>
                    <a:pt x="149643" y="70413"/>
                  </a:lnTo>
                  <a:close/>
                </a:path>
              </a:pathLst>
            </a:custGeom>
            <a:solidFill>
              <a:srgbClr val="E05C4E"/>
            </a:solidFill>
            <a:ln w="6425" cap="flat">
              <a:solidFill>
                <a:srgbClr val="B23F3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61C0447A-1C10-92BF-8791-C8967BB73AE6}"/>
                </a:ext>
              </a:extLst>
            </p:cNvPr>
            <p:cNvSpPr/>
            <p:nvPr/>
          </p:nvSpPr>
          <p:spPr>
            <a:xfrm>
              <a:off x="1178416" y="3372986"/>
              <a:ext cx="4082" cy="118833"/>
            </a:xfrm>
            <a:custGeom>
              <a:avLst/>
              <a:gdLst>
                <a:gd name="csX0" fmla="*/ 2041 w 4082"/>
                <a:gd name="csY0" fmla="*/ 0 h 118833"/>
                <a:gd name="csX1" fmla="*/ 2041 w 4082"/>
                <a:gd name="csY1" fmla="*/ 118834 h 118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082" h="118833">
                  <a:moveTo>
                    <a:pt x="2041" y="0"/>
                  </a:moveTo>
                  <a:cubicBezTo>
                    <a:pt x="9112" y="39611"/>
                    <a:pt x="-5030" y="82052"/>
                    <a:pt x="2041" y="118834"/>
                  </a:cubicBezTo>
                </a:path>
              </a:pathLst>
            </a:custGeom>
            <a:noFill/>
            <a:ln w="5462" cap="rnd">
              <a:solidFill>
                <a:srgbClr val="FFFFFF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BD42B995-AC62-8AC7-B2BF-5CB81090B9D0}"/>
                </a:ext>
              </a:extLst>
            </p:cNvPr>
            <p:cNvSpPr/>
            <p:nvPr/>
          </p:nvSpPr>
          <p:spPr>
            <a:xfrm>
              <a:off x="1125305" y="3405524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2" y="-1886"/>
                    <a:pt x="21212" y="-1886"/>
                    <a:pt x="21212" y="5659"/>
                  </a:cubicBezTo>
                  <a:cubicBezTo>
                    <a:pt x="21212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F62E1F0E-E093-0D2D-172E-207FBA7E7A6D}"/>
                </a:ext>
              </a:extLst>
            </p:cNvPr>
            <p:cNvSpPr/>
            <p:nvPr/>
          </p:nvSpPr>
          <p:spPr>
            <a:xfrm>
              <a:off x="1129548" y="3444428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A0CC8D5C-76FC-DD1F-8474-A81AA647A58C}"/>
                </a:ext>
              </a:extLst>
            </p:cNvPr>
            <p:cNvSpPr/>
            <p:nvPr/>
          </p:nvSpPr>
          <p:spPr>
            <a:xfrm>
              <a:off x="1193185" y="3406939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1" y="-1886"/>
                    <a:pt x="21212" y="-1886"/>
                    <a:pt x="21212" y="5659"/>
                  </a:cubicBezTo>
                  <a:cubicBezTo>
                    <a:pt x="21212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E89EE9B5-2F38-9DBF-6E72-5D549C100C28}"/>
                </a:ext>
              </a:extLst>
            </p:cNvPr>
            <p:cNvSpPr/>
            <p:nvPr/>
          </p:nvSpPr>
          <p:spPr>
            <a:xfrm>
              <a:off x="1194599" y="3445842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BBC6581C-D25F-34EE-4FF2-74AC54CC968B}"/>
              </a:ext>
            </a:extLst>
          </p:cNvPr>
          <p:cNvSpPr txBox="1"/>
          <p:nvPr/>
        </p:nvSpPr>
        <p:spPr>
          <a:xfrm>
            <a:off x="1243288" y="3290436"/>
            <a:ext cx="962349" cy="187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b="1" spc="0" baseline="0">
                <a:ln/>
                <a:solidFill>
                  <a:srgbClr val="22314A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Somatovisceral pain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C7816F6-F5F9-FEB3-F054-4D0320C8497D}"/>
              </a:ext>
            </a:extLst>
          </p:cNvPr>
          <p:cNvSpPr txBox="1"/>
          <p:nvPr/>
        </p:nvSpPr>
        <p:spPr>
          <a:xfrm>
            <a:off x="1243288" y="3410430"/>
            <a:ext cx="902045" cy="174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25" i="1" spc="0" baseline="0">
                <a:ln/>
                <a:solidFill>
                  <a:srgbClr val="7C8598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Van Oudenhove · 2020</a:t>
            </a:r>
          </a:p>
        </p:txBody>
      </p:sp>
      <p:sp>
        <p:nvSpPr>
          <p:cNvPr id="94" name="Freeform 93">
            <a:extLst>
              <a:ext uri="{FF2B5EF4-FFF2-40B4-BE49-F238E27FC236}">
                <a16:creationId xmlns:a16="http://schemas.microsoft.com/office/drawing/2014/main" id="{1A321B92-F943-4CC0-8BB9-66B7E6BDE559}"/>
              </a:ext>
            </a:extLst>
          </p:cNvPr>
          <p:cNvSpPr/>
          <p:nvPr/>
        </p:nvSpPr>
        <p:spPr>
          <a:xfrm>
            <a:off x="884771" y="2089870"/>
            <a:ext cx="128558" cy="1704048"/>
          </a:xfrm>
          <a:custGeom>
            <a:avLst/>
            <a:gdLst>
              <a:gd name="csX0" fmla="*/ 0 w 128558"/>
              <a:gd name="csY0" fmla="*/ 0 h 1704048"/>
              <a:gd name="csX1" fmla="*/ 128559 w 128558"/>
              <a:gd name="csY1" fmla="*/ 1704048 h 170404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8558" h="1704048">
                <a:moveTo>
                  <a:pt x="0" y="0"/>
                </a:moveTo>
                <a:cubicBezTo>
                  <a:pt x="0" y="1704048"/>
                  <a:pt x="64279" y="1704048"/>
                  <a:pt x="128559" y="1704048"/>
                </a:cubicBezTo>
              </a:path>
            </a:pathLst>
          </a:custGeom>
          <a:noFill/>
          <a:ln w="12851" cap="flat">
            <a:solidFill>
              <a:srgbClr val="E05C4E">
                <a:alpha val="4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75A3ECC4-230E-1CBA-6A86-1724CCE1ACC5}"/>
              </a:ext>
            </a:extLst>
          </p:cNvPr>
          <p:cNvSpPr/>
          <p:nvPr/>
        </p:nvSpPr>
        <p:spPr>
          <a:xfrm>
            <a:off x="1013330" y="3639589"/>
            <a:ext cx="1722690" cy="308657"/>
          </a:xfrm>
          <a:prstGeom prst="roundRect">
            <a:avLst>
              <a:gd name="adj" fmla="val 24990"/>
            </a:avLst>
          </a:prstGeom>
          <a:solidFill>
            <a:srgbClr val="FFFFFF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445942E0-F58E-139D-679B-8F48EB20BA85}"/>
              </a:ext>
            </a:extLst>
          </p:cNvPr>
          <p:cNvSpPr/>
          <p:nvPr/>
        </p:nvSpPr>
        <p:spPr>
          <a:xfrm>
            <a:off x="1013330" y="3639589"/>
            <a:ext cx="32139" cy="308657"/>
          </a:xfrm>
          <a:prstGeom prst="roundRect">
            <a:avLst>
              <a:gd name="adj" fmla="val 50000"/>
            </a:avLst>
          </a:prstGeom>
          <a:solidFill>
            <a:srgbClr val="E05C4E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5C9B5636-797E-CD27-79E5-BA57E2F28C01}"/>
              </a:ext>
            </a:extLst>
          </p:cNvPr>
          <p:cNvSpPr/>
          <p:nvPr/>
        </p:nvSpPr>
        <p:spPr>
          <a:xfrm>
            <a:off x="1084038" y="3697463"/>
            <a:ext cx="192838" cy="192911"/>
          </a:xfrm>
          <a:prstGeom prst="ellipse">
            <a:avLst/>
          </a:prstGeom>
          <a:solidFill>
            <a:srgbClr val="FBEAE7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98" name="Graphic 2">
            <a:extLst>
              <a:ext uri="{FF2B5EF4-FFF2-40B4-BE49-F238E27FC236}">
                <a16:creationId xmlns:a16="http://schemas.microsoft.com/office/drawing/2014/main" id="{74D0297C-7EE6-BB8F-A887-3AC21945E38B}"/>
              </a:ext>
            </a:extLst>
          </p:cNvPr>
          <p:cNvGrpSpPr/>
          <p:nvPr/>
        </p:nvGrpSpPr>
        <p:grpSpPr>
          <a:xfrm>
            <a:off x="1105186" y="3729164"/>
            <a:ext cx="156392" cy="131501"/>
            <a:chOff x="1105186" y="3729164"/>
            <a:chExt cx="156392" cy="131501"/>
          </a:xfrm>
        </p:grpSpPr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7EB5B319-2504-C281-1A1F-EE4F26595AE1}"/>
                </a:ext>
              </a:extLst>
            </p:cNvPr>
            <p:cNvSpPr/>
            <p:nvPr/>
          </p:nvSpPr>
          <p:spPr>
            <a:xfrm>
              <a:off x="1105186" y="3729164"/>
              <a:ext cx="156392" cy="131501"/>
            </a:xfrm>
            <a:custGeom>
              <a:avLst/>
              <a:gdLst>
                <a:gd name="csX0" fmla="*/ 152792 w 156392"/>
                <a:gd name="csY0" fmla="*/ 64754 h 131501"/>
                <a:gd name="csX1" fmla="*/ 155171 w 156392"/>
                <a:gd name="csY1" fmla="*/ 58709 h 131501"/>
                <a:gd name="csX2" fmla="*/ 156392 w 156392"/>
                <a:gd name="csY2" fmla="*/ 52343 h 131501"/>
                <a:gd name="csX3" fmla="*/ 156199 w 156392"/>
                <a:gd name="csY3" fmla="*/ 45913 h 131501"/>
                <a:gd name="csX4" fmla="*/ 154399 w 156392"/>
                <a:gd name="csY4" fmla="*/ 39740 h 131501"/>
                <a:gd name="csX5" fmla="*/ 151121 w 156392"/>
                <a:gd name="csY5" fmla="*/ 34081 h 131501"/>
                <a:gd name="csX6" fmla="*/ 146557 w 156392"/>
                <a:gd name="csY6" fmla="*/ 29001 h 131501"/>
                <a:gd name="csX7" fmla="*/ 141029 w 156392"/>
                <a:gd name="csY7" fmla="*/ 24757 h 131501"/>
                <a:gd name="csX8" fmla="*/ 134987 w 156392"/>
                <a:gd name="csY8" fmla="*/ 21220 h 131501"/>
                <a:gd name="csX9" fmla="*/ 128752 w 156392"/>
                <a:gd name="csY9" fmla="*/ 18327 h 131501"/>
                <a:gd name="csX10" fmla="*/ 122645 w 156392"/>
                <a:gd name="csY10" fmla="*/ 15754 h 131501"/>
                <a:gd name="csX11" fmla="*/ 116667 w 156392"/>
                <a:gd name="csY11" fmla="*/ 13375 h 131501"/>
                <a:gd name="csX12" fmla="*/ 111011 w 156392"/>
                <a:gd name="csY12" fmla="*/ 11060 h 131501"/>
                <a:gd name="csX13" fmla="*/ 105418 w 156392"/>
                <a:gd name="csY13" fmla="*/ 8617 h 131501"/>
                <a:gd name="csX14" fmla="*/ 99826 w 156392"/>
                <a:gd name="csY14" fmla="*/ 6238 h 131501"/>
                <a:gd name="csX15" fmla="*/ 94041 w 156392"/>
                <a:gd name="csY15" fmla="*/ 3922 h 131501"/>
                <a:gd name="csX16" fmla="*/ 87999 w 156392"/>
                <a:gd name="csY16" fmla="*/ 1993 h 131501"/>
                <a:gd name="csX17" fmla="*/ 81764 w 156392"/>
                <a:gd name="csY17" fmla="*/ 643 h 131501"/>
                <a:gd name="csX18" fmla="*/ 75271 w 156392"/>
                <a:gd name="csY18" fmla="*/ 0 h 131501"/>
                <a:gd name="csX19" fmla="*/ 68779 w 156392"/>
                <a:gd name="csY19" fmla="*/ 129 h 131501"/>
                <a:gd name="csX20" fmla="*/ 62351 w 156392"/>
                <a:gd name="csY20" fmla="*/ 1157 h 131501"/>
                <a:gd name="csX21" fmla="*/ 56180 w 156392"/>
                <a:gd name="csY21" fmla="*/ 2829 h 131501"/>
                <a:gd name="csX22" fmla="*/ 50202 w 156392"/>
                <a:gd name="csY22" fmla="*/ 4952 h 131501"/>
                <a:gd name="csX23" fmla="*/ 44481 w 156392"/>
                <a:gd name="csY23" fmla="*/ 7459 h 131501"/>
                <a:gd name="csX24" fmla="*/ 38953 w 156392"/>
                <a:gd name="csY24" fmla="*/ 10160 h 131501"/>
                <a:gd name="csX25" fmla="*/ 33490 w 156392"/>
                <a:gd name="csY25" fmla="*/ 12925 h 131501"/>
                <a:gd name="csX26" fmla="*/ 27962 w 156392"/>
                <a:gd name="csY26" fmla="*/ 15819 h 131501"/>
                <a:gd name="csX27" fmla="*/ 22434 w 156392"/>
                <a:gd name="csY27" fmla="*/ 18841 h 131501"/>
                <a:gd name="csX28" fmla="*/ 16970 w 156392"/>
                <a:gd name="csY28" fmla="*/ 22314 h 131501"/>
                <a:gd name="csX29" fmla="*/ 11892 w 156392"/>
                <a:gd name="csY29" fmla="*/ 26236 h 131501"/>
                <a:gd name="csX30" fmla="*/ 7392 w 156392"/>
                <a:gd name="csY30" fmla="*/ 30737 h 131501"/>
                <a:gd name="csX31" fmla="*/ 3728 w 156392"/>
                <a:gd name="csY31" fmla="*/ 35817 h 131501"/>
                <a:gd name="csX32" fmla="*/ 1221 w 156392"/>
                <a:gd name="csY32" fmla="*/ 41347 h 131501"/>
                <a:gd name="csX33" fmla="*/ 0 w 156392"/>
                <a:gd name="csY33" fmla="*/ 47263 h 131501"/>
                <a:gd name="csX34" fmla="*/ 0 w 156392"/>
                <a:gd name="csY34" fmla="*/ 53244 h 131501"/>
                <a:gd name="csX35" fmla="*/ 1093 w 156392"/>
                <a:gd name="csY35" fmla="*/ 59095 h 131501"/>
                <a:gd name="csX36" fmla="*/ 2893 w 156392"/>
                <a:gd name="csY36" fmla="*/ 64754 h 131501"/>
                <a:gd name="csX37" fmla="*/ 5014 w 156392"/>
                <a:gd name="csY37" fmla="*/ 70091 h 131501"/>
                <a:gd name="csX38" fmla="*/ 7264 w 156392"/>
                <a:gd name="csY38" fmla="*/ 75171 h 131501"/>
                <a:gd name="csX39" fmla="*/ 9192 w 156392"/>
                <a:gd name="csY39" fmla="*/ 80123 h 131501"/>
                <a:gd name="csX40" fmla="*/ 10799 w 156392"/>
                <a:gd name="csY40" fmla="*/ 85138 h 131501"/>
                <a:gd name="csX41" fmla="*/ 12149 w 156392"/>
                <a:gd name="csY41" fmla="*/ 90347 h 131501"/>
                <a:gd name="csX42" fmla="*/ 13370 w 156392"/>
                <a:gd name="csY42" fmla="*/ 95813 h 131501"/>
                <a:gd name="csX43" fmla="*/ 14784 w 156392"/>
                <a:gd name="csY43" fmla="*/ 101535 h 131501"/>
                <a:gd name="csX44" fmla="*/ 16777 w 156392"/>
                <a:gd name="csY44" fmla="*/ 107387 h 131501"/>
                <a:gd name="csX45" fmla="*/ 19605 w 156392"/>
                <a:gd name="csY45" fmla="*/ 113110 h 131501"/>
                <a:gd name="csX46" fmla="*/ 23398 w 156392"/>
                <a:gd name="csY46" fmla="*/ 118383 h 131501"/>
                <a:gd name="csX47" fmla="*/ 28283 w 156392"/>
                <a:gd name="csY47" fmla="*/ 123013 h 131501"/>
                <a:gd name="csX48" fmla="*/ 34068 w 156392"/>
                <a:gd name="csY48" fmla="*/ 126678 h 131501"/>
                <a:gd name="csX49" fmla="*/ 40625 w 156392"/>
                <a:gd name="csY49" fmla="*/ 129315 h 131501"/>
                <a:gd name="csX50" fmla="*/ 47567 w 156392"/>
                <a:gd name="csY50" fmla="*/ 130858 h 131501"/>
                <a:gd name="csX51" fmla="*/ 54638 w 156392"/>
                <a:gd name="csY51" fmla="*/ 131501 h 131501"/>
                <a:gd name="csX52" fmla="*/ 61708 w 156392"/>
                <a:gd name="csY52" fmla="*/ 131501 h 131501"/>
                <a:gd name="csX53" fmla="*/ 68586 w 156392"/>
                <a:gd name="csY53" fmla="*/ 130922 h 131501"/>
                <a:gd name="csX54" fmla="*/ 75271 w 156392"/>
                <a:gd name="csY54" fmla="*/ 130151 h 131501"/>
                <a:gd name="csX55" fmla="*/ 81764 w 156392"/>
                <a:gd name="csY55" fmla="*/ 129122 h 131501"/>
                <a:gd name="csX56" fmla="*/ 88127 w 156392"/>
                <a:gd name="csY56" fmla="*/ 127965 h 131501"/>
                <a:gd name="csX57" fmla="*/ 94362 w 156392"/>
                <a:gd name="csY57" fmla="*/ 126614 h 131501"/>
                <a:gd name="csX58" fmla="*/ 100469 w 156392"/>
                <a:gd name="csY58" fmla="*/ 124942 h 131501"/>
                <a:gd name="csX59" fmla="*/ 106383 w 156392"/>
                <a:gd name="csY59" fmla="*/ 122756 h 131501"/>
                <a:gd name="csX60" fmla="*/ 111975 w 156392"/>
                <a:gd name="csY60" fmla="*/ 119927 h 131501"/>
                <a:gd name="csX61" fmla="*/ 116989 w 156392"/>
                <a:gd name="csY61" fmla="*/ 116518 h 131501"/>
                <a:gd name="csX62" fmla="*/ 121424 w 156392"/>
                <a:gd name="csY62" fmla="*/ 112531 h 131501"/>
                <a:gd name="csX63" fmla="*/ 125216 w 156392"/>
                <a:gd name="csY63" fmla="*/ 108159 h 131501"/>
                <a:gd name="csX64" fmla="*/ 128430 w 156392"/>
                <a:gd name="csY64" fmla="*/ 103465 h 131501"/>
                <a:gd name="csX65" fmla="*/ 131194 w 156392"/>
                <a:gd name="csY65" fmla="*/ 98770 h 131501"/>
                <a:gd name="csX66" fmla="*/ 133830 w 156392"/>
                <a:gd name="csY66" fmla="*/ 94076 h 131501"/>
                <a:gd name="csX67" fmla="*/ 136465 w 156392"/>
                <a:gd name="csY67" fmla="*/ 89511 h 131501"/>
                <a:gd name="csX68" fmla="*/ 139422 w 156392"/>
                <a:gd name="csY68" fmla="*/ 85010 h 131501"/>
                <a:gd name="csX69" fmla="*/ 142636 w 156392"/>
                <a:gd name="csY69" fmla="*/ 80444 h 131501"/>
                <a:gd name="csX70" fmla="*/ 146107 w 156392"/>
                <a:gd name="csY70" fmla="*/ 75621 h 131501"/>
                <a:gd name="csX71" fmla="*/ 149643 w 156392"/>
                <a:gd name="csY71" fmla="*/ 70413 h 131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156392" h="131501">
                  <a:moveTo>
                    <a:pt x="152792" y="64754"/>
                  </a:moveTo>
                  <a:lnTo>
                    <a:pt x="155171" y="58709"/>
                  </a:lnTo>
                  <a:lnTo>
                    <a:pt x="156392" y="52343"/>
                  </a:lnTo>
                  <a:lnTo>
                    <a:pt x="156199" y="45913"/>
                  </a:lnTo>
                  <a:lnTo>
                    <a:pt x="154399" y="39740"/>
                  </a:lnTo>
                  <a:lnTo>
                    <a:pt x="151121" y="34081"/>
                  </a:lnTo>
                  <a:lnTo>
                    <a:pt x="146557" y="29001"/>
                  </a:lnTo>
                  <a:lnTo>
                    <a:pt x="141029" y="24757"/>
                  </a:lnTo>
                  <a:lnTo>
                    <a:pt x="134987" y="21220"/>
                  </a:lnTo>
                  <a:lnTo>
                    <a:pt x="128752" y="18327"/>
                  </a:lnTo>
                  <a:lnTo>
                    <a:pt x="122645" y="15754"/>
                  </a:lnTo>
                  <a:lnTo>
                    <a:pt x="116667" y="13375"/>
                  </a:lnTo>
                  <a:lnTo>
                    <a:pt x="111011" y="11060"/>
                  </a:lnTo>
                  <a:lnTo>
                    <a:pt x="105418" y="8617"/>
                  </a:lnTo>
                  <a:lnTo>
                    <a:pt x="99826" y="6238"/>
                  </a:lnTo>
                  <a:lnTo>
                    <a:pt x="94041" y="3922"/>
                  </a:lnTo>
                  <a:lnTo>
                    <a:pt x="87999" y="1993"/>
                  </a:lnTo>
                  <a:lnTo>
                    <a:pt x="81764" y="643"/>
                  </a:lnTo>
                  <a:lnTo>
                    <a:pt x="75271" y="0"/>
                  </a:lnTo>
                  <a:lnTo>
                    <a:pt x="68779" y="129"/>
                  </a:lnTo>
                  <a:lnTo>
                    <a:pt x="62351" y="1157"/>
                  </a:lnTo>
                  <a:lnTo>
                    <a:pt x="56180" y="2829"/>
                  </a:lnTo>
                  <a:lnTo>
                    <a:pt x="50202" y="4952"/>
                  </a:lnTo>
                  <a:lnTo>
                    <a:pt x="44481" y="7459"/>
                  </a:lnTo>
                  <a:lnTo>
                    <a:pt x="38953" y="10160"/>
                  </a:lnTo>
                  <a:lnTo>
                    <a:pt x="33490" y="12925"/>
                  </a:lnTo>
                  <a:lnTo>
                    <a:pt x="27962" y="15819"/>
                  </a:lnTo>
                  <a:lnTo>
                    <a:pt x="22434" y="18841"/>
                  </a:lnTo>
                  <a:lnTo>
                    <a:pt x="16970" y="22314"/>
                  </a:lnTo>
                  <a:lnTo>
                    <a:pt x="11892" y="26236"/>
                  </a:lnTo>
                  <a:lnTo>
                    <a:pt x="7392" y="30737"/>
                  </a:lnTo>
                  <a:lnTo>
                    <a:pt x="3728" y="35817"/>
                  </a:lnTo>
                  <a:lnTo>
                    <a:pt x="1221" y="41347"/>
                  </a:lnTo>
                  <a:lnTo>
                    <a:pt x="0" y="47263"/>
                  </a:lnTo>
                  <a:lnTo>
                    <a:pt x="0" y="53244"/>
                  </a:lnTo>
                  <a:lnTo>
                    <a:pt x="1093" y="59095"/>
                  </a:lnTo>
                  <a:lnTo>
                    <a:pt x="2893" y="64754"/>
                  </a:lnTo>
                  <a:lnTo>
                    <a:pt x="5014" y="70091"/>
                  </a:lnTo>
                  <a:lnTo>
                    <a:pt x="7264" y="75171"/>
                  </a:lnTo>
                  <a:lnTo>
                    <a:pt x="9192" y="80123"/>
                  </a:lnTo>
                  <a:lnTo>
                    <a:pt x="10799" y="85138"/>
                  </a:lnTo>
                  <a:lnTo>
                    <a:pt x="12149" y="90347"/>
                  </a:lnTo>
                  <a:lnTo>
                    <a:pt x="13370" y="95813"/>
                  </a:lnTo>
                  <a:lnTo>
                    <a:pt x="14784" y="101535"/>
                  </a:lnTo>
                  <a:lnTo>
                    <a:pt x="16777" y="107387"/>
                  </a:lnTo>
                  <a:lnTo>
                    <a:pt x="19605" y="113110"/>
                  </a:lnTo>
                  <a:lnTo>
                    <a:pt x="23398" y="118383"/>
                  </a:lnTo>
                  <a:lnTo>
                    <a:pt x="28283" y="123013"/>
                  </a:lnTo>
                  <a:lnTo>
                    <a:pt x="34068" y="126678"/>
                  </a:lnTo>
                  <a:lnTo>
                    <a:pt x="40625" y="129315"/>
                  </a:lnTo>
                  <a:lnTo>
                    <a:pt x="47567" y="130858"/>
                  </a:lnTo>
                  <a:lnTo>
                    <a:pt x="54638" y="131501"/>
                  </a:lnTo>
                  <a:lnTo>
                    <a:pt x="61708" y="131501"/>
                  </a:lnTo>
                  <a:lnTo>
                    <a:pt x="68586" y="130922"/>
                  </a:lnTo>
                  <a:lnTo>
                    <a:pt x="75271" y="130151"/>
                  </a:lnTo>
                  <a:lnTo>
                    <a:pt x="81764" y="129122"/>
                  </a:lnTo>
                  <a:lnTo>
                    <a:pt x="88127" y="127965"/>
                  </a:lnTo>
                  <a:lnTo>
                    <a:pt x="94362" y="126614"/>
                  </a:lnTo>
                  <a:lnTo>
                    <a:pt x="100469" y="124942"/>
                  </a:lnTo>
                  <a:lnTo>
                    <a:pt x="106383" y="122756"/>
                  </a:lnTo>
                  <a:lnTo>
                    <a:pt x="111975" y="119927"/>
                  </a:lnTo>
                  <a:lnTo>
                    <a:pt x="116989" y="116518"/>
                  </a:lnTo>
                  <a:lnTo>
                    <a:pt x="121424" y="112531"/>
                  </a:lnTo>
                  <a:lnTo>
                    <a:pt x="125216" y="108159"/>
                  </a:lnTo>
                  <a:lnTo>
                    <a:pt x="128430" y="103465"/>
                  </a:lnTo>
                  <a:lnTo>
                    <a:pt x="131194" y="98770"/>
                  </a:lnTo>
                  <a:lnTo>
                    <a:pt x="133830" y="94076"/>
                  </a:lnTo>
                  <a:lnTo>
                    <a:pt x="136465" y="89511"/>
                  </a:lnTo>
                  <a:lnTo>
                    <a:pt x="139422" y="85010"/>
                  </a:lnTo>
                  <a:lnTo>
                    <a:pt x="142636" y="80444"/>
                  </a:lnTo>
                  <a:lnTo>
                    <a:pt x="146107" y="75621"/>
                  </a:lnTo>
                  <a:lnTo>
                    <a:pt x="149643" y="70413"/>
                  </a:lnTo>
                  <a:close/>
                </a:path>
              </a:pathLst>
            </a:custGeom>
            <a:solidFill>
              <a:srgbClr val="E05C4E"/>
            </a:solidFill>
            <a:ln w="6425" cap="flat">
              <a:solidFill>
                <a:srgbClr val="B23F3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4BC01AA1-93D1-08ED-6F41-9939247D7BEC}"/>
                </a:ext>
              </a:extLst>
            </p:cNvPr>
            <p:cNvSpPr/>
            <p:nvPr/>
          </p:nvSpPr>
          <p:spPr>
            <a:xfrm>
              <a:off x="1178416" y="3733087"/>
              <a:ext cx="4082" cy="118833"/>
            </a:xfrm>
            <a:custGeom>
              <a:avLst/>
              <a:gdLst>
                <a:gd name="csX0" fmla="*/ 2041 w 4082"/>
                <a:gd name="csY0" fmla="*/ 0 h 118833"/>
                <a:gd name="csX1" fmla="*/ 2041 w 4082"/>
                <a:gd name="csY1" fmla="*/ 118834 h 118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082" h="118833">
                  <a:moveTo>
                    <a:pt x="2041" y="0"/>
                  </a:moveTo>
                  <a:cubicBezTo>
                    <a:pt x="9112" y="39611"/>
                    <a:pt x="-5030" y="82052"/>
                    <a:pt x="2041" y="118834"/>
                  </a:cubicBezTo>
                </a:path>
              </a:pathLst>
            </a:custGeom>
            <a:noFill/>
            <a:ln w="5462" cap="rnd">
              <a:solidFill>
                <a:srgbClr val="FFFFFF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0FD4213B-58E7-A1CD-95A9-29EEEA207C77}"/>
                </a:ext>
              </a:extLst>
            </p:cNvPr>
            <p:cNvSpPr/>
            <p:nvPr/>
          </p:nvSpPr>
          <p:spPr>
            <a:xfrm>
              <a:off x="1125305" y="3765625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2" y="-1886"/>
                    <a:pt x="21212" y="-1886"/>
                    <a:pt x="21212" y="5659"/>
                  </a:cubicBezTo>
                  <a:cubicBezTo>
                    <a:pt x="21212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5B8E7C43-31E9-353B-87F3-7DE826E21466}"/>
                </a:ext>
              </a:extLst>
            </p:cNvPr>
            <p:cNvSpPr/>
            <p:nvPr/>
          </p:nvSpPr>
          <p:spPr>
            <a:xfrm>
              <a:off x="1129548" y="3804528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DD2C63EC-E946-D64E-17EE-3B3295C1014F}"/>
                </a:ext>
              </a:extLst>
            </p:cNvPr>
            <p:cNvSpPr/>
            <p:nvPr/>
          </p:nvSpPr>
          <p:spPr>
            <a:xfrm>
              <a:off x="1193185" y="3767039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1" y="-1886"/>
                    <a:pt x="21212" y="-1886"/>
                    <a:pt x="21212" y="5659"/>
                  </a:cubicBezTo>
                  <a:cubicBezTo>
                    <a:pt x="21212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7C810BA0-54B5-DB2D-9A6E-30C096617888}"/>
                </a:ext>
              </a:extLst>
            </p:cNvPr>
            <p:cNvSpPr/>
            <p:nvPr/>
          </p:nvSpPr>
          <p:spPr>
            <a:xfrm>
              <a:off x="1194599" y="3805943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CED475A6-0F71-5307-3622-F72F4D647295}"/>
              </a:ext>
            </a:extLst>
          </p:cNvPr>
          <p:cNvSpPr txBox="1"/>
          <p:nvPr/>
        </p:nvSpPr>
        <p:spPr>
          <a:xfrm>
            <a:off x="1243288" y="3650537"/>
            <a:ext cx="1055956" cy="187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b="1" spc="0" baseline="0">
                <a:ln/>
                <a:solidFill>
                  <a:srgbClr val="22314A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Pain mediation (cPDM)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3214CEF-7B16-F671-E9D8-93EBAD6FE512}"/>
              </a:ext>
            </a:extLst>
          </p:cNvPr>
          <p:cNvSpPr txBox="1"/>
          <p:nvPr/>
        </p:nvSpPr>
        <p:spPr>
          <a:xfrm>
            <a:off x="1243288" y="3770531"/>
            <a:ext cx="613841" cy="174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25" i="1" spc="0" baseline="0">
                <a:ln/>
                <a:solidFill>
                  <a:srgbClr val="7C8598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Geuter · 2020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FDDB5CE3-BC6B-F1DF-F130-F0504C16AC6A}"/>
              </a:ext>
            </a:extLst>
          </p:cNvPr>
          <p:cNvSpPr/>
          <p:nvPr/>
        </p:nvSpPr>
        <p:spPr>
          <a:xfrm>
            <a:off x="852632" y="4199032"/>
            <a:ext cx="64279" cy="64303"/>
          </a:xfrm>
          <a:prstGeom prst="ellipse">
            <a:avLst/>
          </a:prstGeom>
          <a:solidFill>
            <a:srgbClr val="E05C4E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3662991-3732-B332-17D9-AAD4B36069BE}"/>
              </a:ext>
            </a:extLst>
          </p:cNvPr>
          <p:cNvSpPr txBox="1"/>
          <p:nvPr/>
        </p:nvSpPr>
        <p:spPr>
          <a:xfrm>
            <a:off x="896179" y="4139245"/>
            <a:ext cx="1178489" cy="187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b="1" spc="30" baseline="0">
                <a:ln/>
                <a:solidFill>
                  <a:srgbClr val="B23F33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VICARIOUS / OBSERVED</a:t>
            </a:r>
          </a:p>
        </p:txBody>
      </p:sp>
      <p:sp>
        <p:nvSpPr>
          <p:cNvPr id="109" name="Freeform 108">
            <a:extLst>
              <a:ext uri="{FF2B5EF4-FFF2-40B4-BE49-F238E27FC236}">
                <a16:creationId xmlns:a16="http://schemas.microsoft.com/office/drawing/2014/main" id="{383BB2DE-A43D-B5AE-5021-E1F014BB8952}"/>
              </a:ext>
            </a:extLst>
          </p:cNvPr>
          <p:cNvSpPr/>
          <p:nvPr/>
        </p:nvSpPr>
        <p:spPr>
          <a:xfrm>
            <a:off x="884771" y="4263335"/>
            <a:ext cx="128558" cy="263645"/>
          </a:xfrm>
          <a:custGeom>
            <a:avLst/>
            <a:gdLst>
              <a:gd name="csX0" fmla="*/ 0 w 128558"/>
              <a:gd name="csY0" fmla="*/ 0 h 263645"/>
              <a:gd name="csX1" fmla="*/ 128559 w 128558"/>
              <a:gd name="csY1" fmla="*/ 263645 h 26364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8558" h="263645">
                <a:moveTo>
                  <a:pt x="0" y="0"/>
                </a:moveTo>
                <a:cubicBezTo>
                  <a:pt x="0" y="263645"/>
                  <a:pt x="64279" y="263645"/>
                  <a:pt x="128559" y="263645"/>
                </a:cubicBezTo>
              </a:path>
            </a:pathLst>
          </a:custGeom>
          <a:noFill/>
          <a:ln w="12851" cap="flat">
            <a:solidFill>
              <a:srgbClr val="E05C4E">
                <a:alpha val="4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FC27299E-E924-F0E6-5A06-4DEB13A8BEF2}"/>
              </a:ext>
            </a:extLst>
          </p:cNvPr>
          <p:cNvSpPr/>
          <p:nvPr/>
        </p:nvSpPr>
        <p:spPr>
          <a:xfrm>
            <a:off x="1013330" y="4372652"/>
            <a:ext cx="1722690" cy="308657"/>
          </a:xfrm>
          <a:prstGeom prst="roundRect">
            <a:avLst>
              <a:gd name="adj" fmla="val 24990"/>
            </a:avLst>
          </a:prstGeom>
          <a:solidFill>
            <a:srgbClr val="FFFFFF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521955C2-48FA-20E6-FD74-B63042381844}"/>
              </a:ext>
            </a:extLst>
          </p:cNvPr>
          <p:cNvSpPr/>
          <p:nvPr/>
        </p:nvSpPr>
        <p:spPr>
          <a:xfrm>
            <a:off x="1013330" y="4372652"/>
            <a:ext cx="32139" cy="308657"/>
          </a:xfrm>
          <a:prstGeom prst="roundRect">
            <a:avLst>
              <a:gd name="adj" fmla="val 50000"/>
            </a:avLst>
          </a:prstGeom>
          <a:solidFill>
            <a:srgbClr val="E05C4E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CD8269AA-FD9D-4B31-2352-ED73DBACED43}"/>
              </a:ext>
            </a:extLst>
          </p:cNvPr>
          <p:cNvSpPr/>
          <p:nvPr/>
        </p:nvSpPr>
        <p:spPr>
          <a:xfrm>
            <a:off x="1084038" y="4430525"/>
            <a:ext cx="192838" cy="192911"/>
          </a:xfrm>
          <a:prstGeom prst="ellipse">
            <a:avLst/>
          </a:prstGeom>
          <a:solidFill>
            <a:srgbClr val="FBEAE7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13" name="Graphic 2">
            <a:extLst>
              <a:ext uri="{FF2B5EF4-FFF2-40B4-BE49-F238E27FC236}">
                <a16:creationId xmlns:a16="http://schemas.microsoft.com/office/drawing/2014/main" id="{FEE7AF34-BD21-FCD0-A69A-D70945559B30}"/>
              </a:ext>
            </a:extLst>
          </p:cNvPr>
          <p:cNvGrpSpPr/>
          <p:nvPr/>
        </p:nvGrpSpPr>
        <p:grpSpPr>
          <a:xfrm>
            <a:off x="1105186" y="4462227"/>
            <a:ext cx="156392" cy="131501"/>
            <a:chOff x="1105186" y="4462227"/>
            <a:chExt cx="156392" cy="131501"/>
          </a:xfrm>
        </p:grpSpPr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7F96F1AA-FB98-ADBE-AFC1-BC559F6576CF}"/>
                </a:ext>
              </a:extLst>
            </p:cNvPr>
            <p:cNvSpPr/>
            <p:nvPr/>
          </p:nvSpPr>
          <p:spPr>
            <a:xfrm>
              <a:off x="1105186" y="4462227"/>
              <a:ext cx="156392" cy="131501"/>
            </a:xfrm>
            <a:custGeom>
              <a:avLst/>
              <a:gdLst>
                <a:gd name="csX0" fmla="*/ 152792 w 156392"/>
                <a:gd name="csY0" fmla="*/ 64754 h 131501"/>
                <a:gd name="csX1" fmla="*/ 155171 w 156392"/>
                <a:gd name="csY1" fmla="*/ 58709 h 131501"/>
                <a:gd name="csX2" fmla="*/ 156392 w 156392"/>
                <a:gd name="csY2" fmla="*/ 52343 h 131501"/>
                <a:gd name="csX3" fmla="*/ 156199 w 156392"/>
                <a:gd name="csY3" fmla="*/ 45913 h 131501"/>
                <a:gd name="csX4" fmla="*/ 154399 w 156392"/>
                <a:gd name="csY4" fmla="*/ 39740 h 131501"/>
                <a:gd name="csX5" fmla="*/ 151121 w 156392"/>
                <a:gd name="csY5" fmla="*/ 34081 h 131501"/>
                <a:gd name="csX6" fmla="*/ 146557 w 156392"/>
                <a:gd name="csY6" fmla="*/ 29001 h 131501"/>
                <a:gd name="csX7" fmla="*/ 141029 w 156392"/>
                <a:gd name="csY7" fmla="*/ 24757 h 131501"/>
                <a:gd name="csX8" fmla="*/ 134987 w 156392"/>
                <a:gd name="csY8" fmla="*/ 21220 h 131501"/>
                <a:gd name="csX9" fmla="*/ 128752 w 156392"/>
                <a:gd name="csY9" fmla="*/ 18327 h 131501"/>
                <a:gd name="csX10" fmla="*/ 122645 w 156392"/>
                <a:gd name="csY10" fmla="*/ 15754 h 131501"/>
                <a:gd name="csX11" fmla="*/ 116667 w 156392"/>
                <a:gd name="csY11" fmla="*/ 13375 h 131501"/>
                <a:gd name="csX12" fmla="*/ 111011 w 156392"/>
                <a:gd name="csY12" fmla="*/ 11060 h 131501"/>
                <a:gd name="csX13" fmla="*/ 105418 w 156392"/>
                <a:gd name="csY13" fmla="*/ 8617 h 131501"/>
                <a:gd name="csX14" fmla="*/ 99826 w 156392"/>
                <a:gd name="csY14" fmla="*/ 6238 h 131501"/>
                <a:gd name="csX15" fmla="*/ 94041 w 156392"/>
                <a:gd name="csY15" fmla="*/ 3922 h 131501"/>
                <a:gd name="csX16" fmla="*/ 87999 w 156392"/>
                <a:gd name="csY16" fmla="*/ 1993 h 131501"/>
                <a:gd name="csX17" fmla="*/ 81764 w 156392"/>
                <a:gd name="csY17" fmla="*/ 643 h 131501"/>
                <a:gd name="csX18" fmla="*/ 75271 w 156392"/>
                <a:gd name="csY18" fmla="*/ 0 h 131501"/>
                <a:gd name="csX19" fmla="*/ 68779 w 156392"/>
                <a:gd name="csY19" fmla="*/ 129 h 131501"/>
                <a:gd name="csX20" fmla="*/ 62351 w 156392"/>
                <a:gd name="csY20" fmla="*/ 1157 h 131501"/>
                <a:gd name="csX21" fmla="*/ 56180 w 156392"/>
                <a:gd name="csY21" fmla="*/ 2829 h 131501"/>
                <a:gd name="csX22" fmla="*/ 50202 w 156392"/>
                <a:gd name="csY22" fmla="*/ 4952 h 131501"/>
                <a:gd name="csX23" fmla="*/ 44481 w 156392"/>
                <a:gd name="csY23" fmla="*/ 7459 h 131501"/>
                <a:gd name="csX24" fmla="*/ 38953 w 156392"/>
                <a:gd name="csY24" fmla="*/ 10160 h 131501"/>
                <a:gd name="csX25" fmla="*/ 33490 w 156392"/>
                <a:gd name="csY25" fmla="*/ 12925 h 131501"/>
                <a:gd name="csX26" fmla="*/ 27962 w 156392"/>
                <a:gd name="csY26" fmla="*/ 15819 h 131501"/>
                <a:gd name="csX27" fmla="*/ 22434 w 156392"/>
                <a:gd name="csY27" fmla="*/ 18841 h 131501"/>
                <a:gd name="csX28" fmla="*/ 16970 w 156392"/>
                <a:gd name="csY28" fmla="*/ 22314 h 131501"/>
                <a:gd name="csX29" fmla="*/ 11892 w 156392"/>
                <a:gd name="csY29" fmla="*/ 26236 h 131501"/>
                <a:gd name="csX30" fmla="*/ 7392 w 156392"/>
                <a:gd name="csY30" fmla="*/ 30737 h 131501"/>
                <a:gd name="csX31" fmla="*/ 3728 w 156392"/>
                <a:gd name="csY31" fmla="*/ 35817 h 131501"/>
                <a:gd name="csX32" fmla="*/ 1221 w 156392"/>
                <a:gd name="csY32" fmla="*/ 41347 h 131501"/>
                <a:gd name="csX33" fmla="*/ 0 w 156392"/>
                <a:gd name="csY33" fmla="*/ 47263 h 131501"/>
                <a:gd name="csX34" fmla="*/ 0 w 156392"/>
                <a:gd name="csY34" fmla="*/ 53244 h 131501"/>
                <a:gd name="csX35" fmla="*/ 1093 w 156392"/>
                <a:gd name="csY35" fmla="*/ 59095 h 131501"/>
                <a:gd name="csX36" fmla="*/ 2893 w 156392"/>
                <a:gd name="csY36" fmla="*/ 64754 h 131501"/>
                <a:gd name="csX37" fmla="*/ 5014 w 156392"/>
                <a:gd name="csY37" fmla="*/ 70091 h 131501"/>
                <a:gd name="csX38" fmla="*/ 7264 w 156392"/>
                <a:gd name="csY38" fmla="*/ 75171 h 131501"/>
                <a:gd name="csX39" fmla="*/ 9192 w 156392"/>
                <a:gd name="csY39" fmla="*/ 80123 h 131501"/>
                <a:gd name="csX40" fmla="*/ 10799 w 156392"/>
                <a:gd name="csY40" fmla="*/ 85138 h 131501"/>
                <a:gd name="csX41" fmla="*/ 12149 w 156392"/>
                <a:gd name="csY41" fmla="*/ 90347 h 131501"/>
                <a:gd name="csX42" fmla="*/ 13370 w 156392"/>
                <a:gd name="csY42" fmla="*/ 95813 h 131501"/>
                <a:gd name="csX43" fmla="*/ 14784 w 156392"/>
                <a:gd name="csY43" fmla="*/ 101535 h 131501"/>
                <a:gd name="csX44" fmla="*/ 16777 w 156392"/>
                <a:gd name="csY44" fmla="*/ 107387 h 131501"/>
                <a:gd name="csX45" fmla="*/ 19605 w 156392"/>
                <a:gd name="csY45" fmla="*/ 113110 h 131501"/>
                <a:gd name="csX46" fmla="*/ 23398 w 156392"/>
                <a:gd name="csY46" fmla="*/ 118383 h 131501"/>
                <a:gd name="csX47" fmla="*/ 28283 w 156392"/>
                <a:gd name="csY47" fmla="*/ 123013 h 131501"/>
                <a:gd name="csX48" fmla="*/ 34068 w 156392"/>
                <a:gd name="csY48" fmla="*/ 126678 h 131501"/>
                <a:gd name="csX49" fmla="*/ 40625 w 156392"/>
                <a:gd name="csY49" fmla="*/ 129315 h 131501"/>
                <a:gd name="csX50" fmla="*/ 47567 w 156392"/>
                <a:gd name="csY50" fmla="*/ 130858 h 131501"/>
                <a:gd name="csX51" fmla="*/ 54638 w 156392"/>
                <a:gd name="csY51" fmla="*/ 131501 h 131501"/>
                <a:gd name="csX52" fmla="*/ 61708 w 156392"/>
                <a:gd name="csY52" fmla="*/ 131501 h 131501"/>
                <a:gd name="csX53" fmla="*/ 68586 w 156392"/>
                <a:gd name="csY53" fmla="*/ 130922 h 131501"/>
                <a:gd name="csX54" fmla="*/ 75271 w 156392"/>
                <a:gd name="csY54" fmla="*/ 130151 h 131501"/>
                <a:gd name="csX55" fmla="*/ 81764 w 156392"/>
                <a:gd name="csY55" fmla="*/ 129122 h 131501"/>
                <a:gd name="csX56" fmla="*/ 88127 w 156392"/>
                <a:gd name="csY56" fmla="*/ 127965 h 131501"/>
                <a:gd name="csX57" fmla="*/ 94362 w 156392"/>
                <a:gd name="csY57" fmla="*/ 126614 h 131501"/>
                <a:gd name="csX58" fmla="*/ 100469 w 156392"/>
                <a:gd name="csY58" fmla="*/ 124942 h 131501"/>
                <a:gd name="csX59" fmla="*/ 106383 w 156392"/>
                <a:gd name="csY59" fmla="*/ 122756 h 131501"/>
                <a:gd name="csX60" fmla="*/ 111975 w 156392"/>
                <a:gd name="csY60" fmla="*/ 119927 h 131501"/>
                <a:gd name="csX61" fmla="*/ 116989 w 156392"/>
                <a:gd name="csY61" fmla="*/ 116518 h 131501"/>
                <a:gd name="csX62" fmla="*/ 121424 w 156392"/>
                <a:gd name="csY62" fmla="*/ 112531 h 131501"/>
                <a:gd name="csX63" fmla="*/ 125216 w 156392"/>
                <a:gd name="csY63" fmla="*/ 108159 h 131501"/>
                <a:gd name="csX64" fmla="*/ 128430 w 156392"/>
                <a:gd name="csY64" fmla="*/ 103465 h 131501"/>
                <a:gd name="csX65" fmla="*/ 131194 w 156392"/>
                <a:gd name="csY65" fmla="*/ 98770 h 131501"/>
                <a:gd name="csX66" fmla="*/ 133830 w 156392"/>
                <a:gd name="csY66" fmla="*/ 94076 h 131501"/>
                <a:gd name="csX67" fmla="*/ 136465 w 156392"/>
                <a:gd name="csY67" fmla="*/ 89511 h 131501"/>
                <a:gd name="csX68" fmla="*/ 139422 w 156392"/>
                <a:gd name="csY68" fmla="*/ 85010 h 131501"/>
                <a:gd name="csX69" fmla="*/ 142636 w 156392"/>
                <a:gd name="csY69" fmla="*/ 80444 h 131501"/>
                <a:gd name="csX70" fmla="*/ 146107 w 156392"/>
                <a:gd name="csY70" fmla="*/ 75621 h 131501"/>
                <a:gd name="csX71" fmla="*/ 149643 w 156392"/>
                <a:gd name="csY71" fmla="*/ 70413 h 131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156392" h="131501">
                  <a:moveTo>
                    <a:pt x="152792" y="64754"/>
                  </a:moveTo>
                  <a:lnTo>
                    <a:pt x="155171" y="58709"/>
                  </a:lnTo>
                  <a:lnTo>
                    <a:pt x="156392" y="52343"/>
                  </a:lnTo>
                  <a:lnTo>
                    <a:pt x="156199" y="45913"/>
                  </a:lnTo>
                  <a:lnTo>
                    <a:pt x="154399" y="39740"/>
                  </a:lnTo>
                  <a:lnTo>
                    <a:pt x="151121" y="34081"/>
                  </a:lnTo>
                  <a:lnTo>
                    <a:pt x="146557" y="29001"/>
                  </a:lnTo>
                  <a:lnTo>
                    <a:pt x="141029" y="24757"/>
                  </a:lnTo>
                  <a:lnTo>
                    <a:pt x="134987" y="21220"/>
                  </a:lnTo>
                  <a:lnTo>
                    <a:pt x="128752" y="18327"/>
                  </a:lnTo>
                  <a:lnTo>
                    <a:pt x="122645" y="15754"/>
                  </a:lnTo>
                  <a:lnTo>
                    <a:pt x="116667" y="13375"/>
                  </a:lnTo>
                  <a:lnTo>
                    <a:pt x="111011" y="11060"/>
                  </a:lnTo>
                  <a:lnTo>
                    <a:pt x="105418" y="8617"/>
                  </a:lnTo>
                  <a:lnTo>
                    <a:pt x="99826" y="6238"/>
                  </a:lnTo>
                  <a:lnTo>
                    <a:pt x="94041" y="3922"/>
                  </a:lnTo>
                  <a:lnTo>
                    <a:pt x="87999" y="1993"/>
                  </a:lnTo>
                  <a:lnTo>
                    <a:pt x="81764" y="643"/>
                  </a:lnTo>
                  <a:lnTo>
                    <a:pt x="75271" y="0"/>
                  </a:lnTo>
                  <a:lnTo>
                    <a:pt x="68779" y="129"/>
                  </a:lnTo>
                  <a:lnTo>
                    <a:pt x="62351" y="1157"/>
                  </a:lnTo>
                  <a:lnTo>
                    <a:pt x="56180" y="2829"/>
                  </a:lnTo>
                  <a:lnTo>
                    <a:pt x="50202" y="4952"/>
                  </a:lnTo>
                  <a:lnTo>
                    <a:pt x="44481" y="7459"/>
                  </a:lnTo>
                  <a:lnTo>
                    <a:pt x="38953" y="10160"/>
                  </a:lnTo>
                  <a:lnTo>
                    <a:pt x="33490" y="12925"/>
                  </a:lnTo>
                  <a:lnTo>
                    <a:pt x="27962" y="15819"/>
                  </a:lnTo>
                  <a:lnTo>
                    <a:pt x="22434" y="18841"/>
                  </a:lnTo>
                  <a:lnTo>
                    <a:pt x="16970" y="22314"/>
                  </a:lnTo>
                  <a:lnTo>
                    <a:pt x="11892" y="26236"/>
                  </a:lnTo>
                  <a:lnTo>
                    <a:pt x="7392" y="30737"/>
                  </a:lnTo>
                  <a:lnTo>
                    <a:pt x="3728" y="35817"/>
                  </a:lnTo>
                  <a:lnTo>
                    <a:pt x="1221" y="41347"/>
                  </a:lnTo>
                  <a:lnTo>
                    <a:pt x="0" y="47263"/>
                  </a:lnTo>
                  <a:lnTo>
                    <a:pt x="0" y="53244"/>
                  </a:lnTo>
                  <a:lnTo>
                    <a:pt x="1093" y="59095"/>
                  </a:lnTo>
                  <a:lnTo>
                    <a:pt x="2893" y="64754"/>
                  </a:lnTo>
                  <a:lnTo>
                    <a:pt x="5014" y="70091"/>
                  </a:lnTo>
                  <a:lnTo>
                    <a:pt x="7264" y="75171"/>
                  </a:lnTo>
                  <a:lnTo>
                    <a:pt x="9192" y="80123"/>
                  </a:lnTo>
                  <a:lnTo>
                    <a:pt x="10799" y="85138"/>
                  </a:lnTo>
                  <a:lnTo>
                    <a:pt x="12149" y="90347"/>
                  </a:lnTo>
                  <a:lnTo>
                    <a:pt x="13370" y="95813"/>
                  </a:lnTo>
                  <a:lnTo>
                    <a:pt x="14784" y="101535"/>
                  </a:lnTo>
                  <a:lnTo>
                    <a:pt x="16777" y="107387"/>
                  </a:lnTo>
                  <a:lnTo>
                    <a:pt x="19605" y="113110"/>
                  </a:lnTo>
                  <a:lnTo>
                    <a:pt x="23398" y="118383"/>
                  </a:lnTo>
                  <a:lnTo>
                    <a:pt x="28283" y="123013"/>
                  </a:lnTo>
                  <a:lnTo>
                    <a:pt x="34068" y="126678"/>
                  </a:lnTo>
                  <a:lnTo>
                    <a:pt x="40625" y="129315"/>
                  </a:lnTo>
                  <a:lnTo>
                    <a:pt x="47567" y="130858"/>
                  </a:lnTo>
                  <a:lnTo>
                    <a:pt x="54638" y="131501"/>
                  </a:lnTo>
                  <a:lnTo>
                    <a:pt x="61708" y="131501"/>
                  </a:lnTo>
                  <a:lnTo>
                    <a:pt x="68586" y="130922"/>
                  </a:lnTo>
                  <a:lnTo>
                    <a:pt x="75271" y="130151"/>
                  </a:lnTo>
                  <a:lnTo>
                    <a:pt x="81764" y="129122"/>
                  </a:lnTo>
                  <a:lnTo>
                    <a:pt x="88127" y="127965"/>
                  </a:lnTo>
                  <a:lnTo>
                    <a:pt x="94362" y="126614"/>
                  </a:lnTo>
                  <a:lnTo>
                    <a:pt x="100469" y="124942"/>
                  </a:lnTo>
                  <a:lnTo>
                    <a:pt x="106383" y="122756"/>
                  </a:lnTo>
                  <a:lnTo>
                    <a:pt x="111975" y="119927"/>
                  </a:lnTo>
                  <a:lnTo>
                    <a:pt x="116989" y="116518"/>
                  </a:lnTo>
                  <a:lnTo>
                    <a:pt x="121424" y="112531"/>
                  </a:lnTo>
                  <a:lnTo>
                    <a:pt x="125216" y="108159"/>
                  </a:lnTo>
                  <a:lnTo>
                    <a:pt x="128430" y="103465"/>
                  </a:lnTo>
                  <a:lnTo>
                    <a:pt x="131194" y="98770"/>
                  </a:lnTo>
                  <a:lnTo>
                    <a:pt x="133830" y="94076"/>
                  </a:lnTo>
                  <a:lnTo>
                    <a:pt x="136465" y="89511"/>
                  </a:lnTo>
                  <a:lnTo>
                    <a:pt x="139422" y="85010"/>
                  </a:lnTo>
                  <a:lnTo>
                    <a:pt x="142636" y="80444"/>
                  </a:lnTo>
                  <a:lnTo>
                    <a:pt x="146107" y="75621"/>
                  </a:lnTo>
                  <a:lnTo>
                    <a:pt x="149643" y="70413"/>
                  </a:lnTo>
                  <a:close/>
                </a:path>
              </a:pathLst>
            </a:custGeom>
            <a:solidFill>
              <a:srgbClr val="E05C4E"/>
            </a:solidFill>
            <a:ln w="6425" cap="flat">
              <a:solidFill>
                <a:srgbClr val="B23F3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6A0529AD-FDD2-7BC5-336F-26CC606F51BD}"/>
                </a:ext>
              </a:extLst>
            </p:cNvPr>
            <p:cNvSpPr/>
            <p:nvPr/>
          </p:nvSpPr>
          <p:spPr>
            <a:xfrm>
              <a:off x="1178416" y="4466149"/>
              <a:ext cx="4082" cy="118833"/>
            </a:xfrm>
            <a:custGeom>
              <a:avLst/>
              <a:gdLst>
                <a:gd name="csX0" fmla="*/ 2041 w 4082"/>
                <a:gd name="csY0" fmla="*/ 0 h 118833"/>
                <a:gd name="csX1" fmla="*/ 2041 w 4082"/>
                <a:gd name="csY1" fmla="*/ 118834 h 118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082" h="118833">
                  <a:moveTo>
                    <a:pt x="2041" y="0"/>
                  </a:moveTo>
                  <a:cubicBezTo>
                    <a:pt x="9112" y="39611"/>
                    <a:pt x="-5030" y="82052"/>
                    <a:pt x="2041" y="118834"/>
                  </a:cubicBezTo>
                </a:path>
              </a:pathLst>
            </a:custGeom>
            <a:noFill/>
            <a:ln w="5462" cap="rnd">
              <a:solidFill>
                <a:srgbClr val="FFFFFF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709DD7AF-09EF-325D-7E06-F4633AEE1BFF}"/>
                </a:ext>
              </a:extLst>
            </p:cNvPr>
            <p:cNvSpPr/>
            <p:nvPr/>
          </p:nvSpPr>
          <p:spPr>
            <a:xfrm>
              <a:off x="1125305" y="4498687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2" y="-1886"/>
                    <a:pt x="21212" y="-1886"/>
                    <a:pt x="21212" y="5659"/>
                  </a:cubicBezTo>
                  <a:cubicBezTo>
                    <a:pt x="21212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1DB6A7AC-FFC9-086C-3EB6-420AD0B94D29}"/>
                </a:ext>
              </a:extLst>
            </p:cNvPr>
            <p:cNvSpPr/>
            <p:nvPr/>
          </p:nvSpPr>
          <p:spPr>
            <a:xfrm>
              <a:off x="1129548" y="4537591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E7370113-4A22-32B0-892E-EF886F78A103}"/>
                </a:ext>
              </a:extLst>
            </p:cNvPr>
            <p:cNvSpPr/>
            <p:nvPr/>
          </p:nvSpPr>
          <p:spPr>
            <a:xfrm>
              <a:off x="1193185" y="4500102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1" y="-1886"/>
                    <a:pt x="21212" y="-1886"/>
                    <a:pt x="21212" y="5659"/>
                  </a:cubicBezTo>
                  <a:cubicBezTo>
                    <a:pt x="21212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6B638486-2EAD-B1A3-7EE7-83FFD979C9EE}"/>
                </a:ext>
              </a:extLst>
            </p:cNvPr>
            <p:cNvSpPr/>
            <p:nvPr/>
          </p:nvSpPr>
          <p:spPr>
            <a:xfrm>
              <a:off x="1194599" y="4539005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27B1533F-ED3F-9E87-01EE-0BDB38514D5C}"/>
              </a:ext>
            </a:extLst>
          </p:cNvPr>
          <p:cNvSpPr txBox="1"/>
          <p:nvPr/>
        </p:nvSpPr>
        <p:spPr>
          <a:xfrm>
            <a:off x="1243288" y="4383599"/>
            <a:ext cx="950537" cy="187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b="1" spc="0" baseline="0">
                <a:ln/>
                <a:solidFill>
                  <a:srgbClr val="22314A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Vicarious pain (VPS)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9F3BA7D-0603-6A19-9858-6D06BB01276F}"/>
              </a:ext>
            </a:extLst>
          </p:cNvPr>
          <p:cNvSpPr txBox="1"/>
          <p:nvPr/>
        </p:nvSpPr>
        <p:spPr>
          <a:xfrm>
            <a:off x="1243288" y="4503593"/>
            <a:ext cx="674155" cy="174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25" i="1" spc="0" baseline="0">
                <a:ln/>
                <a:solidFill>
                  <a:srgbClr val="7C8598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Krishnan · 2016</a:t>
            </a:r>
          </a:p>
        </p:txBody>
      </p:sp>
      <p:sp>
        <p:nvSpPr>
          <p:cNvPr id="122" name="Freeform 121">
            <a:extLst>
              <a:ext uri="{FF2B5EF4-FFF2-40B4-BE49-F238E27FC236}">
                <a16:creationId xmlns:a16="http://schemas.microsoft.com/office/drawing/2014/main" id="{4941FC0D-4E21-BCB0-7EE5-546EB19D1329}"/>
              </a:ext>
            </a:extLst>
          </p:cNvPr>
          <p:cNvSpPr/>
          <p:nvPr/>
        </p:nvSpPr>
        <p:spPr>
          <a:xfrm>
            <a:off x="884771" y="4263335"/>
            <a:ext cx="128558" cy="623745"/>
          </a:xfrm>
          <a:custGeom>
            <a:avLst/>
            <a:gdLst>
              <a:gd name="csX0" fmla="*/ 0 w 128558"/>
              <a:gd name="csY0" fmla="*/ 0 h 623745"/>
              <a:gd name="csX1" fmla="*/ 128559 w 128558"/>
              <a:gd name="csY1" fmla="*/ 623746 h 62374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8558" h="623745">
                <a:moveTo>
                  <a:pt x="0" y="0"/>
                </a:moveTo>
                <a:cubicBezTo>
                  <a:pt x="0" y="623746"/>
                  <a:pt x="64279" y="623746"/>
                  <a:pt x="128559" y="623746"/>
                </a:cubicBezTo>
              </a:path>
            </a:pathLst>
          </a:custGeom>
          <a:noFill/>
          <a:ln w="12851" cap="flat">
            <a:solidFill>
              <a:srgbClr val="E05C4E">
                <a:alpha val="4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3" name="Rounded Rectangle 122">
            <a:extLst>
              <a:ext uri="{FF2B5EF4-FFF2-40B4-BE49-F238E27FC236}">
                <a16:creationId xmlns:a16="http://schemas.microsoft.com/office/drawing/2014/main" id="{34353DDD-A960-10DD-2CF4-64BEC27A5571}"/>
              </a:ext>
            </a:extLst>
          </p:cNvPr>
          <p:cNvSpPr/>
          <p:nvPr/>
        </p:nvSpPr>
        <p:spPr>
          <a:xfrm>
            <a:off x="1013330" y="4732752"/>
            <a:ext cx="1722690" cy="308657"/>
          </a:xfrm>
          <a:prstGeom prst="roundRect">
            <a:avLst>
              <a:gd name="adj" fmla="val 24990"/>
            </a:avLst>
          </a:prstGeom>
          <a:solidFill>
            <a:srgbClr val="FFFFFF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4" name="Rounded Rectangle 123">
            <a:extLst>
              <a:ext uri="{FF2B5EF4-FFF2-40B4-BE49-F238E27FC236}">
                <a16:creationId xmlns:a16="http://schemas.microsoft.com/office/drawing/2014/main" id="{EB431352-29B3-471B-67BC-E6A4C6F36075}"/>
              </a:ext>
            </a:extLst>
          </p:cNvPr>
          <p:cNvSpPr/>
          <p:nvPr/>
        </p:nvSpPr>
        <p:spPr>
          <a:xfrm>
            <a:off x="1013330" y="4732752"/>
            <a:ext cx="32139" cy="308657"/>
          </a:xfrm>
          <a:prstGeom prst="roundRect">
            <a:avLst>
              <a:gd name="adj" fmla="val 50000"/>
            </a:avLst>
          </a:prstGeom>
          <a:solidFill>
            <a:srgbClr val="E05C4E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6ADA4F2D-38A0-62EA-2BDF-514435CC2451}"/>
              </a:ext>
            </a:extLst>
          </p:cNvPr>
          <p:cNvSpPr/>
          <p:nvPr/>
        </p:nvSpPr>
        <p:spPr>
          <a:xfrm>
            <a:off x="1084038" y="4790626"/>
            <a:ext cx="192838" cy="192911"/>
          </a:xfrm>
          <a:prstGeom prst="ellipse">
            <a:avLst/>
          </a:prstGeom>
          <a:solidFill>
            <a:srgbClr val="FBEAE7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26" name="Graphic 2">
            <a:extLst>
              <a:ext uri="{FF2B5EF4-FFF2-40B4-BE49-F238E27FC236}">
                <a16:creationId xmlns:a16="http://schemas.microsoft.com/office/drawing/2014/main" id="{A1226DEB-FC6D-8E9F-F1A9-79B27C89791B}"/>
              </a:ext>
            </a:extLst>
          </p:cNvPr>
          <p:cNvGrpSpPr/>
          <p:nvPr/>
        </p:nvGrpSpPr>
        <p:grpSpPr>
          <a:xfrm>
            <a:off x="1105186" y="4822327"/>
            <a:ext cx="156392" cy="131501"/>
            <a:chOff x="1105186" y="4822327"/>
            <a:chExt cx="156392" cy="131501"/>
          </a:xfrm>
        </p:grpSpPr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E8C2C08D-92B5-D347-CD1F-AEBECF05E33F}"/>
                </a:ext>
              </a:extLst>
            </p:cNvPr>
            <p:cNvSpPr/>
            <p:nvPr/>
          </p:nvSpPr>
          <p:spPr>
            <a:xfrm>
              <a:off x="1105186" y="4822327"/>
              <a:ext cx="156392" cy="131501"/>
            </a:xfrm>
            <a:custGeom>
              <a:avLst/>
              <a:gdLst>
                <a:gd name="csX0" fmla="*/ 152792 w 156392"/>
                <a:gd name="csY0" fmla="*/ 64754 h 131501"/>
                <a:gd name="csX1" fmla="*/ 155171 w 156392"/>
                <a:gd name="csY1" fmla="*/ 58709 h 131501"/>
                <a:gd name="csX2" fmla="*/ 156392 w 156392"/>
                <a:gd name="csY2" fmla="*/ 52343 h 131501"/>
                <a:gd name="csX3" fmla="*/ 156199 w 156392"/>
                <a:gd name="csY3" fmla="*/ 45913 h 131501"/>
                <a:gd name="csX4" fmla="*/ 154399 w 156392"/>
                <a:gd name="csY4" fmla="*/ 39740 h 131501"/>
                <a:gd name="csX5" fmla="*/ 151121 w 156392"/>
                <a:gd name="csY5" fmla="*/ 34081 h 131501"/>
                <a:gd name="csX6" fmla="*/ 146557 w 156392"/>
                <a:gd name="csY6" fmla="*/ 29001 h 131501"/>
                <a:gd name="csX7" fmla="*/ 141029 w 156392"/>
                <a:gd name="csY7" fmla="*/ 24757 h 131501"/>
                <a:gd name="csX8" fmla="*/ 134987 w 156392"/>
                <a:gd name="csY8" fmla="*/ 21220 h 131501"/>
                <a:gd name="csX9" fmla="*/ 128752 w 156392"/>
                <a:gd name="csY9" fmla="*/ 18327 h 131501"/>
                <a:gd name="csX10" fmla="*/ 122645 w 156392"/>
                <a:gd name="csY10" fmla="*/ 15754 h 131501"/>
                <a:gd name="csX11" fmla="*/ 116667 w 156392"/>
                <a:gd name="csY11" fmla="*/ 13375 h 131501"/>
                <a:gd name="csX12" fmla="*/ 111011 w 156392"/>
                <a:gd name="csY12" fmla="*/ 11060 h 131501"/>
                <a:gd name="csX13" fmla="*/ 105418 w 156392"/>
                <a:gd name="csY13" fmla="*/ 8617 h 131501"/>
                <a:gd name="csX14" fmla="*/ 99826 w 156392"/>
                <a:gd name="csY14" fmla="*/ 6238 h 131501"/>
                <a:gd name="csX15" fmla="*/ 94041 w 156392"/>
                <a:gd name="csY15" fmla="*/ 3922 h 131501"/>
                <a:gd name="csX16" fmla="*/ 87999 w 156392"/>
                <a:gd name="csY16" fmla="*/ 1993 h 131501"/>
                <a:gd name="csX17" fmla="*/ 81764 w 156392"/>
                <a:gd name="csY17" fmla="*/ 643 h 131501"/>
                <a:gd name="csX18" fmla="*/ 75271 w 156392"/>
                <a:gd name="csY18" fmla="*/ 0 h 131501"/>
                <a:gd name="csX19" fmla="*/ 68779 w 156392"/>
                <a:gd name="csY19" fmla="*/ 129 h 131501"/>
                <a:gd name="csX20" fmla="*/ 62351 w 156392"/>
                <a:gd name="csY20" fmla="*/ 1157 h 131501"/>
                <a:gd name="csX21" fmla="*/ 56180 w 156392"/>
                <a:gd name="csY21" fmla="*/ 2829 h 131501"/>
                <a:gd name="csX22" fmla="*/ 50202 w 156392"/>
                <a:gd name="csY22" fmla="*/ 4952 h 131501"/>
                <a:gd name="csX23" fmla="*/ 44481 w 156392"/>
                <a:gd name="csY23" fmla="*/ 7459 h 131501"/>
                <a:gd name="csX24" fmla="*/ 38953 w 156392"/>
                <a:gd name="csY24" fmla="*/ 10160 h 131501"/>
                <a:gd name="csX25" fmla="*/ 33490 w 156392"/>
                <a:gd name="csY25" fmla="*/ 12925 h 131501"/>
                <a:gd name="csX26" fmla="*/ 27962 w 156392"/>
                <a:gd name="csY26" fmla="*/ 15819 h 131501"/>
                <a:gd name="csX27" fmla="*/ 22434 w 156392"/>
                <a:gd name="csY27" fmla="*/ 18841 h 131501"/>
                <a:gd name="csX28" fmla="*/ 16970 w 156392"/>
                <a:gd name="csY28" fmla="*/ 22314 h 131501"/>
                <a:gd name="csX29" fmla="*/ 11892 w 156392"/>
                <a:gd name="csY29" fmla="*/ 26236 h 131501"/>
                <a:gd name="csX30" fmla="*/ 7392 w 156392"/>
                <a:gd name="csY30" fmla="*/ 30737 h 131501"/>
                <a:gd name="csX31" fmla="*/ 3728 w 156392"/>
                <a:gd name="csY31" fmla="*/ 35817 h 131501"/>
                <a:gd name="csX32" fmla="*/ 1221 w 156392"/>
                <a:gd name="csY32" fmla="*/ 41347 h 131501"/>
                <a:gd name="csX33" fmla="*/ 0 w 156392"/>
                <a:gd name="csY33" fmla="*/ 47263 h 131501"/>
                <a:gd name="csX34" fmla="*/ 0 w 156392"/>
                <a:gd name="csY34" fmla="*/ 53244 h 131501"/>
                <a:gd name="csX35" fmla="*/ 1093 w 156392"/>
                <a:gd name="csY35" fmla="*/ 59095 h 131501"/>
                <a:gd name="csX36" fmla="*/ 2893 w 156392"/>
                <a:gd name="csY36" fmla="*/ 64754 h 131501"/>
                <a:gd name="csX37" fmla="*/ 5014 w 156392"/>
                <a:gd name="csY37" fmla="*/ 70091 h 131501"/>
                <a:gd name="csX38" fmla="*/ 7264 w 156392"/>
                <a:gd name="csY38" fmla="*/ 75171 h 131501"/>
                <a:gd name="csX39" fmla="*/ 9192 w 156392"/>
                <a:gd name="csY39" fmla="*/ 80123 h 131501"/>
                <a:gd name="csX40" fmla="*/ 10799 w 156392"/>
                <a:gd name="csY40" fmla="*/ 85138 h 131501"/>
                <a:gd name="csX41" fmla="*/ 12149 w 156392"/>
                <a:gd name="csY41" fmla="*/ 90347 h 131501"/>
                <a:gd name="csX42" fmla="*/ 13370 w 156392"/>
                <a:gd name="csY42" fmla="*/ 95813 h 131501"/>
                <a:gd name="csX43" fmla="*/ 14784 w 156392"/>
                <a:gd name="csY43" fmla="*/ 101535 h 131501"/>
                <a:gd name="csX44" fmla="*/ 16777 w 156392"/>
                <a:gd name="csY44" fmla="*/ 107387 h 131501"/>
                <a:gd name="csX45" fmla="*/ 19605 w 156392"/>
                <a:gd name="csY45" fmla="*/ 113110 h 131501"/>
                <a:gd name="csX46" fmla="*/ 23398 w 156392"/>
                <a:gd name="csY46" fmla="*/ 118383 h 131501"/>
                <a:gd name="csX47" fmla="*/ 28283 w 156392"/>
                <a:gd name="csY47" fmla="*/ 123013 h 131501"/>
                <a:gd name="csX48" fmla="*/ 34068 w 156392"/>
                <a:gd name="csY48" fmla="*/ 126678 h 131501"/>
                <a:gd name="csX49" fmla="*/ 40625 w 156392"/>
                <a:gd name="csY49" fmla="*/ 129315 h 131501"/>
                <a:gd name="csX50" fmla="*/ 47567 w 156392"/>
                <a:gd name="csY50" fmla="*/ 130858 h 131501"/>
                <a:gd name="csX51" fmla="*/ 54638 w 156392"/>
                <a:gd name="csY51" fmla="*/ 131501 h 131501"/>
                <a:gd name="csX52" fmla="*/ 61708 w 156392"/>
                <a:gd name="csY52" fmla="*/ 131501 h 131501"/>
                <a:gd name="csX53" fmla="*/ 68586 w 156392"/>
                <a:gd name="csY53" fmla="*/ 130922 h 131501"/>
                <a:gd name="csX54" fmla="*/ 75271 w 156392"/>
                <a:gd name="csY54" fmla="*/ 130151 h 131501"/>
                <a:gd name="csX55" fmla="*/ 81764 w 156392"/>
                <a:gd name="csY55" fmla="*/ 129122 h 131501"/>
                <a:gd name="csX56" fmla="*/ 88127 w 156392"/>
                <a:gd name="csY56" fmla="*/ 127965 h 131501"/>
                <a:gd name="csX57" fmla="*/ 94362 w 156392"/>
                <a:gd name="csY57" fmla="*/ 126614 h 131501"/>
                <a:gd name="csX58" fmla="*/ 100469 w 156392"/>
                <a:gd name="csY58" fmla="*/ 124942 h 131501"/>
                <a:gd name="csX59" fmla="*/ 106383 w 156392"/>
                <a:gd name="csY59" fmla="*/ 122756 h 131501"/>
                <a:gd name="csX60" fmla="*/ 111975 w 156392"/>
                <a:gd name="csY60" fmla="*/ 119927 h 131501"/>
                <a:gd name="csX61" fmla="*/ 116989 w 156392"/>
                <a:gd name="csY61" fmla="*/ 116518 h 131501"/>
                <a:gd name="csX62" fmla="*/ 121424 w 156392"/>
                <a:gd name="csY62" fmla="*/ 112531 h 131501"/>
                <a:gd name="csX63" fmla="*/ 125216 w 156392"/>
                <a:gd name="csY63" fmla="*/ 108159 h 131501"/>
                <a:gd name="csX64" fmla="*/ 128430 w 156392"/>
                <a:gd name="csY64" fmla="*/ 103465 h 131501"/>
                <a:gd name="csX65" fmla="*/ 131194 w 156392"/>
                <a:gd name="csY65" fmla="*/ 98770 h 131501"/>
                <a:gd name="csX66" fmla="*/ 133830 w 156392"/>
                <a:gd name="csY66" fmla="*/ 94076 h 131501"/>
                <a:gd name="csX67" fmla="*/ 136465 w 156392"/>
                <a:gd name="csY67" fmla="*/ 89511 h 131501"/>
                <a:gd name="csX68" fmla="*/ 139422 w 156392"/>
                <a:gd name="csY68" fmla="*/ 85010 h 131501"/>
                <a:gd name="csX69" fmla="*/ 142636 w 156392"/>
                <a:gd name="csY69" fmla="*/ 80444 h 131501"/>
                <a:gd name="csX70" fmla="*/ 146107 w 156392"/>
                <a:gd name="csY70" fmla="*/ 75621 h 131501"/>
                <a:gd name="csX71" fmla="*/ 149643 w 156392"/>
                <a:gd name="csY71" fmla="*/ 70413 h 131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156392" h="131501">
                  <a:moveTo>
                    <a:pt x="152792" y="64754"/>
                  </a:moveTo>
                  <a:lnTo>
                    <a:pt x="155171" y="58709"/>
                  </a:lnTo>
                  <a:lnTo>
                    <a:pt x="156392" y="52343"/>
                  </a:lnTo>
                  <a:lnTo>
                    <a:pt x="156199" y="45913"/>
                  </a:lnTo>
                  <a:lnTo>
                    <a:pt x="154399" y="39740"/>
                  </a:lnTo>
                  <a:lnTo>
                    <a:pt x="151121" y="34081"/>
                  </a:lnTo>
                  <a:lnTo>
                    <a:pt x="146557" y="29001"/>
                  </a:lnTo>
                  <a:lnTo>
                    <a:pt x="141029" y="24757"/>
                  </a:lnTo>
                  <a:lnTo>
                    <a:pt x="134987" y="21220"/>
                  </a:lnTo>
                  <a:lnTo>
                    <a:pt x="128752" y="18327"/>
                  </a:lnTo>
                  <a:lnTo>
                    <a:pt x="122645" y="15754"/>
                  </a:lnTo>
                  <a:lnTo>
                    <a:pt x="116667" y="13375"/>
                  </a:lnTo>
                  <a:lnTo>
                    <a:pt x="111011" y="11060"/>
                  </a:lnTo>
                  <a:lnTo>
                    <a:pt x="105418" y="8617"/>
                  </a:lnTo>
                  <a:lnTo>
                    <a:pt x="99826" y="6238"/>
                  </a:lnTo>
                  <a:lnTo>
                    <a:pt x="94041" y="3922"/>
                  </a:lnTo>
                  <a:lnTo>
                    <a:pt x="87999" y="1993"/>
                  </a:lnTo>
                  <a:lnTo>
                    <a:pt x="81764" y="643"/>
                  </a:lnTo>
                  <a:lnTo>
                    <a:pt x="75271" y="0"/>
                  </a:lnTo>
                  <a:lnTo>
                    <a:pt x="68779" y="129"/>
                  </a:lnTo>
                  <a:lnTo>
                    <a:pt x="62351" y="1157"/>
                  </a:lnTo>
                  <a:lnTo>
                    <a:pt x="56180" y="2829"/>
                  </a:lnTo>
                  <a:lnTo>
                    <a:pt x="50202" y="4952"/>
                  </a:lnTo>
                  <a:lnTo>
                    <a:pt x="44481" y="7459"/>
                  </a:lnTo>
                  <a:lnTo>
                    <a:pt x="38953" y="10160"/>
                  </a:lnTo>
                  <a:lnTo>
                    <a:pt x="33490" y="12925"/>
                  </a:lnTo>
                  <a:lnTo>
                    <a:pt x="27962" y="15819"/>
                  </a:lnTo>
                  <a:lnTo>
                    <a:pt x="22434" y="18841"/>
                  </a:lnTo>
                  <a:lnTo>
                    <a:pt x="16970" y="22314"/>
                  </a:lnTo>
                  <a:lnTo>
                    <a:pt x="11892" y="26236"/>
                  </a:lnTo>
                  <a:lnTo>
                    <a:pt x="7392" y="30737"/>
                  </a:lnTo>
                  <a:lnTo>
                    <a:pt x="3728" y="35817"/>
                  </a:lnTo>
                  <a:lnTo>
                    <a:pt x="1221" y="41347"/>
                  </a:lnTo>
                  <a:lnTo>
                    <a:pt x="0" y="47263"/>
                  </a:lnTo>
                  <a:lnTo>
                    <a:pt x="0" y="53244"/>
                  </a:lnTo>
                  <a:lnTo>
                    <a:pt x="1093" y="59095"/>
                  </a:lnTo>
                  <a:lnTo>
                    <a:pt x="2893" y="64754"/>
                  </a:lnTo>
                  <a:lnTo>
                    <a:pt x="5014" y="70091"/>
                  </a:lnTo>
                  <a:lnTo>
                    <a:pt x="7264" y="75171"/>
                  </a:lnTo>
                  <a:lnTo>
                    <a:pt x="9192" y="80123"/>
                  </a:lnTo>
                  <a:lnTo>
                    <a:pt x="10799" y="85138"/>
                  </a:lnTo>
                  <a:lnTo>
                    <a:pt x="12149" y="90347"/>
                  </a:lnTo>
                  <a:lnTo>
                    <a:pt x="13370" y="95813"/>
                  </a:lnTo>
                  <a:lnTo>
                    <a:pt x="14784" y="101535"/>
                  </a:lnTo>
                  <a:lnTo>
                    <a:pt x="16777" y="107387"/>
                  </a:lnTo>
                  <a:lnTo>
                    <a:pt x="19605" y="113110"/>
                  </a:lnTo>
                  <a:lnTo>
                    <a:pt x="23398" y="118383"/>
                  </a:lnTo>
                  <a:lnTo>
                    <a:pt x="28283" y="123013"/>
                  </a:lnTo>
                  <a:lnTo>
                    <a:pt x="34068" y="126678"/>
                  </a:lnTo>
                  <a:lnTo>
                    <a:pt x="40625" y="129315"/>
                  </a:lnTo>
                  <a:lnTo>
                    <a:pt x="47567" y="130858"/>
                  </a:lnTo>
                  <a:lnTo>
                    <a:pt x="54638" y="131501"/>
                  </a:lnTo>
                  <a:lnTo>
                    <a:pt x="61708" y="131501"/>
                  </a:lnTo>
                  <a:lnTo>
                    <a:pt x="68586" y="130922"/>
                  </a:lnTo>
                  <a:lnTo>
                    <a:pt x="75271" y="130151"/>
                  </a:lnTo>
                  <a:lnTo>
                    <a:pt x="81764" y="129122"/>
                  </a:lnTo>
                  <a:lnTo>
                    <a:pt x="88127" y="127965"/>
                  </a:lnTo>
                  <a:lnTo>
                    <a:pt x="94362" y="126614"/>
                  </a:lnTo>
                  <a:lnTo>
                    <a:pt x="100469" y="124942"/>
                  </a:lnTo>
                  <a:lnTo>
                    <a:pt x="106383" y="122756"/>
                  </a:lnTo>
                  <a:lnTo>
                    <a:pt x="111975" y="119927"/>
                  </a:lnTo>
                  <a:lnTo>
                    <a:pt x="116989" y="116518"/>
                  </a:lnTo>
                  <a:lnTo>
                    <a:pt x="121424" y="112531"/>
                  </a:lnTo>
                  <a:lnTo>
                    <a:pt x="125216" y="108159"/>
                  </a:lnTo>
                  <a:lnTo>
                    <a:pt x="128430" y="103465"/>
                  </a:lnTo>
                  <a:lnTo>
                    <a:pt x="131194" y="98770"/>
                  </a:lnTo>
                  <a:lnTo>
                    <a:pt x="133830" y="94076"/>
                  </a:lnTo>
                  <a:lnTo>
                    <a:pt x="136465" y="89511"/>
                  </a:lnTo>
                  <a:lnTo>
                    <a:pt x="139422" y="85010"/>
                  </a:lnTo>
                  <a:lnTo>
                    <a:pt x="142636" y="80444"/>
                  </a:lnTo>
                  <a:lnTo>
                    <a:pt x="146107" y="75621"/>
                  </a:lnTo>
                  <a:lnTo>
                    <a:pt x="149643" y="70413"/>
                  </a:lnTo>
                  <a:close/>
                </a:path>
              </a:pathLst>
            </a:custGeom>
            <a:solidFill>
              <a:srgbClr val="E05C4E"/>
            </a:solidFill>
            <a:ln w="6425" cap="flat">
              <a:solidFill>
                <a:srgbClr val="B23F3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959DE208-EDF0-2E79-F7D5-1DA5C303A52D}"/>
                </a:ext>
              </a:extLst>
            </p:cNvPr>
            <p:cNvSpPr/>
            <p:nvPr/>
          </p:nvSpPr>
          <p:spPr>
            <a:xfrm>
              <a:off x="1178416" y="4826250"/>
              <a:ext cx="4082" cy="118833"/>
            </a:xfrm>
            <a:custGeom>
              <a:avLst/>
              <a:gdLst>
                <a:gd name="csX0" fmla="*/ 2041 w 4082"/>
                <a:gd name="csY0" fmla="*/ 0 h 118833"/>
                <a:gd name="csX1" fmla="*/ 2041 w 4082"/>
                <a:gd name="csY1" fmla="*/ 118834 h 118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082" h="118833">
                  <a:moveTo>
                    <a:pt x="2041" y="0"/>
                  </a:moveTo>
                  <a:cubicBezTo>
                    <a:pt x="9112" y="39611"/>
                    <a:pt x="-5030" y="82052"/>
                    <a:pt x="2041" y="118834"/>
                  </a:cubicBezTo>
                </a:path>
              </a:pathLst>
            </a:custGeom>
            <a:noFill/>
            <a:ln w="5462" cap="rnd">
              <a:solidFill>
                <a:srgbClr val="FFFFFF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3818FB47-DD9F-D859-6938-AD14F8A72E00}"/>
                </a:ext>
              </a:extLst>
            </p:cNvPr>
            <p:cNvSpPr/>
            <p:nvPr/>
          </p:nvSpPr>
          <p:spPr>
            <a:xfrm>
              <a:off x="1125305" y="4858788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2" y="-1886"/>
                    <a:pt x="21212" y="-1886"/>
                    <a:pt x="21212" y="5659"/>
                  </a:cubicBezTo>
                  <a:cubicBezTo>
                    <a:pt x="21212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F5226461-3FC9-CDE2-3CDA-E0BEF9F1AB13}"/>
                </a:ext>
              </a:extLst>
            </p:cNvPr>
            <p:cNvSpPr/>
            <p:nvPr/>
          </p:nvSpPr>
          <p:spPr>
            <a:xfrm>
              <a:off x="1129548" y="4897691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039DBC8A-1CB0-B391-A04D-EBC2ECB7FEC1}"/>
                </a:ext>
              </a:extLst>
            </p:cNvPr>
            <p:cNvSpPr/>
            <p:nvPr/>
          </p:nvSpPr>
          <p:spPr>
            <a:xfrm>
              <a:off x="1193185" y="4860202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1" y="-1886"/>
                    <a:pt x="21212" y="-1886"/>
                    <a:pt x="21212" y="5659"/>
                  </a:cubicBezTo>
                  <a:cubicBezTo>
                    <a:pt x="21212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5E08CD04-852E-6AF4-C783-8D1599D6F894}"/>
                </a:ext>
              </a:extLst>
            </p:cNvPr>
            <p:cNvSpPr/>
            <p:nvPr/>
          </p:nvSpPr>
          <p:spPr>
            <a:xfrm>
              <a:off x="1194599" y="4899106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3" name="TextBox 132">
            <a:extLst>
              <a:ext uri="{FF2B5EF4-FFF2-40B4-BE49-F238E27FC236}">
                <a16:creationId xmlns:a16="http://schemas.microsoft.com/office/drawing/2014/main" id="{F1F5C6C8-41CE-94E5-53A8-B2E03DE6D01A}"/>
              </a:ext>
            </a:extLst>
          </p:cNvPr>
          <p:cNvSpPr txBox="1"/>
          <p:nvPr/>
        </p:nvSpPr>
        <p:spPr>
          <a:xfrm>
            <a:off x="1243288" y="4743700"/>
            <a:ext cx="1036752" cy="187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b="1" spc="0" baseline="0">
                <a:ln/>
                <a:solidFill>
                  <a:srgbClr val="22314A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General vicarious pain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FD26CB72-246C-7894-B1DA-9E3ABF2A0292}"/>
              </a:ext>
            </a:extLst>
          </p:cNvPr>
          <p:cNvSpPr txBox="1"/>
          <p:nvPr/>
        </p:nvSpPr>
        <p:spPr>
          <a:xfrm>
            <a:off x="1243288" y="4863694"/>
            <a:ext cx="561518" cy="174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25" i="1" spc="0" baseline="0">
                <a:ln/>
                <a:solidFill>
                  <a:srgbClr val="7C8598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Zhou · 2020</a:t>
            </a:r>
          </a:p>
        </p:txBody>
      </p:sp>
      <p:sp>
        <p:nvSpPr>
          <p:cNvPr id="135" name="Oval 134">
            <a:extLst>
              <a:ext uri="{FF2B5EF4-FFF2-40B4-BE49-F238E27FC236}">
                <a16:creationId xmlns:a16="http://schemas.microsoft.com/office/drawing/2014/main" id="{EB4F7911-BA18-771B-E8D8-DAB2EBE32A79}"/>
              </a:ext>
            </a:extLst>
          </p:cNvPr>
          <p:cNvSpPr/>
          <p:nvPr/>
        </p:nvSpPr>
        <p:spPr>
          <a:xfrm>
            <a:off x="852632" y="5292195"/>
            <a:ext cx="64279" cy="64303"/>
          </a:xfrm>
          <a:prstGeom prst="ellipse">
            <a:avLst/>
          </a:prstGeom>
          <a:solidFill>
            <a:srgbClr val="E05C4E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6400347A-91B6-A313-442E-7C948C3C5153}"/>
              </a:ext>
            </a:extLst>
          </p:cNvPr>
          <p:cNvSpPr txBox="1"/>
          <p:nvPr/>
        </p:nvSpPr>
        <p:spPr>
          <a:xfrm>
            <a:off x="896179" y="5232408"/>
            <a:ext cx="1128431" cy="187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b="1" spc="30" baseline="0">
                <a:ln/>
                <a:solidFill>
                  <a:srgbClr val="B23F33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MODULATION &amp; VALUE</a:t>
            </a:r>
          </a:p>
        </p:txBody>
      </p:sp>
      <p:sp>
        <p:nvSpPr>
          <p:cNvPr id="137" name="Freeform 136">
            <a:extLst>
              <a:ext uri="{FF2B5EF4-FFF2-40B4-BE49-F238E27FC236}">
                <a16:creationId xmlns:a16="http://schemas.microsoft.com/office/drawing/2014/main" id="{6B7CA61F-280D-54BD-867E-A38ACA6F6C6B}"/>
              </a:ext>
            </a:extLst>
          </p:cNvPr>
          <p:cNvSpPr/>
          <p:nvPr/>
        </p:nvSpPr>
        <p:spPr>
          <a:xfrm>
            <a:off x="884771" y="5356498"/>
            <a:ext cx="128558" cy="263645"/>
          </a:xfrm>
          <a:custGeom>
            <a:avLst/>
            <a:gdLst>
              <a:gd name="csX0" fmla="*/ 0 w 128558"/>
              <a:gd name="csY0" fmla="*/ 0 h 263645"/>
              <a:gd name="csX1" fmla="*/ 128559 w 128558"/>
              <a:gd name="csY1" fmla="*/ 263645 h 26364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8558" h="263645">
                <a:moveTo>
                  <a:pt x="0" y="0"/>
                </a:moveTo>
                <a:cubicBezTo>
                  <a:pt x="0" y="263645"/>
                  <a:pt x="64279" y="263645"/>
                  <a:pt x="128559" y="263645"/>
                </a:cubicBezTo>
              </a:path>
            </a:pathLst>
          </a:custGeom>
          <a:noFill/>
          <a:ln w="12851" cap="flat">
            <a:solidFill>
              <a:srgbClr val="E05C4E">
                <a:alpha val="4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8" name="Rounded Rectangle 137">
            <a:extLst>
              <a:ext uri="{FF2B5EF4-FFF2-40B4-BE49-F238E27FC236}">
                <a16:creationId xmlns:a16="http://schemas.microsoft.com/office/drawing/2014/main" id="{BDAF6D2D-C568-3A6A-DD0D-79707CB07D08}"/>
              </a:ext>
            </a:extLst>
          </p:cNvPr>
          <p:cNvSpPr/>
          <p:nvPr/>
        </p:nvSpPr>
        <p:spPr>
          <a:xfrm>
            <a:off x="1013330" y="5465815"/>
            <a:ext cx="1722690" cy="308657"/>
          </a:xfrm>
          <a:prstGeom prst="roundRect">
            <a:avLst>
              <a:gd name="adj" fmla="val 24990"/>
            </a:avLst>
          </a:prstGeom>
          <a:solidFill>
            <a:srgbClr val="FFFFFF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39" name="Rounded Rectangle 138">
            <a:extLst>
              <a:ext uri="{FF2B5EF4-FFF2-40B4-BE49-F238E27FC236}">
                <a16:creationId xmlns:a16="http://schemas.microsoft.com/office/drawing/2014/main" id="{331CA45E-1E0E-35E7-4DC8-ABFD6A6D7260}"/>
              </a:ext>
            </a:extLst>
          </p:cNvPr>
          <p:cNvSpPr/>
          <p:nvPr/>
        </p:nvSpPr>
        <p:spPr>
          <a:xfrm>
            <a:off x="1013330" y="5465815"/>
            <a:ext cx="32139" cy="308657"/>
          </a:xfrm>
          <a:prstGeom prst="roundRect">
            <a:avLst>
              <a:gd name="adj" fmla="val 50000"/>
            </a:avLst>
          </a:prstGeom>
          <a:solidFill>
            <a:srgbClr val="E05C4E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40" name="Oval 139">
            <a:extLst>
              <a:ext uri="{FF2B5EF4-FFF2-40B4-BE49-F238E27FC236}">
                <a16:creationId xmlns:a16="http://schemas.microsoft.com/office/drawing/2014/main" id="{E2928290-2B2F-6A01-D183-76A523394232}"/>
              </a:ext>
            </a:extLst>
          </p:cNvPr>
          <p:cNvSpPr/>
          <p:nvPr/>
        </p:nvSpPr>
        <p:spPr>
          <a:xfrm>
            <a:off x="1084038" y="5523688"/>
            <a:ext cx="192838" cy="192911"/>
          </a:xfrm>
          <a:prstGeom prst="ellipse">
            <a:avLst/>
          </a:prstGeom>
          <a:solidFill>
            <a:srgbClr val="FBEAE7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41" name="Graphic 2">
            <a:extLst>
              <a:ext uri="{FF2B5EF4-FFF2-40B4-BE49-F238E27FC236}">
                <a16:creationId xmlns:a16="http://schemas.microsoft.com/office/drawing/2014/main" id="{559D6BCF-87B7-BEF4-FC34-842598865E37}"/>
              </a:ext>
            </a:extLst>
          </p:cNvPr>
          <p:cNvGrpSpPr/>
          <p:nvPr/>
        </p:nvGrpSpPr>
        <p:grpSpPr>
          <a:xfrm>
            <a:off x="1105186" y="5555390"/>
            <a:ext cx="156392" cy="131501"/>
            <a:chOff x="1105186" y="5555390"/>
            <a:chExt cx="156392" cy="131501"/>
          </a:xfrm>
        </p:grpSpPr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CE4F3B9E-CDBD-2B62-BEC9-9A398EAF5914}"/>
                </a:ext>
              </a:extLst>
            </p:cNvPr>
            <p:cNvSpPr/>
            <p:nvPr/>
          </p:nvSpPr>
          <p:spPr>
            <a:xfrm>
              <a:off x="1105186" y="5555390"/>
              <a:ext cx="156392" cy="131501"/>
            </a:xfrm>
            <a:custGeom>
              <a:avLst/>
              <a:gdLst>
                <a:gd name="csX0" fmla="*/ 152792 w 156392"/>
                <a:gd name="csY0" fmla="*/ 64754 h 131501"/>
                <a:gd name="csX1" fmla="*/ 155171 w 156392"/>
                <a:gd name="csY1" fmla="*/ 58709 h 131501"/>
                <a:gd name="csX2" fmla="*/ 156392 w 156392"/>
                <a:gd name="csY2" fmla="*/ 52343 h 131501"/>
                <a:gd name="csX3" fmla="*/ 156199 w 156392"/>
                <a:gd name="csY3" fmla="*/ 45913 h 131501"/>
                <a:gd name="csX4" fmla="*/ 154399 w 156392"/>
                <a:gd name="csY4" fmla="*/ 39740 h 131501"/>
                <a:gd name="csX5" fmla="*/ 151121 w 156392"/>
                <a:gd name="csY5" fmla="*/ 34081 h 131501"/>
                <a:gd name="csX6" fmla="*/ 146557 w 156392"/>
                <a:gd name="csY6" fmla="*/ 29001 h 131501"/>
                <a:gd name="csX7" fmla="*/ 141029 w 156392"/>
                <a:gd name="csY7" fmla="*/ 24757 h 131501"/>
                <a:gd name="csX8" fmla="*/ 134987 w 156392"/>
                <a:gd name="csY8" fmla="*/ 21220 h 131501"/>
                <a:gd name="csX9" fmla="*/ 128752 w 156392"/>
                <a:gd name="csY9" fmla="*/ 18327 h 131501"/>
                <a:gd name="csX10" fmla="*/ 122645 w 156392"/>
                <a:gd name="csY10" fmla="*/ 15754 h 131501"/>
                <a:gd name="csX11" fmla="*/ 116667 w 156392"/>
                <a:gd name="csY11" fmla="*/ 13375 h 131501"/>
                <a:gd name="csX12" fmla="*/ 111011 w 156392"/>
                <a:gd name="csY12" fmla="*/ 11060 h 131501"/>
                <a:gd name="csX13" fmla="*/ 105418 w 156392"/>
                <a:gd name="csY13" fmla="*/ 8617 h 131501"/>
                <a:gd name="csX14" fmla="*/ 99826 w 156392"/>
                <a:gd name="csY14" fmla="*/ 6238 h 131501"/>
                <a:gd name="csX15" fmla="*/ 94041 w 156392"/>
                <a:gd name="csY15" fmla="*/ 3922 h 131501"/>
                <a:gd name="csX16" fmla="*/ 87999 w 156392"/>
                <a:gd name="csY16" fmla="*/ 1993 h 131501"/>
                <a:gd name="csX17" fmla="*/ 81764 w 156392"/>
                <a:gd name="csY17" fmla="*/ 643 h 131501"/>
                <a:gd name="csX18" fmla="*/ 75271 w 156392"/>
                <a:gd name="csY18" fmla="*/ 0 h 131501"/>
                <a:gd name="csX19" fmla="*/ 68779 w 156392"/>
                <a:gd name="csY19" fmla="*/ 129 h 131501"/>
                <a:gd name="csX20" fmla="*/ 62351 w 156392"/>
                <a:gd name="csY20" fmla="*/ 1157 h 131501"/>
                <a:gd name="csX21" fmla="*/ 56180 w 156392"/>
                <a:gd name="csY21" fmla="*/ 2829 h 131501"/>
                <a:gd name="csX22" fmla="*/ 50202 w 156392"/>
                <a:gd name="csY22" fmla="*/ 4952 h 131501"/>
                <a:gd name="csX23" fmla="*/ 44481 w 156392"/>
                <a:gd name="csY23" fmla="*/ 7459 h 131501"/>
                <a:gd name="csX24" fmla="*/ 38953 w 156392"/>
                <a:gd name="csY24" fmla="*/ 10160 h 131501"/>
                <a:gd name="csX25" fmla="*/ 33490 w 156392"/>
                <a:gd name="csY25" fmla="*/ 12925 h 131501"/>
                <a:gd name="csX26" fmla="*/ 27962 w 156392"/>
                <a:gd name="csY26" fmla="*/ 15819 h 131501"/>
                <a:gd name="csX27" fmla="*/ 22434 w 156392"/>
                <a:gd name="csY27" fmla="*/ 18841 h 131501"/>
                <a:gd name="csX28" fmla="*/ 16970 w 156392"/>
                <a:gd name="csY28" fmla="*/ 22314 h 131501"/>
                <a:gd name="csX29" fmla="*/ 11892 w 156392"/>
                <a:gd name="csY29" fmla="*/ 26236 h 131501"/>
                <a:gd name="csX30" fmla="*/ 7392 w 156392"/>
                <a:gd name="csY30" fmla="*/ 30737 h 131501"/>
                <a:gd name="csX31" fmla="*/ 3728 w 156392"/>
                <a:gd name="csY31" fmla="*/ 35817 h 131501"/>
                <a:gd name="csX32" fmla="*/ 1221 w 156392"/>
                <a:gd name="csY32" fmla="*/ 41347 h 131501"/>
                <a:gd name="csX33" fmla="*/ 0 w 156392"/>
                <a:gd name="csY33" fmla="*/ 47263 h 131501"/>
                <a:gd name="csX34" fmla="*/ 0 w 156392"/>
                <a:gd name="csY34" fmla="*/ 53244 h 131501"/>
                <a:gd name="csX35" fmla="*/ 1093 w 156392"/>
                <a:gd name="csY35" fmla="*/ 59095 h 131501"/>
                <a:gd name="csX36" fmla="*/ 2893 w 156392"/>
                <a:gd name="csY36" fmla="*/ 64754 h 131501"/>
                <a:gd name="csX37" fmla="*/ 5014 w 156392"/>
                <a:gd name="csY37" fmla="*/ 70091 h 131501"/>
                <a:gd name="csX38" fmla="*/ 7264 w 156392"/>
                <a:gd name="csY38" fmla="*/ 75171 h 131501"/>
                <a:gd name="csX39" fmla="*/ 9192 w 156392"/>
                <a:gd name="csY39" fmla="*/ 80123 h 131501"/>
                <a:gd name="csX40" fmla="*/ 10799 w 156392"/>
                <a:gd name="csY40" fmla="*/ 85138 h 131501"/>
                <a:gd name="csX41" fmla="*/ 12149 w 156392"/>
                <a:gd name="csY41" fmla="*/ 90347 h 131501"/>
                <a:gd name="csX42" fmla="*/ 13370 w 156392"/>
                <a:gd name="csY42" fmla="*/ 95813 h 131501"/>
                <a:gd name="csX43" fmla="*/ 14784 w 156392"/>
                <a:gd name="csY43" fmla="*/ 101535 h 131501"/>
                <a:gd name="csX44" fmla="*/ 16777 w 156392"/>
                <a:gd name="csY44" fmla="*/ 107387 h 131501"/>
                <a:gd name="csX45" fmla="*/ 19605 w 156392"/>
                <a:gd name="csY45" fmla="*/ 113110 h 131501"/>
                <a:gd name="csX46" fmla="*/ 23398 w 156392"/>
                <a:gd name="csY46" fmla="*/ 118383 h 131501"/>
                <a:gd name="csX47" fmla="*/ 28283 w 156392"/>
                <a:gd name="csY47" fmla="*/ 123013 h 131501"/>
                <a:gd name="csX48" fmla="*/ 34068 w 156392"/>
                <a:gd name="csY48" fmla="*/ 126678 h 131501"/>
                <a:gd name="csX49" fmla="*/ 40625 w 156392"/>
                <a:gd name="csY49" fmla="*/ 129315 h 131501"/>
                <a:gd name="csX50" fmla="*/ 47567 w 156392"/>
                <a:gd name="csY50" fmla="*/ 130858 h 131501"/>
                <a:gd name="csX51" fmla="*/ 54638 w 156392"/>
                <a:gd name="csY51" fmla="*/ 131501 h 131501"/>
                <a:gd name="csX52" fmla="*/ 61708 w 156392"/>
                <a:gd name="csY52" fmla="*/ 131501 h 131501"/>
                <a:gd name="csX53" fmla="*/ 68586 w 156392"/>
                <a:gd name="csY53" fmla="*/ 130922 h 131501"/>
                <a:gd name="csX54" fmla="*/ 75271 w 156392"/>
                <a:gd name="csY54" fmla="*/ 130151 h 131501"/>
                <a:gd name="csX55" fmla="*/ 81764 w 156392"/>
                <a:gd name="csY55" fmla="*/ 129122 h 131501"/>
                <a:gd name="csX56" fmla="*/ 88127 w 156392"/>
                <a:gd name="csY56" fmla="*/ 127965 h 131501"/>
                <a:gd name="csX57" fmla="*/ 94362 w 156392"/>
                <a:gd name="csY57" fmla="*/ 126614 h 131501"/>
                <a:gd name="csX58" fmla="*/ 100469 w 156392"/>
                <a:gd name="csY58" fmla="*/ 124942 h 131501"/>
                <a:gd name="csX59" fmla="*/ 106383 w 156392"/>
                <a:gd name="csY59" fmla="*/ 122756 h 131501"/>
                <a:gd name="csX60" fmla="*/ 111975 w 156392"/>
                <a:gd name="csY60" fmla="*/ 119927 h 131501"/>
                <a:gd name="csX61" fmla="*/ 116989 w 156392"/>
                <a:gd name="csY61" fmla="*/ 116518 h 131501"/>
                <a:gd name="csX62" fmla="*/ 121424 w 156392"/>
                <a:gd name="csY62" fmla="*/ 112531 h 131501"/>
                <a:gd name="csX63" fmla="*/ 125216 w 156392"/>
                <a:gd name="csY63" fmla="*/ 108159 h 131501"/>
                <a:gd name="csX64" fmla="*/ 128430 w 156392"/>
                <a:gd name="csY64" fmla="*/ 103465 h 131501"/>
                <a:gd name="csX65" fmla="*/ 131194 w 156392"/>
                <a:gd name="csY65" fmla="*/ 98770 h 131501"/>
                <a:gd name="csX66" fmla="*/ 133830 w 156392"/>
                <a:gd name="csY66" fmla="*/ 94076 h 131501"/>
                <a:gd name="csX67" fmla="*/ 136465 w 156392"/>
                <a:gd name="csY67" fmla="*/ 89511 h 131501"/>
                <a:gd name="csX68" fmla="*/ 139422 w 156392"/>
                <a:gd name="csY68" fmla="*/ 85010 h 131501"/>
                <a:gd name="csX69" fmla="*/ 142636 w 156392"/>
                <a:gd name="csY69" fmla="*/ 80444 h 131501"/>
                <a:gd name="csX70" fmla="*/ 146107 w 156392"/>
                <a:gd name="csY70" fmla="*/ 75621 h 131501"/>
                <a:gd name="csX71" fmla="*/ 149643 w 156392"/>
                <a:gd name="csY71" fmla="*/ 70413 h 131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156392" h="131501">
                  <a:moveTo>
                    <a:pt x="152792" y="64754"/>
                  </a:moveTo>
                  <a:lnTo>
                    <a:pt x="155171" y="58709"/>
                  </a:lnTo>
                  <a:lnTo>
                    <a:pt x="156392" y="52343"/>
                  </a:lnTo>
                  <a:lnTo>
                    <a:pt x="156199" y="45913"/>
                  </a:lnTo>
                  <a:lnTo>
                    <a:pt x="154399" y="39740"/>
                  </a:lnTo>
                  <a:lnTo>
                    <a:pt x="151121" y="34081"/>
                  </a:lnTo>
                  <a:lnTo>
                    <a:pt x="146557" y="29001"/>
                  </a:lnTo>
                  <a:lnTo>
                    <a:pt x="141029" y="24757"/>
                  </a:lnTo>
                  <a:lnTo>
                    <a:pt x="134987" y="21220"/>
                  </a:lnTo>
                  <a:lnTo>
                    <a:pt x="128752" y="18327"/>
                  </a:lnTo>
                  <a:lnTo>
                    <a:pt x="122645" y="15754"/>
                  </a:lnTo>
                  <a:lnTo>
                    <a:pt x="116667" y="13375"/>
                  </a:lnTo>
                  <a:lnTo>
                    <a:pt x="111011" y="11060"/>
                  </a:lnTo>
                  <a:lnTo>
                    <a:pt x="105418" y="8617"/>
                  </a:lnTo>
                  <a:lnTo>
                    <a:pt x="99826" y="6238"/>
                  </a:lnTo>
                  <a:lnTo>
                    <a:pt x="94041" y="3922"/>
                  </a:lnTo>
                  <a:lnTo>
                    <a:pt x="87999" y="1993"/>
                  </a:lnTo>
                  <a:lnTo>
                    <a:pt x="81764" y="643"/>
                  </a:lnTo>
                  <a:lnTo>
                    <a:pt x="75271" y="0"/>
                  </a:lnTo>
                  <a:lnTo>
                    <a:pt x="68779" y="129"/>
                  </a:lnTo>
                  <a:lnTo>
                    <a:pt x="62351" y="1157"/>
                  </a:lnTo>
                  <a:lnTo>
                    <a:pt x="56180" y="2829"/>
                  </a:lnTo>
                  <a:lnTo>
                    <a:pt x="50202" y="4952"/>
                  </a:lnTo>
                  <a:lnTo>
                    <a:pt x="44481" y="7459"/>
                  </a:lnTo>
                  <a:lnTo>
                    <a:pt x="38953" y="10160"/>
                  </a:lnTo>
                  <a:lnTo>
                    <a:pt x="33490" y="12925"/>
                  </a:lnTo>
                  <a:lnTo>
                    <a:pt x="27962" y="15819"/>
                  </a:lnTo>
                  <a:lnTo>
                    <a:pt x="22434" y="18841"/>
                  </a:lnTo>
                  <a:lnTo>
                    <a:pt x="16970" y="22314"/>
                  </a:lnTo>
                  <a:lnTo>
                    <a:pt x="11892" y="26236"/>
                  </a:lnTo>
                  <a:lnTo>
                    <a:pt x="7392" y="30737"/>
                  </a:lnTo>
                  <a:lnTo>
                    <a:pt x="3728" y="35817"/>
                  </a:lnTo>
                  <a:lnTo>
                    <a:pt x="1221" y="41347"/>
                  </a:lnTo>
                  <a:lnTo>
                    <a:pt x="0" y="47263"/>
                  </a:lnTo>
                  <a:lnTo>
                    <a:pt x="0" y="53244"/>
                  </a:lnTo>
                  <a:lnTo>
                    <a:pt x="1093" y="59095"/>
                  </a:lnTo>
                  <a:lnTo>
                    <a:pt x="2893" y="64754"/>
                  </a:lnTo>
                  <a:lnTo>
                    <a:pt x="5014" y="70091"/>
                  </a:lnTo>
                  <a:lnTo>
                    <a:pt x="7264" y="75171"/>
                  </a:lnTo>
                  <a:lnTo>
                    <a:pt x="9192" y="80123"/>
                  </a:lnTo>
                  <a:lnTo>
                    <a:pt x="10799" y="85138"/>
                  </a:lnTo>
                  <a:lnTo>
                    <a:pt x="12149" y="90347"/>
                  </a:lnTo>
                  <a:lnTo>
                    <a:pt x="13370" y="95813"/>
                  </a:lnTo>
                  <a:lnTo>
                    <a:pt x="14784" y="101535"/>
                  </a:lnTo>
                  <a:lnTo>
                    <a:pt x="16777" y="107387"/>
                  </a:lnTo>
                  <a:lnTo>
                    <a:pt x="19605" y="113110"/>
                  </a:lnTo>
                  <a:lnTo>
                    <a:pt x="23398" y="118383"/>
                  </a:lnTo>
                  <a:lnTo>
                    <a:pt x="28283" y="123013"/>
                  </a:lnTo>
                  <a:lnTo>
                    <a:pt x="34068" y="126678"/>
                  </a:lnTo>
                  <a:lnTo>
                    <a:pt x="40625" y="129315"/>
                  </a:lnTo>
                  <a:lnTo>
                    <a:pt x="47567" y="130858"/>
                  </a:lnTo>
                  <a:lnTo>
                    <a:pt x="54638" y="131501"/>
                  </a:lnTo>
                  <a:lnTo>
                    <a:pt x="61708" y="131501"/>
                  </a:lnTo>
                  <a:lnTo>
                    <a:pt x="68586" y="130922"/>
                  </a:lnTo>
                  <a:lnTo>
                    <a:pt x="75271" y="130151"/>
                  </a:lnTo>
                  <a:lnTo>
                    <a:pt x="81764" y="129122"/>
                  </a:lnTo>
                  <a:lnTo>
                    <a:pt x="88127" y="127965"/>
                  </a:lnTo>
                  <a:lnTo>
                    <a:pt x="94362" y="126614"/>
                  </a:lnTo>
                  <a:lnTo>
                    <a:pt x="100469" y="124942"/>
                  </a:lnTo>
                  <a:lnTo>
                    <a:pt x="106383" y="122756"/>
                  </a:lnTo>
                  <a:lnTo>
                    <a:pt x="111975" y="119927"/>
                  </a:lnTo>
                  <a:lnTo>
                    <a:pt x="116989" y="116518"/>
                  </a:lnTo>
                  <a:lnTo>
                    <a:pt x="121424" y="112531"/>
                  </a:lnTo>
                  <a:lnTo>
                    <a:pt x="125216" y="108159"/>
                  </a:lnTo>
                  <a:lnTo>
                    <a:pt x="128430" y="103465"/>
                  </a:lnTo>
                  <a:lnTo>
                    <a:pt x="131194" y="98770"/>
                  </a:lnTo>
                  <a:lnTo>
                    <a:pt x="133830" y="94076"/>
                  </a:lnTo>
                  <a:lnTo>
                    <a:pt x="136465" y="89511"/>
                  </a:lnTo>
                  <a:lnTo>
                    <a:pt x="139422" y="85010"/>
                  </a:lnTo>
                  <a:lnTo>
                    <a:pt x="142636" y="80444"/>
                  </a:lnTo>
                  <a:lnTo>
                    <a:pt x="146107" y="75621"/>
                  </a:lnTo>
                  <a:lnTo>
                    <a:pt x="149643" y="70413"/>
                  </a:lnTo>
                  <a:close/>
                </a:path>
              </a:pathLst>
            </a:custGeom>
            <a:solidFill>
              <a:srgbClr val="E05C4E"/>
            </a:solidFill>
            <a:ln w="6425" cap="flat">
              <a:solidFill>
                <a:srgbClr val="B23F3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FE09031E-FE0A-3EFF-D0BF-429EAC79C894}"/>
                </a:ext>
              </a:extLst>
            </p:cNvPr>
            <p:cNvSpPr/>
            <p:nvPr/>
          </p:nvSpPr>
          <p:spPr>
            <a:xfrm>
              <a:off x="1178416" y="5559312"/>
              <a:ext cx="4082" cy="118833"/>
            </a:xfrm>
            <a:custGeom>
              <a:avLst/>
              <a:gdLst>
                <a:gd name="csX0" fmla="*/ 2041 w 4082"/>
                <a:gd name="csY0" fmla="*/ 0 h 118833"/>
                <a:gd name="csX1" fmla="*/ 2041 w 4082"/>
                <a:gd name="csY1" fmla="*/ 118834 h 118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082" h="118833">
                  <a:moveTo>
                    <a:pt x="2041" y="0"/>
                  </a:moveTo>
                  <a:cubicBezTo>
                    <a:pt x="9112" y="39611"/>
                    <a:pt x="-5030" y="82052"/>
                    <a:pt x="2041" y="118834"/>
                  </a:cubicBezTo>
                </a:path>
              </a:pathLst>
            </a:custGeom>
            <a:noFill/>
            <a:ln w="5462" cap="rnd">
              <a:solidFill>
                <a:srgbClr val="FFFFFF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B4BCBACC-5ECE-3FCA-6506-6539D309225A}"/>
                </a:ext>
              </a:extLst>
            </p:cNvPr>
            <p:cNvSpPr/>
            <p:nvPr/>
          </p:nvSpPr>
          <p:spPr>
            <a:xfrm>
              <a:off x="1125305" y="5591850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2" y="-1886"/>
                    <a:pt x="21212" y="-1886"/>
                    <a:pt x="21212" y="5659"/>
                  </a:cubicBezTo>
                  <a:cubicBezTo>
                    <a:pt x="21212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82CD375C-8F5B-3081-C5EC-3114CD95684B}"/>
                </a:ext>
              </a:extLst>
            </p:cNvPr>
            <p:cNvSpPr/>
            <p:nvPr/>
          </p:nvSpPr>
          <p:spPr>
            <a:xfrm>
              <a:off x="1129548" y="5630754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A2665750-49EF-EB08-F75D-B6339339A22F}"/>
                </a:ext>
              </a:extLst>
            </p:cNvPr>
            <p:cNvSpPr/>
            <p:nvPr/>
          </p:nvSpPr>
          <p:spPr>
            <a:xfrm>
              <a:off x="1193185" y="5593265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1" y="-1886"/>
                    <a:pt x="21212" y="-1886"/>
                    <a:pt x="21212" y="5659"/>
                  </a:cubicBezTo>
                  <a:cubicBezTo>
                    <a:pt x="21212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B717C7EF-2081-23C1-4007-25C8E76B4144}"/>
                </a:ext>
              </a:extLst>
            </p:cNvPr>
            <p:cNvSpPr/>
            <p:nvPr/>
          </p:nvSpPr>
          <p:spPr>
            <a:xfrm>
              <a:off x="1194599" y="5632168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8" name="TextBox 147">
            <a:extLst>
              <a:ext uri="{FF2B5EF4-FFF2-40B4-BE49-F238E27FC236}">
                <a16:creationId xmlns:a16="http://schemas.microsoft.com/office/drawing/2014/main" id="{645F4A59-C008-DA7F-0802-E12394ED3E6B}"/>
              </a:ext>
            </a:extLst>
          </p:cNvPr>
          <p:cNvSpPr txBox="1"/>
          <p:nvPr/>
        </p:nvSpPr>
        <p:spPr>
          <a:xfrm>
            <a:off x="1243288" y="5476762"/>
            <a:ext cx="881919" cy="187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b="1" spc="0" baseline="0">
                <a:ln/>
                <a:solidFill>
                  <a:srgbClr val="22314A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Placebo analgesia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04E29E26-C4B5-C87F-0B43-EB8CA37AD785}"/>
              </a:ext>
            </a:extLst>
          </p:cNvPr>
          <p:cNvSpPr txBox="1"/>
          <p:nvPr/>
        </p:nvSpPr>
        <p:spPr>
          <a:xfrm>
            <a:off x="1243288" y="5596756"/>
            <a:ext cx="603377" cy="174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25" i="1" spc="0" baseline="0">
                <a:ln/>
                <a:solidFill>
                  <a:srgbClr val="7C8598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Wager · 2011</a:t>
            </a:r>
          </a:p>
        </p:txBody>
      </p:sp>
      <p:sp>
        <p:nvSpPr>
          <p:cNvPr id="150" name="Freeform 149">
            <a:extLst>
              <a:ext uri="{FF2B5EF4-FFF2-40B4-BE49-F238E27FC236}">
                <a16:creationId xmlns:a16="http://schemas.microsoft.com/office/drawing/2014/main" id="{B6DF95FD-7B9F-45C2-A328-DD8EF74CCF0D}"/>
              </a:ext>
            </a:extLst>
          </p:cNvPr>
          <p:cNvSpPr/>
          <p:nvPr/>
        </p:nvSpPr>
        <p:spPr>
          <a:xfrm>
            <a:off x="884771" y="5356498"/>
            <a:ext cx="128558" cy="623745"/>
          </a:xfrm>
          <a:custGeom>
            <a:avLst/>
            <a:gdLst>
              <a:gd name="csX0" fmla="*/ 0 w 128558"/>
              <a:gd name="csY0" fmla="*/ 0 h 623745"/>
              <a:gd name="csX1" fmla="*/ 128559 w 128558"/>
              <a:gd name="csY1" fmla="*/ 623746 h 62374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8558" h="623745">
                <a:moveTo>
                  <a:pt x="0" y="0"/>
                </a:moveTo>
                <a:cubicBezTo>
                  <a:pt x="0" y="623746"/>
                  <a:pt x="64279" y="623746"/>
                  <a:pt x="128559" y="623746"/>
                </a:cubicBezTo>
              </a:path>
            </a:pathLst>
          </a:custGeom>
          <a:noFill/>
          <a:ln w="12851" cap="flat">
            <a:solidFill>
              <a:srgbClr val="E05C4E">
                <a:alpha val="4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1" name="Rounded Rectangle 150">
            <a:extLst>
              <a:ext uri="{FF2B5EF4-FFF2-40B4-BE49-F238E27FC236}">
                <a16:creationId xmlns:a16="http://schemas.microsoft.com/office/drawing/2014/main" id="{D2EE3E79-1C89-8D95-3E7C-2A63DBECBDE3}"/>
              </a:ext>
            </a:extLst>
          </p:cNvPr>
          <p:cNvSpPr/>
          <p:nvPr/>
        </p:nvSpPr>
        <p:spPr>
          <a:xfrm>
            <a:off x="1013330" y="5825915"/>
            <a:ext cx="1722690" cy="308657"/>
          </a:xfrm>
          <a:prstGeom prst="roundRect">
            <a:avLst>
              <a:gd name="adj" fmla="val 24990"/>
            </a:avLst>
          </a:prstGeom>
          <a:solidFill>
            <a:srgbClr val="FFFFFF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2" name="Rounded Rectangle 151">
            <a:extLst>
              <a:ext uri="{FF2B5EF4-FFF2-40B4-BE49-F238E27FC236}">
                <a16:creationId xmlns:a16="http://schemas.microsoft.com/office/drawing/2014/main" id="{6B86A92C-AC75-D3D5-9344-FD3A556461F8}"/>
              </a:ext>
            </a:extLst>
          </p:cNvPr>
          <p:cNvSpPr/>
          <p:nvPr/>
        </p:nvSpPr>
        <p:spPr>
          <a:xfrm>
            <a:off x="1013330" y="5825915"/>
            <a:ext cx="32139" cy="308657"/>
          </a:xfrm>
          <a:prstGeom prst="roundRect">
            <a:avLst>
              <a:gd name="adj" fmla="val 50000"/>
            </a:avLst>
          </a:prstGeom>
          <a:solidFill>
            <a:srgbClr val="E05C4E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D243FDB3-2031-2585-062A-A2CF10288853}"/>
              </a:ext>
            </a:extLst>
          </p:cNvPr>
          <p:cNvSpPr/>
          <p:nvPr/>
        </p:nvSpPr>
        <p:spPr>
          <a:xfrm>
            <a:off x="1084038" y="5883789"/>
            <a:ext cx="192838" cy="192911"/>
          </a:xfrm>
          <a:prstGeom prst="ellipse">
            <a:avLst/>
          </a:prstGeom>
          <a:solidFill>
            <a:srgbClr val="FBEAE7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54" name="Graphic 2">
            <a:extLst>
              <a:ext uri="{FF2B5EF4-FFF2-40B4-BE49-F238E27FC236}">
                <a16:creationId xmlns:a16="http://schemas.microsoft.com/office/drawing/2014/main" id="{3F35B5B4-914D-81C2-B6E3-45F91F7AFBEA}"/>
              </a:ext>
            </a:extLst>
          </p:cNvPr>
          <p:cNvGrpSpPr/>
          <p:nvPr/>
        </p:nvGrpSpPr>
        <p:grpSpPr>
          <a:xfrm>
            <a:off x="1105186" y="5915491"/>
            <a:ext cx="156392" cy="131501"/>
            <a:chOff x="1105186" y="5915491"/>
            <a:chExt cx="156392" cy="131501"/>
          </a:xfrm>
        </p:grpSpPr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0C3B9354-0ED2-146F-C2A2-531A94A6CAFA}"/>
                </a:ext>
              </a:extLst>
            </p:cNvPr>
            <p:cNvSpPr/>
            <p:nvPr/>
          </p:nvSpPr>
          <p:spPr>
            <a:xfrm>
              <a:off x="1105186" y="5915491"/>
              <a:ext cx="156392" cy="131501"/>
            </a:xfrm>
            <a:custGeom>
              <a:avLst/>
              <a:gdLst>
                <a:gd name="csX0" fmla="*/ 152792 w 156392"/>
                <a:gd name="csY0" fmla="*/ 64754 h 131501"/>
                <a:gd name="csX1" fmla="*/ 155171 w 156392"/>
                <a:gd name="csY1" fmla="*/ 58709 h 131501"/>
                <a:gd name="csX2" fmla="*/ 156392 w 156392"/>
                <a:gd name="csY2" fmla="*/ 52343 h 131501"/>
                <a:gd name="csX3" fmla="*/ 156199 w 156392"/>
                <a:gd name="csY3" fmla="*/ 45913 h 131501"/>
                <a:gd name="csX4" fmla="*/ 154399 w 156392"/>
                <a:gd name="csY4" fmla="*/ 39740 h 131501"/>
                <a:gd name="csX5" fmla="*/ 151121 w 156392"/>
                <a:gd name="csY5" fmla="*/ 34081 h 131501"/>
                <a:gd name="csX6" fmla="*/ 146557 w 156392"/>
                <a:gd name="csY6" fmla="*/ 29001 h 131501"/>
                <a:gd name="csX7" fmla="*/ 141029 w 156392"/>
                <a:gd name="csY7" fmla="*/ 24757 h 131501"/>
                <a:gd name="csX8" fmla="*/ 134987 w 156392"/>
                <a:gd name="csY8" fmla="*/ 21220 h 131501"/>
                <a:gd name="csX9" fmla="*/ 128752 w 156392"/>
                <a:gd name="csY9" fmla="*/ 18327 h 131501"/>
                <a:gd name="csX10" fmla="*/ 122645 w 156392"/>
                <a:gd name="csY10" fmla="*/ 15754 h 131501"/>
                <a:gd name="csX11" fmla="*/ 116667 w 156392"/>
                <a:gd name="csY11" fmla="*/ 13375 h 131501"/>
                <a:gd name="csX12" fmla="*/ 111011 w 156392"/>
                <a:gd name="csY12" fmla="*/ 11060 h 131501"/>
                <a:gd name="csX13" fmla="*/ 105418 w 156392"/>
                <a:gd name="csY13" fmla="*/ 8617 h 131501"/>
                <a:gd name="csX14" fmla="*/ 99826 w 156392"/>
                <a:gd name="csY14" fmla="*/ 6238 h 131501"/>
                <a:gd name="csX15" fmla="*/ 94041 w 156392"/>
                <a:gd name="csY15" fmla="*/ 3922 h 131501"/>
                <a:gd name="csX16" fmla="*/ 87999 w 156392"/>
                <a:gd name="csY16" fmla="*/ 1993 h 131501"/>
                <a:gd name="csX17" fmla="*/ 81764 w 156392"/>
                <a:gd name="csY17" fmla="*/ 643 h 131501"/>
                <a:gd name="csX18" fmla="*/ 75271 w 156392"/>
                <a:gd name="csY18" fmla="*/ 0 h 131501"/>
                <a:gd name="csX19" fmla="*/ 68779 w 156392"/>
                <a:gd name="csY19" fmla="*/ 129 h 131501"/>
                <a:gd name="csX20" fmla="*/ 62351 w 156392"/>
                <a:gd name="csY20" fmla="*/ 1157 h 131501"/>
                <a:gd name="csX21" fmla="*/ 56180 w 156392"/>
                <a:gd name="csY21" fmla="*/ 2829 h 131501"/>
                <a:gd name="csX22" fmla="*/ 50202 w 156392"/>
                <a:gd name="csY22" fmla="*/ 4952 h 131501"/>
                <a:gd name="csX23" fmla="*/ 44481 w 156392"/>
                <a:gd name="csY23" fmla="*/ 7459 h 131501"/>
                <a:gd name="csX24" fmla="*/ 38953 w 156392"/>
                <a:gd name="csY24" fmla="*/ 10160 h 131501"/>
                <a:gd name="csX25" fmla="*/ 33490 w 156392"/>
                <a:gd name="csY25" fmla="*/ 12925 h 131501"/>
                <a:gd name="csX26" fmla="*/ 27962 w 156392"/>
                <a:gd name="csY26" fmla="*/ 15819 h 131501"/>
                <a:gd name="csX27" fmla="*/ 22434 w 156392"/>
                <a:gd name="csY27" fmla="*/ 18841 h 131501"/>
                <a:gd name="csX28" fmla="*/ 16970 w 156392"/>
                <a:gd name="csY28" fmla="*/ 22314 h 131501"/>
                <a:gd name="csX29" fmla="*/ 11892 w 156392"/>
                <a:gd name="csY29" fmla="*/ 26236 h 131501"/>
                <a:gd name="csX30" fmla="*/ 7392 w 156392"/>
                <a:gd name="csY30" fmla="*/ 30737 h 131501"/>
                <a:gd name="csX31" fmla="*/ 3728 w 156392"/>
                <a:gd name="csY31" fmla="*/ 35817 h 131501"/>
                <a:gd name="csX32" fmla="*/ 1221 w 156392"/>
                <a:gd name="csY32" fmla="*/ 41347 h 131501"/>
                <a:gd name="csX33" fmla="*/ 0 w 156392"/>
                <a:gd name="csY33" fmla="*/ 47263 h 131501"/>
                <a:gd name="csX34" fmla="*/ 0 w 156392"/>
                <a:gd name="csY34" fmla="*/ 53244 h 131501"/>
                <a:gd name="csX35" fmla="*/ 1093 w 156392"/>
                <a:gd name="csY35" fmla="*/ 59095 h 131501"/>
                <a:gd name="csX36" fmla="*/ 2893 w 156392"/>
                <a:gd name="csY36" fmla="*/ 64754 h 131501"/>
                <a:gd name="csX37" fmla="*/ 5014 w 156392"/>
                <a:gd name="csY37" fmla="*/ 70091 h 131501"/>
                <a:gd name="csX38" fmla="*/ 7264 w 156392"/>
                <a:gd name="csY38" fmla="*/ 75171 h 131501"/>
                <a:gd name="csX39" fmla="*/ 9192 w 156392"/>
                <a:gd name="csY39" fmla="*/ 80123 h 131501"/>
                <a:gd name="csX40" fmla="*/ 10799 w 156392"/>
                <a:gd name="csY40" fmla="*/ 85138 h 131501"/>
                <a:gd name="csX41" fmla="*/ 12149 w 156392"/>
                <a:gd name="csY41" fmla="*/ 90347 h 131501"/>
                <a:gd name="csX42" fmla="*/ 13370 w 156392"/>
                <a:gd name="csY42" fmla="*/ 95813 h 131501"/>
                <a:gd name="csX43" fmla="*/ 14784 w 156392"/>
                <a:gd name="csY43" fmla="*/ 101535 h 131501"/>
                <a:gd name="csX44" fmla="*/ 16777 w 156392"/>
                <a:gd name="csY44" fmla="*/ 107387 h 131501"/>
                <a:gd name="csX45" fmla="*/ 19605 w 156392"/>
                <a:gd name="csY45" fmla="*/ 113110 h 131501"/>
                <a:gd name="csX46" fmla="*/ 23398 w 156392"/>
                <a:gd name="csY46" fmla="*/ 118383 h 131501"/>
                <a:gd name="csX47" fmla="*/ 28283 w 156392"/>
                <a:gd name="csY47" fmla="*/ 123013 h 131501"/>
                <a:gd name="csX48" fmla="*/ 34068 w 156392"/>
                <a:gd name="csY48" fmla="*/ 126678 h 131501"/>
                <a:gd name="csX49" fmla="*/ 40625 w 156392"/>
                <a:gd name="csY49" fmla="*/ 129315 h 131501"/>
                <a:gd name="csX50" fmla="*/ 47567 w 156392"/>
                <a:gd name="csY50" fmla="*/ 130858 h 131501"/>
                <a:gd name="csX51" fmla="*/ 54638 w 156392"/>
                <a:gd name="csY51" fmla="*/ 131501 h 131501"/>
                <a:gd name="csX52" fmla="*/ 61708 w 156392"/>
                <a:gd name="csY52" fmla="*/ 131501 h 131501"/>
                <a:gd name="csX53" fmla="*/ 68586 w 156392"/>
                <a:gd name="csY53" fmla="*/ 130922 h 131501"/>
                <a:gd name="csX54" fmla="*/ 75271 w 156392"/>
                <a:gd name="csY54" fmla="*/ 130151 h 131501"/>
                <a:gd name="csX55" fmla="*/ 81764 w 156392"/>
                <a:gd name="csY55" fmla="*/ 129122 h 131501"/>
                <a:gd name="csX56" fmla="*/ 88127 w 156392"/>
                <a:gd name="csY56" fmla="*/ 127965 h 131501"/>
                <a:gd name="csX57" fmla="*/ 94362 w 156392"/>
                <a:gd name="csY57" fmla="*/ 126614 h 131501"/>
                <a:gd name="csX58" fmla="*/ 100469 w 156392"/>
                <a:gd name="csY58" fmla="*/ 124942 h 131501"/>
                <a:gd name="csX59" fmla="*/ 106383 w 156392"/>
                <a:gd name="csY59" fmla="*/ 122756 h 131501"/>
                <a:gd name="csX60" fmla="*/ 111975 w 156392"/>
                <a:gd name="csY60" fmla="*/ 119927 h 131501"/>
                <a:gd name="csX61" fmla="*/ 116989 w 156392"/>
                <a:gd name="csY61" fmla="*/ 116518 h 131501"/>
                <a:gd name="csX62" fmla="*/ 121424 w 156392"/>
                <a:gd name="csY62" fmla="*/ 112531 h 131501"/>
                <a:gd name="csX63" fmla="*/ 125216 w 156392"/>
                <a:gd name="csY63" fmla="*/ 108159 h 131501"/>
                <a:gd name="csX64" fmla="*/ 128430 w 156392"/>
                <a:gd name="csY64" fmla="*/ 103465 h 131501"/>
                <a:gd name="csX65" fmla="*/ 131194 w 156392"/>
                <a:gd name="csY65" fmla="*/ 98770 h 131501"/>
                <a:gd name="csX66" fmla="*/ 133830 w 156392"/>
                <a:gd name="csY66" fmla="*/ 94076 h 131501"/>
                <a:gd name="csX67" fmla="*/ 136465 w 156392"/>
                <a:gd name="csY67" fmla="*/ 89511 h 131501"/>
                <a:gd name="csX68" fmla="*/ 139422 w 156392"/>
                <a:gd name="csY68" fmla="*/ 85010 h 131501"/>
                <a:gd name="csX69" fmla="*/ 142636 w 156392"/>
                <a:gd name="csY69" fmla="*/ 80444 h 131501"/>
                <a:gd name="csX70" fmla="*/ 146107 w 156392"/>
                <a:gd name="csY70" fmla="*/ 75621 h 131501"/>
                <a:gd name="csX71" fmla="*/ 149643 w 156392"/>
                <a:gd name="csY71" fmla="*/ 70413 h 131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156392" h="131501">
                  <a:moveTo>
                    <a:pt x="152792" y="64754"/>
                  </a:moveTo>
                  <a:lnTo>
                    <a:pt x="155171" y="58709"/>
                  </a:lnTo>
                  <a:lnTo>
                    <a:pt x="156392" y="52343"/>
                  </a:lnTo>
                  <a:lnTo>
                    <a:pt x="156199" y="45913"/>
                  </a:lnTo>
                  <a:lnTo>
                    <a:pt x="154399" y="39740"/>
                  </a:lnTo>
                  <a:lnTo>
                    <a:pt x="151121" y="34081"/>
                  </a:lnTo>
                  <a:lnTo>
                    <a:pt x="146557" y="29001"/>
                  </a:lnTo>
                  <a:lnTo>
                    <a:pt x="141029" y="24757"/>
                  </a:lnTo>
                  <a:lnTo>
                    <a:pt x="134987" y="21220"/>
                  </a:lnTo>
                  <a:lnTo>
                    <a:pt x="128752" y="18327"/>
                  </a:lnTo>
                  <a:lnTo>
                    <a:pt x="122645" y="15754"/>
                  </a:lnTo>
                  <a:lnTo>
                    <a:pt x="116667" y="13375"/>
                  </a:lnTo>
                  <a:lnTo>
                    <a:pt x="111011" y="11060"/>
                  </a:lnTo>
                  <a:lnTo>
                    <a:pt x="105418" y="8617"/>
                  </a:lnTo>
                  <a:lnTo>
                    <a:pt x="99826" y="6238"/>
                  </a:lnTo>
                  <a:lnTo>
                    <a:pt x="94041" y="3922"/>
                  </a:lnTo>
                  <a:lnTo>
                    <a:pt x="87999" y="1993"/>
                  </a:lnTo>
                  <a:lnTo>
                    <a:pt x="81764" y="643"/>
                  </a:lnTo>
                  <a:lnTo>
                    <a:pt x="75271" y="0"/>
                  </a:lnTo>
                  <a:lnTo>
                    <a:pt x="68779" y="129"/>
                  </a:lnTo>
                  <a:lnTo>
                    <a:pt x="62351" y="1157"/>
                  </a:lnTo>
                  <a:lnTo>
                    <a:pt x="56180" y="2829"/>
                  </a:lnTo>
                  <a:lnTo>
                    <a:pt x="50202" y="4952"/>
                  </a:lnTo>
                  <a:lnTo>
                    <a:pt x="44481" y="7459"/>
                  </a:lnTo>
                  <a:lnTo>
                    <a:pt x="38953" y="10160"/>
                  </a:lnTo>
                  <a:lnTo>
                    <a:pt x="33490" y="12925"/>
                  </a:lnTo>
                  <a:lnTo>
                    <a:pt x="27962" y="15819"/>
                  </a:lnTo>
                  <a:lnTo>
                    <a:pt x="22434" y="18841"/>
                  </a:lnTo>
                  <a:lnTo>
                    <a:pt x="16970" y="22314"/>
                  </a:lnTo>
                  <a:lnTo>
                    <a:pt x="11892" y="26236"/>
                  </a:lnTo>
                  <a:lnTo>
                    <a:pt x="7392" y="30737"/>
                  </a:lnTo>
                  <a:lnTo>
                    <a:pt x="3728" y="35817"/>
                  </a:lnTo>
                  <a:lnTo>
                    <a:pt x="1221" y="41347"/>
                  </a:lnTo>
                  <a:lnTo>
                    <a:pt x="0" y="47263"/>
                  </a:lnTo>
                  <a:lnTo>
                    <a:pt x="0" y="53244"/>
                  </a:lnTo>
                  <a:lnTo>
                    <a:pt x="1093" y="59095"/>
                  </a:lnTo>
                  <a:lnTo>
                    <a:pt x="2893" y="64754"/>
                  </a:lnTo>
                  <a:lnTo>
                    <a:pt x="5014" y="70091"/>
                  </a:lnTo>
                  <a:lnTo>
                    <a:pt x="7264" y="75171"/>
                  </a:lnTo>
                  <a:lnTo>
                    <a:pt x="9192" y="80123"/>
                  </a:lnTo>
                  <a:lnTo>
                    <a:pt x="10799" y="85138"/>
                  </a:lnTo>
                  <a:lnTo>
                    <a:pt x="12149" y="90347"/>
                  </a:lnTo>
                  <a:lnTo>
                    <a:pt x="13370" y="95813"/>
                  </a:lnTo>
                  <a:lnTo>
                    <a:pt x="14784" y="101535"/>
                  </a:lnTo>
                  <a:lnTo>
                    <a:pt x="16777" y="107387"/>
                  </a:lnTo>
                  <a:lnTo>
                    <a:pt x="19605" y="113110"/>
                  </a:lnTo>
                  <a:lnTo>
                    <a:pt x="23398" y="118383"/>
                  </a:lnTo>
                  <a:lnTo>
                    <a:pt x="28283" y="123013"/>
                  </a:lnTo>
                  <a:lnTo>
                    <a:pt x="34068" y="126678"/>
                  </a:lnTo>
                  <a:lnTo>
                    <a:pt x="40625" y="129315"/>
                  </a:lnTo>
                  <a:lnTo>
                    <a:pt x="47567" y="130858"/>
                  </a:lnTo>
                  <a:lnTo>
                    <a:pt x="54638" y="131501"/>
                  </a:lnTo>
                  <a:lnTo>
                    <a:pt x="61708" y="131501"/>
                  </a:lnTo>
                  <a:lnTo>
                    <a:pt x="68586" y="130922"/>
                  </a:lnTo>
                  <a:lnTo>
                    <a:pt x="75271" y="130151"/>
                  </a:lnTo>
                  <a:lnTo>
                    <a:pt x="81764" y="129122"/>
                  </a:lnTo>
                  <a:lnTo>
                    <a:pt x="88127" y="127965"/>
                  </a:lnTo>
                  <a:lnTo>
                    <a:pt x="94362" y="126614"/>
                  </a:lnTo>
                  <a:lnTo>
                    <a:pt x="100469" y="124942"/>
                  </a:lnTo>
                  <a:lnTo>
                    <a:pt x="106383" y="122756"/>
                  </a:lnTo>
                  <a:lnTo>
                    <a:pt x="111975" y="119927"/>
                  </a:lnTo>
                  <a:lnTo>
                    <a:pt x="116989" y="116518"/>
                  </a:lnTo>
                  <a:lnTo>
                    <a:pt x="121424" y="112531"/>
                  </a:lnTo>
                  <a:lnTo>
                    <a:pt x="125216" y="108159"/>
                  </a:lnTo>
                  <a:lnTo>
                    <a:pt x="128430" y="103465"/>
                  </a:lnTo>
                  <a:lnTo>
                    <a:pt x="131194" y="98770"/>
                  </a:lnTo>
                  <a:lnTo>
                    <a:pt x="133830" y="94076"/>
                  </a:lnTo>
                  <a:lnTo>
                    <a:pt x="136465" y="89511"/>
                  </a:lnTo>
                  <a:lnTo>
                    <a:pt x="139422" y="85010"/>
                  </a:lnTo>
                  <a:lnTo>
                    <a:pt x="142636" y="80444"/>
                  </a:lnTo>
                  <a:lnTo>
                    <a:pt x="146107" y="75621"/>
                  </a:lnTo>
                  <a:lnTo>
                    <a:pt x="149643" y="70413"/>
                  </a:lnTo>
                  <a:close/>
                </a:path>
              </a:pathLst>
            </a:custGeom>
            <a:solidFill>
              <a:srgbClr val="E05C4E"/>
            </a:solidFill>
            <a:ln w="6425" cap="flat">
              <a:solidFill>
                <a:srgbClr val="B23F3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17D060A4-9D2E-50C8-825F-0748DF6A90E8}"/>
                </a:ext>
              </a:extLst>
            </p:cNvPr>
            <p:cNvSpPr/>
            <p:nvPr/>
          </p:nvSpPr>
          <p:spPr>
            <a:xfrm>
              <a:off x="1178416" y="5919413"/>
              <a:ext cx="4082" cy="118833"/>
            </a:xfrm>
            <a:custGeom>
              <a:avLst/>
              <a:gdLst>
                <a:gd name="csX0" fmla="*/ 2041 w 4082"/>
                <a:gd name="csY0" fmla="*/ 0 h 118833"/>
                <a:gd name="csX1" fmla="*/ 2041 w 4082"/>
                <a:gd name="csY1" fmla="*/ 118834 h 118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082" h="118833">
                  <a:moveTo>
                    <a:pt x="2041" y="0"/>
                  </a:moveTo>
                  <a:cubicBezTo>
                    <a:pt x="9112" y="39611"/>
                    <a:pt x="-5030" y="82052"/>
                    <a:pt x="2041" y="118834"/>
                  </a:cubicBezTo>
                </a:path>
              </a:pathLst>
            </a:custGeom>
            <a:noFill/>
            <a:ln w="5462" cap="rnd">
              <a:solidFill>
                <a:srgbClr val="FFFFFF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2D91B801-82EA-CA77-9617-142DFC5B880E}"/>
                </a:ext>
              </a:extLst>
            </p:cNvPr>
            <p:cNvSpPr/>
            <p:nvPr/>
          </p:nvSpPr>
          <p:spPr>
            <a:xfrm>
              <a:off x="1125305" y="5951951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2" y="-1886"/>
                    <a:pt x="21212" y="-1886"/>
                    <a:pt x="21212" y="5659"/>
                  </a:cubicBezTo>
                  <a:cubicBezTo>
                    <a:pt x="21212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C1D8E2AD-6CA4-4D83-E323-FD63A1FF3F0A}"/>
                </a:ext>
              </a:extLst>
            </p:cNvPr>
            <p:cNvSpPr/>
            <p:nvPr/>
          </p:nvSpPr>
          <p:spPr>
            <a:xfrm>
              <a:off x="1129548" y="5990854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54C7DDE1-149F-22CA-95D8-E86087BB7FB3}"/>
                </a:ext>
              </a:extLst>
            </p:cNvPr>
            <p:cNvSpPr/>
            <p:nvPr/>
          </p:nvSpPr>
          <p:spPr>
            <a:xfrm>
              <a:off x="1193185" y="5953365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1" y="-1886"/>
                    <a:pt x="21212" y="-1886"/>
                    <a:pt x="21212" y="5659"/>
                  </a:cubicBezTo>
                  <a:cubicBezTo>
                    <a:pt x="21212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027D99C9-BA4B-F7EE-6E44-BDFE372BEF7C}"/>
                </a:ext>
              </a:extLst>
            </p:cNvPr>
            <p:cNvSpPr/>
            <p:nvPr/>
          </p:nvSpPr>
          <p:spPr>
            <a:xfrm>
              <a:off x="1194599" y="5992269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1" name="TextBox 160">
            <a:extLst>
              <a:ext uri="{FF2B5EF4-FFF2-40B4-BE49-F238E27FC236}">
                <a16:creationId xmlns:a16="http://schemas.microsoft.com/office/drawing/2014/main" id="{D69B7D7D-A426-0CCA-496B-326B96C4F9D7}"/>
              </a:ext>
            </a:extLst>
          </p:cNvPr>
          <p:cNvSpPr txBox="1"/>
          <p:nvPr/>
        </p:nvSpPr>
        <p:spPr>
          <a:xfrm>
            <a:off x="1243288" y="5836863"/>
            <a:ext cx="1088015" cy="187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b="1" spc="0" baseline="0">
                <a:ln/>
                <a:solidFill>
                  <a:srgbClr val="22314A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Pain × cognitive control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1D8894D8-534F-D266-B2EA-CE00394E0B53}"/>
              </a:ext>
            </a:extLst>
          </p:cNvPr>
          <p:cNvSpPr txBox="1"/>
          <p:nvPr/>
        </p:nvSpPr>
        <p:spPr>
          <a:xfrm>
            <a:off x="1243288" y="5956857"/>
            <a:ext cx="698832" cy="174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25" i="1" spc="0" baseline="0">
                <a:ln/>
                <a:solidFill>
                  <a:srgbClr val="7C8598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Silvestrini · 2020</a:t>
            </a:r>
          </a:p>
        </p:txBody>
      </p:sp>
      <p:sp>
        <p:nvSpPr>
          <p:cNvPr id="163" name="Freeform 162">
            <a:extLst>
              <a:ext uri="{FF2B5EF4-FFF2-40B4-BE49-F238E27FC236}">
                <a16:creationId xmlns:a16="http://schemas.microsoft.com/office/drawing/2014/main" id="{ED334C97-129C-A25D-8B0A-D34E9BAD1948}"/>
              </a:ext>
            </a:extLst>
          </p:cNvPr>
          <p:cNvSpPr/>
          <p:nvPr/>
        </p:nvSpPr>
        <p:spPr>
          <a:xfrm>
            <a:off x="884771" y="5356498"/>
            <a:ext cx="128558" cy="983846"/>
          </a:xfrm>
          <a:custGeom>
            <a:avLst/>
            <a:gdLst>
              <a:gd name="csX0" fmla="*/ 0 w 128558"/>
              <a:gd name="csY0" fmla="*/ 0 h 983846"/>
              <a:gd name="csX1" fmla="*/ 128559 w 128558"/>
              <a:gd name="csY1" fmla="*/ 983847 h 98384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8558" h="983846">
                <a:moveTo>
                  <a:pt x="0" y="0"/>
                </a:moveTo>
                <a:cubicBezTo>
                  <a:pt x="0" y="983847"/>
                  <a:pt x="64279" y="983847"/>
                  <a:pt x="128559" y="983847"/>
                </a:cubicBezTo>
              </a:path>
            </a:pathLst>
          </a:custGeom>
          <a:noFill/>
          <a:ln w="12851" cap="flat">
            <a:solidFill>
              <a:srgbClr val="E05C4E">
                <a:alpha val="4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4" name="Rounded Rectangle 163">
            <a:extLst>
              <a:ext uri="{FF2B5EF4-FFF2-40B4-BE49-F238E27FC236}">
                <a16:creationId xmlns:a16="http://schemas.microsoft.com/office/drawing/2014/main" id="{564E1CA5-7ABC-6260-0DD9-C2B8FB6F4AB7}"/>
              </a:ext>
            </a:extLst>
          </p:cNvPr>
          <p:cNvSpPr/>
          <p:nvPr/>
        </p:nvSpPr>
        <p:spPr>
          <a:xfrm>
            <a:off x="1013330" y="6186016"/>
            <a:ext cx="1722690" cy="308657"/>
          </a:xfrm>
          <a:prstGeom prst="roundRect">
            <a:avLst>
              <a:gd name="adj" fmla="val 24990"/>
            </a:avLst>
          </a:prstGeom>
          <a:solidFill>
            <a:srgbClr val="FFFFFF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5" name="Rounded Rectangle 164">
            <a:extLst>
              <a:ext uri="{FF2B5EF4-FFF2-40B4-BE49-F238E27FC236}">
                <a16:creationId xmlns:a16="http://schemas.microsoft.com/office/drawing/2014/main" id="{F7AF634B-DB59-980F-C485-338EF10C4BD2}"/>
              </a:ext>
            </a:extLst>
          </p:cNvPr>
          <p:cNvSpPr/>
          <p:nvPr/>
        </p:nvSpPr>
        <p:spPr>
          <a:xfrm>
            <a:off x="1013330" y="6186016"/>
            <a:ext cx="32139" cy="308657"/>
          </a:xfrm>
          <a:prstGeom prst="roundRect">
            <a:avLst>
              <a:gd name="adj" fmla="val 50000"/>
            </a:avLst>
          </a:prstGeom>
          <a:solidFill>
            <a:srgbClr val="E05C4E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58604FCA-1866-F7A1-1227-4734FCF54E0F}"/>
              </a:ext>
            </a:extLst>
          </p:cNvPr>
          <p:cNvSpPr/>
          <p:nvPr/>
        </p:nvSpPr>
        <p:spPr>
          <a:xfrm>
            <a:off x="1084038" y="6243890"/>
            <a:ext cx="192838" cy="192911"/>
          </a:xfrm>
          <a:prstGeom prst="ellipse">
            <a:avLst/>
          </a:prstGeom>
          <a:solidFill>
            <a:srgbClr val="FBEAE7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67" name="Graphic 2">
            <a:extLst>
              <a:ext uri="{FF2B5EF4-FFF2-40B4-BE49-F238E27FC236}">
                <a16:creationId xmlns:a16="http://schemas.microsoft.com/office/drawing/2014/main" id="{1CE171DE-B983-F270-9E8A-A3AFF7A3C75F}"/>
              </a:ext>
            </a:extLst>
          </p:cNvPr>
          <p:cNvGrpSpPr/>
          <p:nvPr/>
        </p:nvGrpSpPr>
        <p:grpSpPr>
          <a:xfrm>
            <a:off x="1105186" y="6275591"/>
            <a:ext cx="156392" cy="131501"/>
            <a:chOff x="1105186" y="6275591"/>
            <a:chExt cx="156392" cy="131501"/>
          </a:xfrm>
        </p:grpSpPr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6A71B9B7-CE75-E13E-1162-3CD9165F2FC0}"/>
                </a:ext>
              </a:extLst>
            </p:cNvPr>
            <p:cNvSpPr/>
            <p:nvPr/>
          </p:nvSpPr>
          <p:spPr>
            <a:xfrm>
              <a:off x="1105186" y="6275591"/>
              <a:ext cx="156392" cy="131501"/>
            </a:xfrm>
            <a:custGeom>
              <a:avLst/>
              <a:gdLst>
                <a:gd name="csX0" fmla="*/ 152792 w 156392"/>
                <a:gd name="csY0" fmla="*/ 64754 h 131501"/>
                <a:gd name="csX1" fmla="*/ 155171 w 156392"/>
                <a:gd name="csY1" fmla="*/ 58709 h 131501"/>
                <a:gd name="csX2" fmla="*/ 156392 w 156392"/>
                <a:gd name="csY2" fmla="*/ 52343 h 131501"/>
                <a:gd name="csX3" fmla="*/ 156199 w 156392"/>
                <a:gd name="csY3" fmla="*/ 45913 h 131501"/>
                <a:gd name="csX4" fmla="*/ 154399 w 156392"/>
                <a:gd name="csY4" fmla="*/ 39740 h 131501"/>
                <a:gd name="csX5" fmla="*/ 151121 w 156392"/>
                <a:gd name="csY5" fmla="*/ 34081 h 131501"/>
                <a:gd name="csX6" fmla="*/ 146557 w 156392"/>
                <a:gd name="csY6" fmla="*/ 29001 h 131501"/>
                <a:gd name="csX7" fmla="*/ 141029 w 156392"/>
                <a:gd name="csY7" fmla="*/ 24757 h 131501"/>
                <a:gd name="csX8" fmla="*/ 134987 w 156392"/>
                <a:gd name="csY8" fmla="*/ 21220 h 131501"/>
                <a:gd name="csX9" fmla="*/ 128752 w 156392"/>
                <a:gd name="csY9" fmla="*/ 18327 h 131501"/>
                <a:gd name="csX10" fmla="*/ 122645 w 156392"/>
                <a:gd name="csY10" fmla="*/ 15754 h 131501"/>
                <a:gd name="csX11" fmla="*/ 116667 w 156392"/>
                <a:gd name="csY11" fmla="*/ 13375 h 131501"/>
                <a:gd name="csX12" fmla="*/ 111011 w 156392"/>
                <a:gd name="csY12" fmla="*/ 11060 h 131501"/>
                <a:gd name="csX13" fmla="*/ 105418 w 156392"/>
                <a:gd name="csY13" fmla="*/ 8617 h 131501"/>
                <a:gd name="csX14" fmla="*/ 99826 w 156392"/>
                <a:gd name="csY14" fmla="*/ 6238 h 131501"/>
                <a:gd name="csX15" fmla="*/ 94041 w 156392"/>
                <a:gd name="csY15" fmla="*/ 3922 h 131501"/>
                <a:gd name="csX16" fmla="*/ 87999 w 156392"/>
                <a:gd name="csY16" fmla="*/ 1993 h 131501"/>
                <a:gd name="csX17" fmla="*/ 81764 w 156392"/>
                <a:gd name="csY17" fmla="*/ 643 h 131501"/>
                <a:gd name="csX18" fmla="*/ 75271 w 156392"/>
                <a:gd name="csY18" fmla="*/ 0 h 131501"/>
                <a:gd name="csX19" fmla="*/ 68779 w 156392"/>
                <a:gd name="csY19" fmla="*/ 129 h 131501"/>
                <a:gd name="csX20" fmla="*/ 62351 w 156392"/>
                <a:gd name="csY20" fmla="*/ 1157 h 131501"/>
                <a:gd name="csX21" fmla="*/ 56180 w 156392"/>
                <a:gd name="csY21" fmla="*/ 2829 h 131501"/>
                <a:gd name="csX22" fmla="*/ 50202 w 156392"/>
                <a:gd name="csY22" fmla="*/ 4952 h 131501"/>
                <a:gd name="csX23" fmla="*/ 44481 w 156392"/>
                <a:gd name="csY23" fmla="*/ 7459 h 131501"/>
                <a:gd name="csX24" fmla="*/ 38953 w 156392"/>
                <a:gd name="csY24" fmla="*/ 10160 h 131501"/>
                <a:gd name="csX25" fmla="*/ 33490 w 156392"/>
                <a:gd name="csY25" fmla="*/ 12925 h 131501"/>
                <a:gd name="csX26" fmla="*/ 27962 w 156392"/>
                <a:gd name="csY26" fmla="*/ 15819 h 131501"/>
                <a:gd name="csX27" fmla="*/ 22434 w 156392"/>
                <a:gd name="csY27" fmla="*/ 18841 h 131501"/>
                <a:gd name="csX28" fmla="*/ 16970 w 156392"/>
                <a:gd name="csY28" fmla="*/ 22314 h 131501"/>
                <a:gd name="csX29" fmla="*/ 11892 w 156392"/>
                <a:gd name="csY29" fmla="*/ 26236 h 131501"/>
                <a:gd name="csX30" fmla="*/ 7392 w 156392"/>
                <a:gd name="csY30" fmla="*/ 30737 h 131501"/>
                <a:gd name="csX31" fmla="*/ 3728 w 156392"/>
                <a:gd name="csY31" fmla="*/ 35817 h 131501"/>
                <a:gd name="csX32" fmla="*/ 1221 w 156392"/>
                <a:gd name="csY32" fmla="*/ 41347 h 131501"/>
                <a:gd name="csX33" fmla="*/ 0 w 156392"/>
                <a:gd name="csY33" fmla="*/ 47263 h 131501"/>
                <a:gd name="csX34" fmla="*/ 0 w 156392"/>
                <a:gd name="csY34" fmla="*/ 53244 h 131501"/>
                <a:gd name="csX35" fmla="*/ 1093 w 156392"/>
                <a:gd name="csY35" fmla="*/ 59095 h 131501"/>
                <a:gd name="csX36" fmla="*/ 2893 w 156392"/>
                <a:gd name="csY36" fmla="*/ 64754 h 131501"/>
                <a:gd name="csX37" fmla="*/ 5014 w 156392"/>
                <a:gd name="csY37" fmla="*/ 70091 h 131501"/>
                <a:gd name="csX38" fmla="*/ 7264 w 156392"/>
                <a:gd name="csY38" fmla="*/ 75171 h 131501"/>
                <a:gd name="csX39" fmla="*/ 9192 w 156392"/>
                <a:gd name="csY39" fmla="*/ 80123 h 131501"/>
                <a:gd name="csX40" fmla="*/ 10799 w 156392"/>
                <a:gd name="csY40" fmla="*/ 85138 h 131501"/>
                <a:gd name="csX41" fmla="*/ 12149 w 156392"/>
                <a:gd name="csY41" fmla="*/ 90347 h 131501"/>
                <a:gd name="csX42" fmla="*/ 13370 w 156392"/>
                <a:gd name="csY42" fmla="*/ 95813 h 131501"/>
                <a:gd name="csX43" fmla="*/ 14784 w 156392"/>
                <a:gd name="csY43" fmla="*/ 101535 h 131501"/>
                <a:gd name="csX44" fmla="*/ 16777 w 156392"/>
                <a:gd name="csY44" fmla="*/ 107387 h 131501"/>
                <a:gd name="csX45" fmla="*/ 19605 w 156392"/>
                <a:gd name="csY45" fmla="*/ 113110 h 131501"/>
                <a:gd name="csX46" fmla="*/ 23398 w 156392"/>
                <a:gd name="csY46" fmla="*/ 118383 h 131501"/>
                <a:gd name="csX47" fmla="*/ 28283 w 156392"/>
                <a:gd name="csY47" fmla="*/ 123013 h 131501"/>
                <a:gd name="csX48" fmla="*/ 34068 w 156392"/>
                <a:gd name="csY48" fmla="*/ 126678 h 131501"/>
                <a:gd name="csX49" fmla="*/ 40625 w 156392"/>
                <a:gd name="csY49" fmla="*/ 129315 h 131501"/>
                <a:gd name="csX50" fmla="*/ 47567 w 156392"/>
                <a:gd name="csY50" fmla="*/ 130858 h 131501"/>
                <a:gd name="csX51" fmla="*/ 54638 w 156392"/>
                <a:gd name="csY51" fmla="*/ 131501 h 131501"/>
                <a:gd name="csX52" fmla="*/ 61708 w 156392"/>
                <a:gd name="csY52" fmla="*/ 131501 h 131501"/>
                <a:gd name="csX53" fmla="*/ 68586 w 156392"/>
                <a:gd name="csY53" fmla="*/ 130922 h 131501"/>
                <a:gd name="csX54" fmla="*/ 75271 w 156392"/>
                <a:gd name="csY54" fmla="*/ 130151 h 131501"/>
                <a:gd name="csX55" fmla="*/ 81764 w 156392"/>
                <a:gd name="csY55" fmla="*/ 129122 h 131501"/>
                <a:gd name="csX56" fmla="*/ 88127 w 156392"/>
                <a:gd name="csY56" fmla="*/ 127965 h 131501"/>
                <a:gd name="csX57" fmla="*/ 94362 w 156392"/>
                <a:gd name="csY57" fmla="*/ 126614 h 131501"/>
                <a:gd name="csX58" fmla="*/ 100469 w 156392"/>
                <a:gd name="csY58" fmla="*/ 124942 h 131501"/>
                <a:gd name="csX59" fmla="*/ 106383 w 156392"/>
                <a:gd name="csY59" fmla="*/ 122756 h 131501"/>
                <a:gd name="csX60" fmla="*/ 111975 w 156392"/>
                <a:gd name="csY60" fmla="*/ 119927 h 131501"/>
                <a:gd name="csX61" fmla="*/ 116989 w 156392"/>
                <a:gd name="csY61" fmla="*/ 116518 h 131501"/>
                <a:gd name="csX62" fmla="*/ 121424 w 156392"/>
                <a:gd name="csY62" fmla="*/ 112531 h 131501"/>
                <a:gd name="csX63" fmla="*/ 125216 w 156392"/>
                <a:gd name="csY63" fmla="*/ 108159 h 131501"/>
                <a:gd name="csX64" fmla="*/ 128430 w 156392"/>
                <a:gd name="csY64" fmla="*/ 103465 h 131501"/>
                <a:gd name="csX65" fmla="*/ 131194 w 156392"/>
                <a:gd name="csY65" fmla="*/ 98770 h 131501"/>
                <a:gd name="csX66" fmla="*/ 133830 w 156392"/>
                <a:gd name="csY66" fmla="*/ 94076 h 131501"/>
                <a:gd name="csX67" fmla="*/ 136465 w 156392"/>
                <a:gd name="csY67" fmla="*/ 89511 h 131501"/>
                <a:gd name="csX68" fmla="*/ 139422 w 156392"/>
                <a:gd name="csY68" fmla="*/ 85010 h 131501"/>
                <a:gd name="csX69" fmla="*/ 142636 w 156392"/>
                <a:gd name="csY69" fmla="*/ 80444 h 131501"/>
                <a:gd name="csX70" fmla="*/ 146107 w 156392"/>
                <a:gd name="csY70" fmla="*/ 75621 h 131501"/>
                <a:gd name="csX71" fmla="*/ 149643 w 156392"/>
                <a:gd name="csY71" fmla="*/ 70413 h 131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156392" h="131501">
                  <a:moveTo>
                    <a:pt x="152792" y="64754"/>
                  </a:moveTo>
                  <a:lnTo>
                    <a:pt x="155171" y="58709"/>
                  </a:lnTo>
                  <a:lnTo>
                    <a:pt x="156392" y="52343"/>
                  </a:lnTo>
                  <a:lnTo>
                    <a:pt x="156199" y="45913"/>
                  </a:lnTo>
                  <a:lnTo>
                    <a:pt x="154399" y="39740"/>
                  </a:lnTo>
                  <a:lnTo>
                    <a:pt x="151121" y="34081"/>
                  </a:lnTo>
                  <a:lnTo>
                    <a:pt x="146557" y="29001"/>
                  </a:lnTo>
                  <a:lnTo>
                    <a:pt x="141029" y="24757"/>
                  </a:lnTo>
                  <a:lnTo>
                    <a:pt x="134987" y="21220"/>
                  </a:lnTo>
                  <a:lnTo>
                    <a:pt x="128752" y="18327"/>
                  </a:lnTo>
                  <a:lnTo>
                    <a:pt x="122645" y="15754"/>
                  </a:lnTo>
                  <a:lnTo>
                    <a:pt x="116667" y="13375"/>
                  </a:lnTo>
                  <a:lnTo>
                    <a:pt x="111011" y="11060"/>
                  </a:lnTo>
                  <a:lnTo>
                    <a:pt x="105418" y="8617"/>
                  </a:lnTo>
                  <a:lnTo>
                    <a:pt x="99826" y="6238"/>
                  </a:lnTo>
                  <a:lnTo>
                    <a:pt x="94041" y="3922"/>
                  </a:lnTo>
                  <a:lnTo>
                    <a:pt x="87999" y="1993"/>
                  </a:lnTo>
                  <a:lnTo>
                    <a:pt x="81764" y="643"/>
                  </a:lnTo>
                  <a:lnTo>
                    <a:pt x="75271" y="0"/>
                  </a:lnTo>
                  <a:lnTo>
                    <a:pt x="68779" y="129"/>
                  </a:lnTo>
                  <a:lnTo>
                    <a:pt x="62351" y="1157"/>
                  </a:lnTo>
                  <a:lnTo>
                    <a:pt x="56180" y="2829"/>
                  </a:lnTo>
                  <a:lnTo>
                    <a:pt x="50202" y="4952"/>
                  </a:lnTo>
                  <a:lnTo>
                    <a:pt x="44481" y="7459"/>
                  </a:lnTo>
                  <a:lnTo>
                    <a:pt x="38953" y="10160"/>
                  </a:lnTo>
                  <a:lnTo>
                    <a:pt x="33490" y="12925"/>
                  </a:lnTo>
                  <a:lnTo>
                    <a:pt x="27962" y="15819"/>
                  </a:lnTo>
                  <a:lnTo>
                    <a:pt x="22434" y="18841"/>
                  </a:lnTo>
                  <a:lnTo>
                    <a:pt x="16970" y="22314"/>
                  </a:lnTo>
                  <a:lnTo>
                    <a:pt x="11892" y="26236"/>
                  </a:lnTo>
                  <a:lnTo>
                    <a:pt x="7392" y="30737"/>
                  </a:lnTo>
                  <a:lnTo>
                    <a:pt x="3728" y="35817"/>
                  </a:lnTo>
                  <a:lnTo>
                    <a:pt x="1221" y="41347"/>
                  </a:lnTo>
                  <a:lnTo>
                    <a:pt x="0" y="47263"/>
                  </a:lnTo>
                  <a:lnTo>
                    <a:pt x="0" y="53244"/>
                  </a:lnTo>
                  <a:lnTo>
                    <a:pt x="1093" y="59095"/>
                  </a:lnTo>
                  <a:lnTo>
                    <a:pt x="2893" y="64754"/>
                  </a:lnTo>
                  <a:lnTo>
                    <a:pt x="5014" y="70091"/>
                  </a:lnTo>
                  <a:lnTo>
                    <a:pt x="7264" y="75171"/>
                  </a:lnTo>
                  <a:lnTo>
                    <a:pt x="9192" y="80123"/>
                  </a:lnTo>
                  <a:lnTo>
                    <a:pt x="10799" y="85138"/>
                  </a:lnTo>
                  <a:lnTo>
                    <a:pt x="12149" y="90347"/>
                  </a:lnTo>
                  <a:lnTo>
                    <a:pt x="13370" y="95813"/>
                  </a:lnTo>
                  <a:lnTo>
                    <a:pt x="14784" y="101535"/>
                  </a:lnTo>
                  <a:lnTo>
                    <a:pt x="16777" y="107387"/>
                  </a:lnTo>
                  <a:lnTo>
                    <a:pt x="19605" y="113110"/>
                  </a:lnTo>
                  <a:lnTo>
                    <a:pt x="23398" y="118383"/>
                  </a:lnTo>
                  <a:lnTo>
                    <a:pt x="28283" y="123013"/>
                  </a:lnTo>
                  <a:lnTo>
                    <a:pt x="34068" y="126678"/>
                  </a:lnTo>
                  <a:lnTo>
                    <a:pt x="40625" y="129315"/>
                  </a:lnTo>
                  <a:lnTo>
                    <a:pt x="47567" y="130858"/>
                  </a:lnTo>
                  <a:lnTo>
                    <a:pt x="54638" y="131501"/>
                  </a:lnTo>
                  <a:lnTo>
                    <a:pt x="61708" y="131501"/>
                  </a:lnTo>
                  <a:lnTo>
                    <a:pt x="68586" y="130922"/>
                  </a:lnTo>
                  <a:lnTo>
                    <a:pt x="75271" y="130151"/>
                  </a:lnTo>
                  <a:lnTo>
                    <a:pt x="81764" y="129122"/>
                  </a:lnTo>
                  <a:lnTo>
                    <a:pt x="88127" y="127965"/>
                  </a:lnTo>
                  <a:lnTo>
                    <a:pt x="94362" y="126614"/>
                  </a:lnTo>
                  <a:lnTo>
                    <a:pt x="100469" y="124942"/>
                  </a:lnTo>
                  <a:lnTo>
                    <a:pt x="106383" y="122756"/>
                  </a:lnTo>
                  <a:lnTo>
                    <a:pt x="111975" y="119927"/>
                  </a:lnTo>
                  <a:lnTo>
                    <a:pt x="116989" y="116518"/>
                  </a:lnTo>
                  <a:lnTo>
                    <a:pt x="121424" y="112531"/>
                  </a:lnTo>
                  <a:lnTo>
                    <a:pt x="125216" y="108159"/>
                  </a:lnTo>
                  <a:lnTo>
                    <a:pt x="128430" y="103465"/>
                  </a:lnTo>
                  <a:lnTo>
                    <a:pt x="131194" y="98770"/>
                  </a:lnTo>
                  <a:lnTo>
                    <a:pt x="133830" y="94076"/>
                  </a:lnTo>
                  <a:lnTo>
                    <a:pt x="136465" y="89511"/>
                  </a:lnTo>
                  <a:lnTo>
                    <a:pt x="139422" y="85010"/>
                  </a:lnTo>
                  <a:lnTo>
                    <a:pt x="142636" y="80444"/>
                  </a:lnTo>
                  <a:lnTo>
                    <a:pt x="146107" y="75621"/>
                  </a:lnTo>
                  <a:lnTo>
                    <a:pt x="149643" y="70413"/>
                  </a:lnTo>
                  <a:close/>
                </a:path>
              </a:pathLst>
            </a:custGeom>
            <a:solidFill>
              <a:srgbClr val="E05C4E"/>
            </a:solidFill>
            <a:ln w="6425" cap="flat">
              <a:solidFill>
                <a:srgbClr val="B23F3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9" name="Freeform 168">
              <a:extLst>
                <a:ext uri="{FF2B5EF4-FFF2-40B4-BE49-F238E27FC236}">
                  <a16:creationId xmlns:a16="http://schemas.microsoft.com/office/drawing/2014/main" id="{36C331D6-7BBB-2F5F-0889-9F25485F2748}"/>
                </a:ext>
              </a:extLst>
            </p:cNvPr>
            <p:cNvSpPr/>
            <p:nvPr/>
          </p:nvSpPr>
          <p:spPr>
            <a:xfrm>
              <a:off x="1178416" y="6279514"/>
              <a:ext cx="4082" cy="118833"/>
            </a:xfrm>
            <a:custGeom>
              <a:avLst/>
              <a:gdLst>
                <a:gd name="csX0" fmla="*/ 2041 w 4082"/>
                <a:gd name="csY0" fmla="*/ 0 h 118833"/>
                <a:gd name="csX1" fmla="*/ 2041 w 4082"/>
                <a:gd name="csY1" fmla="*/ 118834 h 118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082" h="118833">
                  <a:moveTo>
                    <a:pt x="2041" y="0"/>
                  </a:moveTo>
                  <a:cubicBezTo>
                    <a:pt x="9112" y="39611"/>
                    <a:pt x="-5030" y="82052"/>
                    <a:pt x="2041" y="118834"/>
                  </a:cubicBezTo>
                </a:path>
              </a:pathLst>
            </a:custGeom>
            <a:noFill/>
            <a:ln w="5462" cap="rnd">
              <a:solidFill>
                <a:srgbClr val="FFFFFF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0" name="Freeform 169">
              <a:extLst>
                <a:ext uri="{FF2B5EF4-FFF2-40B4-BE49-F238E27FC236}">
                  <a16:creationId xmlns:a16="http://schemas.microsoft.com/office/drawing/2014/main" id="{DFA67FD0-A9AE-198F-141B-2D30CA6E3E08}"/>
                </a:ext>
              </a:extLst>
            </p:cNvPr>
            <p:cNvSpPr/>
            <p:nvPr/>
          </p:nvSpPr>
          <p:spPr>
            <a:xfrm>
              <a:off x="1125305" y="6312051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2" y="-1886"/>
                    <a:pt x="21212" y="-1886"/>
                    <a:pt x="21212" y="5659"/>
                  </a:cubicBezTo>
                  <a:cubicBezTo>
                    <a:pt x="21212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1" name="Freeform 170">
              <a:extLst>
                <a:ext uri="{FF2B5EF4-FFF2-40B4-BE49-F238E27FC236}">
                  <a16:creationId xmlns:a16="http://schemas.microsoft.com/office/drawing/2014/main" id="{B03EFE1C-E6A8-7A28-23D2-AC3A7D3247D0}"/>
                </a:ext>
              </a:extLst>
            </p:cNvPr>
            <p:cNvSpPr/>
            <p:nvPr/>
          </p:nvSpPr>
          <p:spPr>
            <a:xfrm>
              <a:off x="1129548" y="6350955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2" name="Freeform 171">
              <a:extLst>
                <a:ext uri="{FF2B5EF4-FFF2-40B4-BE49-F238E27FC236}">
                  <a16:creationId xmlns:a16="http://schemas.microsoft.com/office/drawing/2014/main" id="{65664DCA-31E2-5164-B6B3-A392B7E41BFC}"/>
                </a:ext>
              </a:extLst>
            </p:cNvPr>
            <p:cNvSpPr/>
            <p:nvPr/>
          </p:nvSpPr>
          <p:spPr>
            <a:xfrm>
              <a:off x="1193185" y="6313466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1" y="-1886"/>
                    <a:pt x="21212" y="-1886"/>
                    <a:pt x="21212" y="5659"/>
                  </a:cubicBezTo>
                  <a:cubicBezTo>
                    <a:pt x="21212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3" name="Freeform 172">
              <a:extLst>
                <a:ext uri="{FF2B5EF4-FFF2-40B4-BE49-F238E27FC236}">
                  <a16:creationId xmlns:a16="http://schemas.microsoft.com/office/drawing/2014/main" id="{DA1C64CA-3ACB-D2B5-9611-FED3BF526CEA}"/>
                </a:ext>
              </a:extLst>
            </p:cNvPr>
            <p:cNvSpPr/>
            <p:nvPr/>
          </p:nvSpPr>
          <p:spPr>
            <a:xfrm>
              <a:off x="1194599" y="6352370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4" name="TextBox 173">
            <a:extLst>
              <a:ext uri="{FF2B5EF4-FFF2-40B4-BE49-F238E27FC236}">
                <a16:creationId xmlns:a16="http://schemas.microsoft.com/office/drawing/2014/main" id="{5BCE6DBD-4F78-1DB0-891C-970744F373BA}"/>
              </a:ext>
            </a:extLst>
          </p:cNvPr>
          <p:cNvSpPr txBox="1"/>
          <p:nvPr/>
        </p:nvSpPr>
        <p:spPr>
          <a:xfrm>
            <a:off x="1243288" y="6196964"/>
            <a:ext cx="920728" cy="187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b="1" spc="0" baseline="0">
                <a:ln/>
                <a:solidFill>
                  <a:srgbClr val="22314A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Pain decision value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5D26C8BB-7D88-529E-F9BA-0E37DD775EB6}"/>
              </a:ext>
            </a:extLst>
          </p:cNvPr>
          <p:cNvSpPr txBox="1"/>
          <p:nvPr/>
        </p:nvSpPr>
        <p:spPr>
          <a:xfrm>
            <a:off x="1243288" y="6316958"/>
            <a:ext cx="522134" cy="174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25" i="1" spc="0" baseline="0">
                <a:ln/>
                <a:solidFill>
                  <a:srgbClr val="7C8598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Coll · 2022</a:t>
            </a:r>
          </a:p>
        </p:txBody>
      </p:sp>
      <p:sp>
        <p:nvSpPr>
          <p:cNvPr id="176" name="Rounded Rectangle 175">
            <a:extLst>
              <a:ext uri="{FF2B5EF4-FFF2-40B4-BE49-F238E27FC236}">
                <a16:creationId xmlns:a16="http://schemas.microsoft.com/office/drawing/2014/main" id="{B27FDCD3-085B-B394-C386-C75FB09ADAB9}"/>
              </a:ext>
            </a:extLst>
          </p:cNvPr>
          <p:cNvSpPr/>
          <p:nvPr/>
        </p:nvSpPr>
        <p:spPr>
          <a:xfrm>
            <a:off x="2954571" y="1376099"/>
            <a:ext cx="2069799" cy="398682"/>
          </a:xfrm>
          <a:prstGeom prst="roundRect">
            <a:avLst>
              <a:gd name="adj" fmla="val 25796"/>
            </a:avLst>
          </a:prstGeom>
          <a:solidFill>
            <a:srgbClr val="8A6FC0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77" name="Graphic 2">
            <a:extLst>
              <a:ext uri="{FF2B5EF4-FFF2-40B4-BE49-F238E27FC236}">
                <a16:creationId xmlns:a16="http://schemas.microsoft.com/office/drawing/2014/main" id="{18CCC052-F5D5-9387-5262-8C235EEC51AF}"/>
              </a:ext>
            </a:extLst>
          </p:cNvPr>
          <p:cNvGrpSpPr/>
          <p:nvPr/>
        </p:nvGrpSpPr>
        <p:grpSpPr>
          <a:xfrm>
            <a:off x="3036270" y="1457636"/>
            <a:ext cx="284308" cy="239209"/>
            <a:chOff x="3036270" y="1457636"/>
            <a:chExt cx="284308" cy="239209"/>
          </a:xfrm>
        </p:grpSpPr>
        <p:sp>
          <p:nvSpPr>
            <p:cNvPr id="178" name="Freeform 177">
              <a:extLst>
                <a:ext uri="{FF2B5EF4-FFF2-40B4-BE49-F238E27FC236}">
                  <a16:creationId xmlns:a16="http://schemas.microsoft.com/office/drawing/2014/main" id="{2A3D7E8F-B3CE-FBD6-9FE3-45BDE091F6EE}"/>
                </a:ext>
              </a:extLst>
            </p:cNvPr>
            <p:cNvSpPr/>
            <p:nvPr/>
          </p:nvSpPr>
          <p:spPr>
            <a:xfrm>
              <a:off x="3036270" y="1457636"/>
              <a:ext cx="284308" cy="239209"/>
            </a:xfrm>
            <a:custGeom>
              <a:avLst/>
              <a:gdLst>
                <a:gd name="csX0" fmla="*/ 277752 w 284308"/>
                <a:gd name="csY0" fmla="*/ 117804 h 239209"/>
                <a:gd name="csX1" fmla="*/ 282058 w 284308"/>
                <a:gd name="csY1" fmla="*/ 106744 h 239209"/>
                <a:gd name="csX2" fmla="*/ 284308 w 284308"/>
                <a:gd name="csY2" fmla="*/ 95234 h 239209"/>
                <a:gd name="csX3" fmla="*/ 283923 w 284308"/>
                <a:gd name="csY3" fmla="*/ 83595 h 239209"/>
                <a:gd name="csX4" fmla="*/ 280709 w 284308"/>
                <a:gd name="csY4" fmla="*/ 72342 h 239209"/>
                <a:gd name="csX5" fmla="*/ 274731 w 284308"/>
                <a:gd name="csY5" fmla="*/ 61989 h 239209"/>
                <a:gd name="csX6" fmla="*/ 266439 w 284308"/>
                <a:gd name="csY6" fmla="*/ 52858 h 239209"/>
                <a:gd name="csX7" fmla="*/ 256411 w 284308"/>
                <a:gd name="csY7" fmla="*/ 45141 h 239209"/>
                <a:gd name="csX8" fmla="*/ 245419 w 284308"/>
                <a:gd name="csY8" fmla="*/ 38711 h 239209"/>
                <a:gd name="csX9" fmla="*/ 234106 w 284308"/>
                <a:gd name="csY9" fmla="*/ 33374 h 239209"/>
                <a:gd name="csX10" fmla="*/ 222921 w 284308"/>
                <a:gd name="csY10" fmla="*/ 28744 h 239209"/>
                <a:gd name="csX11" fmla="*/ 212187 w 284308"/>
                <a:gd name="csY11" fmla="*/ 24435 h 239209"/>
                <a:gd name="csX12" fmla="*/ 201773 w 284308"/>
                <a:gd name="csY12" fmla="*/ 20127 h 239209"/>
                <a:gd name="csX13" fmla="*/ 191682 w 284308"/>
                <a:gd name="csY13" fmla="*/ 15754 h 239209"/>
                <a:gd name="csX14" fmla="*/ 181461 w 284308"/>
                <a:gd name="csY14" fmla="*/ 11382 h 239209"/>
                <a:gd name="csX15" fmla="*/ 170984 w 284308"/>
                <a:gd name="csY15" fmla="*/ 7202 h 239209"/>
                <a:gd name="csX16" fmla="*/ 160056 w 284308"/>
                <a:gd name="csY16" fmla="*/ 3665 h 239209"/>
                <a:gd name="csX17" fmla="*/ 148614 w 284308"/>
                <a:gd name="csY17" fmla="*/ 1158 h 239209"/>
                <a:gd name="csX18" fmla="*/ 136851 w 284308"/>
                <a:gd name="csY18" fmla="*/ 0 h 239209"/>
                <a:gd name="csX19" fmla="*/ 125024 w 284308"/>
                <a:gd name="csY19" fmla="*/ 322 h 239209"/>
                <a:gd name="csX20" fmla="*/ 113389 w 284308"/>
                <a:gd name="csY20" fmla="*/ 2122 h 239209"/>
                <a:gd name="csX21" fmla="*/ 102076 w 284308"/>
                <a:gd name="csY21" fmla="*/ 5144 h 239209"/>
                <a:gd name="csX22" fmla="*/ 91277 w 284308"/>
                <a:gd name="csY22" fmla="*/ 9131 h 239209"/>
                <a:gd name="csX23" fmla="*/ 80928 w 284308"/>
                <a:gd name="csY23" fmla="*/ 13697 h 239209"/>
                <a:gd name="csX24" fmla="*/ 70836 w 284308"/>
                <a:gd name="csY24" fmla="*/ 18520 h 239209"/>
                <a:gd name="csX25" fmla="*/ 60809 w 284308"/>
                <a:gd name="csY25" fmla="*/ 23535 h 239209"/>
                <a:gd name="csX26" fmla="*/ 50781 w 284308"/>
                <a:gd name="csY26" fmla="*/ 28744 h 239209"/>
                <a:gd name="csX27" fmla="*/ 40753 w 284308"/>
                <a:gd name="csY27" fmla="*/ 34403 h 239209"/>
                <a:gd name="csX28" fmla="*/ 30918 w 284308"/>
                <a:gd name="csY28" fmla="*/ 40640 h 239209"/>
                <a:gd name="csX29" fmla="*/ 21598 w 284308"/>
                <a:gd name="csY29" fmla="*/ 47713 h 239209"/>
                <a:gd name="csX30" fmla="*/ 13370 w 284308"/>
                <a:gd name="csY30" fmla="*/ 55944 h 239209"/>
                <a:gd name="csX31" fmla="*/ 6814 w 284308"/>
                <a:gd name="csY31" fmla="*/ 65140 h 239209"/>
                <a:gd name="csX32" fmla="*/ 2250 w 284308"/>
                <a:gd name="csY32" fmla="*/ 75300 h 239209"/>
                <a:gd name="csX33" fmla="*/ 0 w 284308"/>
                <a:gd name="csY33" fmla="*/ 85974 h 239209"/>
                <a:gd name="csX34" fmla="*/ 0 w 284308"/>
                <a:gd name="csY34" fmla="*/ 96841 h 239209"/>
                <a:gd name="csX35" fmla="*/ 1929 w 284308"/>
                <a:gd name="csY35" fmla="*/ 107580 h 239209"/>
                <a:gd name="csX36" fmla="*/ 5207 w 284308"/>
                <a:gd name="csY36" fmla="*/ 117804 h 239209"/>
                <a:gd name="csX37" fmla="*/ 9128 w 284308"/>
                <a:gd name="csY37" fmla="*/ 127514 h 239209"/>
                <a:gd name="csX38" fmla="*/ 13177 w 284308"/>
                <a:gd name="csY38" fmla="*/ 136710 h 239209"/>
                <a:gd name="csX39" fmla="*/ 16713 w 284308"/>
                <a:gd name="csY39" fmla="*/ 145777 h 239209"/>
                <a:gd name="csX40" fmla="*/ 19670 w 284308"/>
                <a:gd name="csY40" fmla="*/ 154843 h 239209"/>
                <a:gd name="csX41" fmla="*/ 22048 w 284308"/>
                <a:gd name="csY41" fmla="*/ 164296 h 239209"/>
                <a:gd name="csX42" fmla="*/ 24298 w 284308"/>
                <a:gd name="csY42" fmla="*/ 174263 h 239209"/>
                <a:gd name="csX43" fmla="*/ 26869 w 284308"/>
                <a:gd name="csY43" fmla="*/ 184680 h 239209"/>
                <a:gd name="csX44" fmla="*/ 30469 w 284308"/>
                <a:gd name="csY44" fmla="*/ 195290 h 239209"/>
                <a:gd name="csX45" fmla="*/ 35611 w 284308"/>
                <a:gd name="csY45" fmla="*/ 205708 h 239209"/>
                <a:gd name="csX46" fmla="*/ 42553 w 284308"/>
                <a:gd name="csY46" fmla="*/ 215353 h 239209"/>
                <a:gd name="csX47" fmla="*/ 51424 w 284308"/>
                <a:gd name="csY47" fmla="*/ 223713 h 239209"/>
                <a:gd name="csX48" fmla="*/ 61966 w 284308"/>
                <a:gd name="csY48" fmla="*/ 230400 h 239209"/>
                <a:gd name="csX49" fmla="*/ 73857 w 284308"/>
                <a:gd name="csY49" fmla="*/ 235159 h 239209"/>
                <a:gd name="csX50" fmla="*/ 86456 w 284308"/>
                <a:gd name="csY50" fmla="*/ 237988 h 239209"/>
                <a:gd name="csX51" fmla="*/ 99376 w 284308"/>
                <a:gd name="csY51" fmla="*/ 239210 h 239209"/>
                <a:gd name="csX52" fmla="*/ 112232 w 284308"/>
                <a:gd name="csY52" fmla="*/ 239146 h 239209"/>
                <a:gd name="csX53" fmla="*/ 124702 w 284308"/>
                <a:gd name="csY53" fmla="*/ 238181 h 239209"/>
                <a:gd name="csX54" fmla="*/ 136851 w 284308"/>
                <a:gd name="csY54" fmla="*/ 236638 h 239209"/>
                <a:gd name="csX55" fmla="*/ 148614 w 284308"/>
                <a:gd name="csY55" fmla="*/ 234837 h 239209"/>
                <a:gd name="csX56" fmla="*/ 160185 w 284308"/>
                <a:gd name="csY56" fmla="*/ 232780 h 239209"/>
                <a:gd name="csX57" fmla="*/ 171562 w 284308"/>
                <a:gd name="csY57" fmla="*/ 230336 h 239209"/>
                <a:gd name="csX58" fmla="*/ 182682 w 284308"/>
                <a:gd name="csY58" fmla="*/ 227185 h 239209"/>
                <a:gd name="csX59" fmla="*/ 193481 w 284308"/>
                <a:gd name="csY59" fmla="*/ 223198 h 239209"/>
                <a:gd name="csX60" fmla="*/ 203573 w 284308"/>
                <a:gd name="csY60" fmla="*/ 218118 h 239209"/>
                <a:gd name="csX61" fmla="*/ 212765 w 284308"/>
                <a:gd name="csY61" fmla="*/ 211945 h 239209"/>
                <a:gd name="csX62" fmla="*/ 220800 w 284308"/>
                <a:gd name="csY62" fmla="*/ 204679 h 239209"/>
                <a:gd name="csX63" fmla="*/ 227678 w 284308"/>
                <a:gd name="csY63" fmla="*/ 196705 h 239209"/>
                <a:gd name="csX64" fmla="*/ 233528 w 284308"/>
                <a:gd name="csY64" fmla="*/ 188217 h 239209"/>
                <a:gd name="csX65" fmla="*/ 238605 w 284308"/>
                <a:gd name="csY65" fmla="*/ 179665 h 239209"/>
                <a:gd name="csX66" fmla="*/ 243298 w 284308"/>
                <a:gd name="csY66" fmla="*/ 171177 h 239209"/>
                <a:gd name="csX67" fmla="*/ 248119 w 284308"/>
                <a:gd name="csY67" fmla="*/ 162881 h 239209"/>
                <a:gd name="csX68" fmla="*/ 253454 w 284308"/>
                <a:gd name="csY68" fmla="*/ 154650 h 239209"/>
                <a:gd name="csX69" fmla="*/ 259303 w 284308"/>
                <a:gd name="csY69" fmla="*/ 146291 h 239209"/>
                <a:gd name="csX70" fmla="*/ 265667 w 284308"/>
                <a:gd name="csY70" fmla="*/ 137546 h 239209"/>
                <a:gd name="csX71" fmla="*/ 272031 w 284308"/>
                <a:gd name="csY71" fmla="*/ 128093 h 2392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284308" h="239209">
                  <a:moveTo>
                    <a:pt x="277752" y="117804"/>
                  </a:moveTo>
                  <a:lnTo>
                    <a:pt x="282058" y="106744"/>
                  </a:lnTo>
                  <a:lnTo>
                    <a:pt x="284308" y="95234"/>
                  </a:lnTo>
                  <a:lnTo>
                    <a:pt x="283923" y="83595"/>
                  </a:lnTo>
                  <a:lnTo>
                    <a:pt x="280709" y="72342"/>
                  </a:lnTo>
                  <a:lnTo>
                    <a:pt x="274731" y="61989"/>
                  </a:lnTo>
                  <a:lnTo>
                    <a:pt x="266439" y="52858"/>
                  </a:lnTo>
                  <a:lnTo>
                    <a:pt x="256411" y="45141"/>
                  </a:lnTo>
                  <a:lnTo>
                    <a:pt x="245419" y="38711"/>
                  </a:lnTo>
                  <a:lnTo>
                    <a:pt x="234106" y="33374"/>
                  </a:lnTo>
                  <a:lnTo>
                    <a:pt x="222921" y="28744"/>
                  </a:lnTo>
                  <a:lnTo>
                    <a:pt x="212187" y="24435"/>
                  </a:lnTo>
                  <a:lnTo>
                    <a:pt x="201773" y="20127"/>
                  </a:lnTo>
                  <a:lnTo>
                    <a:pt x="191682" y="15754"/>
                  </a:lnTo>
                  <a:lnTo>
                    <a:pt x="181461" y="11382"/>
                  </a:lnTo>
                  <a:lnTo>
                    <a:pt x="170984" y="7202"/>
                  </a:lnTo>
                  <a:lnTo>
                    <a:pt x="160056" y="3665"/>
                  </a:lnTo>
                  <a:lnTo>
                    <a:pt x="148614" y="1158"/>
                  </a:lnTo>
                  <a:lnTo>
                    <a:pt x="136851" y="0"/>
                  </a:lnTo>
                  <a:lnTo>
                    <a:pt x="125024" y="322"/>
                  </a:lnTo>
                  <a:lnTo>
                    <a:pt x="113389" y="2122"/>
                  </a:lnTo>
                  <a:lnTo>
                    <a:pt x="102076" y="5144"/>
                  </a:lnTo>
                  <a:lnTo>
                    <a:pt x="91277" y="9131"/>
                  </a:lnTo>
                  <a:lnTo>
                    <a:pt x="80928" y="13697"/>
                  </a:lnTo>
                  <a:lnTo>
                    <a:pt x="70836" y="18520"/>
                  </a:lnTo>
                  <a:lnTo>
                    <a:pt x="60809" y="23535"/>
                  </a:lnTo>
                  <a:lnTo>
                    <a:pt x="50781" y="28744"/>
                  </a:lnTo>
                  <a:lnTo>
                    <a:pt x="40753" y="34403"/>
                  </a:lnTo>
                  <a:lnTo>
                    <a:pt x="30918" y="40640"/>
                  </a:lnTo>
                  <a:lnTo>
                    <a:pt x="21598" y="47713"/>
                  </a:lnTo>
                  <a:lnTo>
                    <a:pt x="13370" y="55944"/>
                  </a:lnTo>
                  <a:lnTo>
                    <a:pt x="6814" y="65140"/>
                  </a:lnTo>
                  <a:lnTo>
                    <a:pt x="2250" y="75300"/>
                  </a:lnTo>
                  <a:lnTo>
                    <a:pt x="0" y="85974"/>
                  </a:lnTo>
                  <a:lnTo>
                    <a:pt x="0" y="96841"/>
                  </a:lnTo>
                  <a:lnTo>
                    <a:pt x="1929" y="107580"/>
                  </a:lnTo>
                  <a:lnTo>
                    <a:pt x="5207" y="117804"/>
                  </a:lnTo>
                  <a:lnTo>
                    <a:pt x="9128" y="127514"/>
                  </a:lnTo>
                  <a:lnTo>
                    <a:pt x="13177" y="136710"/>
                  </a:lnTo>
                  <a:lnTo>
                    <a:pt x="16713" y="145777"/>
                  </a:lnTo>
                  <a:lnTo>
                    <a:pt x="19670" y="154843"/>
                  </a:lnTo>
                  <a:lnTo>
                    <a:pt x="22048" y="164296"/>
                  </a:lnTo>
                  <a:lnTo>
                    <a:pt x="24298" y="174263"/>
                  </a:lnTo>
                  <a:lnTo>
                    <a:pt x="26869" y="184680"/>
                  </a:lnTo>
                  <a:lnTo>
                    <a:pt x="30469" y="195290"/>
                  </a:lnTo>
                  <a:lnTo>
                    <a:pt x="35611" y="205708"/>
                  </a:lnTo>
                  <a:lnTo>
                    <a:pt x="42553" y="215353"/>
                  </a:lnTo>
                  <a:lnTo>
                    <a:pt x="51424" y="223713"/>
                  </a:lnTo>
                  <a:lnTo>
                    <a:pt x="61966" y="230400"/>
                  </a:lnTo>
                  <a:lnTo>
                    <a:pt x="73857" y="235159"/>
                  </a:lnTo>
                  <a:lnTo>
                    <a:pt x="86456" y="237988"/>
                  </a:lnTo>
                  <a:lnTo>
                    <a:pt x="99376" y="239210"/>
                  </a:lnTo>
                  <a:lnTo>
                    <a:pt x="112232" y="239146"/>
                  </a:lnTo>
                  <a:lnTo>
                    <a:pt x="124702" y="238181"/>
                  </a:lnTo>
                  <a:lnTo>
                    <a:pt x="136851" y="236638"/>
                  </a:lnTo>
                  <a:lnTo>
                    <a:pt x="148614" y="234837"/>
                  </a:lnTo>
                  <a:lnTo>
                    <a:pt x="160185" y="232780"/>
                  </a:lnTo>
                  <a:lnTo>
                    <a:pt x="171562" y="230336"/>
                  </a:lnTo>
                  <a:lnTo>
                    <a:pt x="182682" y="227185"/>
                  </a:lnTo>
                  <a:lnTo>
                    <a:pt x="193481" y="223198"/>
                  </a:lnTo>
                  <a:lnTo>
                    <a:pt x="203573" y="218118"/>
                  </a:lnTo>
                  <a:lnTo>
                    <a:pt x="212765" y="211945"/>
                  </a:lnTo>
                  <a:lnTo>
                    <a:pt x="220800" y="204679"/>
                  </a:lnTo>
                  <a:lnTo>
                    <a:pt x="227678" y="196705"/>
                  </a:lnTo>
                  <a:lnTo>
                    <a:pt x="233528" y="188217"/>
                  </a:lnTo>
                  <a:lnTo>
                    <a:pt x="238605" y="179665"/>
                  </a:lnTo>
                  <a:lnTo>
                    <a:pt x="243298" y="171177"/>
                  </a:lnTo>
                  <a:lnTo>
                    <a:pt x="248119" y="162881"/>
                  </a:lnTo>
                  <a:lnTo>
                    <a:pt x="253454" y="154650"/>
                  </a:lnTo>
                  <a:lnTo>
                    <a:pt x="259303" y="146291"/>
                  </a:lnTo>
                  <a:lnTo>
                    <a:pt x="265667" y="137546"/>
                  </a:lnTo>
                  <a:lnTo>
                    <a:pt x="272031" y="128093"/>
                  </a:lnTo>
                  <a:close/>
                </a:path>
              </a:pathLst>
            </a:custGeom>
            <a:solidFill>
              <a:srgbClr val="FFFFFF"/>
            </a:solidFill>
            <a:ln w="11566" cap="flat">
              <a:solidFill>
                <a:srgbClr val="5F4A9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9" name="Freeform 178">
              <a:extLst>
                <a:ext uri="{FF2B5EF4-FFF2-40B4-BE49-F238E27FC236}">
                  <a16:creationId xmlns:a16="http://schemas.microsoft.com/office/drawing/2014/main" id="{47E10543-7BEC-F186-6AFE-4AF6D3CE8D8B}"/>
                </a:ext>
              </a:extLst>
            </p:cNvPr>
            <p:cNvSpPr/>
            <p:nvPr/>
          </p:nvSpPr>
          <p:spPr>
            <a:xfrm>
              <a:off x="3169410" y="1464838"/>
              <a:ext cx="7422" cy="216060"/>
            </a:xfrm>
            <a:custGeom>
              <a:avLst/>
              <a:gdLst>
                <a:gd name="csX0" fmla="*/ 3711 w 7422"/>
                <a:gd name="csY0" fmla="*/ 0 h 216060"/>
                <a:gd name="csX1" fmla="*/ 3711 w 7422"/>
                <a:gd name="csY1" fmla="*/ 216060 h 2160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422" h="216060">
                  <a:moveTo>
                    <a:pt x="3711" y="0"/>
                  </a:moveTo>
                  <a:cubicBezTo>
                    <a:pt x="16567" y="72020"/>
                    <a:pt x="-9145" y="149185"/>
                    <a:pt x="3711" y="216060"/>
                  </a:cubicBezTo>
                </a:path>
              </a:pathLst>
            </a:custGeom>
            <a:noFill/>
            <a:ln w="9831" cap="rnd">
              <a:solidFill>
                <a:srgbClr val="8A6FC0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0" name="Freeform 179">
              <a:extLst>
                <a:ext uri="{FF2B5EF4-FFF2-40B4-BE49-F238E27FC236}">
                  <a16:creationId xmlns:a16="http://schemas.microsoft.com/office/drawing/2014/main" id="{D0898307-EC5C-B9D1-1E9B-96BF2D9E1C62}"/>
                </a:ext>
              </a:extLst>
            </p:cNvPr>
            <p:cNvSpPr/>
            <p:nvPr/>
          </p:nvSpPr>
          <p:spPr>
            <a:xfrm>
              <a:off x="3072846" y="1523997"/>
              <a:ext cx="77135" cy="23149"/>
            </a:xfrm>
            <a:custGeom>
              <a:avLst/>
              <a:gdLst>
                <a:gd name="csX0" fmla="*/ 0 w 77135"/>
                <a:gd name="csY0" fmla="*/ 10289 h 23149"/>
                <a:gd name="csX1" fmla="*/ 38568 w 77135"/>
                <a:gd name="csY1" fmla="*/ 10289 h 23149"/>
                <a:gd name="csX2" fmla="*/ 77135 w 77135"/>
                <a:gd name="csY2" fmla="*/ 18519 h 231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7135" h="23149">
                  <a:moveTo>
                    <a:pt x="0" y="10289"/>
                  </a:moveTo>
                  <a:cubicBezTo>
                    <a:pt x="25712" y="-3429"/>
                    <a:pt x="38568" y="-3430"/>
                    <a:pt x="38568" y="10289"/>
                  </a:cubicBezTo>
                  <a:cubicBezTo>
                    <a:pt x="38568" y="24007"/>
                    <a:pt x="51424" y="26750"/>
                    <a:pt x="77135" y="18519"/>
                  </a:cubicBezTo>
                </a:path>
              </a:pathLst>
            </a:custGeom>
            <a:noFill/>
            <a:ln w="8674" cap="rnd">
              <a:solidFill>
                <a:srgbClr val="8A6FC0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1" name="Freeform 180">
              <a:extLst>
                <a:ext uri="{FF2B5EF4-FFF2-40B4-BE49-F238E27FC236}">
                  <a16:creationId xmlns:a16="http://schemas.microsoft.com/office/drawing/2014/main" id="{3FD120F7-093F-A468-8C3F-06A73A35C5BC}"/>
                </a:ext>
              </a:extLst>
            </p:cNvPr>
            <p:cNvSpPr/>
            <p:nvPr/>
          </p:nvSpPr>
          <p:spPr>
            <a:xfrm>
              <a:off x="3080559" y="1594731"/>
              <a:ext cx="66850" cy="20255"/>
            </a:xfrm>
            <a:custGeom>
              <a:avLst/>
              <a:gdLst>
                <a:gd name="csX0" fmla="*/ 0 w 66850"/>
                <a:gd name="csY0" fmla="*/ 9002 h 20255"/>
                <a:gd name="csX1" fmla="*/ 33425 w 66850"/>
                <a:gd name="csY1" fmla="*/ 9002 h 20255"/>
                <a:gd name="csX2" fmla="*/ 66851 w 66850"/>
                <a:gd name="csY2" fmla="*/ 16205 h 202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6850" h="20255">
                  <a:moveTo>
                    <a:pt x="0" y="9002"/>
                  </a:moveTo>
                  <a:cubicBezTo>
                    <a:pt x="22284" y="-3001"/>
                    <a:pt x="33425" y="-3001"/>
                    <a:pt x="33425" y="9002"/>
                  </a:cubicBezTo>
                  <a:cubicBezTo>
                    <a:pt x="33425" y="21006"/>
                    <a:pt x="44567" y="23407"/>
                    <a:pt x="66851" y="16205"/>
                  </a:cubicBezTo>
                </a:path>
              </a:pathLst>
            </a:custGeom>
            <a:noFill/>
            <a:ln w="8674" cap="rnd">
              <a:solidFill>
                <a:srgbClr val="8A6FC0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" name="Freeform 181">
              <a:extLst>
                <a:ext uri="{FF2B5EF4-FFF2-40B4-BE49-F238E27FC236}">
                  <a16:creationId xmlns:a16="http://schemas.microsoft.com/office/drawing/2014/main" id="{5C6470F0-E93B-8C6B-26A6-EC93C9B7849A}"/>
                </a:ext>
              </a:extLst>
            </p:cNvPr>
            <p:cNvSpPr/>
            <p:nvPr/>
          </p:nvSpPr>
          <p:spPr>
            <a:xfrm>
              <a:off x="3196262" y="1526570"/>
              <a:ext cx="77135" cy="23149"/>
            </a:xfrm>
            <a:custGeom>
              <a:avLst/>
              <a:gdLst>
                <a:gd name="csX0" fmla="*/ 0 w 77135"/>
                <a:gd name="csY0" fmla="*/ 10289 h 23149"/>
                <a:gd name="csX1" fmla="*/ 38568 w 77135"/>
                <a:gd name="csY1" fmla="*/ 10289 h 23149"/>
                <a:gd name="csX2" fmla="*/ 77135 w 77135"/>
                <a:gd name="csY2" fmla="*/ 18519 h 231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7135" h="23149">
                  <a:moveTo>
                    <a:pt x="0" y="10289"/>
                  </a:moveTo>
                  <a:cubicBezTo>
                    <a:pt x="25712" y="-3430"/>
                    <a:pt x="38568" y="-3430"/>
                    <a:pt x="38568" y="10289"/>
                  </a:cubicBezTo>
                  <a:cubicBezTo>
                    <a:pt x="38568" y="24007"/>
                    <a:pt x="51424" y="26750"/>
                    <a:pt x="77135" y="18519"/>
                  </a:cubicBezTo>
                </a:path>
              </a:pathLst>
            </a:custGeom>
            <a:noFill/>
            <a:ln w="8674" cap="rnd">
              <a:solidFill>
                <a:srgbClr val="8A6FC0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3" name="Freeform 182">
              <a:extLst>
                <a:ext uri="{FF2B5EF4-FFF2-40B4-BE49-F238E27FC236}">
                  <a16:creationId xmlns:a16="http://schemas.microsoft.com/office/drawing/2014/main" id="{296E61A6-0ED2-4571-47EB-DF45381531FC}"/>
                </a:ext>
              </a:extLst>
            </p:cNvPr>
            <p:cNvSpPr/>
            <p:nvPr/>
          </p:nvSpPr>
          <p:spPr>
            <a:xfrm>
              <a:off x="3198833" y="1597304"/>
              <a:ext cx="66850" cy="20255"/>
            </a:xfrm>
            <a:custGeom>
              <a:avLst/>
              <a:gdLst>
                <a:gd name="csX0" fmla="*/ 0 w 66850"/>
                <a:gd name="csY0" fmla="*/ 9003 h 20255"/>
                <a:gd name="csX1" fmla="*/ 33425 w 66850"/>
                <a:gd name="csY1" fmla="*/ 9003 h 20255"/>
                <a:gd name="csX2" fmla="*/ 66851 w 66850"/>
                <a:gd name="csY2" fmla="*/ 16205 h 202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6850" h="20255">
                  <a:moveTo>
                    <a:pt x="0" y="9003"/>
                  </a:moveTo>
                  <a:cubicBezTo>
                    <a:pt x="22284" y="-3001"/>
                    <a:pt x="33425" y="-3001"/>
                    <a:pt x="33425" y="9003"/>
                  </a:cubicBezTo>
                  <a:cubicBezTo>
                    <a:pt x="33425" y="21006"/>
                    <a:pt x="44567" y="23406"/>
                    <a:pt x="66851" y="16205"/>
                  </a:cubicBezTo>
                </a:path>
              </a:pathLst>
            </a:custGeom>
            <a:noFill/>
            <a:ln w="8674" cap="rnd">
              <a:solidFill>
                <a:srgbClr val="8A6FC0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4" name="TextBox 183">
            <a:extLst>
              <a:ext uri="{FF2B5EF4-FFF2-40B4-BE49-F238E27FC236}">
                <a16:creationId xmlns:a16="http://schemas.microsoft.com/office/drawing/2014/main" id="{4930EB88-5411-FC72-A7FF-A66545CD0599}"/>
              </a:ext>
            </a:extLst>
          </p:cNvPr>
          <p:cNvSpPr txBox="1"/>
          <p:nvPr/>
        </p:nvSpPr>
        <p:spPr>
          <a:xfrm>
            <a:off x="3274520" y="1397415"/>
            <a:ext cx="1513414" cy="221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75" b="1" spc="0" baseline="0">
                <a:ln/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Aversive / Negative affect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81DACE3C-B89F-4979-2B84-A673CC986970}"/>
              </a:ext>
            </a:extLst>
          </p:cNvPr>
          <p:cNvSpPr txBox="1"/>
          <p:nvPr/>
        </p:nvSpPr>
        <p:spPr>
          <a:xfrm>
            <a:off x="3274520" y="1565576"/>
            <a:ext cx="604347" cy="1813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spc="0" baseline="0">
                <a:ln/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9 signatures</a:t>
            </a:r>
          </a:p>
        </p:txBody>
      </p:sp>
      <p:sp>
        <p:nvSpPr>
          <p:cNvPr id="186" name="Freeform 185">
            <a:extLst>
              <a:ext uri="{FF2B5EF4-FFF2-40B4-BE49-F238E27FC236}">
                <a16:creationId xmlns:a16="http://schemas.microsoft.com/office/drawing/2014/main" id="{0500A4AD-2F73-4AC4-C8CB-CD2017F4E49D}"/>
              </a:ext>
            </a:extLst>
          </p:cNvPr>
          <p:cNvSpPr/>
          <p:nvPr/>
        </p:nvSpPr>
        <p:spPr>
          <a:xfrm>
            <a:off x="3083130" y="1800503"/>
            <a:ext cx="6427" cy="4179741"/>
          </a:xfrm>
          <a:custGeom>
            <a:avLst/>
            <a:gdLst>
              <a:gd name="csX0" fmla="*/ 0 w 6427"/>
              <a:gd name="csY0" fmla="*/ 0 h 4179741"/>
              <a:gd name="csX1" fmla="*/ 0 w 6427"/>
              <a:gd name="csY1" fmla="*/ 4179741 h 417974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27" h="4179741">
                <a:moveTo>
                  <a:pt x="0" y="0"/>
                </a:moveTo>
                <a:lnTo>
                  <a:pt x="0" y="4179741"/>
                </a:lnTo>
              </a:path>
            </a:pathLst>
          </a:custGeom>
          <a:ln w="16063" cap="flat">
            <a:solidFill>
              <a:srgbClr val="8A6FC0">
                <a:alpha val="45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7B9BEE37-6012-F846-853D-908005AD2CFF}"/>
              </a:ext>
            </a:extLst>
          </p:cNvPr>
          <p:cNvSpPr/>
          <p:nvPr/>
        </p:nvSpPr>
        <p:spPr>
          <a:xfrm>
            <a:off x="3050991" y="2025566"/>
            <a:ext cx="64279" cy="64303"/>
          </a:xfrm>
          <a:prstGeom prst="ellipse">
            <a:avLst/>
          </a:prstGeom>
          <a:solidFill>
            <a:srgbClr val="8A6FC0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5B13710C-BB3F-03F7-ACE9-2BB68393E7AF}"/>
              </a:ext>
            </a:extLst>
          </p:cNvPr>
          <p:cNvSpPr txBox="1"/>
          <p:nvPr/>
        </p:nvSpPr>
        <p:spPr>
          <a:xfrm>
            <a:off x="3094537" y="1965780"/>
            <a:ext cx="730059" cy="187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b="1" spc="30" baseline="0">
                <a:ln/>
                <a:solidFill>
                  <a:srgbClr val="5F4A94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PHYSIOLOGY</a:t>
            </a:r>
          </a:p>
        </p:txBody>
      </p:sp>
      <p:sp>
        <p:nvSpPr>
          <p:cNvPr id="189" name="Freeform 188">
            <a:extLst>
              <a:ext uri="{FF2B5EF4-FFF2-40B4-BE49-F238E27FC236}">
                <a16:creationId xmlns:a16="http://schemas.microsoft.com/office/drawing/2014/main" id="{6CC8FA45-62DB-4453-CD55-1B2ECD0D7358}"/>
              </a:ext>
            </a:extLst>
          </p:cNvPr>
          <p:cNvSpPr/>
          <p:nvPr/>
        </p:nvSpPr>
        <p:spPr>
          <a:xfrm>
            <a:off x="3083130" y="2089870"/>
            <a:ext cx="128558" cy="263645"/>
          </a:xfrm>
          <a:custGeom>
            <a:avLst/>
            <a:gdLst>
              <a:gd name="csX0" fmla="*/ 0 w 128558"/>
              <a:gd name="csY0" fmla="*/ 0 h 263645"/>
              <a:gd name="csX1" fmla="*/ 128559 w 128558"/>
              <a:gd name="csY1" fmla="*/ 263645 h 26364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8558" h="263645">
                <a:moveTo>
                  <a:pt x="0" y="0"/>
                </a:moveTo>
                <a:cubicBezTo>
                  <a:pt x="0" y="263645"/>
                  <a:pt x="64279" y="263645"/>
                  <a:pt x="128559" y="263645"/>
                </a:cubicBezTo>
              </a:path>
            </a:pathLst>
          </a:custGeom>
          <a:noFill/>
          <a:ln w="12851" cap="flat">
            <a:solidFill>
              <a:srgbClr val="8A6FC0">
                <a:alpha val="4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0" name="Rounded Rectangle 189">
            <a:extLst>
              <a:ext uri="{FF2B5EF4-FFF2-40B4-BE49-F238E27FC236}">
                <a16:creationId xmlns:a16="http://schemas.microsoft.com/office/drawing/2014/main" id="{420C3DBF-ECDF-DDE0-4DA2-BED560DF510A}"/>
              </a:ext>
            </a:extLst>
          </p:cNvPr>
          <p:cNvSpPr/>
          <p:nvPr/>
        </p:nvSpPr>
        <p:spPr>
          <a:xfrm>
            <a:off x="3211689" y="2199186"/>
            <a:ext cx="1722690" cy="308657"/>
          </a:xfrm>
          <a:prstGeom prst="roundRect">
            <a:avLst>
              <a:gd name="adj" fmla="val 24990"/>
            </a:avLst>
          </a:prstGeom>
          <a:solidFill>
            <a:srgbClr val="FFFFFF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1" name="Rounded Rectangle 190">
            <a:extLst>
              <a:ext uri="{FF2B5EF4-FFF2-40B4-BE49-F238E27FC236}">
                <a16:creationId xmlns:a16="http://schemas.microsoft.com/office/drawing/2014/main" id="{7F077394-D2AF-9CFE-6724-004CDA14AF53}"/>
              </a:ext>
            </a:extLst>
          </p:cNvPr>
          <p:cNvSpPr/>
          <p:nvPr/>
        </p:nvSpPr>
        <p:spPr>
          <a:xfrm>
            <a:off x="3211689" y="2199186"/>
            <a:ext cx="32139" cy="308657"/>
          </a:xfrm>
          <a:prstGeom prst="roundRect">
            <a:avLst>
              <a:gd name="adj" fmla="val 50000"/>
            </a:avLst>
          </a:prstGeom>
          <a:solidFill>
            <a:srgbClr val="8A6FC0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A1C130BC-54AB-D176-9AE0-619647D70AD4}"/>
              </a:ext>
            </a:extLst>
          </p:cNvPr>
          <p:cNvSpPr/>
          <p:nvPr/>
        </p:nvSpPr>
        <p:spPr>
          <a:xfrm>
            <a:off x="3282397" y="2257060"/>
            <a:ext cx="192838" cy="192911"/>
          </a:xfrm>
          <a:prstGeom prst="ellipse">
            <a:avLst/>
          </a:prstGeom>
          <a:solidFill>
            <a:srgbClr val="EEEAF7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93" name="Graphic 2">
            <a:extLst>
              <a:ext uri="{FF2B5EF4-FFF2-40B4-BE49-F238E27FC236}">
                <a16:creationId xmlns:a16="http://schemas.microsoft.com/office/drawing/2014/main" id="{A75BA985-588A-15CA-2881-0D92E069C278}"/>
              </a:ext>
            </a:extLst>
          </p:cNvPr>
          <p:cNvGrpSpPr/>
          <p:nvPr/>
        </p:nvGrpSpPr>
        <p:grpSpPr>
          <a:xfrm>
            <a:off x="3303545" y="2288761"/>
            <a:ext cx="156391" cy="131501"/>
            <a:chOff x="3303545" y="2288761"/>
            <a:chExt cx="156391" cy="131501"/>
          </a:xfrm>
        </p:grpSpPr>
        <p:sp>
          <p:nvSpPr>
            <p:cNvPr id="194" name="Freeform 193">
              <a:extLst>
                <a:ext uri="{FF2B5EF4-FFF2-40B4-BE49-F238E27FC236}">
                  <a16:creationId xmlns:a16="http://schemas.microsoft.com/office/drawing/2014/main" id="{20C8FCFE-E8C0-F687-32A0-B2D8C367000D}"/>
                </a:ext>
              </a:extLst>
            </p:cNvPr>
            <p:cNvSpPr/>
            <p:nvPr/>
          </p:nvSpPr>
          <p:spPr>
            <a:xfrm>
              <a:off x="3303545" y="2288761"/>
              <a:ext cx="156391" cy="131501"/>
            </a:xfrm>
            <a:custGeom>
              <a:avLst/>
              <a:gdLst>
                <a:gd name="csX0" fmla="*/ 152792 w 156391"/>
                <a:gd name="csY0" fmla="*/ 64754 h 131501"/>
                <a:gd name="csX1" fmla="*/ 155171 w 156391"/>
                <a:gd name="csY1" fmla="*/ 58709 h 131501"/>
                <a:gd name="csX2" fmla="*/ 156392 w 156391"/>
                <a:gd name="csY2" fmla="*/ 52343 h 131501"/>
                <a:gd name="csX3" fmla="*/ 156199 w 156391"/>
                <a:gd name="csY3" fmla="*/ 45913 h 131501"/>
                <a:gd name="csX4" fmla="*/ 154399 w 156391"/>
                <a:gd name="csY4" fmla="*/ 39740 h 131501"/>
                <a:gd name="csX5" fmla="*/ 151121 w 156391"/>
                <a:gd name="csY5" fmla="*/ 34081 h 131501"/>
                <a:gd name="csX6" fmla="*/ 146557 w 156391"/>
                <a:gd name="csY6" fmla="*/ 29001 h 131501"/>
                <a:gd name="csX7" fmla="*/ 141029 w 156391"/>
                <a:gd name="csY7" fmla="*/ 24757 h 131501"/>
                <a:gd name="csX8" fmla="*/ 134987 w 156391"/>
                <a:gd name="csY8" fmla="*/ 21220 h 131501"/>
                <a:gd name="csX9" fmla="*/ 128752 w 156391"/>
                <a:gd name="csY9" fmla="*/ 18327 h 131501"/>
                <a:gd name="csX10" fmla="*/ 122645 w 156391"/>
                <a:gd name="csY10" fmla="*/ 15754 h 131501"/>
                <a:gd name="csX11" fmla="*/ 116667 w 156391"/>
                <a:gd name="csY11" fmla="*/ 13375 h 131501"/>
                <a:gd name="csX12" fmla="*/ 111011 w 156391"/>
                <a:gd name="csY12" fmla="*/ 11060 h 131501"/>
                <a:gd name="csX13" fmla="*/ 105418 w 156391"/>
                <a:gd name="csY13" fmla="*/ 8617 h 131501"/>
                <a:gd name="csX14" fmla="*/ 99826 w 156391"/>
                <a:gd name="csY14" fmla="*/ 6237 h 131501"/>
                <a:gd name="csX15" fmla="*/ 94041 w 156391"/>
                <a:gd name="csY15" fmla="*/ 3923 h 131501"/>
                <a:gd name="csX16" fmla="*/ 87999 w 156391"/>
                <a:gd name="csY16" fmla="*/ 1993 h 131501"/>
                <a:gd name="csX17" fmla="*/ 81764 w 156391"/>
                <a:gd name="csY17" fmla="*/ 643 h 131501"/>
                <a:gd name="csX18" fmla="*/ 75271 w 156391"/>
                <a:gd name="csY18" fmla="*/ 0 h 131501"/>
                <a:gd name="csX19" fmla="*/ 68779 w 156391"/>
                <a:gd name="csY19" fmla="*/ 129 h 131501"/>
                <a:gd name="csX20" fmla="*/ 62351 w 156391"/>
                <a:gd name="csY20" fmla="*/ 1157 h 131501"/>
                <a:gd name="csX21" fmla="*/ 56180 w 156391"/>
                <a:gd name="csY21" fmla="*/ 2829 h 131501"/>
                <a:gd name="csX22" fmla="*/ 50202 w 156391"/>
                <a:gd name="csY22" fmla="*/ 4952 h 131501"/>
                <a:gd name="csX23" fmla="*/ 44481 w 156391"/>
                <a:gd name="csY23" fmla="*/ 7459 h 131501"/>
                <a:gd name="csX24" fmla="*/ 38953 w 156391"/>
                <a:gd name="csY24" fmla="*/ 10160 h 131501"/>
                <a:gd name="csX25" fmla="*/ 33490 w 156391"/>
                <a:gd name="csY25" fmla="*/ 12925 h 131501"/>
                <a:gd name="csX26" fmla="*/ 27962 w 156391"/>
                <a:gd name="csY26" fmla="*/ 15819 h 131501"/>
                <a:gd name="csX27" fmla="*/ 22433 w 156391"/>
                <a:gd name="csY27" fmla="*/ 18841 h 131501"/>
                <a:gd name="csX28" fmla="*/ 16970 w 156391"/>
                <a:gd name="csY28" fmla="*/ 22313 h 131501"/>
                <a:gd name="csX29" fmla="*/ 11892 w 156391"/>
                <a:gd name="csY29" fmla="*/ 26236 h 131501"/>
                <a:gd name="csX30" fmla="*/ 7392 w 156391"/>
                <a:gd name="csY30" fmla="*/ 30737 h 131501"/>
                <a:gd name="csX31" fmla="*/ 3728 w 156391"/>
                <a:gd name="csY31" fmla="*/ 35817 h 131501"/>
                <a:gd name="csX32" fmla="*/ 1221 w 156391"/>
                <a:gd name="csY32" fmla="*/ 41347 h 131501"/>
                <a:gd name="csX33" fmla="*/ 0 w 156391"/>
                <a:gd name="csY33" fmla="*/ 47263 h 131501"/>
                <a:gd name="csX34" fmla="*/ 0 w 156391"/>
                <a:gd name="csY34" fmla="*/ 53243 h 131501"/>
                <a:gd name="csX35" fmla="*/ 1093 w 156391"/>
                <a:gd name="csY35" fmla="*/ 59095 h 131501"/>
                <a:gd name="csX36" fmla="*/ 2892 w 156391"/>
                <a:gd name="csY36" fmla="*/ 64754 h 131501"/>
                <a:gd name="csX37" fmla="*/ 5014 w 156391"/>
                <a:gd name="csY37" fmla="*/ 70091 h 131501"/>
                <a:gd name="csX38" fmla="*/ 7264 w 156391"/>
                <a:gd name="csY38" fmla="*/ 75171 h 131501"/>
                <a:gd name="csX39" fmla="*/ 9192 w 156391"/>
                <a:gd name="csY39" fmla="*/ 80123 h 131501"/>
                <a:gd name="csX40" fmla="*/ 10799 w 156391"/>
                <a:gd name="csY40" fmla="*/ 85138 h 131501"/>
                <a:gd name="csX41" fmla="*/ 12149 w 156391"/>
                <a:gd name="csY41" fmla="*/ 90347 h 131501"/>
                <a:gd name="csX42" fmla="*/ 13370 w 156391"/>
                <a:gd name="csY42" fmla="*/ 95812 h 131501"/>
                <a:gd name="csX43" fmla="*/ 14784 w 156391"/>
                <a:gd name="csY43" fmla="*/ 101536 h 131501"/>
                <a:gd name="csX44" fmla="*/ 16777 w 156391"/>
                <a:gd name="csY44" fmla="*/ 107387 h 131501"/>
                <a:gd name="csX45" fmla="*/ 19605 w 156391"/>
                <a:gd name="csY45" fmla="*/ 113110 h 131501"/>
                <a:gd name="csX46" fmla="*/ 23398 w 156391"/>
                <a:gd name="csY46" fmla="*/ 118383 h 131501"/>
                <a:gd name="csX47" fmla="*/ 28283 w 156391"/>
                <a:gd name="csY47" fmla="*/ 123013 h 131501"/>
                <a:gd name="csX48" fmla="*/ 34068 w 156391"/>
                <a:gd name="csY48" fmla="*/ 126678 h 131501"/>
                <a:gd name="csX49" fmla="*/ 40624 w 156391"/>
                <a:gd name="csY49" fmla="*/ 129315 h 131501"/>
                <a:gd name="csX50" fmla="*/ 47567 w 156391"/>
                <a:gd name="csY50" fmla="*/ 130858 h 131501"/>
                <a:gd name="csX51" fmla="*/ 54638 w 156391"/>
                <a:gd name="csY51" fmla="*/ 131501 h 131501"/>
                <a:gd name="csX52" fmla="*/ 61708 w 156391"/>
                <a:gd name="csY52" fmla="*/ 131501 h 131501"/>
                <a:gd name="csX53" fmla="*/ 68586 w 156391"/>
                <a:gd name="csY53" fmla="*/ 130922 h 131501"/>
                <a:gd name="csX54" fmla="*/ 75271 w 156391"/>
                <a:gd name="csY54" fmla="*/ 130151 h 131501"/>
                <a:gd name="csX55" fmla="*/ 81764 w 156391"/>
                <a:gd name="csY55" fmla="*/ 129122 h 131501"/>
                <a:gd name="csX56" fmla="*/ 88127 w 156391"/>
                <a:gd name="csY56" fmla="*/ 127964 h 131501"/>
                <a:gd name="csX57" fmla="*/ 94362 w 156391"/>
                <a:gd name="csY57" fmla="*/ 126614 h 131501"/>
                <a:gd name="csX58" fmla="*/ 100469 w 156391"/>
                <a:gd name="csY58" fmla="*/ 124942 h 131501"/>
                <a:gd name="csX59" fmla="*/ 106382 w 156391"/>
                <a:gd name="csY59" fmla="*/ 122756 h 131501"/>
                <a:gd name="csX60" fmla="*/ 111975 w 156391"/>
                <a:gd name="csY60" fmla="*/ 119926 h 131501"/>
                <a:gd name="csX61" fmla="*/ 116989 w 156391"/>
                <a:gd name="csY61" fmla="*/ 116518 h 131501"/>
                <a:gd name="csX62" fmla="*/ 121424 w 156391"/>
                <a:gd name="csY62" fmla="*/ 112531 h 131501"/>
                <a:gd name="csX63" fmla="*/ 125216 w 156391"/>
                <a:gd name="csY63" fmla="*/ 108159 h 131501"/>
                <a:gd name="csX64" fmla="*/ 128430 w 156391"/>
                <a:gd name="csY64" fmla="*/ 103465 h 131501"/>
                <a:gd name="csX65" fmla="*/ 131194 w 156391"/>
                <a:gd name="csY65" fmla="*/ 98771 h 131501"/>
                <a:gd name="csX66" fmla="*/ 133830 w 156391"/>
                <a:gd name="csY66" fmla="*/ 94076 h 131501"/>
                <a:gd name="csX67" fmla="*/ 136465 w 156391"/>
                <a:gd name="csY67" fmla="*/ 89511 h 131501"/>
                <a:gd name="csX68" fmla="*/ 139422 w 156391"/>
                <a:gd name="csY68" fmla="*/ 85010 h 131501"/>
                <a:gd name="csX69" fmla="*/ 142636 w 156391"/>
                <a:gd name="csY69" fmla="*/ 80444 h 131501"/>
                <a:gd name="csX70" fmla="*/ 146107 w 156391"/>
                <a:gd name="csY70" fmla="*/ 75621 h 131501"/>
                <a:gd name="csX71" fmla="*/ 149643 w 156391"/>
                <a:gd name="csY71" fmla="*/ 70413 h 131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156391" h="131501">
                  <a:moveTo>
                    <a:pt x="152792" y="64754"/>
                  </a:moveTo>
                  <a:lnTo>
                    <a:pt x="155171" y="58709"/>
                  </a:lnTo>
                  <a:lnTo>
                    <a:pt x="156392" y="52343"/>
                  </a:lnTo>
                  <a:lnTo>
                    <a:pt x="156199" y="45913"/>
                  </a:lnTo>
                  <a:lnTo>
                    <a:pt x="154399" y="39740"/>
                  </a:lnTo>
                  <a:lnTo>
                    <a:pt x="151121" y="34081"/>
                  </a:lnTo>
                  <a:lnTo>
                    <a:pt x="146557" y="29001"/>
                  </a:lnTo>
                  <a:lnTo>
                    <a:pt x="141029" y="24757"/>
                  </a:lnTo>
                  <a:lnTo>
                    <a:pt x="134987" y="21220"/>
                  </a:lnTo>
                  <a:lnTo>
                    <a:pt x="128752" y="18327"/>
                  </a:lnTo>
                  <a:lnTo>
                    <a:pt x="122645" y="15754"/>
                  </a:lnTo>
                  <a:lnTo>
                    <a:pt x="116667" y="13375"/>
                  </a:lnTo>
                  <a:lnTo>
                    <a:pt x="111011" y="11060"/>
                  </a:lnTo>
                  <a:lnTo>
                    <a:pt x="105418" y="8617"/>
                  </a:lnTo>
                  <a:lnTo>
                    <a:pt x="99826" y="6237"/>
                  </a:lnTo>
                  <a:lnTo>
                    <a:pt x="94041" y="3923"/>
                  </a:lnTo>
                  <a:lnTo>
                    <a:pt x="87999" y="1993"/>
                  </a:lnTo>
                  <a:lnTo>
                    <a:pt x="81764" y="643"/>
                  </a:lnTo>
                  <a:lnTo>
                    <a:pt x="75271" y="0"/>
                  </a:lnTo>
                  <a:lnTo>
                    <a:pt x="68779" y="129"/>
                  </a:lnTo>
                  <a:lnTo>
                    <a:pt x="62351" y="1157"/>
                  </a:lnTo>
                  <a:lnTo>
                    <a:pt x="56180" y="2829"/>
                  </a:lnTo>
                  <a:lnTo>
                    <a:pt x="50202" y="4952"/>
                  </a:lnTo>
                  <a:lnTo>
                    <a:pt x="44481" y="7459"/>
                  </a:lnTo>
                  <a:lnTo>
                    <a:pt x="38953" y="10160"/>
                  </a:lnTo>
                  <a:lnTo>
                    <a:pt x="33490" y="12925"/>
                  </a:lnTo>
                  <a:lnTo>
                    <a:pt x="27962" y="15819"/>
                  </a:lnTo>
                  <a:lnTo>
                    <a:pt x="22433" y="18841"/>
                  </a:lnTo>
                  <a:lnTo>
                    <a:pt x="16970" y="22313"/>
                  </a:lnTo>
                  <a:lnTo>
                    <a:pt x="11892" y="26236"/>
                  </a:lnTo>
                  <a:lnTo>
                    <a:pt x="7392" y="30737"/>
                  </a:lnTo>
                  <a:lnTo>
                    <a:pt x="3728" y="35817"/>
                  </a:lnTo>
                  <a:lnTo>
                    <a:pt x="1221" y="41347"/>
                  </a:lnTo>
                  <a:lnTo>
                    <a:pt x="0" y="47263"/>
                  </a:lnTo>
                  <a:lnTo>
                    <a:pt x="0" y="53243"/>
                  </a:lnTo>
                  <a:lnTo>
                    <a:pt x="1093" y="59095"/>
                  </a:lnTo>
                  <a:lnTo>
                    <a:pt x="2892" y="64754"/>
                  </a:lnTo>
                  <a:lnTo>
                    <a:pt x="5014" y="70091"/>
                  </a:lnTo>
                  <a:lnTo>
                    <a:pt x="7264" y="75171"/>
                  </a:lnTo>
                  <a:lnTo>
                    <a:pt x="9192" y="80123"/>
                  </a:lnTo>
                  <a:lnTo>
                    <a:pt x="10799" y="85138"/>
                  </a:lnTo>
                  <a:lnTo>
                    <a:pt x="12149" y="90347"/>
                  </a:lnTo>
                  <a:lnTo>
                    <a:pt x="13370" y="95812"/>
                  </a:lnTo>
                  <a:lnTo>
                    <a:pt x="14784" y="101536"/>
                  </a:lnTo>
                  <a:lnTo>
                    <a:pt x="16777" y="107387"/>
                  </a:lnTo>
                  <a:lnTo>
                    <a:pt x="19605" y="113110"/>
                  </a:lnTo>
                  <a:lnTo>
                    <a:pt x="23398" y="118383"/>
                  </a:lnTo>
                  <a:lnTo>
                    <a:pt x="28283" y="123013"/>
                  </a:lnTo>
                  <a:lnTo>
                    <a:pt x="34068" y="126678"/>
                  </a:lnTo>
                  <a:lnTo>
                    <a:pt x="40624" y="129315"/>
                  </a:lnTo>
                  <a:lnTo>
                    <a:pt x="47567" y="130858"/>
                  </a:lnTo>
                  <a:lnTo>
                    <a:pt x="54638" y="131501"/>
                  </a:lnTo>
                  <a:lnTo>
                    <a:pt x="61708" y="131501"/>
                  </a:lnTo>
                  <a:lnTo>
                    <a:pt x="68586" y="130922"/>
                  </a:lnTo>
                  <a:lnTo>
                    <a:pt x="75271" y="130151"/>
                  </a:lnTo>
                  <a:lnTo>
                    <a:pt x="81764" y="129122"/>
                  </a:lnTo>
                  <a:lnTo>
                    <a:pt x="88127" y="127964"/>
                  </a:lnTo>
                  <a:lnTo>
                    <a:pt x="94362" y="126614"/>
                  </a:lnTo>
                  <a:lnTo>
                    <a:pt x="100469" y="124942"/>
                  </a:lnTo>
                  <a:lnTo>
                    <a:pt x="106382" y="122756"/>
                  </a:lnTo>
                  <a:lnTo>
                    <a:pt x="111975" y="119926"/>
                  </a:lnTo>
                  <a:lnTo>
                    <a:pt x="116989" y="116518"/>
                  </a:lnTo>
                  <a:lnTo>
                    <a:pt x="121424" y="112531"/>
                  </a:lnTo>
                  <a:lnTo>
                    <a:pt x="125216" y="108159"/>
                  </a:lnTo>
                  <a:lnTo>
                    <a:pt x="128430" y="103465"/>
                  </a:lnTo>
                  <a:lnTo>
                    <a:pt x="131194" y="98771"/>
                  </a:lnTo>
                  <a:lnTo>
                    <a:pt x="133830" y="94076"/>
                  </a:lnTo>
                  <a:lnTo>
                    <a:pt x="136465" y="89511"/>
                  </a:lnTo>
                  <a:lnTo>
                    <a:pt x="139422" y="85010"/>
                  </a:lnTo>
                  <a:lnTo>
                    <a:pt x="142636" y="80444"/>
                  </a:lnTo>
                  <a:lnTo>
                    <a:pt x="146107" y="75621"/>
                  </a:lnTo>
                  <a:lnTo>
                    <a:pt x="149643" y="70413"/>
                  </a:lnTo>
                  <a:close/>
                </a:path>
              </a:pathLst>
            </a:custGeom>
            <a:solidFill>
              <a:srgbClr val="8A6FC0"/>
            </a:solidFill>
            <a:ln w="6425" cap="flat">
              <a:solidFill>
                <a:srgbClr val="5F4A9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" name="Freeform 194">
              <a:extLst>
                <a:ext uri="{FF2B5EF4-FFF2-40B4-BE49-F238E27FC236}">
                  <a16:creationId xmlns:a16="http://schemas.microsoft.com/office/drawing/2014/main" id="{E3415618-61C9-0EF4-A2D6-53C858E1E1A6}"/>
                </a:ext>
              </a:extLst>
            </p:cNvPr>
            <p:cNvSpPr/>
            <p:nvPr/>
          </p:nvSpPr>
          <p:spPr>
            <a:xfrm>
              <a:off x="3376775" y="2292684"/>
              <a:ext cx="4082" cy="118833"/>
            </a:xfrm>
            <a:custGeom>
              <a:avLst/>
              <a:gdLst>
                <a:gd name="csX0" fmla="*/ 2041 w 4082"/>
                <a:gd name="csY0" fmla="*/ 0 h 118833"/>
                <a:gd name="csX1" fmla="*/ 2041 w 4082"/>
                <a:gd name="csY1" fmla="*/ 118833 h 118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082" h="118833">
                  <a:moveTo>
                    <a:pt x="2041" y="0"/>
                  </a:moveTo>
                  <a:cubicBezTo>
                    <a:pt x="9112" y="39611"/>
                    <a:pt x="-5030" y="82051"/>
                    <a:pt x="2041" y="118833"/>
                  </a:cubicBezTo>
                </a:path>
              </a:pathLst>
            </a:custGeom>
            <a:noFill/>
            <a:ln w="5462" cap="rnd">
              <a:solidFill>
                <a:srgbClr val="FFFFFF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" name="Freeform 195">
              <a:extLst>
                <a:ext uri="{FF2B5EF4-FFF2-40B4-BE49-F238E27FC236}">
                  <a16:creationId xmlns:a16="http://schemas.microsoft.com/office/drawing/2014/main" id="{75107FBA-AAD0-9AB5-7E88-575FC5264579}"/>
                </a:ext>
              </a:extLst>
            </p:cNvPr>
            <p:cNvSpPr/>
            <p:nvPr/>
          </p:nvSpPr>
          <p:spPr>
            <a:xfrm>
              <a:off x="3323664" y="2325222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1" y="-1886"/>
                    <a:pt x="21212" y="-1886"/>
                    <a:pt x="21212" y="5659"/>
                  </a:cubicBezTo>
                  <a:cubicBezTo>
                    <a:pt x="21212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Freeform 196">
              <a:extLst>
                <a:ext uri="{FF2B5EF4-FFF2-40B4-BE49-F238E27FC236}">
                  <a16:creationId xmlns:a16="http://schemas.microsoft.com/office/drawing/2014/main" id="{CDE8F3E2-1001-49FF-0096-5016B1883854}"/>
                </a:ext>
              </a:extLst>
            </p:cNvPr>
            <p:cNvSpPr/>
            <p:nvPr/>
          </p:nvSpPr>
          <p:spPr>
            <a:xfrm>
              <a:off x="3327907" y="2364125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8" name="Freeform 197">
              <a:extLst>
                <a:ext uri="{FF2B5EF4-FFF2-40B4-BE49-F238E27FC236}">
                  <a16:creationId xmlns:a16="http://schemas.microsoft.com/office/drawing/2014/main" id="{3D3159D0-AA27-FA5E-0344-10CE937F5A17}"/>
                </a:ext>
              </a:extLst>
            </p:cNvPr>
            <p:cNvSpPr/>
            <p:nvPr/>
          </p:nvSpPr>
          <p:spPr>
            <a:xfrm>
              <a:off x="3391543" y="2326636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1" y="-1886"/>
                    <a:pt x="21212" y="-1886"/>
                    <a:pt x="21212" y="5659"/>
                  </a:cubicBezTo>
                  <a:cubicBezTo>
                    <a:pt x="21212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9" name="Freeform 198">
              <a:extLst>
                <a:ext uri="{FF2B5EF4-FFF2-40B4-BE49-F238E27FC236}">
                  <a16:creationId xmlns:a16="http://schemas.microsoft.com/office/drawing/2014/main" id="{F8AF1837-1AF8-D742-8AFD-882DB5E9B6BE}"/>
                </a:ext>
              </a:extLst>
            </p:cNvPr>
            <p:cNvSpPr/>
            <p:nvPr/>
          </p:nvSpPr>
          <p:spPr>
            <a:xfrm>
              <a:off x="3392958" y="2365540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0" name="TextBox 199">
            <a:extLst>
              <a:ext uri="{FF2B5EF4-FFF2-40B4-BE49-F238E27FC236}">
                <a16:creationId xmlns:a16="http://schemas.microsoft.com/office/drawing/2014/main" id="{33CD4DD2-F502-B0B9-3E35-3CD0F292703F}"/>
              </a:ext>
            </a:extLst>
          </p:cNvPr>
          <p:cNvSpPr txBox="1"/>
          <p:nvPr/>
        </p:nvSpPr>
        <p:spPr>
          <a:xfrm>
            <a:off x="3441647" y="2210134"/>
            <a:ext cx="1404351" cy="187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b="1" spc="0" baseline="0">
                <a:ln/>
                <a:solidFill>
                  <a:srgbClr val="22314A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Autonomic — skin conductance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3AC15EF0-B68F-2B70-B37D-B899F15AC2A6}"/>
              </a:ext>
            </a:extLst>
          </p:cNvPr>
          <p:cNvSpPr txBox="1"/>
          <p:nvPr/>
        </p:nvSpPr>
        <p:spPr>
          <a:xfrm>
            <a:off x="3441647" y="2330128"/>
            <a:ext cx="733054" cy="174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25" i="1" spc="0" baseline="0">
                <a:ln/>
                <a:solidFill>
                  <a:srgbClr val="7C8598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Eisenbarth · 2016</a:t>
            </a:r>
          </a:p>
        </p:txBody>
      </p:sp>
      <p:sp>
        <p:nvSpPr>
          <p:cNvPr id="202" name="Freeform 201">
            <a:extLst>
              <a:ext uri="{FF2B5EF4-FFF2-40B4-BE49-F238E27FC236}">
                <a16:creationId xmlns:a16="http://schemas.microsoft.com/office/drawing/2014/main" id="{3AD8D50D-1E8C-62C9-52D1-8713C983B320}"/>
              </a:ext>
            </a:extLst>
          </p:cNvPr>
          <p:cNvSpPr/>
          <p:nvPr/>
        </p:nvSpPr>
        <p:spPr>
          <a:xfrm>
            <a:off x="3083130" y="2089870"/>
            <a:ext cx="128558" cy="623745"/>
          </a:xfrm>
          <a:custGeom>
            <a:avLst/>
            <a:gdLst>
              <a:gd name="csX0" fmla="*/ 0 w 128558"/>
              <a:gd name="csY0" fmla="*/ 0 h 623745"/>
              <a:gd name="csX1" fmla="*/ 128559 w 128558"/>
              <a:gd name="csY1" fmla="*/ 623746 h 62374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8558" h="623745">
                <a:moveTo>
                  <a:pt x="0" y="0"/>
                </a:moveTo>
                <a:cubicBezTo>
                  <a:pt x="0" y="623746"/>
                  <a:pt x="64279" y="623746"/>
                  <a:pt x="128559" y="623746"/>
                </a:cubicBezTo>
              </a:path>
            </a:pathLst>
          </a:custGeom>
          <a:noFill/>
          <a:ln w="12851" cap="flat">
            <a:solidFill>
              <a:srgbClr val="8A6FC0">
                <a:alpha val="4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3" name="Rounded Rectangle 202">
            <a:extLst>
              <a:ext uri="{FF2B5EF4-FFF2-40B4-BE49-F238E27FC236}">
                <a16:creationId xmlns:a16="http://schemas.microsoft.com/office/drawing/2014/main" id="{B4EC4B61-C971-DBB3-BACC-CE551248C837}"/>
              </a:ext>
            </a:extLst>
          </p:cNvPr>
          <p:cNvSpPr/>
          <p:nvPr/>
        </p:nvSpPr>
        <p:spPr>
          <a:xfrm>
            <a:off x="3211689" y="2559287"/>
            <a:ext cx="1722690" cy="308657"/>
          </a:xfrm>
          <a:prstGeom prst="roundRect">
            <a:avLst>
              <a:gd name="adj" fmla="val 24990"/>
            </a:avLst>
          </a:prstGeom>
          <a:solidFill>
            <a:srgbClr val="FFFFFF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4" name="Rounded Rectangle 203">
            <a:extLst>
              <a:ext uri="{FF2B5EF4-FFF2-40B4-BE49-F238E27FC236}">
                <a16:creationId xmlns:a16="http://schemas.microsoft.com/office/drawing/2014/main" id="{E145FF9A-B36E-0D67-E97B-76DCF24A96A1}"/>
              </a:ext>
            </a:extLst>
          </p:cNvPr>
          <p:cNvSpPr/>
          <p:nvPr/>
        </p:nvSpPr>
        <p:spPr>
          <a:xfrm>
            <a:off x="3211689" y="2559287"/>
            <a:ext cx="32139" cy="308657"/>
          </a:xfrm>
          <a:prstGeom prst="roundRect">
            <a:avLst>
              <a:gd name="adj" fmla="val 50000"/>
            </a:avLst>
          </a:prstGeom>
          <a:solidFill>
            <a:srgbClr val="8A6FC0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4C4B8FC5-D066-2E22-0429-1F5FD28F12EB}"/>
              </a:ext>
            </a:extLst>
          </p:cNvPr>
          <p:cNvSpPr/>
          <p:nvPr/>
        </p:nvSpPr>
        <p:spPr>
          <a:xfrm>
            <a:off x="3282397" y="2617160"/>
            <a:ext cx="192838" cy="192911"/>
          </a:xfrm>
          <a:prstGeom prst="ellipse">
            <a:avLst/>
          </a:prstGeom>
          <a:solidFill>
            <a:srgbClr val="EEEAF7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206" name="Graphic 2">
            <a:extLst>
              <a:ext uri="{FF2B5EF4-FFF2-40B4-BE49-F238E27FC236}">
                <a16:creationId xmlns:a16="http://schemas.microsoft.com/office/drawing/2014/main" id="{A9B44FC9-A133-3BE4-1AA6-4230FAF0C0D9}"/>
              </a:ext>
            </a:extLst>
          </p:cNvPr>
          <p:cNvGrpSpPr/>
          <p:nvPr/>
        </p:nvGrpSpPr>
        <p:grpSpPr>
          <a:xfrm>
            <a:off x="3303545" y="2648862"/>
            <a:ext cx="156391" cy="131501"/>
            <a:chOff x="3303545" y="2648862"/>
            <a:chExt cx="156391" cy="131501"/>
          </a:xfrm>
        </p:grpSpPr>
        <p:sp>
          <p:nvSpPr>
            <p:cNvPr id="207" name="Freeform 206">
              <a:extLst>
                <a:ext uri="{FF2B5EF4-FFF2-40B4-BE49-F238E27FC236}">
                  <a16:creationId xmlns:a16="http://schemas.microsoft.com/office/drawing/2014/main" id="{8844A71C-AAB8-837B-9F8E-3AB2B9E452AF}"/>
                </a:ext>
              </a:extLst>
            </p:cNvPr>
            <p:cNvSpPr/>
            <p:nvPr/>
          </p:nvSpPr>
          <p:spPr>
            <a:xfrm>
              <a:off x="3303545" y="2648862"/>
              <a:ext cx="156391" cy="131501"/>
            </a:xfrm>
            <a:custGeom>
              <a:avLst/>
              <a:gdLst>
                <a:gd name="csX0" fmla="*/ 152792 w 156391"/>
                <a:gd name="csY0" fmla="*/ 64754 h 131501"/>
                <a:gd name="csX1" fmla="*/ 155171 w 156391"/>
                <a:gd name="csY1" fmla="*/ 58709 h 131501"/>
                <a:gd name="csX2" fmla="*/ 156392 w 156391"/>
                <a:gd name="csY2" fmla="*/ 52343 h 131501"/>
                <a:gd name="csX3" fmla="*/ 156199 w 156391"/>
                <a:gd name="csY3" fmla="*/ 45913 h 131501"/>
                <a:gd name="csX4" fmla="*/ 154399 w 156391"/>
                <a:gd name="csY4" fmla="*/ 39740 h 131501"/>
                <a:gd name="csX5" fmla="*/ 151121 w 156391"/>
                <a:gd name="csY5" fmla="*/ 34081 h 131501"/>
                <a:gd name="csX6" fmla="*/ 146557 w 156391"/>
                <a:gd name="csY6" fmla="*/ 29001 h 131501"/>
                <a:gd name="csX7" fmla="*/ 141029 w 156391"/>
                <a:gd name="csY7" fmla="*/ 24757 h 131501"/>
                <a:gd name="csX8" fmla="*/ 134987 w 156391"/>
                <a:gd name="csY8" fmla="*/ 21220 h 131501"/>
                <a:gd name="csX9" fmla="*/ 128752 w 156391"/>
                <a:gd name="csY9" fmla="*/ 18327 h 131501"/>
                <a:gd name="csX10" fmla="*/ 122645 w 156391"/>
                <a:gd name="csY10" fmla="*/ 15754 h 131501"/>
                <a:gd name="csX11" fmla="*/ 116667 w 156391"/>
                <a:gd name="csY11" fmla="*/ 13375 h 131501"/>
                <a:gd name="csX12" fmla="*/ 111011 w 156391"/>
                <a:gd name="csY12" fmla="*/ 11060 h 131501"/>
                <a:gd name="csX13" fmla="*/ 105418 w 156391"/>
                <a:gd name="csY13" fmla="*/ 8617 h 131501"/>
                <a:gd name="csX14" fmla="*/ 99826 w 156391"/>
                <a:gd name="csY14" fmla="*/ 6237 h 131501"/>
                <a:gd name="csX15" fmla="*/ 94041 w 156391"/>
                <a:gd name="csY15" fmla="*/ 3923 h 131501"/>
                <a:gd name="csX16" fmla="*/ 87999 w 156391"/>
                <a:gd name="csY16" fmla="*/ 1993 h 131501"/>
                <a:gd name="csX17" fmla="*/ 81764 w 156391"/>
                <a:gd name="csY17" fmla="*/ 643 h 131501"/>
                <a:gd name="csX18" fmla="*/ 75271 w 156391"/>
                <a:gd name="csY18" fmla="*/ 0 h 131501"/>
                <a:gd name="csX19" fmla="*/ 68779 w 156391"/>
                <a:gd name="csY19" fmla="*/ 129 h 131501"/>
                <a:gd name="csX20" fmla="*/ 62351 w 156391"/>
                <a:gd name="csY20" fmla="*/ 1157 h 131501"/>
                <a:gd name="csX21" fmla="*/ 56180 w 156391"/>
                <a:gd name="csY21" fmla="*/ 2829 h 131501"/>
                <a:gd name="csX22" fmla="*/ 50202 w 156391"/>
                <a:gd name="csY22" fmla="*/ 4952 h 131501"/>
                <a:gd name="csX23" fmla="*/ 44481 w 156391"/>
                <a:gd name="csY23" fmla="*/ 7459 h 131501"/>
                <a:gd name="csX24" fmla="*/ 38953 w 156391"/>
                <a:gd name="csY24" fmla="*/ 10160 h 131501"/>
                <a:gd name="csX25" fmla="*/ 33490 w 156391"/>
                <a:gd name="csY25" fmla="*/ 12925 h 131501"/>
                <a:gd name="csX26" fmla="*/ 27962 w 156391"/>
                <a:gd name="csY26" fmla="*/ 15819 h 131501"/>
                <a:gd name="csX27" fmla="*/ 22433 w 156391"/>
                <a:gd name="csY27" fmla="*/ 18841 h 131501"/>
                <a:gd name="csX28" fmla="*/ 16970 w 156391"/>
                <a:gd name="csY28" fmla="*/ 22313 h 131501"/>
                <a:gd name="csX29" fmla="*/ 11892 w 156391"/>
                <a:gd name="csY29" fmla="*/ 26236 h 131501"/>
                <a:gd name="csX30" fmla="*/ 7392 w 156391"/>
                <a:gd name="csY30" fmla="*/ 30737 h 131501"/>
                <a:gd name="csX31" fmla="*/ 3728 w 156391"/>
                <a:gd name="csY31" fmla="*/ 35817 h 131501"/>
                <a:gd name="csX32" fmla="*/ 1221 w 156391"/>
                <a:gd name="csY32" fmla="*/ 41347 h 131501"/>
                <a:gd name="csX33" fmla="*/ 0 w 156391"/>
                <a:gd name="csY33" fmla="*/ 47263 h 131501"/>
                <a:gd name="csX34" fmla="*/ 0 w 156391"/>
                <a:gd name="csY34" fmla="*/ 53243 h 131501"/>
                <a:gd name="csX35" fmla="*/ 1093 w 156391"/>
                <a:gd name="csY35" fmla="*/ 59095 h 131501"/>
                <a:gd name="csX36" fmla="*/ 2892 w 156391"/>
                <a:gd name="csY36" fmla="*/ 64754 h 131501"/>
                <a:gd name="csX37" fmla="*/ 5014 w 156391"/>
                <a:gd name="csY37" fmla="*/ 70091 h 131501"/>
                <a:gd name="csX38" fmla="*/ 7264 w 156391"/>
                <a:gd name="csY38" fmla="*/ 75171 h 131501"/>
                <a:gd name="csX39" fmla="*/ 9192 w 156391"/>
                <a:gd name="csY39" fmla="*/ 80123 h 131501"/>
                <a:gd name="csX40" fmla="*/ 10799 w 156391"/>
                <a:gd name="csY40" fmla="*/ 85138 h 131501"/>
                <a:gd name="csX41" fmla="*/ 12149 w 156391"/>
                <a:gd name="csY41" fmla="*/ 90347 h 131501"/>
                <a:gd name="csX42" fmla="*/ 13370 w 156391"/>
                <a:gd name="csY42" fmla="*/ 95812 h 131501"/>
                <a:gd name="csX43" fmla="*/ 14784 w 156391"/>
                <a:gd name="csY43" fmla="*/ 101536 h 131501"/>
                <a:gd name="csX44" fmla="*/ 16777 w 156391"/>
                <a:gd name="csY44" fmla="*/ 107387 h 131501"/>
                <a:gd name="csX45" fmla="*/ 19605 w 156391"/>
                <a:gd name="csY45" fmla="*/ 113110 h 131501"/>
                <a:gd name="csX46" fmla="*/ 23398 w 156391"/>
                <a:gd name="csY46" fmla="*/ 118383 h 131501"/>
                <a:gd name="csX47" fmla="*/ 28283 w 156391"/>
                <a:gd name="csY47" fmla="*/ 123013 h 131501"/>
                <a:gd name="csX48" fmla="*/ 34068 w 156391"/>
                <a:gd name="csY48" fmla="*/ 126678 h 131501"/>
                <a:gd name="csX49" fmla="*/ 40624 w 156391"/>
                <a:gd name="csY49" fmla="*/ 129315 h 131501"/>
                <a:gd name="csX50" fmla="*/ 47567 w 156391"/>
                <a:gd name="csY50" fmla="*/ 130858 h 131501"/>
                <a:gd name="csX51" fmla="*/ 54638 w 156391"/>
                <a:gd name="csY51" fmla="*/ 131501 h 131501"/>
                <a:gd name="csX52" fmla="*/ 61708 w 156391"/>
                <a:gd name="csY52" fmla="*/ 131501 h 131501"/>
                <a:gd name="csX53" fmla="*/ 68586 w 156391"/>
                <a:gd name="csY53" fmla="*/ 130922 h 131501"/>
                <a:gd name="csX54" fmla="*/ 75271 w 156391"/>
                <a:gd name="csY54" fmla="*/ 130151 h 131501"/>
                <a:gd name="csX55" fmla="*/ 81764 w 156391"/>
                <a:gd name="csY55" fmla="*/ 129122 h 131501"/>
                <a:gd name="csX56" fmla="*/ 88127 w 156391"/>
                <a:gd name="csY56" fmla="*/ 127964 h 131501"/>
                <a:gd name="csX57" fmla="*/ 94362 w 156391"/>
                <a:gd name="csY57" fmla="*/ 126614 h 131501"/>
                <a:gd name="csX58" fmla="*/ 100469 w 156391"/>
                <a:gd name="csY58" fmla="*/ 124942 h 131501"/>
                <a:gd name="csX59" fmla="*/ 106382 w 156391"/>
                <a:gd name="csY59" fmla="*/ 122756 h 131501"/>
                <a:gd name="csX60" fmla="*/ 111975 w 156391"/>
                <a:gd name="csY60" fmla="*/ 119926 h 131501"/>
                <a:gd name="csX61" fmla="*/ 116989 w 156391"/>
                <a:gd name="csY61" fmla="*/ 116518 h 131501"/>
                <a:gd name="csX62" fmla="*/ 121424 w 156391"/>
                <a:gd name="csY62" fmla="*/ 112531 h 131501"/>
                <a:gd name="csX63" fmla="*/ 125216 w 156391"/>
                <a:gd name="csY63" fmla="*/ 108159 h 131501"/>
                <a:gd name="csX64" fmla="*/ 128430 w 156391"/>
                <a:gd name="csY64" fmla="*/ 103465 h 131501"/>
                <a:gd name="csX65" fmla="*/ 131194 w 156391"/>
                <a:gd name="csY65" fmla="*/ 98771 h 131501"/>
                <a:gd name="csX66" fmla="*/ 133830 w 156391"/>
                <a:gd name="csY66" fmla="*/ 94076 h 131501"/>
                <a:gd name="csX67" fmla="*/ 136465 w 156391"/>
                <a:gd name="csY67" fmla="*/ 89511 h 131501"/>
                <a:gd name="csX68" fmla="*/ 139422 w 156391"/>
                <a:gd name="csY68" fmla="*/ 85010 h 131501"/>
                <a:gd name="csX69" fmla="*/ 142636 w 156391"/>
                <a:gd name="csY69" fmla="*/ 80444 h 131501"/>
                <a:gd name="csX70" fmla="*/ 146107 w 156391"/>
                <a:gd name="csY70" fmla="*/ 75621 h 131501"/>
                <a:gd name="csX71" fmla="*/ 149643 w 156391"/>
                <a:gd name="csY71" fmla="*/ 70413 h 131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156391" h="131501">
                  <a:moveTo>
                    <a:pt x="152792" y="64754"/>
                  </a:moveTo>
                  <a:lnTo>
                    <a:pt x="155171" y="58709"/>
                  </a:lnTo>
                  <a:lnTo>
                    <a:pt x="156392" y="52343"/>
                  </a:lnTo>
                  <a:lnTo>
                    <a:pt x="156199" y="45913"/>
                  </a:lnTo>
                  <a:lnTo>
                    <a:pt x="154399" y="39740"/>
                  </a:lnTo>
                  <a:lnTo>
                    <a:pt x="151121" y="34081"/>
                  </a:lnTo>
                  <a:lnTo>
                    <a:pt x="146557" y="29001"/>
                  </a:lnTo>
                  <a:lnTo>
                    <a:pt x="141029" y="24757"/>
                  </a:lnTo>
                  <a:lnTo>
                    <a:pt x="134987" y="21220"/>
                  </a:lnTo>
                  <a:lnTo>
                    <a:pt x="128752" y="18327"/>
                  </a:lnTo>
                  <a:lnTo>
                    <a:pt x="122645" y="15754"/>
                  </a:lnTo>
                  <a:lnTo>
                    <a:pt x="116667" y="13375"/>
                  </a:lnTo>
                  <a:lnTo>
                    <a:pt x="111011" y="11060"/>
                  </a:lnTo>
                  <a:lnTo>
                    <a:pt x="105418" y="8617"/>
                  </a:lnTo>
                  <a:lnTo>
                    <a:pt x="99826" y="6237"/>
                  </a:lnTo>
                  <a:lnTo>
                    <a:pt x="94041" y="3923"/>
                  </a:lnTo>
                  <a:lnTo>
                    <a:pt x="87999" y="1993"/>
                  </a:lnTo>
                  <a:lnTo>
                    <a:pt x="81764" y="643"/>
                  </a:lnTo>
                  <a:lnTo>
                    <a:pt x="75271" y="0"/>
                  </a:lnTo>
                  <a:lnTo>
                    <a:pt x="68779" y="129"/>
                  </a:lnTo>
                  <a:lnTo>
                    <a:pt x="62351" y="1157"/>
                  </a:lnTo>
                  <a:lnTo>
                    <a:pt x="56180" y="2829"/>
                  </a:lnTo>
                  <a:lnTo>
                    <a:pt x="50202" y="4952"/>
                  </a:lnTo>
                  <a:lnTo>
                    <a:pt x="44481" y="7459"/>
                  </a:lnTo>
                  <a:lnTo>
                    <a:pt x="38953" y="10160"/>
                  </a:lnTo>
                  <a:lnTo>
                    <a:pt x="33490" y="12925"/>
                  </a:lnTo>
                  <a:lnTo>
                    <a:pt x="27962" y="15819"/>
                  </a:lnTo>
                  <a:lnTo>
                    <a:pt x="22433" y="18841"/>
                  </a:lnTo>
                  <a:lnTo>
                    <a:pt x="16970" y="22313"/>
                  </a:lnTo>
                  <a:lnTo>
                    <a:pt x="11892" y="26236"/>
                  </a:lnTo>
                  <a:lnTo>
                    <a:pt x="7392" y="30737"/>
                  </a:lnTo>
                  <a:lnTo>
                    <a:pt x="3728" y="35817"/>
                  </a:lnTo>
                  <a:lnTo>
                    <a:pt x="1221" y="41347"/>
                  </a:lnTo>
                  <a:lnTo>
                    <a:pt x="0" y="47263"/>
                  </a:lnTo>
                  <a:lnTo>
                    <a:pt x="0" y="53243"/>
                  </a:lnTo>
                  <a:lnTo>
                    <a:pt x="1093" y="59095"/>
                  </a:lnTo>
                  <a:lnTo>
                    <a:pt x="2892" y="64754"/>
                  </a:lnTo>
                  <a:lnTo>
                    <a:pt x="5014" y="70091"/>
                  </a:lnTo>
                  <a:lnTo>
                    <a:pt x="7264" y="75171"/>
                  </a:lnTo>
                  <a:lnTo>
                    <a:pt x="9192" y="80123"/>
                  </a:lnTo>
                  <a:lnTo>
                    <a:pt x="10799" y="85138"/>
                  </a:lnTo>
                  <a:lnTo>
                    <a:pt x="12149" y="90347"/>
                  </a:lnTo>
                  <a:lnTo>
                    <a:pt x="13370" y="95812"/>
                  </a:lnTo>
                  <a:lnTo>
                    <a:pt x="14784" y="101536"/>
                  </a:lnTo>
                  <a:lnTo>
                    <a:pt x="16777" y="107387"/>
                  </a:lnTo>
                  <a:lnTo>
                    <a:pt x="19605" y="113110"/>
                  </a:lnTo>
                  <a:lnTo>
                    <a:pt x="23398" y="118383"/>
                  </a:lnTo>
                  <a:lnTo>
                    <a:pt x="28283" y="123013"/>
                  </a:lnTo>
                  <a:lnTo>
                    <a:pt x="34068" y="126678"/>
                  </a:lnTo>
                  <a:lnTo>
                    <a:pt x="40624" y="129315"/>
                  </a:lnTo>
                  <a:lnTo>
                    <a:pt x="47567" y="130858"/>
                  </a:lnTo>
                  <a:lnTo>
                    <a:pt x="54638" y="131501"/>
                  </a:lnTo>
                  <a:lnTo>
                    <a:pt x="61708" y="131501"/>
                  </a:lnTo>
                  <a:lnTo>
                    <a:pt x="68586" y="130922"/>
                  </a:lnTo>
                  <a:lnTo>
                    <a:pt x="75271" y="130151"/>
                  </a:lnTo>
                  <a:lnTo>
                    <a:pt x="81764" y="129122"/>
                  </a:lnTo>
                  <a:lnTo>
                    <a:pt x="88127" y="127964"/>
                  </a:lnTo>
                  <a:lnTo>
                    <a:pt x="94362" y="126614"/>
                  </a:lnTo>
                  <a:lnTo>
                    <a:pt x="100469" y="124942"/>
                  </a:lnTo>
                  <a:lnTo>
                    <a:pt x="106382" y="122756"/>
                  </a:lnTo>
                  <a:lnTo>
                    <a:pt x="111975" y="119926"/>
                  </a:lnTo>
                  <a:lnTo>
                    <a:pt x="116989" y="116518"/>
                  </a:lnTo>
                  <a:lnTo>
                    <a:pt x="121424" y="112531"/>
                  </a:lnTo>
                  <a:lnTo>
                    <a:pt x="125216" y="108159"/>
                  </a:lnTo>
                  <a:lnTo>
                    <a:pt x="128430" y="103465"/>
                  </a:lnTo>
                  <a:lnTo>
                    <a:pt x="131194" y="98771"/>
                  </a:lnTo>
                  <a:lnTo>
                    <a:pt x="133830" y="94076"/>
                  </a:lnTo>
                  <a:lnTo>
                    <a:pt x="136465" y="89511"/>
                  </a:lnTo>
                  <a:lnTo>
                    <a:pt x="139422" y="85010"/>
                  </a:lnTo>
                  <a:lnTo>
                    <a:pt x="142636" y="80444"/>
                  </a:lnTo>
                  <a:lnTo>
                    <a:pt x="146107" y="75621"/>
                  </a:lnTo>
                  <a:lnTo>
                    <a:pt x="149643" y="70413"/>
                  </a:lnTo>
                  <a:close/>
                </a:path>
              </a:pathLst>
            </a:custGeom>
            <a:solidFill>
              <a:srgbClr val="8A6FC0"/>
            </a:solidFill>
            <a:ln w="6425" cap="flat">
              <a:solidFill>
                <a:srgbClr val="5F4A9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8" name="Freeform 207">
              <a:extLst>
                <a:ext uri="{FF2B5EF4-FFF2-40B4-BE49-F238E27FC236}">
                  <a16:creationId xmlns:a16="http://schemas.microsoft.com/office/drawing/2014/main" id="{6E76FA22-2226-4174-EF07-8DAAEAD5199A}"/>
                </a:ext>
              </a:extLst>
            </p:cNvPr>
            <p:cNvSpPr/>
            <p:nvPr/>
          </p:nvSpPr>
          <p:spPr>
            <a:xfrm>
              <a:off x="3376775" y="2652785"/>
              <a:ext cx="4082" cy="118833"/>
            </a:xfrm>
            <a:custGeom>
              <a:avLst/>
              <a:gdLst>
                <a:gd name="csX0" fmla="*/ 2041 w 4082"/>
                <a:gd name="csY0" fmla="*/ 0 h 118833"/>
                <a:gd name="csX1" fmla="*/ 2041 w 4082"/>
                <a:gd name="csY1" fmla="*/ 118833 h 118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082" h="118833">
                  <a:moveTo>
                    <a:pt x="2041" y="0"/>
                  </a:moveTo>
                  <a:cubicBezTo>
                    <a:pt x="9112" y="39611"/>
                    <a:pt x="-5030" y="82051"/>
                    <a:pt x="2041" y="118833"/>
                  </a:cubicBezTo>
                </a:path>
              </a:pathLst>
            </a:custGeom>
            <a:noFill/>
            <a:ln w="5462" cap="rnd">
              <a:solidFill>
                <a:srgbClr val="FFFFFF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9" name="Freeform 208">
              <a:extLst>
                <a:ext uri="{FF2B5EF4-FFF2-40B4-BE49-F238E27FC236}">
                  <a16:creationId xmlns:a16="http://schemas.microsoft.com/office/drawing/2014/main" id="{4F1EF850-665B-1210-704F-7BC334C033CB}"/>
                </a:ext>
              </a:extLst>
            </p:cNvPr>
            <p:cNvSpPr/>
            <p:nvPr/>
          </p:nvSpPr>
          <p:spPr>
            <a:xfrm>
              <a:off x="3323664" y="2685322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1" y="-1886"/>
                    <a:pt x="21212" y="-1886"/>
                    <a:pt x="21212" y="5659"/>
                  </a:cubicBezTo>
                  <a:cubicBezTo>
                    <a:pt x="21212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0" name="Freeform 209">
              <a:extLst>
                <a:ext uri="{FF2B5EF4-FFF2-40B4-BE49-F238E27FC236}">
                  <a16:creationId xmlns:a16="http://schemas.microsoft.com/office/drawing/2014/main" id="{28B362F2-F062-F8FA-866A-FA1DBC36997B}"/>
                </a:ext>
              </a:extLst>
            </p:cNvPr>
            <p:cNvSpPr/>
            <p:nvPr/>
          </p:nvSpPr>
          <p:spPr>
            <a:xfrm>
              <a:off x="3327907" y="2724226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" name="Freeform 210">
              <a:extLst>
                <a:ext uri="{FF2B5EF4-FFF2-40B4-BE49-F238E27FC236}">
                  <a16:creationId xmlns:a16="http://schemas.microsoft.com/office/drawing/2014/main" id="{CA3043DA-AB49-0390-9467-0A8A5D4B7050}"/>
                </a:ext>
              </a:extLst>
            </p:cNvPr>
            <p:cNvSpPr/>
            <p:nvPr/>
          </p:nvSpPr>
          <p:spPr>
            <a:xfrm>
              <a:off x="3391543" y="2686737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1" y="-1886"/>
                    <a:pt x="21212" y="-1886"/>
                    <a:pt x="21212" y="5659"/>
                  </a:cubicBezTo>
                  <a:cubicBezTo>
                    <a:pt x="21212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" name="Freeform 211">
              <a:extLst>
                <a:ext uri="{FF2B5EF4-FFF2-40B4-BE49-F238E27FC236}">
                  <a16:creationId xmlns:a16="http://schemas.microsoft.com/office/drawing/2014/main" id="{14FF4DAE-742A-FDD5-166B-F49960988784}"/>
                </a:ext>
              </a:extLst>
            </p:cNvPr>
            <p:cNvSpPr/>
            <p:nvPr/>
          </p:nvSpPr>
          <p:spPr>
            <a:xfrm>
              <a:off x="3392958" y="2725641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3" name="TextBox 212">
            <a:extLst>
              <a:ext uri="{FF2B5EF4-FFF2-40B4-BE49-F238E27FC236}">
                <a16:creationId xmlns:a16="http://schemas.microsoft.com/office/drawing/2014/main" id="{DED5261E-FD08-415E-9298-DED5C8B20771}"/>
              </a:ext>
            </a:extLst>
          </p:cNvPr>
          <p:cNvSpPr txBox="1"/>
          <p:nvPr/>
        </p:nvSpPr>
        <p:spPr>
          <a:xfrm>
            <a:off x="3441647" y="2570235"/>
            <a:ext cx="1097898" cy="187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b="1" spc="0" baseline="0">
                <a:ln/>
                <a:solidFill>
                  <a:srgbClr val="22314A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Autonomic — heart rate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621DB7BA-D4FB-7A11-D5E6-08D7E62DB550}"/>
              </a:ext>
            </a:extLst>
          </p:cNvPr>
          <p:cNvSpPr txBox="1"/>
          <p:nvPr/>
        </p:nvSpPr>
        <p:spPr>
          <a:xfrm>
            <a:off x="3441647" y="2690229"/>
            <a:ext cx="733054" cy="174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25" i="1" spc="0" baseline="0">
                <a:ln/>
                <a:solidFill>
                  <a:srgbClr val="7C8598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Eisenbarth · 2016</a:t>
            </a:r>
          </a:p>
        </p:txBody>
      </p:sp>
      <p:sp>
        <p:nvSpPr>
          <p:cNvPr id="215" name="Freeform 214">
            <a:extLst>
              <a:ext uri="{FF2B5EF4-FFF2-40B4-BE49-F238E27FC236}">
                <a16:creationId xmlns:a16="http://schemas.microsoft.com/office/drawing/2014/main" id="{800A0D42-F2C8-53CE-A6CE-7B31EF8D7BD3}"/>
              </a:ext>
            </a:extLst>
          </p:cNvPr>
          <p:cNvSpPr/>
          <p:nvPr/>
        </p:nvSpPr>
        <p:spPr>
          <a:xfrm>
            <a:off x="3083130" y="2089870"/>
            <a:ext cx="128558" cy="983846"/>
          </a:xfrm>
          <a:custGeom>
            <a:avLst/>
            <a:gdLst>
              <a:gd name="csX0" fmla="*/ 0 w 128558"/>
              <a:gd name="csY0" fmla="*/ 0 h 983846"/>
              <a:gd name="csX1" fmla="*/ 128559 w 128558"/>
              <a:gd name="csY1" fmla="*/ 983847 h 98384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8558" h="983846">
                <a:moveTo>
                  <a:pt x="0" y="0"/>
                </a:moveTo>
                <a:cubicBezTo>
                  <a:pt x="0" y="983847"/>
                  <a:pt x="64279" y="983847"/>
                  <a:pt x="128559" y="983847"/>
                </a:cubicBezTo>
              </a:path>
            </a:pathLst>
          </a:custGeom>
          <a:noFill/>
          <a:ln w="12851" cap="flat">
            <a:solidFill>
              <a:srgbClr val="8A6FC0">
                <a:alpha val="4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6" name="Rounded Rectangle 215">
            <a:extLst>
              <a:ext uri="{FF2B5EF4-FFF2-40B4-BE49-F238E27FC236}">
                <a16:creationId xmlns:a16="http://schemas.microsoft.com/office/drawing/2014/main" id="{4E19254E-2493-C5E1-9A3E-66C1D3D46233}"/>
              </a:ext>
            </a:extLst>
          </p:cNvPr>
          <p:cNvSpPr/>
          <p:nvPr/>
        </p:nvSpPr>
        <p:spPr>
          <a:xfrm>
            <a:off x="3211689" y="2919388"/>
            <a:ext cx="1722690" cy="308657"/>
          </a:xfrm>
          <a:prstGeom prst="roundRect">
            <a:avLst>
              <a:gd name="adj" fmla="val 24990"/>
            </a:avLst>
          </a:prstGeom>
          <a:solidFill>
            <a:srgbClr val="FFFFFF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7" name="Rounded Rectangle 216">
            <a:extLst>
              <a:ext uri="{FF2B5EF4-FFF2-40B4-BE49-F238E27FC236}">
                <a16:creationId xmlns:a16="http://schemas.microsoft.com/office/drawing/2014/main" id="{15053B71-FB76-C72E-E2DE-19FFBA636C85}"/>
              </a:ext>
            </a:extLst>
          </p:cNvPr>
          <p:cNvSpPr/>
          <p:nvPr/>
        </p:nvSpPr>
        <p:spPr>
          <a:xfrm>
            <a:off x="3211689" y="2919388"/>
            <a:ext cx="32139" cy="308657"/>
          </a:xfrm>
          <a:prstGeom prst="roundRect">
            <a:avLst>
              <a:gd name="adj" fmla="val 50000"/>
            </a:avLst>
          </a:prstGeom>
          <a:solidFill>
            <a:srgbClr val="8A6FC0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76EC3F0D-6F71-7E9E-631B-CCAB40652D82}"/>
              </a:ext>
            </a:extLst>
          </p:cNvPr>
          <p:cNvSpPr/>
          <p:nvPr/>
        </p:nvSpPr>
        <p:spPr>
          <a:xfrm>
            <a:off x="3282397" y="2977261"/>
            <a:ext cx="192838" cy="192911"/>
          </a:xfrm>
          <a:prstGeom prst="ellipse">
            <a:avLst/>
          </a:prstGeom>
          <a:solidFill>
            <a:srgbClr val="EEEAF7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219" name="Graphic 2">
            <a:extLst>
              <a:ext uri="{FF2B5EF4-FFF2-40B4-BE49-F238E27FC236}">
                <a16:creationId xmlns:a16="http://schemas.microsoft.com/office/drawing/2014/main" id="{F1C3BDA0-5339-501D-95FE-184CAA0D91CE}"/>
              </a:ext>
            </a:extLst>
          </p:cNvPr>
          <p:cNvGrpSpPr/>
          <p:nvPr/>
        </p:nvGrpSpPr>
        <p:grpSpPr>
          <a:xfrm>
            <a:off x="3303545" y="3008963"/>
            <a:ext cx="156391" cy="131501"/>
            <a:chOff x="3303545" y="3008963"/>
            <a:chExt cx="156391" cy="131501"/>
          </a:xfrm>
        </p:grpSpPr>
        <p:sp>
          <p:nvSpPr>
            <p:cNvPr id="220" name="Freeform 219">
              <a:extLst>
                <a:ext uri="{FF2B5EF4-FFF2-40B4-BE49-F238E27FC236}">
                  <a16:creationId xmlns:a16="http://schemas.microsoft.com/office/drawing/2014/main" id="{8A0DF708-89E1-37CE-48C3-D423D24D78AF}"/>
                </a:ext>
              </a:extLst>
            </p:cNvPr>
            <p:cNvSpPr/>
            <p:nvPr/>
          </p:nvSpPr>
          <p:spPr>
            <a:xfrm>
              <a:off x="3303545" y="3008963"/>
              <a:ext cx="156391" cy="131501"/>
            </a:xfrm>
            <a:custGeom>
              <a:avLst/>
              <a:gdLst>
                <a:gd name="csX0" fmla="*/ 152792 w 156391"/>
                <a:gd name="csY0" fmla="*/ 64754 h 131501"/>
                <a:gd name="csX1" fmla="*/ 155171 w 156391"/>
                <a:gd name="csY1" fmla="*/ 58709 h 131501"/>
                <a:gd name="csX2" fmla="*/ 156392 w 156391"/>
                <a:gd name="csY2" fmla="*/ 52343 h 131501"/>
                <a:gd name="csX3" fmla="*/ 156199 w 156391"/>
                <a:gd name="csY3" fmla="*/ 45913 h 131501"/>
                <a:gd name="csX4" fmla="*/ 154399 w 156391"/>
                <a:gd name="csY4" fmla="*/ 39740 h 131501"/>
                <a:gd name="csX5" fmla="*/ 151121 w 156391"/>
                <a:gd name="csY5" fmla="*/ 34081 h 131501"/>
                <a:gd name="csX6" fmla="*/ 146557 w 156391"/>
                <a:gd name="csY6" fmla="*/ 29001 h 131501"/>
                <a:gd name="csX7" fmla="*/ 141029 w 156391"/>
                <a:gd name="csY7" fmla="*/ 24757 h 131501"/>
                <a:gd name="csX8" fmla="*/ 134987 w 156391"/>
                <a:gd name="csY8" fmla="*/ 21220 h 131501"/>
                <a:gd name="csX9" fmla="*/ 128752 w 156391"/>
                <a:gd name="csY9" fmla="*/ 18327 h 131501"/>
                <a:gd name="csX10" fmla="*/ 122645 w 156391"/>
                <a:gd name="csY10" fmla="*/ 15754 h 131501"/>
                <a:gd name="csX11" fmla="*/ 116667 w 156391"/>
                <a:gd name="csY11" fmla="*/ 13375 h 131501"/>
                <a:gd name="csX12" fmla="*/ 111011 w 156391"/>
                <a:gd name="csY12" fmla="*/ 11060 h 131501"/>
                <a:gd name="csX13" fmla="*/ 105418 w 156391"/>
                <a:gd name="csY13" fmla="*/ 8617 h 131501"/>
                <a:gd name="csX14" fmla="*/ 99826 w 156391"/>
                <a:gd name="csY14" fmla="*/ 6237 h 131501"/>
                <a:gd name="csX15" fmla="*/ 94041 w 156391"/>
                <a:gd name="csY15" fmla="*/ 3923 h 131501"/>
                <a:gd name="csX16" fmla="*/ 87999 w 156391"/>
                <a:gd name="csY16" fmla="*/ 1993 h 131501"/>
                <a:gd name="csX17" fmla="*/ 81764 w 156391"/>
                <a:gd name="csY17" fmla="*/ 643 h 131501"/>
                <a:gd name="csX18" fmla="*/ 75271 w 156391"/>
                <a:gd name="csY18" fmla="*/ 0 h 131501"/>
                <a:gd name="csX19" fmla="*/ 68779 w 156391"/>
                <a:gd name="csY19" fmla="*/ 129 h 131501"/>
                <a:gd name="csX20" fmla="*/ 62351 w 156391"/>
                <a:gd name="csY20" fmla="*/ 1157 h 131501"/>
                <a:gd name="csX21" fmla="*/ 56180 w 156391"/>
                <a:gd name="csY21" fmla="*/ 2829 h 131501"/>
                <a:gd name="csX22" fmla="*/ 50202 w 156391"/>
                <a:gd name="csY22" fmla="*/ 4952 h 131501"/>
                <a:gd name="csX23" fmla="*/ 44481 w 156391"/>
                <a:gd name="csY23" fmla="*/ 7459 h 131501"/>
                <a:gd name="csX24" fmla="*/ 38953 w 156391"/>
                <a:gd name="csY24" fmla="*/ 10160 h 131501"/>
                <a:gd name="csX25" fmla="*/ 33490 w 156391"/>
                <a:gd name="csY25" fmla="*/ 12925 h 131501"/>
                <a:gd name="csX26" fmla="*/ 27962 w 156391"/>
                <a:gd name="csY26" fmla="*/ 15819 h 131501"/>
                <a:gd name="csX27" fmla="*/ 22433 w 156391"/>
                <a:gd name="csY27" fmla="*/ 18841 h 131501"/>
                <a:gd name="csX28" fmla="*/ 16970 w 156391"/>
                <a:gd name="csY28" fmla="*/ 22313 h 131501"/>
                <a:gd name="csX29" fmla="*/ 11892 w 156391"/>
                <a:gd name="csY29" fmla="*/ 26236 h 131501"/>
                <a:gd name="csX30" fmla="*/ 7392 w 156391"/>
                <a:gd name="csY30" fmla="*/ 30737 h 131501"/>
                <a:gd name="csX31" fmla="*/ 3728 w 156391"/>
                <a:gd name="csY31" fmla="*/ 35817 h 131501"/>
                <a:gd name="csX32" fmla="*/ 1221 w 156391"/>
                <a:gd name="csY32" fmla="*/ 41347 h 131501"/>
                <a:gd name="csX33" fmla="*/ 0 w 156391"/>
                <a:gd name="csY33" fmla="*/ 47263 h 131501"/>
                <a:gd name="csX34" fmla="*/ 0 w 156391"/>
                <a:gd name="csY34" fmla="*/ 53243 h 131501"/>
                <a:gd name="csX35" fmla="*/ 1093 w 156391"/>
                <a:gd name="csY35" fmla="*/ 59095 h 131501"/>
                <a:gd name="csX36" fmla="*/ 2892 w 156391"/>
                <a:gd name="csY36" fmla="*/ 64754 h 131501"/>
                <a:gd name="csX37" fmla="*/ 5014 w 156391"/>
                <a:gd name="csY37" fmla="*/ 70091 h 131501"/>
                <a:gd name="csX38" fmla="*/ 7264 w 156391"/>
                <a:gd name="csY38" fmla="*/ 75171 h 131501"/>
                <a:gd name="csX39" fmla="*/ 9192 w 156391"/>
                <a:gd name="csY39" fmla="*/ 80123 h 131501"/>
                <a:gd name="csX40" fmla="*/ 10799 w 156391"/>
                <a:gd name="csY40" fmla="*/ 85138 h 131501"/>
                <a:gd name="csX41" fmla="*/ 12149 w 156391"/>
                <a:gd name="csY41" fmla="*/ 90347 h 131501"/>
                <a:gd name="csX42" fmla="*/ 13370 w 156391"/>
                <a:gd name="csY42" fmla="*/ 95812 h 131501"/>
                <a:gd name="csX43" fmla="*/ 14784 w 156391"/>
                <a:gd name="csY43" fmla="*/ 101536 h 131501"/>
                <a:gd name="csX44" fmla="*/ 16777 w 156391"/>
                <a:gd name="csY44" fmla="*/ 107387 h 131501"/>
                <a:gd name="csX45" fmla="*/ 19605 w 156391"/>
                <a:gd name="csY45" fmla="*/ 113110 h 131501"/>
                <a:gd name="csX46" fmla="*/ 23398 w 156391"/>
                <a:gd name="csY46" fmla="*/ 118383 h 131501"/>
                <a:gd name="csX47" fmla="*/ 28283 w 156391"/>
                <a:gd name="csY47" fmla="*/ 123013 h 131501"/>
                <a:gd name="csX48" fmla="*/ 34068 w 156391"/>
                <a:gd name="csY48" fmla="*/ 126678 h 131501"/>
                <a:gd name="csX49" fmla="*/ 40624 w 156391"/>
                <a:gd name="csY49" fmla="*/ 129315 h 131501"/>
                <a:gd name="csX50" fmla="*/ 47567 w 156391"/>
                <a:gd name="csY50" fmla="*/ 130858 h 131501"/>
                <a:gd name="csX51" fmla="*/ 54638 w 156391"/>
                <a:gd name="csY51" fmla="*/ 131501 h 131501"/>
                <a:gd name="csX52" fmla="*/ 61708 w 156391"/>
                <a:gd name="csY52" fmla="*/ 131501 h 131501"/>
                <a:gd name="csX53" fmla="*/ 68586 w 156391"/>
                <a:gd name="csY53" fmla="*/ 130922 h 131501"/>
                <a:gd name="csX54" fmla="*/ 75271 w 156391"/>
                <a:gd name="csY54" fmla="*/ 130151 h 131501"/>
                <a:gd name="csX55" fmla="*/ 81764 w 156391"/>
                <a:gd name="csY55" fmla="*/ 129122 h 131501"/>
                <a:gd name="csX56" fmla="*/ 88127 w 156391"/>
                <a:gd name="csY56" fmla="*/ 127964 h 131501"/>
                <a:gd name="csX57" fmla="*/ 94362 w 156391"/>
                <a:gd name="csY57" fmla="*/ 126614 h 131501"/>
                <a:gd name="csX58" fmla="*/ 100469 w 156391"/>
                <a:gd name="csY58" fmla="*/ 124942 h 131501"/>
                <a:gd name="csX59" fmla="*/ 106382 w 156391"/>
                <a:gd name="csY59" fmla="*/ 122756 h 131501"/>
                <a:gd name="csX60" fmla="*/ 111975 w 156391"/>
                <a:gd name="csY60" fmla="*/ 119926 h 131501"/>
                <a:gd name="csX61" fmla="*/ 116989 w 156391"/>
                <a:gd name="csY61" fmla="*/ 116518 h 131501"/>
                <a:gd name="csX62" fmla="*/ 121424 w 156391"/>
                <a:gd name="csY62" fmla="*/ 112531 h 131501"/>
                <a:gd name="csX63" fmla="*/ 125216 w 156391"/>
                <a:gd name="csY63" fmla="*/ 108159 h 131501"/>
                <a:gd name="csX64" fmla="*/ 128430 w 156391"/>
                <a:gd name="csY64" fmla="*/ 103465 h 131501"/>
                <a:gd name="csX65" fmla="*/ 131194 w 156391"/>
                <a:gd name="csY65" fmla="*/ 98771 h 131501"/>
                <a:gd name="csX66" fmla="*/ 133830 w 156391"/>
                <a:gd name="csY66" fmla="*/ 94076 h 131501"/>
                <a:gd name="csX67" fmla="*/ 136465 w 156391"/>
                <a:gd name="csY67" fmla="*/ 89511 h 131501"/>
                <a:gd name="csX68" fmla="*/ 139422 w 156391"/>
                <a:gd name="csY68" fmla="*/ 85010 h 131501"/>
                <a:gd name="csX69" fmla="*/ 142636 w 156391"/>
                <a:gd name="csY69" fmla="*/ 80444 h 131501"/>
                <a:gd name="csX70" fmla="*/ 146107 w 156391"/>
                <a:gd name="csY70" fmla="*/ 75621 h 131501"/>
                <a:gd name="csX71" fmla="*/ 149643 w 156391"/>
                <a:gd name="csY71" fmla="*/ 70413 h 131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156391" h="131501">
                  <a:moveTo>
                    <a:pt x="152792" y="64754"/>
                  </a:moveTo>
                  <a:lnTo>
                    <a:pt x="155171" y="58709"/>
                  </a:lnTo>
                  <a:lnTo>
                    <a:pt x="156392" y="52343"/>
                  </a:lnTo>
                  <a:lnTo>
                    <a:pt x="156199" y="45913"/>
                  </a:lnTo>
                  <a:lnTo>
                    <a:pt x="154399" y="39740"/>
                  </a:lnTo>
                  <a:lnTo>
                    <a:pt x="151121" y="34081"/>
                  </a:lnTo>
                  <a:lnTo>
                    <a:pt x="146557" y="29001"/>
                  </a:lnTo>
                  <a:lnTo>
                    <a:pt x="141029" y="24757"/>
                  </a:lnTo>
                  <a:lnTo>
                    <a:pt x="134987" y="21220"/>
                  </a:lnTo>
                  <a:lnTo>
                    <a:pt x="128752" y="18327"/>
                  </a:lnTo>
                  <a:lnTo>
                    <a:pt x="122645" y="15754"/>
                  </a:lnTo>
                  <a:lnTo>
                    <a:pt x="116667" y="13375"/>
                  </a:lnTo>
                  <a:lnTo>
                    <a:pt x="111011" y="11060"/>
                  </a:lnTo>
                  <a:lnTo>
                    <a:pt x="105418" y="8617"/>
                  </a:lnTo>
                  <a:lnTo>
                    <a:pt x="99826" y="6237"/>
                  </a:lnTo>
                  <a:lnTo>
                    <a:pt x="94041" y="3923"/>
                  </a:lnTo>
                  <a:lnTo>
                    <a:pt x="87999" y="1993"/>
                  </a:lnTo>
                  <a:lnTo>
                    <a:pt x="81764" y="643"/>
                  </a:lnTo>
                  <a:lnTo>
                    <a:pt x="75271" y="0"/>
                  </a:lnTo>
                  <a:lnTo>
                    <a:pt x="68779" y="129"/>
                  </a:lnTo>
                  <a:lnTo>
                    <a:pt x="62351" y="1157"/>
                  </a:lnTo>
                  <a:lnTo>
                    <a:pt x="56180" y="2829"/>
                  </a:lnTo>
                  <a:lnTo>
                    <a:pt x="50202" y="4952"/>
                  </a:lnTo>
                  <a:lnTo>
                    <a:pt x="44481" y="7459"/>
                  </a:lnTo>
                  <a:lnTo>
                    <a:pt x="38953" y="10160"/>
                  </a:lnTo>
                  <a:lnTo>
                    <a:pt x="33490" y="12925"/>
                  </a:lnTo>
                  <a:lnTo>
                    <a:pt x="27962" y="15819"/>
                  </a:lnTo>
                  <a:lnTo>
                    <a:pt x="22433" y="18841"/>
                  </a:lnTo>
                  <a:lnTo>
                    <a:pt x="16970" y="22313"/>
                  </a:lnTo>
                  <a:lnTo>
                    <a:pt x="11892" y="26236"/>
                  </a:lnTo>
                  <a:lnTo>
                    <a:pt x="7392" y="30737"/>
                  </a:lnTo>
                  <a:lnTo>
                    <a:pt x="3728" y="35817"/>
                  </a:lnTo>
                  <a:lnTo>
                    <a:pt x="1221" y="41347"/>
                  </a:lnTo>
                  <a:lnTo>
                    <a:pt x="0" y="47263"/>
                  </a:lnTo>
                  <a:lnTo>
                    <a:pt x="0" y="53243"/>
                  </a:lnTo>
                  <a:lnTo>
                    <a:pt x="1093" y="59095"/>
                  </a:lnTo>
                  <a:lnTo>
                    <a:pt x="2892" y="64754"/>
                  </a:lnTo>
                  <a:lnTo>
                    <a:pt x="5014" y="70091"/>
                  </a:lnTo>
                  <a:lnTo>
                    <a:pt x="7264" y="75171"/>
                  </a:lnTo>
                  <a:lnTo>
                    <a:pt x="9192" y="80123"/>
                  </a:lnTo>
                  <a:lnTo>
                    <a:pt x="10799" y="85138"/>
                  </a:lnTo>
                  <a:lnTo>
                    <a:pt x="12149" y="90347"/>
                  </a:lnTo>
                  <a:lnTo>
                    <a:pt x="13370" y="95812"/>
                  </a:lnTo>
                  <a:lnTo>
                    <a:pt x="14784" y="101536"/>
                  </a:lnTo>
                  <a:lnTo>
                    <a:pt x="16777" y="107387"/>
                  </a:lnTo>
                  <a:lnTo>
                    <a:pt x="19605" y="113110"/>
                  </a:lnTo>
                  <a:lnTo>
                    <a:pt x="23398" y="118383"/>
                  </a:lnTo>
                  <a:lnTo>
                    <a:pt x="28283" y="123013"/>
                  </a:lnTo>
                  <a:lnTo>
                    <a:pt x="34068" y="126678"/>
                  </a:lnTo>
                  <a:lnTo>
                    <a:pt x="40624" y="129315"/>
                  </a:lnTo>
                  <a:lnTo>
                    <a:pt x="47567" y="130858"/>
                  </a:lnTo>
                  <a:lnTo>
                    <a:pt x="54638" y="131501"/>
                  </a:lnTo>
                  <a:lnTo>
                    <a:pt x="61708" y="131501"/>
                  </a:lnTo>
                  <a:lnTo>
                    <a:pt x="68586" y="130922"/>
                  </a:lnTo>
                  <a:lnTo>
                    <a:pt x="75271" y="130151"/>
                  </a:lnTo>
                  <a:lnTo>
                    <a:pt x="81764" y="129122"/>
                  </a:lnTo>
                  <a:lnTo>
                    <a:pt x="88127" y="127964"/>
                  </a:lnTo>
                  <a:lnTo>
                    <a:pt x="94362" y="126614"/>
                  </a:lnTo>
                  <a:lnTo>
                    <a:pt x="100469" y="124942"/>
                  </a:lnTo>
                  <a:lnTo>
                    <a:pt x="106382" y="122756"/>
                  </a:lnTo>
                  <a:lnTo>
                    <a:pt x="111975" y="119926"/>
                  </a:lnTo>
                  <a:lnTo>
                    <a:pt x="116989" y="116518"/>
                  </a:lnTo>
                  <a:lnTo>
                    <a:pt x="121424" y="112531"/>
                  </a:lnTo>
                  <a:lnTo>
                    <a:pt x="125216" y="108159"/>
                  </a:lnTo>
                  <a:lnTo>
                    <a:pt x="128430" y="103465"/>
                  </a:lnTo>
                  <a:lnTo>
                    <a:pt x="131194" y="98771"/>
                  </a:lnTo>
                  <a:lnTo>
                    <a:pt x="133830" y="94076"/>
                  </a:lnTo>
                  <a:lnTo>
                    <a:pt x="136465" y="89511"/>
                  </a:lnTo>
                  <a:lnTo>
                    <a:pt x="139422" y="85010"/>
                  </a:lnTo>
                  <a:lnTo>
                    <a:pt x="142636" y="80444"/>
                  </a:lnTo>
                  <a:lnTo>
                    <a:pt x="146107" y="75621"/>
                  </a:lnTo>
                  <a:lnTo>
                    <a:pt x="149643" y="70413"/>
                  </a:lnTo>
                  <a:close/>
                </a:path>
              </a:pathLst>
            </a:custGeom>
            <a:solidFill>
              <a:srgbClr val="8A6FC0"/>
            </a:solidFill>
            <a:ln w="6425" cap="flat">
              <a:solidFill>
                <a:srgbClr val="5F4A9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" name="Freeform 220">
              <a:extLst>
                <a:ext uri="{FF2B5EF4-FFF2-40B4-BE49-F238E27FC236}">
                  <a16:creationId xmlns:a16="http://schemas.microsoft.com/office/drawing/2014/main" id="{7C0C470E-5EB1-A8B5-BDD2-A17E5B76912C}"/>
                </a:ext>
              </a:extLst>
            </p:cNvPr>
            <p:cNvSpPr/>
            <p:nvPr/>
          </p:nvSpPr>
          <p:spPr>
            <a:xfrm>
              <a:off x="3376775" y="3012886"/>
              <a:ext cx="4082" cy="118833"/>
            </a:xfrm>
            <a:custGeom>
              <a:avLst/>
              <a:gdLst>
                <a:gd name="csX0" fmla="*/ 2041 w 4082"/>
                <a:gd name="csY0" fmla="*/ 0 h 118833"/>
                <a:gd name="csX1" fmla="*/ 2041 w 4082"/>
                <a:gd name="csY1" fmla="*/ 118833 h 118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082" h="118833">
                  <a:moveTo>
                    <a:pt x="2041" y="0"/>
                  </a:moveTo>
                  <a:cubicBezTo>
                    <a:pt x="9112" y="39611"/>
                    <a:pt x="-5030" y="82051"/>
                    <a:pt x="2041" y="118833"/>
                  </a:cubicBezTo>
                </a:path>
              </a:pathLst>
            </a:custGeom>
            <a:noFill/>
            <a:ln w="5462" cap="rnd">
              <a:solidFill>
                <a:srgbClr val="FFFFFF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2" name="Freeform 221">
              <a:extLst>
                <a:ext uri="{FF2B5EF4-FFF2-40B4-BE49-F238E27FC236}">
                  <a16:creationId xmlns:a16="http://schemas.microsoft.com/office/drawing/2014/main" id="{EDB96730-4F37-62BF-AAEE-95FE0EF4E7E9}"/>
                </a:ext>
              </a:extLst>
            </p:cNvPr>
            <p:cNvSpPr/>
            <p:nvPr/>
          </p:nvSpPr>
          <p:spPr>
            <a:xfrm>
              <a:off x="3323664" y="3045423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1" y="-1886"/>
                    <a:pt x="21212" y="-1886"/>
                    <a:pt x="21212" y="5659"/>
                  </a:cubicBezTo>
                  <a:cubicBezTo>
                    <a:pt x="21212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3" name="Freeform 222">
              <a:extLst>
                <a:ext uri="{FF2B5EF4-FFF2-40B4-BE49-F238E27FC236}">
                  <a16:creationId xmlns:a16="http://schemas.microsoft.com/office/drawing/2014/main" id="{F875BC5D-F146-C0E8-B887-EF6951C1A036}"/>
                </a:ext>
              </a:extLst>
            </p:cNvPr>
            <p:cNvSpPr/>
            <p:nvPr/>
          </p:nvSpPr>
          <p:spPr>
            <a:xfrm>
              <a:off x="3327907" y="3084327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4" name="Freeform 223">
              <a:extLst>
                <a:ext uri="{FF2B5EF4-FFF2-40B4-BE49-F238E27FC236}">
                  <a16:creationId xmlns:a16="http://schemas.microsoft.com/office/drawing/2014/main" id="{D284AD5C-A9D9-C48A-AF5E-36CCE9840C46}"/>
                </a:ext>
              </a:extLst>
            </p:cNvPr>
            <p:cNvSpPr/>
            <p:nvPr/>
          </p:nvSpPr>
          <p:spPr>
            <a:xfrm>
              <a:off x="3391543" y="3046838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1" y="-1886"/>
                    <a:pt x="21212" y="-1886"/>
                    <a:pt x="21212" y="5659"/>
                  </a:cubicBezTo>
                  <a:cubicBezTo>
                    <a:pt x="21212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" name="Freeform 224">
              <a:extLst>
                <a:ext uri="{FF2B5EF4-FFF2-40B4-BE49-F238E27FC236}">
                  <a16:creationId xmlns:a16="http://schemas.microsoft.com/office/drawing/2014/main" id="{43A00929-A06E-3532-2DD3-F188198C83CF}"/>
                </a:ext>
              </a:extLst>
            </p:cNvPr>
            <p:cNvSpPr/>
            <p:nvPr/>
          </p:nvSpPr>
          <p:spPr>
            <a:xfrm>
              <a:off x="3392958" y="3085742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6" name="TextBox 225">
            <a:extLst>
              <a:ext uri="{FF2B5EF4-FFF2-40B4-BE49-F238E27FC236}">
                <a16:creationId xmlns:a16="http://schemas.microsoft.com/office/drawing/2014/main" id="{0A29A4C9-12F4-5766-155E-9160AE84837D}"/>
              </a:ext>
            </a:extLst>
          </p:cNvPr>
          <p:cNvSpPr txBox="1"/>
          <p:nvPr/>
        </p:nvSpPr>
        <p:spPr>
          <a:xfrm>
            <a:off x="3441647" y="2930336"/>
            <a:ext cx="1138716" cy="187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b="1" spc="0" baseline="0">
                <a:ln/>
                <a:solidFill>
                  <a:srgbClr val="22314A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Skin-conductance + pain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215FF269-8D44-78C4-2843-4D97959F4BE3}"/>
              </a:ext>
            </a:extLst>
          </p:cNvPr>
          <p:cNvSpPr txBox="1"/>
          <p:nvPr/>
        </p:nvSpPr>
        <p:spPr>
          <a:xfrm>
            <a:off x="3441647" y="3050329"/>
            <a:ext cx="786721" cy="174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25" i="1" spc="0" baseline="0">
                <a:ln/>
                <a:solidFill>
                  <a:srgbClr val="7C8598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Matthewson · 2019</a:t>
            </a:r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5B748B94-DD0D-FC82-A00F-8F960B430446}"/>
              </a:ext>
            </a:extLst>
          </p:cNvPr>
          <p:cNvSpPr/>
          <p:nvPr/>
        </p:nvSpPr>
        <p:spPr>
          <a:xfrm>
            <a:off x="3050991" y="3478830"/>
            <a:ext cx="64279" cy="64303"/>
          </a:xfrm>
          <a:prstGeom prst="ellipse">
            <a:avLst/>
          </a:prstGeom>
          <a:solidFill>
            <a:srgbClr val="8A6FC0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43FD05FA-E22C-46EE-F4F3-4CCB30F1DEDD}"/>
              </a:ext>
            </a:extLst>
          </p:cNvPr>
          <p:cNvSpPr txBox="1"/>
          <p:nvPr/>
        </p:nvSpPr>
        <p:spPr>
          <a:xfrm>
            <a:off x="3094537" y="3419044"/>
            <a:ext cx="515365" cy="187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b="1" spc="30" baseline="0">
                <a:ln/>
                <a:solidFill>
                  <a:srgbClr val="5F4A94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THREAT</a:t>
            </a:r>
          </a:p>
        </p:txBody>
      </p:sp>
      <p:sp>
        <p:nvSpPr>
          <p:cNvPr id="230" name="Freeform 229">
            <a:extLst>
              <a:ext uri="{FF2B5EF4-FFF2-40B4-BE49-F238E27FC236}">
                <a16:creationId xmlns:a16="http://schemas.microsoft.com/office/drawing/2014/main" id="{50D6C09B-5133-3067-7418-3BF0AC511070}"/>
              </a:ext>
            </a:extLst>
          </p:cNvPr>
          <p:cNvSpPr/>
          <p:nvPr/>
        </p:nvSpPr>
        <p:spPr>
          <a:xfrm>
            <a:off x="3083130" y="3543134"/>
            <a:ext cx="128558" cy="263645"/>
          </a:xfrm>
          <a:custGeom>
            <a:avLst/>
            <a:gdLst>
              <a:gd name="csX0" fmla="*/ 0 w 128558"/>
              <a:gd name="csY0" fmla="*/ 0 h 263645"/>
              <a:gd name="csX1" fmla="*/ 128559 w 128558"/>
              <a:gd name="csY1" fmla="*/ 263645 h 26364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8558" h="263645">
                <a:moveTo>
                  <a:pt x="0" y="0"/>
                </a:moveTo>
                <a:cubicBezTo>
                  <a:pt x="0" y="263645"/>
                  <a:pt x="64279" y="263645"/>
                  <a:pt x="128559" y="263645"/>
                </a:cubicBezTo>
              </a:path>
            </a:pathLst>
          </a:custGeom>
          <a:noFill/>
          <a:ln w="12851" cap="flat">
            <a:solidFill>
              <a:srgbClr val="8A6FC0">
                <a:alpha val="4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31" name="Rounded Rectangle 230">
            <a:extLst>
              <a:ext uri="{FF2B5EF4-FFF2-40B4-BE49-F238E27FC236}">
                <a16:creationId xmlns:a16="http://schemas.microsoft.com/office/drawing/2014/main" id="{31DC6778-E7C2-E057-D55E-5C94A5CF5F24}"/>
              </a:ext>
            </a:extLst>
          </p:cNvPr>
          <p:cNvSpPr/>
          <p:nvPr/>
        </p:nvSpPr>
        <p:spPr>
          <a:xfrm>
            <a:off x="3211689" y="3652450"/>
            <a:ext cx="1722690" cy="308657"/>
          </a:xfrm>
          <a:prstGeom prst="roundRect">
            <a:avLst>
              <a:gd name="adj" fmla="val 24990"/>
            </a:avLst>
          </a:prstGeom>
          <a:solidFill>
            <a:srgbClr val="FFFFFF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32" name="Rounded Rectangle 231">
            <a:extLst>
              <a:ext uri="{FF2B5EF4-FFF2-40B4-BE49-F238E27FC236}">
                <a16:creationId xmlns:a16="http://schemas.microsoft.com/office/drawing/2014/main" id="{4EEF8B6D-D788-E061-88DC-2FFF85F60D3B}"/>
              </a:ext>
            </a:extLst>
          </p:cNvPr>
          <p:cNvSpPr/>
          <p:nvPr/>
        </p:nvSpPr>
        <p:spPr>
          <a:xfrm>
            <a:off x="3211689" y="3652450"/>
            <a:ext cx="32139" cy="308657"/>
          </a:xfrm>
          <a:prstGeom prst="roundRect">
            <a:avLst>
              <a:gd name="adj" fmla="val 50000"/>
            </a:avLst>
          </a:prstGeom>
          <a:solidFill>
            <a:srgbClr val="8A6FC0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63083796-16BD-B122-8F93-2C9A612A7B37}"/>
              </a:ext>
            </a:extLst>
          </p:cNvPr>
          <p:cNvSpPr/>
          <p:nvPr/>
        </p:nvSpPr>
        <p:spPr>
          <a:xfrm>
            <a:off x="3282397" y="3710323"/>
            <a:ext cx="192838" cy="192911"/>
          </a:xfrm>
          <a:prstGeom prst="ellipse">
            <a:avLst/>
          </a:prstGeom>
          <a:solidFill>
            <a:srgbClr val="EEEAF7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234" name="Graphic 2">
            <a:extLst>
              <a:ext uri="{FF2B5EF4-FFF2-40B4-BE49-F238E27FC236}">
                <a16:creationId xmlns:a16="http://schemas.microsoft.com/office/drawing/2014/main" id="{DAAC2D02-E615-A490-5173-37CCBDDFF2BF}"/>
              </a:ext>
            </a:extLst>
          </p:cNvPr>
          <p:cNvGrpSpPr/>
          <p:nvPr/>
        </p:nvGrpSpPr>
        <p:grpSpPr>
          <a:xfrm>
            <a:off x="3303545" y="3742025"/>
            <a:ext cx="156391" cy="131501"/>
            <a:chOff x="3303545" y="3742025"/>
            <a:chExt cx="156391" cy="131501"/>
          </a:xfrm>
        </p:grpSpPr>
        <p:sp>
          <p:nvSpPr>
            <p:cNvPr id="235" name="Freeform 234">
              <a:extLst>
                <a:ext uri="{FF2B5EF4-FFF2-40B4-BE49-F238E27FC236}">
                  <a16:creationId xmlns:a16="http://schemas.microsoft.com/office/drawing/2014/main" id="{539E1E50-CB67-E1BF-C729-19D056293359}"/>
                </a:ext>
              </a:extLst>
            </p:cNvPr>
            <p:cNvSpPr/>
            <p:nvPr/>
          </p:nvSpPr>
          <p:spPr>
            <a:xfrm>
              <a:off x="3303545" y="3742025"/>
              <a:ext cx="156391" cy="131501"/>
            </a:xfrm>
            <a:custGeom>
              <a:avLst/>
              <a:gdLst>
                <a:gd name="csX0" fmla="*/ 152792 w 156391"/>
                <a:gd name="csY0" fmla="*/ 64754 h 131501"/>
                <a:gd name="csX1" fmla="*/ 155171 w 156391"/>
                <a:gd name="csY1" fmla="*/ 58709 h 131501"/>
                <a:gd name="csX2" fmla="*/ 156392 w 156391"/>
                <a:gd name="csY2" fmla="*/ 52343 h 131501"/>
                <a:gd name="csX3" fmla="*/ 156199 w 156391"/>
                <a:gd name="csY3" fmla="*/ 45913 h 131501"/>
                <a:gd name="csX4" fmla="*/ 154399 w 156391"/>
                <a:gd name="csY4" fmla="*/ 39740 h 131501"/>
                <a:gd name="csX5" fmla="*/ 151121 w 156391"/>
                <a:gd name="csY5" fmla="*/ 34081 h 131501"/>
                <a:gd name="csX6" fmla="*/ 146557 w 156391"/>
                <a:gd name="csY6" fmla="*/ 29001 h 131501"/>
                <a:gd name="csX7" fmla="*/ 141029 w 156391"/>
                <a:gd name="csY7" fmla="*/ 24757 h 131501"/>
                <a:gd name="csX8" fmla="*/ 134987 w 156391"/>
                <a:gd name="csY8" fmla="*/ 21220 h 131501"/>
                <a:gd name="csX9" fmla="*/ 128752 w 156391"/>
                <a:gd name="csY9" fmla="*/ 18327 h 131501"/>
                <a:gd name="csX10" fmla="*/ 122645 w 156391"/>
                <a:gd name="csY10" fmla="*/ 15754 h 131501"/>
                <a:gd name="csX11" fmla="*/ 116667 w 156391"/>
                <a:gd name="csY11" fmla="*/ 13375 h 131501"/>
                <a:gd name="csX12" fmla="*/ 111011 w 156391"/>
                <a:gd name="csY12" fmla="*/ 11060 h 131501"/>
                <a:gd name="csX13" fmla="*/ 105418 w 156391"/>
                <a:gd name="csY13" fmla="*/ 8617 h 131501"/>
                <a:gd name="csX14" fmla="*/ 99826 w 156391"/>
                <a:gd name="csY14" fmla="*/ 6238 h 131501"/>
                <a:gd name="csX15" fmla="*/ 94041 w 156391"/>
                <a:gd name="csY15" fmla="*/ 3922 h 131501"/>
                <a:gd name="csX16" fmla="*/ 87999 w 156391"/>
                <a:gd name="csY16" fmla="*/ 1993 h 131501"/>
                <a:gd name="csX17" fmla="*/ 81764 w 156391"/>
                <a:gd name="csY17" fmla="*/ 643 h 131501"/>
                <a:gd name="csX18" fmla="*/ 75271 w 156391"/>
                <a:gd name="csY18" fmla="*/ 0 h 131501"/>
                <a:gd name="csX19" fmla="*/ 68779 w 156391"/>
                <a:gd name="csY19" fmla="*/ 129 h 131501"/>
                <a:gd name="csX20" fmla="*/ 62351 w 156391"/>
                <a:gd name="csY20" fmla="*/ 1157 h 131501"/>
                <a:gd name="csX21" fmla="*/ 56180 w 156391"/>
                <a:gd name="csY21" fmla="*/ 2829 h 131501"/>
                <a:gd name="csX22" fmla="*/ 50202 w 156391"/>
                <a:gd name="csY22" fmla="*/ 4952 h 131501"/>
                <a:gd name="csX23" fmla="*/ 44481 w 156391"/>
                <a:gd name="csY23" fmla="*/ 7459 h 131501"/>
                <a:gd name="csX24" fmla="*/ 38953 w 156391"/>
                <a:gd name="csY24" fmla="*/ 10160 h 131501"/>
                <a:gd name="csX25" fmla="*/ 33490 w 156391"/>
                <a:gd name="csY25" fmla="*/ 12925 h 131501"/>
                <a:gd name="csX26" fmla="*/ 27962 w 156391"/>
                <a:gd name="csY26" fmla="*/ 15819 h 131501"/>
                <a:gd name="csX27" fmla="*/ 22433 w 156391"/>
                <a:gd name="csY27" fmla="*/ 18841 h 131501"/>
                <a:gd name="csX28" fmla="*/ 16970 w 156391"/>
                <a:gd name="csY28" fmla="*/ 22314 h 131501"/>
                <a:gd name="csX29" fmla="*/ 11892 w 156391"/>
                <a:gd name="csY29" fmla="*/ 26236 h 131501"/>
                <a:gd name="csX30" fmla="*/ 7392 w 156391"/>
                <a:gd name="csY30" fmla="*/ 30737 h 131501"/>
                <a:gd name="csX31" fmla="*/ 3728 w 156391"/>
                <a:gd name="csY31" fmla="*/ 35817 h 131501"/>
                <a:gd name="csX32" fmla="*/ 1221 w 156391"/>
                <a:gd name="csY32" fmla="*/ 41347 h 131501"/>
                <a:gd name="csX33" fmla="*/ 0 w 156391"/>
                <a:gd name="csY33" fmla="*/ 47263 h 131501"/>
                <a:gd name="csX34" fmla="*/ 0 w 156391"/>
                <a:gd name="csY34" fmla="*/ 53244 h 131501"/>
                <a:gd name="csX35" fmla="*/ 1093 w 156391"/>
                <a:gd name="csY35" fmla="*/ 59095 h 131501"/>
                <a:gd name="csX36" fmla="*/ 2892 w 156391"/>
                <a:gd name="csY36" fmla="*/ 64754 h 131501"/>
                <a:gd name="csX37" fmla="*/ 5014 w 156391"/>
                <a:gd name="csY37" fmla="*/ 70091 h 131501"/>
                <a:gd name="csX38" fmla="*/ 7264 w 156391"/>
                <a:gd name="csY38" fmla="*/ 75171 h 131501"/>
                <a:gd name="csX39" fmla="*/ 9192 w 156391"/>
                <a:gd name="csY39" fmla="*/ 80123 h 131501"/>
                <a:gd name="csX40" fmla="*/ 10799 w 156391"/>
                <a:gd name="csY40" fmla="*/ 85138 h 131501"/>
                <a:gd name="csX41" fmla="*/ 12149 w 156391"/>
                <a:gd name="csY41" fmla="*/ 90347 h 131501"/>
                <a:gd name="csX42" fmla="*/ 13370 w 156391"/>
                <a:gd name="csY42" fmla="*/ 95813 h 131501"/>
                <a:gd name="csX43" fmla="*/ 14784 w 156391"/>
                <a:gd name="csY43" fmla="*/ 101535 h 131501"/>
                <a:gd name="csX44" fmla="*/ 16777 w 156391"/>
                <a:gd name="csY44" fmla="*/ 107387 h 131501"/>
                <a:gd name="csX45" fmla="*/ 19605 w 156391"/>
                <a:gd name="csY45" fmla="*/ 113110 h 131501"/>
                <a:gd name="csX46" fmla="*/ 23398 w 156391"/>
                <a:gd name="csY46" fmla="*/ 118383 h 131501"/>
                <a:gd name="csX47" fmla="*/ 28283 w 156391"/>
                <a:gd name="csY47" fmla="*/ 123013 h 131501"/>
                <a:gd name="csX48" fmla="*/ 34068 w 156391"/>
                <a:gd name="csY48" fmla="*/ 126678 h 131501"/>
                <a:gd name="csX49" fmla="*/ 40624 w 156391"/>
                <a:gd name="csY49" fmla="*/ 129315 h 131501"/>
                <a:gd name="csX50" fmla="*/ 47567 w 156391"/>
                <a:gd name="csY50" fmla="*/ 130858 h 131501"/>
                <a:gd name="csX51" fmla="*/ 54638 w 156391"/>
                <a:gd name="csY51" fmla="*/ 131501 h 131501"/>
                <a:gd name="csX52" fmla="*/ 61708 w 156391"/>
                <a:gd name="csY52" fmla="*/ 131501 h 131501"/>
                <a:gd name="csX53" fmla="*/ 68586 w 156391"/>
                <a:gd name="csY53" fmla="*/ 130922 h 131501"/>
                <a:gd name="csX54" fmla="*/ 75271 w 156391"/>
                <a:gd name="csY54" fmla="*/ 130151 h 131501"/>
                <a:gd name="csX55" fmla="*/ 81764 w 156391"/>
                <a:gd name="csY55" fmla="*/ 129122 h 131501"/>
                <a:gd name="csX56" fmla="*/ 88127 w 156391"/>
                <a:gd name="csY56" fmla="*/ 127965 h 131501"/>
                <a:gd name="csX57" fmla="*/ 94362 w 156391"/>
                <a:gd name="csY57" fmla="*/ 126614 h 131501"/>
                <a:gd name="csX58" fmla="*/ 100469 w 156391"/>
                <a:gd name="csY58" fmla="*/ 124942 h 131501"/>
                <a:gd name="csX59" fmla="*/ 106382 w 156391"/>
                <a:gd name="csY59" fmla="*/ 122756 h 131501"/>
                <a:gd name="csX60" fmla="*/ 111975 w 156391"/>
                <a:gd name="csY60" fmla="*/ 119927 h 131501"/>
                <a:gd name="csX61" fmla="*/ 116989 w 156391"/>
                <a:gd name="csY61" fmla="*/ 116518 h 131501"/>
                <a:gd name="csX62" fmla="*/ 121424 w 156391"/>
                <a:gd name="csY62" fmla="*/ 112531 h 131501"/>
                <a:gd name="csX63" fmla="*/ 125216 w 156391"/>
                <a:gd name="csY63" fmla="*/ 108159 h 131501"/>
                <a:gd name="csX64" fmla="*/ 128430 w 156391"/>
                <a:gd name="csY64" fmla="*/ 103465 h 131501"/>
                <a:gd name="csX65" fmla="*/ 131194 w 156391"/>
                <a:gd name="csY65" fmla="*/ 98770 h 131501"/>
                <a:gd name="csX66" fmla="*/ 133830 w 156391"/>
                <a:gd name="csY66" fmla="*/ 94076 h 131501"/>
                <a:gd name="csX67" fmla="*/ 136465 w 156391"/>
                <a:gd name="csY67" fmla="*/ 89511 h 131501"/>
                <a:gd name="csX68" fmla="*/ 139422 w 156391"/>
                <a:gd name="csY68" fmla="*/ 85010 h 131501"/>
                <a:gd name="csX69" fmla="*/ 142636 w 156391"/>
                <a:gd name="csY69" fmla="*/ 80444 h 131501"/>
                <a:gd name="csX70" fmla="*/ 146107 w 156391"/>
                <a:gd name="csY70" fmla="*/ 75621 h 131501"/>
                <a:gd name="csX71" fmla="*/ 149643 w 156391"/>
                <a:gd name="csY71" fmla="*/ 70413 h 131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156391" h="131501">
                  <a:moveTo>
                    <a:pt x="152792" y="64754"/>
                  </a:moveTo>
                  <a:lnTo>
                    <a:pt x="155171" y="58709"/>
                  </a:lnTo>
                  <a:lnTo>
                    <a:pt x="156392" y="52343"/>
                  </a:lnTo>
                  <a:lnTo>
                    <a:pt x="156199" y="45913"/>
                  </a:lnTo>
                  <a:lnTo>
                    <a:pt x="154399" y="39740"/>
                  </a:lnTo>
                  <a:lnTo>
                    <a:pt x="151121" y="34081"/>
                  </a:lnTo>
                  <a:lnTo>
                    <a:pt x="146557" y="29001"/>
                  </a:lnTo>
                  <a:lnTo>
                    <a:pt x="141029" y="24757"/>
                  </a:lnTo>
                  <a:lnTo>
                    <a:pt x="134987" y="21220"/>
                  </a:lnTo>
                  <a:lnTo>
                    <a:pt x="128752" y="18327"/>
                  </a:lnTo>
                  <a:lnTo>
                    <a:pt x="122645" y="15754"/>
                  </a:lnTo>
                  <a:lnTo>
                    <a:pt x="116667" y="13375"/>
                  </a:lnTo>
                  <a:lnTo>
                    <a:pt x="111011" y="11060"/>
                  </a:lnTo>
                  <a:lnTo>
                    <a:pt x="105418" y="8617"/>
                  </a:lnTo>
                  <a:lnTo>
                    <a:pt x="99826" y="6238"/>
                  </a:lnTo>
                  <a:lnTo>
                    <a:pt x="94041" y="3922"/>
                  </a:lnTo>
                  <a:lnTo>
                    <a:pt x="87999" y="1993"/>
                  </a:lnTo>
                  <a:lnTo>
                    <a:pt x="81764" y="643"/>
                  </a:lnTo>
                  <a:lnTo>
                    <a:pt x="75271" y="0"/>
                  </a:lnTo>
                  <a:lnTo>
                    <a:pt x="68779" y="129"/>
                  </a:lnTo>
                  <a:lnTo>
                    <a:pt x="62351" y="1157"/>
                  </a:lnTo>
                  <a:lnTo>
                    <a:pt x="56180" y="2829"/>
                  </a:lnTo>
                  <a:lnTo>
                    <a:pt x="50202" y="4952"/>
                  </a:lnTo>
                  <a:lnTo>
                    <a:pt x="44481" y="7459"/>
                  </a:lnTo>
                  <a:lnTo>
                    <a:pt x="38953" y="10160"/>
                  </a:lnTo>
                  <a:lnTo>
                    <a:pt x="33490" y="12925"/>
                  </a:lnTo>
                  <a:lnTo>
                    <a:pt x="27962" y="15819"/>
                  </a:lnTo>
                  <a:lnTo>
                    <a:pt x="22433" y="18841"/>
                  </a:lnTo>
                  <a:lnTo>
                    <a:pt x="16970" y="22314"/>
                  </a:lnTo>
                  <a:lnTo>
                    <a:pt x="11892" y="26236"/>
                  </a:lnTo>
                  <a:lnTo>
                    <a:pt x="7392" y="30737"/>
                  </a:lnTo>
                  <a:lnTo>
                    <a:pt x="3728" y="35817"/>
                  </a:lnTo>
                  <a:lnTo>
                    <a:pt x="1221" y="41347"/>
                  </a:lnTo>
                  <a:lnTo>
                    <a:pt x="0" y="47263"/>
                  </a:lnTo>
                  <a:lnTo>
                    <a:pt x="0" y="53244"/>
                  </a:lnTo>
                  <a:lnTo>
                    <a:pt x="1093" y="59095"/>
                  </a:lnTo>
                  <a:lnTo>
                    <a:pt x="2892" y="64754"/>
                  </a:lnTo>
                  <a:lnTo>
                    <a:pt x="5014" y="70091"/>
                  </a:lnTo>
                  <a:lnTo>
                    <a:pt x="7264" y="75171"/>
                  </a:lnTo>
                  <a:lnTo>
                    <a:pt x="9192" y="80123"/>
                  </a:lnTo>
                  <a:lnTo>
                    <a:pt x="10799" y="85138"/>
                  </a:lnTo>
                  <a:lnTo>
                    <a:pt x="12149" y="90347"/>
                  </a:lnTo>
                  <a:lnTo>
                    <a:pt x="13370" y="95813"/>
                  </a:lnTo>
                  <a:lnTo>
                    <a:pt x="14784" y="101535"/>
                  </a:lnTo>
                  <a:lnTo>
                    <a:pt x="16777" y="107387"/>
                  </a:lnTo>
                  <a:lnTo>
                    <a:pt x="19605" y="113110"/>
                  </a:lnTo>
                  <a:lnTo>
                    <a:pt x="23398" y="118383"/>
                  </a:lnTo>
                  <a:lnTo>
                    <a:pt x="28283" y="123013"/>
                  </a:lnTo>
                  <a:lnTo>
                    <a:pt x="34068" y="126678"/>
                  </a:lnTo>
                  <a:lnTo>
                    <a:pt x="40624" y="129315"/>
                  </a:lnTo>
                  <a:lnTo>
                    <a:pt x="47567" y="130858"/>
                  </a:lnTo>
                  <a:lnTo>
                    <a:pt x="54638" y="131501"/>
                  </a:lnTo>
                  <a:lnTo>
                    <a:pt x="61708" y="131501"/>
                  </a:lnTo>
                  <a:lnTo>
                    <a:pt x="68586" y="130922"/>
                  </a:lnTo>
                  <a:lnTo>
                    <a:pt x="75271" y="130151"/>
                  </a:lnTo>
                  <a:lnTo>
                    <a:pt x="81764" y="129122"/>
                  </a:lnTo>
                  <a:lnTo>
                    <a:pt x="88127" y="127965"/>
                  </a:lnTo>
                  <a:lnTo>
                    <a:pt x="94362" y="126614"/>
                  </a:lnTo>
                  <a:lnTo>
                    <a:pt x="100469" y="124942"/>
                  </a:lnTo>
                  <a:lnTo>
                    <a:pt x="106382" y="122756"/>
                  </a:lnTo>
                  <a:lnTo>
                    <a:pt x="111975" y="119927"/>
                  </a:lnTo>
                  <a:lnTo>
                    <a:pt x="116989" y="116518"/>
                  </a:lnTo>
                  <a:lnTo>
                    <a:pt x="121424" y="112531"/>
                  </a:lnTo>
                  <a:lnTo>
                    <a:pt x="125216" y="108159"/>
                  </a:lnTo>
                  <a:lnTo>
                    <a:pt x="128430" y="103465"/>
                  </a:lnTo>
                  <a:lnTo>
                    <a:pt x="131194" y="98770"/>
                  </a:lnTo>
                  <a:lnTo>
                    <a:pt x="133830" y="94076"/>
                  </a:lnTo>
                  <a:lnTo>
                    <a:pt x="136465" y="89511"/>
                  </a:lnTo>
                  <a:lnTo>
                    <a:pt x="139422" y="85010"/>
                  </a:lnTo>
                  <a:lnTo>
                    <a:pt x="142636" y="80444"/>
                  </a:lnTo>
                  <a:lnTo>
                    <a:pt x="146107" y="75621"/>
                  </a:lnTo>
                  <a:lnTo>
                    <a:pt x="149643" y="70413"/>
                  </a:lnTo>
                  <a:close/>
                </a:path>
              </a:pathLst>
            </a:custGeom>
            <a:solidFill>
              <a:srgbClr val="8A6FC0"/>
            </a:solidFill>
            <a:ln w="6425" cap="flat">
              <a:solidFill>
                <a:srgbClr val="5F4A9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6" name="Freeform 235">
              <a:extLst>
                <a:ext uri="{FF2B5EF4-FFF2-40B4-BE49-F238E27FC236}">
                  <a16:creationId xmlns:a16="http://schemas.microsoft.com/office/drawing/2014/main" id="{22B39B91-CB92-8490-42C1-07884EF52441}"/>
                </a:ext>
              </a:extLst>
            </p:cNvPr>
            <p:cNvSpPr/>
            <p:nvPr/>
          </p:nvSpPr>
          <p:spPr>
            <a:xfrm>
              <a:off x="3376775" y="3745948"/>
              <a:ext cx="4082" cy="118833"/>
            </a:xfrm>
            <a:custGeom>
              <a:avLst/>
              <a:gdLst>
                <a:gd name="csX0" fmla="*/ 2041 w 4082"/>
                <a:gd name="csY0" fmla="*/ 0 h 118833"/>
                <a:gd name="csX1" fmla="*/ 2041 w 4082"/>
                <a:gd name="csY1" fmla="*/ 118834 h 118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082" h="118833">
                  <a:moveTo>
                    <a:pt x="2041" y="0"/>
                  </a:moveTo>
                  <a:cubicBezTo>
                    <a:pt x="9112" y="39611"/>
                    <a:pt x="-5030" y="82052"/>
                    <a:pt x="2041" y="118834"/>
                  </a:cubicBezTo>
                </a:path>
              </a:pathLst>
            </a:custGeom>
            <a:noFill/>
            <a:ln w="5462" cap="rnd">
              <a:solidFill>
                <a:srgbClr val="FFFFFF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7" name="Freeform 236">
              <a:extLst>
                <a:ext uri="{FF2B5EF4-FFF2-40B4-BE49-F238E27FC236}">
                  <a16:creationId xmlns:a16="http://schemas.microsoft.com/office/drawing/2014/main" id="{98D80347-F403-7F45-2876-188E0B254C5C}"/>
                </a:ext>
              </a:extLst>
            </p:cNvPr>
            <p:cNvSpPr/>
            <p:nvPr/>
          </p:nvSpPr>
          <p:spPr>
            <a:xfrm>
              <a:off x="3323664" y="3778485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1" y="-1886"/>
                    <a:pt x="21212" y="-1886"/>
                    <a:pt x="21212" y="5659"/>
                  </a:cubicBezTo>
                  <a:cubicBezTo>
                    <a:pt x="21212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8" name="Freeform 237">
              <a:extLst>
                <a:ext uri="{FF2B5EF4-FFF2-40B4-BE49-F238E27FC236}">
                  <a16:creationId xmlns:a16="http://schemas.microsoft.com/office/drawing/2014/main" id="{20706E47-E348-5742-0385-855984CA2782}"/>
                </a:ext>
              </a:extLst>
            </p:cNvPr>
            <p:cNvSpPr/>
            <p:nvPr/>
          </p:nvSpPr>
          <p:spPr>
            <a:xfrm>
              <a:off x="3327907" y="3817389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9" name="Freeform 238">
              <a:extLst>
                <a:ext uri="{FF2B5EF4-FFF2-40B4-BE49-F238E27FC236}">
                  <a16:creationId xmlns:a16="http://schemas.microsoft.com/office/drawing/2014/main" id="{BE4DB5E2-774A-924D-98DD-FB1A4F66B013}"/>
                </a:ext>
              </a:extLst>
            </p:cNvPr>
            <p:cNvSpPr/>
            <p:nvPr/>
          </p:nvSpPr>
          <p:spPr>
            <a:xfrm>
              <a:off x="3391543" y="3779900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1" y="-1886"/>
                    <a:pt x="21212" y="-1886"/>
                    <a:pt x="21212" y="5659"/>
                  </a:cubicBezTo>
                  <a:cubicBezTo>
                    <a:pt x="21212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0" name="Freeform 239">
              <a:extLst>
                <a:ext uri="{FF2B5EF4-FFF2-40B4-BE49-F238E27FC236}">
                  <a16:creationId xmlns:a16="http://schemas.microsoft.com/office/drawing/2014/main" id="{78C46871-BCAD-E8C1-F054-1C66B0A270B1}"/>
                </a:ext>
              </a:extLst>
            </p:cNvPr>
            <p:cNvSpPr/>
            <p:nvPr/>
          </p:nvSpPr>
          <p:spPr>
            <a:xfrm>
              <a:off x="3392958" y="3818804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41" name="TextBox 240">
            <a:extLst>
              <a:ext uri="{FF2B5EF4-FFF2-40B4-BE49-F238E27FC236}">
                <a16:creationId xmlns:a16="http://schemas.microsoft.com/office/drawing/2014/main" id="{F4BD01B2-1320-ACD2-5A32-86B18AF7DE21}"/>
              </a:ext>
            </a:extLst>
          </p:cNvPr>
          <p:cNvSpPr txBox="1"/>
          <p:nvPr/>
        </p:nvSpPr>
        <p:spPr>
          <a:xfrm>
            <a:off x="3441647" y="3663398"/>
            <a:ext cx="1191264" cy="187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b="1" spc="0" baseline="0">
                <a:ln/>
                <a:solidFill>
                  <a:srgbClr val="22314A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Threat conditioning (ImEx)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B4496242-BEDD-9F7F-A73F-BA6D9B882D2B}"/>
              </a:ext>
            </a:extLst>
          </p:cNvPr>
          <p:cNvSpPr txBox="1"/>
          <p:nvPr/>
        </p:nvSpPr>
        <p:spPr>
          <a:xfrm>
            <a:off x="3441647" y="3783392"/>
            <a:ext cx="645377" cy="174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25" i="1" spc="0" baseline="0">
                <a:ln/>
                <a:solidFill>
                  <a:srgbClr val="7C8598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Reddan · 2018</a:t>
            </a:r>
          </a:p>
        </p:txBody>
      </p:sp>
      <p:sp>
        <p:nvSpPr>
          <p:cNvPr id="243" name="Freeform 242">
            <a:extLst>
              <a:ext uri="{FF2B5EF4-FFF2-40B4-BE49-F238E27FC236}">
                <a16:creationId xmlns:a16="http://schemas.microsoft.com/office/drawing/2014/main" id="{2FC64D3F-441A-5A9C-438C-5DD383951F19}"/>
              </a:ext>
            </a:extLst>
          </p:cNvPr>
          <p:cNvSpPr/>
          <p:nvPr/>
        </p:nvSpPr>
        <p:spPr>
          <a:xfrm>
            <a:off x="3083130" y="3543134"/>
            <a:ext cx="128558" cy="623745"/>
          </a:xfrm>
          <a:custGeom>
            <a:avLst/>
            <a:gdLst>
              <a:gd name="csX0" fmla="*/ 0 w 128558"/>
              <a:gd name="csY0" fmla="*/ 0 h 623745"/>
              <a:gd name="csX1" fmla="*/ 128559 w 128558"/>
              <a:gd name="csY1" fmla="*/ 623746 h 62374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8558" h="623745">
                <a:moveTo>
                  <a:pt x="0" y="0"/>
                </a:moveTo>
                <a:cubicBezTo>
                  <a:pt x="0" y="623746"/>
                  <a:pt x="64279" y="623746"/>
                  <a:pt x="128559" y="623746"/>
                </a:cubicBezTo>
              </a:path>
            </a:pathLst>
          </a:custGeom>
          <a:noFill/>
          <a:ln w="12851" cap="flat">
            <a:solidFill>
              <a:srgbClr val="8A6FC0">
                <a:alpha val="4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44" name="Rounded Rectangle 243">
            <a:extLst>
              <a:ext uri="{FF2B5EF4-FFF2-40B4-BE49-F238E27FC236}">
                <a16:creationId xmlns:a16="http://schemas.microsoft.com/office/drawing/2014/main" id="{145C4BAF-B1FC-42A0-FE5B-F173D0118709}"/>
              </a:ext>
            </a:extLst>
          </p:cNvPr>
          <p:cNvSpPr/>
          <p:nvPr/>
        </p:nvSpPr>
        <p:spPr>
          <a:xfrm>
            <a:off x="3211689" y="4012551"/>
            <a:ext cx="1722690" cy="308657"/>
          </a:xfrm>
          <a:prstGeom prst="roundRect">
            <a:avLst>
              <a:gd name="adj" fmla="val 24990"/>
            </a:avLst>
          </a:prstGeom>
          <a:solidFill>
            <a:srgbClr val="FFFFFF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45" name="Rounded Rectangle 244">
            <a:extLst>
              <a:ext uri="{FF2B5EF4-FFF2-40B4-BE49-F238E27FC236}">
                <a16:creationId xmlns:a16="http://schemas.microsoft.com/office/drawing/2014/main" id="{607FA8FA-3367-23AA-1B35-4F119E6FBD10}"/>
              </a:ext>
            </a:extLst>
          </p:cNvPr>
          <p:cNvSpPr/>
          <p:nvPr/>
        </p:nvSpPr>
        <p:spPr>
          <a:xfrm>
            <a:off x="3211689" y="4012551"/>
            <a:ext cx="32139" cy="308657"/>
          </a:xfrm>
          <a:prstGeom prst="roundRect">
            <a:avLst>
              <a:gd name="adj" fmla="val 50000"/>
            </a:avLst>
          </a:prstGeom>
          <a:solidFill>
            <a:srgbClr val="8A6FC0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46" name="Oval 245">
            <a:extLst>
              <a:ext uri="{FF2B5EF4-FFF2-40B4-BE49-F238E27FC236}">
                <a16:creationId xmlns:a16="http://schemas.microsoft.com/office/drawing/2014/main" id="{1C023758-1FF1-D205-5D48-C5BAAB0D7E57}"/>
              </a:ext>
            </a:extLst>
          </p:cNvPr>
          <p:cNvSpPr/>
          <p:nvPr/>
        </p:nvSpPr>
        <p:spPr>
          <a:xfrm>
            <a:off x="3282397" y="4070424"/>
            <a:ext cx="192838" cy="192911"/>
          </a:xfrm>
          <a:prstGeom prst="ellipse">
            <a:avLst/>
          </a:prstGeom>
          <a:solidFill>
            <a:srgbClr val="EEEAF7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247" name="Graphic 2">
            <a:extLst>
              <a:ext uri="{FF2B5EF4-FFF2-40B4-BE49-F238E27FC236}">
                <a16:creationId xmlns:a16="http://schemas.microsoft.com/office/drawing/2014/main" id="{647D3B84-770D-3B01-108A-B279BC32E2C7}"/>
              </a:ext>
            </a:extLst>
          </p:cNvPr>
          <p:cNvGrpSpPr/>
          <p:nvPr/>
        </p:nvGrpSpPr>
        <p:grpSpPr>
          <a:xfrm>
            <a:off x="3303545" y="4102126"/>
            <a:ext cx="156391" cy="131501"/>
            <a:chOff x="3303545" y="4102126"/>
            <a:chExt cx="156391" cy="131501"/>
          </a:xfrm>
        </p:grpSpPr>
        <p:sp>
          <p:nvSpPr>
            <p:cNvPr id="248" name="Freeform 247">
              <a:extLst>
                <a:ext uri="{FF2B5EF4-FFF2-40B4-BE49-F238E27FC236}">
                  <a16:creationId xmlns:a16="http://schemas.microsoft.com/office/drawing/2014/main" id="{7D8C2B59-829F-98F7-253F-DAED37278B71}"/>
                </a:ext>
              </a:extLst>
            </p:cNvPr>
            <p:cNvSpPr/>
            <p:nvPr/>
          </p:nvSpPr>
          <p:spPr>
            <a:xfrm>
              <a:off x="3303545" y="4102126"/>
              <a:ext cx="156391" cy="131501"/>
            </a:xfrm>
            <a:custGeom>
              <a:avLst/>
              <a:gdLst>
                <a:gd name="csX0" fmla="*/ 152792 w 156391"/>
                <a:gd name="csY0" fmla="*/ 64754 h 131501"/>
                <a:gd name="csX1" fmla="*/ 155171 w 156391"/>
                <a:gd name="csY1" fmla="*/ 58709 h 131501"/>
                <a:gd name="csX2" fmla="*/ 156392 w 156391"/>
                <a:gd name="csY2" fmla="*/ 52343 h 131501"/>
                <a:gd name="csX3" fmla="*/ 156199 w 156391"/>
                <a:gd name="csY3" fmla="*/ 45913 h 131501"/>
                <a:gd name="csX4" fmla="*/ 154399 w 156391"/>
                <a:gd name="csY4" fmla="*/ 39740 h 131501"/>
                <a:gd name="csX5" fmla="*/ 151121 w 156391"/>
                <a:gd name="csY5" fmla="*/ 34081 h 131501"/>
                <a:gd name="csX6" fmla="*/ 146557 w 156391"/>
                <a:gd name="csY6" fmla="*/ 29001 h 131501"/>
                <a:gd name="csX7" fmla="*/ 141029 w 156391"/>
                <a:gd name="csY7" fmla="*/ 24757 h 131501"/>
                <a:gd name="csX8" fmla="*/ 134987 w 156391"/>
                <a:gd name="csY8" fmla="*/ 21220 h 131501"/>
                <a:gd name="csX9" fmla="*/ 128752 w 156391"/>
                <a:gd name="csY9" fmla="*/ 18327 h 131501"/>
                <a:gd name="csX10" fmla="*/ 122645 w 156391"/>
                <a:gd name="csY10" fmla="*/ 15754 h 131501"/>
                <a:gd name="csX11" fmla="*/ 116667 w 156391"/>
                <a:gd name="csY11" fmla="*/ 13375 h 131501"/>
                <a:gd name="csX12" fmla="*/ 111011 w 156391"/>
                <a:gd name="csY12" fmla="*/ 11060 h 131501"/>
                <a:gd name="csX13" fmla="*/ 105418 w 156391"/>
                <a:gd name="csY13" fmla="*/ 8617 h 131501"/>
                <a:gd name="csX14" fmla="*/ 99826 w 156391"/>
                <a:gd name="csY14" fmla="*/ 6238 h 131501"/>
                <a:gd name="csX15" fmla="*/ 94041 w 156391"/>
                <a:gd name="csY15" fmla="*/ 3922 h 131501"/>
                <a:gd name="csX16" fmla="*/ 87999 w 156391"/>
                <a:gd name="csY16" fmla="*/ 1993 h 131501"/>
                <a:gd name="csX17" fmla="*/ 81764 w 156391"/>
                <a:gd name="csY17" fmla="*/ 643 h 131501"/>
                <a:gd name="csX18" fmla="*/ 75271 w 156391"/>
                <a:gd name="csY18" fmla="*/ 0 h 131501"/>
                <a:gd name="csX19" fmla="*/ 68779 w 156391"/>
                <a:gd name="csY19" fmla="*/ 129 h 131501"/>
                <a:gd name="csX20" fmla="*/ 62351 w 156391"/>
                <a:gd name="csY20" fmla="*/ 1157 h 131501"/>
                <a:gd name="csX21" fmla="*/ 56180 w 156391"/>
                <a:gd name="csY21" fmla="*/ 2829 h 131501"/>
                <a:gd name="csX22" fmla="*/ 50202 w 156391"/>
                <a:gd name="csY22" fmla="*/ 4952 h 131501"/>
                <a:gd name="csX23" fmla="*/ 44481 w 156391"/>
                <a:gd name="csY23" fmla="*/ 7459 h 131501"/>
                <a:gd name="csX24" fmla="*/ 38953 w 156391"/>
                <a:gd name="csY24" fmla="*/ 10160 h 131501"/>
                <a:gd name="csX25" fmla="*/ 33490 w 156391"/>
                <a:gd name="csY25" fmla="*/ 12925 h 131501"/>
                <a:gd name="csX26" fmla="*/ 27962 w 156391"/>
                <a:gd name="csY26" fmla="*/ 15819 h 131501"/>
                <a:gd name="csX27" fmla="*/ 22433 w 156391"/>
                <a:gd name="csY27" fmla="*/ 18841 h 131501"/>
                <a:gd name="csX28" fmla="*/ 16970 w 156391"/>
                <a:gd name="csY28" fmla="*/ 22314 h 131501"/>
                <a:gd name="csX29" fmla="*/ 11892 w 156391"/>
                <a:gd name="csY29" fmla="*/ 26236 h 131501"/>
                <a:gd name="csX30" fmla="*/ 7392 w 156391"/>
                <a:gd name="csY30" fmla="*/ 30737 h 131501"/>
                <a:gd name="csX31" fmla="*/ 3728 w 156391"/>
                <a:gd name="csY31" fmla="*/ 35817 h 131501"/>
                <a:gd name="csX32" fmla="*/ 1221 w 156391"/>
                <a:gd name="csY32" fmla="*/ 41347 h 131501"/>
                <a:gd name="csX33" fmla="*/ 0 w 156391"/>
                <a:gd name="csY33" fmla="*/ 47263 h 131501"/>
                <a:gd name="csX34" fmla="*/ 0 w 156391"/>
                <a:gd name="csY34" fmla="*/ 53244 h 131501"/>
                <a:gd name="csX35" fmla="*/ 1093 w 156391"/>
                <a:gd name="csY35" fmla="*/ 59095 h 131501"/>
                <a:gd name="csX36" fmla="*/ 2892 w 156391"/>
                <a:gd name="csY36" fmla="*/ 64754 h 131501"/>
                <a:gd name="csX37" fmla="*/ 5014 w 156391"/>
                <a:gd name="csY37" fmla="*/ 70091 h 131501"/>
                <a:gd name="csX38" fmla="*/ 7264 w 156391"/>
                <a:gd name="csY38" fmla="*/ 75171 h 131501"/>
                <a:gd name="csX39" fmla="*/ 9192 w 156391"/>
                <a:gd name="csY39" fmla="*/ 80123 h 131501"/>
                <a:gd name="csX40" fmla="*/ 10799 w 156391"/>
                <a:gd name="csY40" fmla="*/ 85138 h 131501"/>
                <a:gd name="csX41" fmla="*/ 12149 w 156391"/>
                <a:gd name="csY41" fmla="*/ 90347 h 131501"/>
                <a:gd name="csX42" fmla="*/ 13370 w 156391"/>
                <a:gd name="csY42" fmla="*/ 95813 h 131501"/>
                <a:gd name="csX43" fmla="*/ 14784 w 156391"/>
                <a:gd name="csY43" fmla="*/ 101535 h 131501"/>
                <a:gd name="csX44" fmla="*/ 16777 w 156391"/>
                <a:gd name="csY44" fmla="*/ 107387 h 131501"/>
                <a:gd name="csX45" fmla="*/ 19605 w 156391"/>
                <a:gd name="csY45" fmla="*/ 113110 h 131501"/>
                <a:gd name="csX46" fmla="*/ 23398 w 156391"/>
                <a:gd name="csY46" fmla="*/ 118383 h 131501"/>
                <a:gd name="csX47" fmla="*/ 28283 w 156391"/>
                <a:gd name="csY47" fmla="*/ 123013 h 131501"/>
                <a:gd name="csX48" fmla="*/ 34068 w 156391"/>
                <a:gd name="csY48" fmla="*/ 126678 h 131501"/>
                <a:gd name="csX49" fmla="*/ 40624 w 156391"/>
                <a:gd name="csY49" fmla="*/ 129315 h 131501"/>
                <a:gd name="csX50" fmla="*/ 47567 w 156391"/>
                <a:gd name="csY50" fmla="*/ 130858 h 131501"/>
                <a:gd name="csX51" fmla="*/ 54638 w 156391"/>
                <a:gd name="csY51" fmla="*/ 131501 h 131501"/>
                <a:gd name="csX52" fmla="*/ 61708 w 156391"/>
                <a:gd name="csY52" fmla="*/ 131501 h 131501"/>
                <a:gd name="csX53" fmla="*/ 68586 w 156391"/>
                <a:gd name="csY53" fmla="*/ 130922 h 131501"/>
                <a:gd name="csX54" fmla="*/ 75271 w 156391"/>
                <a:gd name="csY54" fmla="*/ 130151 h 131501"/>
                <a:gd name="csX55" fmla="*/ 81764 w 156391"/>
                <a:gd name="csY55" fmla="*/ 129122 h 131501"/>
                <a:gd name="csX56" fmla="*/ 88127 w 156391"/>
                <a:gd name="csY56" fmla="*/ 127965 h 131501"/>
                <a:gd name="csX57" fmla="*/ 94362 w 156391"/>
                <a:gd name="csY57" fmla="*/ 126614 h 131501"/>
                <a:gd name="csX58" fmla="*/ 100469 w 156391"/>
                <a:gd name="csY58" fmla="*/ 124942 h 131501"/>
                <a:gd name="csX59" fmla="*/ 106382 w 156391"/>
                <a:gd name="csY59" fmla="*/ 122756 h 131501"/>
                <a:gd name="csX60" fmla="*/ 111975 w 156391"/>
                <a:gd name="csY60" fmla="*/ 119927 h 131501"/>
                <a:gd name="csX61" fmla="*/ 116989 w 156391"/>
                <a:gd name="csY61" fmla="*/ 116518 h 131501"/>
                <a:gd name="csX62" fmla="*/ 121424 w 156391"/>
                <a:gd name="csY62" fmla="*/ 112531 h 131501"/>
                <a:gd name="csX63" fmla="*/ 125216 w 156391"/>
                <a:gd name="csY63" fmla="*/ 108159 h 131501"/>
                <a:gd name="csX64" fmla="*/ 128430 w 156391"/>
                <a:gd name="csY64" fmla="*/ 103465 h 131501"/>
                <a:gd name="csX65" fmla="*/ 131194 w 156391"/>
                <a:gd name="csY65" fmla="*/ 98770 h 131501"/>
                <a:gd name="csX66" fmla="*/ 133830 w 156391"/>
                <a:gd name="csY66" fmla="*/ 94076 h 131501"/>
                <a:gd name="csX67" fmla="*/ 136465 w 156391"/>
                <a:gd name="csY67" fmla="*/ 89511 h 131501"/>
                <a:gd name="csX68" fmla="*/ 139422 w 156391"/>
                <a:gd name="csY68" fmla="*/ 85010 h 131501"/>
                <a:gd name="csX69" fmla="*/ 142636 w 156391"/>
                <a:gd name="csY69" fmla="*/ 80444 h 131501"/>
                <a:gd name="csX70" fmla="*/ 146107 w 156391"/>
                <a:gd name="csY70" fmla="*/ 75621 h 131501"/>
                <a:gd name="csX71" fmla="*/ 149643 w 156391"/>
                <a:gd name="csY71" fmla="*/ 70413 h 131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156391" h="131501">
                  <a:moveTo>
                    <a:pt x="152792" y="64754"/>
                  </a:moveTo>
                  <a:lnTo>
                    <a:pt x="155171" y="58709"/>
                  </a:lnTo>
                  <a:lnTo>
                    <a:pt x="156392" y="52343"/>
                  </a:lnTo>
                  <a:lnTo>
                    <a:pt x="156199" y="45913"/>
                  </a:lnTo>
                  <a:lnTo>
                    <a:pt x="154399" y="39740"/>
                  </a:lnTo>
                  <a:lnTo>
                    <a:pt x="151121" y="34081"/>
                  </a:lnTo>
                  <a:lnTo>
                    <a:pt x="146557" y="29001"/>
                  </a:lnTo>
                  <a:lnTo>
                    <a:pt x="141029" y="24757"/>
                  </a:lnTo>
                  <a:lnTo>
                    <a:pt x="134987" y="21220"/>
                  </a:lnTo>
                  <a:lnTo>
                    <a:pt x="128752" y="18327"/>
                  </a:lnTo>
                  <a:lnTo>
                    <a:pt x="122645" y="15754"/>
                  </a:lnTo>
                  <a:lnTo>
                    <a:pt x="116667" y="13375"/>
                  </a:lnTo>
                  <a:lnTo>
                    <a:pt x="111011" y="11060"/>
                  </a:lnTo>
                  <a:lnTo>
                    <a:pt x="105418" y="8617"/>
                  </a:lnTo>
                  <a:lnTo>
                    <a:pt x="99826" y="6238"/>
                  </a:lnTo>
                  <a:lnTo>
                    <a:pt x="94041" y="3922"/>
                  </a:lnTo>
                  <a:lnTo>
                    <a:pt x="87999" y="1993"/>
                  </a:lnTo>
                  <a:lnTo>
                    <a:pt x="81764" y="643"/>
                  </a:lnTo>
                  <a:lnTo>
                    <a:pt x="75271" y="0"/>
                  </a:lnTo>
                  <a:lnTo>
                    <a:pt x="68779" y="129"/>
                  </a:lnTo>
                  <a:lnTo>
                    <a:pt x="62351" y="1157"/>
                  </a:lnTo>
                  <a:lnTo>
                    <a:pt x="56180" y="2829"/>
                  </a:lnTo>
                  <a:lnTo>
                    <a:pt x="50202" y="4952"/>
                  </a:lnTo>
                  <a:lnTo>
                    <a:pt x="44481" y="7459"/>
                  </a:lnTo>
                  <a:lnTo>
                    <a:pt x="38953" y="10160"/>
                  </a:lnTo>
                  <a:lnTo>
                    <a:pt x="33490" y="12925"/>
                  </a:lnTo>
                  <a:lnTo>
                    <a:pt x="27962" y="15819"/>
                  </a:lnTo>
                  <a:lnTo>
                    <a:pt x="22433" y="18841"/>
                  </a:lnTo>
                  <a:lnTo>
                    <a:pt x="16970" y="22314"/>
                  </a:lnTo>
                  <a:lnTo>
                    <a:pt x="11892" y="26236"/>
                  </a:lnTo>
                  <a:lnTo>
                    <a:pt x="7392" y="30737"/>
                  </a:lnTo>
                  <a:lnTo>
                    <a:pt x="3728" y="35817"/>
                  </a:lnTo>
                  <a:lnTo>
                    <a:pt x="1221" y="41347"/>
                  </a:lnTo>
                  <a:lnTo>
                    <a:pt x="0" y="47263"/>
                  </a:lnTo>
                  <a:lnTo>
                    <a:pt x="0" y="53244"/>
                  </a:lnTo>
                  <a:lnTo>
                    <a:pt x="1093" y="59095"/>
                  </a:lnTo>
                  <a:lnTo>
                    <a:pt x="2892" y="64754"/>
                  </a:lnTo>
                  <a:lnTo>
                    <a:pt x="5014" y="70091"/>
                  </a:lnTo>
                  <a:lnTo>
                    <a:pt x="7264" y="75171"/>
                  </a:lnTo>
                  <a:lnTo>
                    <a:pt x="9192" y="80123"/>
                  </a:lnTo>
                  <a:lnTo>
                    <a:pt x="10799" y="85138"/>
                  </a:lnTo>
                  <a:lnTo>
                    <a:pt x="12149" y="90347"/>
                  </a:lnTo>
                  <a:lnTo>
                    <a:pt x="13370" y="95813"/>
                  </a:lnTo>
                  <a:lnTo>
                    <a:pt x="14784" y="101535"/>
                  </a:lnTo>
                  <a:lnTo>
                    <a:pt x="16777" y="107387"/>
                  </a:lnTo>
                  <a:lnTo>
                    <a:pt x="19605" y="113110"/>
                  </a:lnTo>
                  <a:lnTo>
                    <a:pt x="23398" y="118383"/>
                  </a:lnTo>
                  <a:lnTo>
                    <a:pt x="28283" y="123013"/>
                  </a:lnTo>
                  <a:lnTo>
                    <a:pt x="34068" y="126678"/>
                  </a:lnTo>
                  <a:lnTo>
                    <a:pt x="40624" y="129315"/>
                  </a:lnTo>
                  <a:lnTo>
                    <a:pt x="47567" y="130858"/>
                  </a:lnTo>
                  <a:lnTo>
                    <a:pt x="54638" y="131501"/>
                  </a:lnTo>
                  <a:lnTo>
                    <a:pt x="61708" y="131501"/>
                  </a:lnTo>
                  <a:lnTo>
                    <a:pt x="68586" y="130922"/>
                  </a:lnTo>
                  <a:lnTo>
                    <a:pt x="75271" y="130151"/>
                  </a:lnTo>
                  <a:lnTo>
                    <a:pt x="81764" y="129122"/>
                  </a:lnTo>
                  <a:lnTo>
                    <a:pt x="88127" y="127965"/>
                  </a:lnTo>
                  <a:lnTo>
                    <a:pt x="94362" y="126614"/>
                  </a:lnTo>
                  <a:lnTo>
                    <a:pt x="100469" y="124942"/>
                  </a:lnTo>
                  <a:lnTo>
                    <a:pt x="106382" y="122756"/>
                  </a:lnTo>
                  <a:lnTo>
                    <a:pt x="111975" y="119927"/>
                  </a:lnTo>
                  <a:lnTo>
                    <a:pt x="116989" y="116518"/>
                  </a:lnTo>
                  <a:lnTo>
                    <a:pt x="121424" y="112531"/>
                  </a:lnTo>
                  <a:lnTo>
                    <a:pt x="125216" y="108159"/>
                  </a:lnTo>
                  <a:lnTo>
                    <a:pt x="128430" y="103465"/>
                  </a:lnTo>
                  <a:lnTo>
                    <a:pt x="131194" y="98770"/>
                  </a:lnTo>
                  <a:lnTo>
                    <a:pt x="133830" y="94076"/>
                  </a:lnTo>
                  <a:lnTo>
                    <a:pt x="136465" y="89511"/>
                  </a:lnTo>
                  <a:lnTo>
                    <a:pt x="139422" y="85010"/>
                  </a:lnTo>
                  <a:lnTo>
                    <a:pt x="142636" y="80444"/>
                  </a:lnTo>
                  <a:lnTo>
                    <a:pt x="146107" y="75621"/>
                  </a:lnTo>
                  <a:lnTo>
                    <a:pt x="149643" y="70413"/>
                  </a:lnTo>
                  <a:close/>
                </a:path>
              </a:pathLst>
            </a:custGeom>
            <a:solidFill>
              <a:srgbClr val="8A6FC0"/>
            </a:solidFill>
            <a:ln w="6425" cap="flat">
              <a:solidFill>
                <a:srgbClr val="5F4A9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9" name="Freeform 248">
              <a:extLst>
                <a:ext uri="{FF2B5EF4-FFF2-40B4-BE49-F238E27FC236}">
                  <a16:creationId xmlns:a16="http://schemas.microsoft.com/office/drawing/2014/main" id="{D6A49796-8727-08D8-5E95-353C95F1A5A5}"/>
                </a:ext>
              </a:extLst>
            </p:cNvPr>
            <p:cNvSpPr/>
            <p:nvPr/>
          </p:nvSpPr>
          <p:spPr>
            <a:xfrm>
              <a:off x="3376775" y="4106048"/>
              <a:ext cx="4082" cy="118833"/>
            </a:xfrm>
            <a:custGeom>
              <a:avLst/>
              <a:gdLst>
                <a:gd name="csX0" fmla="*/ 2041 w 4082"/>
                <a:gd name="csY0" fmla="*/ 0 h 118833"/>
                <a:gd name="csX1" fmla="*/ 2041 w 4082"/>
                <a:gd name="csY1" fmla="*/ 118834 h 118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082" h="118833">
                  <a:moveTo>
                    <a:pt x="2041" y="0"/>
                  </a:moveTo>
                  <a:cubicBezTo>
                    <a:pt x="9112" y="39611"/>
                    <a:pt x="-5030" y="82052"/>
                    <a:pt x="2041" y="118834"/>
                  </a:cubicBezTo>
                </a:path>
              </a:pathLst>
            </a:custGeom>
            <a:noFill/>
            <a:ln w="5462" cap="rnd">
              <a:solidFill>
                <a:srgbClr val="FFFFFF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0" name="Freeform 249">
              <a:extLst>
                <a:ext uri="{FF2B5EF4-FFF2-40B4-BE49-F238E27FC236}">
                  <a16:creationId xmlns:a16="http://schemas.microsoft.com/office/drawing/2014/main" id="{05E2B995-8263-37CB-0FD6-DC92B5C4F7B9}"/>
                </a:ext>
              </a:extLst>
            </p:cNvPr>
            <p:cNvSpPr/>
            <p:nvPr/>
          </p:nvSpPr>
          <p:spPr>
            <a:xfrm>
              <a:off x="3323664" y="4138586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1" y="-1886"/>
                    <a:pt x="21212" y="-1886"/>
                    <a:pt x="21212" y="5659"/>
                  </a:cubicBezTo>
                  <a:cubicBezTo>
                    <a:pt x="21212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1" name="Freeform 250">
              <a:extLst>
                <a:ext uri="{FF2B5EF4-FFF2-40B4-BE49-F238E27FC236}">
                  <a16:creationId xmlns:a16="http://schemas.microsoft.com/office/drawing/2014/main" id="{4FA07D6B-B43F-6482-EE36-70E71ACE2882}"/>
                </a:ext>
              </a:extLst>
            </p:cNvPr>
            <p:cNvSpPr/>
            <p:nvPr/>
          </p:nvSpPr>
          <p:spPr>
            <a:xfrm>
              <a:off x="3327907" y="4177490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2" name="Freeform 251">
              <a:extLst>
                <a:ext uri="{FF2B5EF4-FFF2-40B4-BE49-F238E27FC236}">
                  <a16:creationId xmlns:a16="http://schemas.microsoft.com/office/drawing/2014/main" id="{C09AC9DC-8EE9-2AE9-CDF5-D0BFF473DD6A}"/>
                </a:ext>
              </a:extLst>
            </p:cNvPr>
            <p:cNvSpPr/>
            <p:nvPr/>
          </p:nvSpPr>
          <p:spPr>
            <a:xfrm>
              <a:off x="3391543" y="4140001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1" y="-1886"/>
                    <a:pt x="21212" y="-1886"/>
                    <a:pt x="21212" y="5659"/>
                  </a:cubicBezTo>
                  <a:cubicBezTo>
                    <a:pt x="21212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3" name="Freeform 252">
              <a:extLst>
                <a:ext uri="{FF2B5EF4-FFF2-40B4-BE49-F238E27FC236}">
                  <a16:creationId xmlns:a16="http://schemas.microsoft.com/office/drawing/2014/main" id="{6B0EB5B5-EA00-CF91-28F1-D1418FD167FF}"/>
                </a:ext>
              </a:extLst>
            </p:cNvPr>
            <p:cNvSpPr/>
            <p:nvPr/>
          </p:nvSpPr>
          <p:spPr>
            <a:xfrm>
              <a:off x="3392958" y="4178905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4" name="TextBox 253">
            <a:extLst>
              <a:ext uri="{FF2B5EF4-FFF2-40B4-BE49-F238E27FC236}">
                <a16:creationId xmlns:a16="http://schemas.microsoft.com/office/drawing/2014/main" id="{971D03EE-BB34-21ED-A52E-66A53346A84D}"/>
              </a:ext>
            </a:extLst>
          </p:cNvPr>
          <p:cNvSpPr txBox="1"/>
          <p:nvPr/>
        </p:nvSpPr>
        <p:spPr>
          <a:xfrm>
            <a:off x="3441647" y="4023499"/>
            <a:ext cx="999872" cy="187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b="1" spc="0" baseline="0">
                <a:ln/>
                <a:solidFill>
                  <a:srgbClr val="22314A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Subjective fear (VIFS)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35B0AD71-7F5F-2F17-A26C-1EF2E596C25B}"/>
              </a:ext>
            </a:extLst>
          </p:cNvPr>
          <p:cNvSpPr txBox="1"/>
          <p:nvPr/>
        </p:nvSpPr>
        <p:spPr>
          <a:xfrm>
            <a:off x="3441647" y="4143493"/>
            <a:ext cx="561518" cy="174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25" i="1" spc="0" baseline="0">
                <a:ln/>
                <a:solidFill>
                  <a:srgbClr val="7C8598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Zhou · 2021</a:t>
            </a:r>
          </a:p>
        </p:txBody>
      </p:sp>
      <p:sp>
        <p:nvSpPr>
          <p:cNvPr id="256" name="Freeform 255">
            <a:extLst>
              <a:ext uri="{FF2B5EF4-FFF2-40B4-BE49-F238E27FC236}">
                <a16:creationId xmlns:a16="http://schemas.microsoft.com/office/drawing/2014/main" id="{680440B1-12CD-F002-81B1-755CDAC066CC}"/>
              </a:ext>
            </a:extLst>
          </p:cNvPr>
          <p:cNvSpPr/>
          <p:nvPr/>
        </p:nvSpPr>
        <p:spPr>
          <a:xfrm>
            <a:off x="3083130" y="3543134"/>
            <a:ext cx="128558" cy="983846"/>
          </a:xfrm>
          <a:custGeom>
            <a:avLst/>
            <a:gdLst>
              <a:gd name="csX0" fmla="*/ 0 w 128558"/>
              <a:gd name="csY0" fmla="*/ 0 h 983846"/>
              <a:gd name="csX1" fmla="*/ 128559 w 128558"/>
              <a:gd name="csY1" fmla="*/ 983847 h 98384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8558" h="983846">
                <a:moveTo>
                  <a:pt x="0" y="0"/>
                </a:moveTo>
                <a:cubicBezTo>
                  <a:pt x="0" y="983847"/>
                  <a:pt x="64279" y="983847"/>
                  <a:pt x="128559" y="983847"/>
                </a:cubicBezTo>
              </a:path>
            </a:pathLst>
          </a:custGeom>
          <a:noFill/>
          <a:ln w="12851" cap="flat">
            <a:solidFill>
              <a:srgbClr val="8A6FC0">
                <a:alpha val="4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57" name="Rounded Rectangle 256">
            <a:extLst>
              <a:ext uri="{FF2B5EF4-FFF2-40B4-BE49-F238E27FC236}">
                <a16:creationId xmlns:a16="http://schemas.microsoft.com/office/drawing/2014/main" id="{1D6804DB-66BC-72C6-8C91-533651E0BF7F}"/>
              </a:ext>
            </a:extLst>
          </p:cNvPr>
          <p:cNvSpPr/>
          <p:nvPr/>
        </p:nvSpPr>
        <p:spPr>
          <a:xfrm>
            <a:off x="3211689" y="4372652"/>
            <a:ext cx="1722690" cy="308657"/>
          </a:xfrm>
          <a:prstGeom prst="roundRect">
            <a:avLst>
              <a:gd name="adj" fmla="val 24990"/>
            </a:avLst>
          </a:prstGeom>
          <a:solidFill>
            <a:srgbClr val="FFFFFF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58" name="Rounded Rectangle 257">
            <a:extLst>
              <a:ext uri="{FF2B5EF4-FFF2-40B4-BE49-F238E27FC236}">
                <a16:creationId xmlns:a16="http://schemas.microsoft.com/office/drawing/2014/main" id="{AC75E39F-A8B3-18CD-5C00-5DF1D9427A41}"/>
              </a:ext>
            </a:extLst>
          </p:cNvPr>
          <p:cNvSpPr/>
          <p:nvPr/>
        </p:nvSpPr>
        <p:spPr>
          <a:xfrm>
            <a:off x="3211689" y="4372652"/>
            <a:ext cx="32139" cy="308657"/>
          </a:xfrm>
          <a:prstGeom prst="roundRect">
            <a:avLst>
              <a:gd name="adj" fmla="val 50000"/>
            </a:avLst>
          </a:prstGeom>
          <a:solidFill>
            <a:srgbClr val="8A6FC0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59" name="Oval 258">
            <a:extLst>
              <a:ext uri="{FF2B5EF4-FFF2-40B4-BE49-F238E27FC236}">
                <a16:creationId xmlns:a16="http://schemas.microsoft.com/office/drawing/2014/main" id="{4A79798C-7DDE-3C97-11E6-C91F005EFE77}"/>
              </a:ext>
            </a:extLst>
          </p:cNvPr>
          <p:cNvSpPr/>
          <p:nvPr/>
        </p:nvSpPr>
        <p:spPr>
          <a:xfrm>
            <a:off x="3282397" y="4430525"/>
            <a:ext cx="192838" cy="192911"/>
          </a:xfrm>
          <a:prstGeom prst="ellipse">
            <a:avLst/>
          </a:prstGeom>
          <a:solidFill>
            <a:srgbClr val="EEEAF7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260" name="Graphic 2">
            <a:extLst>
              <a:ext uri="{FF2B5EF4-FFF2-40B4-BE49-F238E27FC236}">
                <a16:creationId xmlns:a16="http://schemas.microsoft.com/office/drawing/2014/main" id="{A7423577-210A-8DC7-57C8-6D9CD9CB42A1}"/>
              </a:ext>
            </a:extLst>
          </p:cNvPr>
          <p:cNvGrpSpPr/>
          <p:nvPr/>
        </p:nvGrpSpPr>
        <p:grpSpPr>
          <a:xfrm>
            <a:off x="3303545" y="4462227"/>
            <a:ext cx="156391" cy="131501"/>
            <a:chOff x="3303545" y="4462227"/>
            <a:chExt cx="156391" cy="131501"/>
          </a:xfrm>
        </p:grpSpPr>
        <p:sp>
          <p:nvSpPr>
            <p:cNvPr id="261" name="Freeform 260">
              <a:extLst>
                <a:ext uri="{FF2B5EF4-FFF2-40B4-BE49-F238E27FC236}">
                  <a16:creationId xmlns:a16="http://schemas.microsoft.com/office/drawing/2014/main" id="{26529E9A-6317-B86F-6988-D5CD206F7E03}"/>
                </a:ext>
              </a:extLst>
            </p:cNvPr>
            <p:cNvSpPr/>
            <p:nvPr/>
          </p:nvSpPr>
          <p:spPr>
            <a:xfrm>
              <a:off x="3303545" y="4462227"/>
              <a:ext cx="156391" cy="131501"/>
            </a:xfrm>
            <a:custGeom>
              <a:avLst/>
              <a:gdLst>
                <a:gd name="csX0" fmla="*/ 152792 w 156391"/>
                <a:gd name="csY0" fmla="*/ 64754 h 131501"/>
                <a:gd name="csX1" fmla="*/ 155171 w 156391"/>
                <a:gd name="csY1" fmla="*/ 58709 h 131501"/>
                <a:gd name="csX2" fmla="*/ 156392 w 156391"/>
                <a:gd name="csY2" fmla="*/ 52343 h 131501"/>
                <a:gd name="csX3" fmla="*/ 156199 w 156391"/>
                <a:gd name="csY3" fmla="*/ 45913 h 131501"/>
                <a:gd name="csX4" fmla="*/ 154399 w 156391"/>
                <a:gd name="csY4" fmla="*/ 39740 h 131501"/>
                <a:gd name="csX5" fmla="*/ 151121 w 156391"/>
                <a:gd name="csY5" fmla="*/ 34081 h 131501"/>
                <a:gd name="csX6" fmla="*/ 146557 w 156391"/>
                <a:gd name="csY6" fmla="*/ 29001 h 131501"/>
                <a:gd name="csX7" fmla="*/ 141029 w 156391"/>
                <a:gd name="csY7" fmla="*/ 24757 h 131501"/>
                <a:gd name="csX8" fmla="*/ 134987 w 156391"/>
                <a:gd name="csY8" fmla="*/ 21220 h 131501"/>
                <a:gd name="csX9" fmla="*/ 128752 w 156391"/>
                <a:gd name="csY9" fmla="*/ 18327 h 131501"/>
                <a:gd name="csX10" fmla="*/ 122645 w 156391"/>
                <a:gd name="csY10" fmla="*/ 15754 h 131501"/>
                <a:gd name="csX11" fmla="*/ 116667 w 156391"/>
                <a:gd name="csY11" fmla="*/ 13375 h 131501"/>
                <a:gd name="csX12" fmla="*/ 111011 w 156391"/>
                <a:gd name="csY12" fmla="*/ 11060 h 131501"/>
                <a:gd name="csX13" fmla="*/ 105418 w 156391"/>
                <a:gd name="csY13" fmla="*/ 8617 h 131501"/>
                <a:gd name="csX14" fmla="*/ 99826 w 156391"/>
                <a:gd name="csY14" fmla="*/ 6238 h 131501"/>
                <a:gd name="csX15" fmla="*/ 94041 w 156391"/>
                <a:gd name="csY15" fmla="*/ 3922 h 131501"/>
                <a:gd name="csX16" fmla="*/ 87999 w 156391"/>
                <a:gd name="csY16" fmla="*/ 1993 h 131501"/>
                <a:gd name="csX17" fmla="*/ 81764 w 156391"/>
                <a:gd name="csY17" fmla="*/ 643 h 131501"/>
                <a:gd name="csX18" fmla="*/ 75271 w 156391"/>
                <a:gd name="csY18" fmla="*/ 0 h 131501"/>
                <a:gd name="csX19" fmla="*/ 68779 w 156391"/>
                <a:gd name="csY19" fmla="*/ 129 h 131501"/>
                <a:gd name="csX20" fmla="*/ 62351 w 156391"/>
                <a:gd name="csY20" fmla="*/ 1157 h 131501"/>
                <a:gd name="csX21" fmla="*/ 56180 w 156391"/>
                <a:gd name="csY21" fmla="*/ 2829 h 131501"/>
                <a:gd name="csX22" fmla="*/ 50202 w 156391"/>
                <a:gd name="csY22" fmla="*/ 4952 h 131501"/>
                <a:gd name="csX23" fmla="*/ 44481 w 156391"/>
                <a:gd name="csY23" fmla="*/ 7459 h 131501"/>
                <a:gd name="csX24" fmla="*/ 38953 w 156391"/>
                <a:gd name="csY24" fmla="*/ 10160 h 131501"/>
                <a:gd name="csX25" fmla="*/ 33490 w 156391"/>
                <a:gd name="csY25" fmla="*/ 12925 h 131501"/>
                <a:gd name="csX26" fmla="*/ 27962 w 156391"/>
                <a:gd name="csY26" fmla="*/ 15819 h 131501"/>
                <a:gd name="csX27" fmla="*/ 22433 w 156391"/>
                <a:gd name="csY27" fmla="*/ 18841 h 131501"/>
                <a:gd name="csX28" fmla="*/ 16970 w 156391"/>
                <a:gd name="csY28" fmla="*/ 22314 h 131501"/>
                <a:gd name="csX29" fmla="*/ 11892 w 156391"/>
                <a:gd name="csY29" fmla="*/ 26236 h 131501"/>
                <a:gd name="csX30" fmla="*/ 7392 w 156391"/>
                <a:gd name="csY30" fmla="*/ 30737 h 131501"/>
                <a:gd name="csX31" fmla="*/ 3728 w 156391"/>
                <a:gd name="csY31" fmla="*/ 35817 h 131501"/>
                <a:gd name="csX32" fmla="*/ 1221 w 156391"/>
                <a:gd name="csY32" fmla="*/ 41347 h 131501"/>
                <a:gd name="csX33" fmla="*/ 0 w 156391"/>
                <a:gd name="csY33" fmla="*/ 47263 h 131501"/>
                <a:gd name="csX34" fmla="*/ 0 w 156391"/>
                <a:gd name="csY34" fmla="*/ 53244 h 131501"/>
                <a:gd name="csX35" fmla="*/ 1093 w 156391"/>
                <a:gd name="csY35" fmla="*/ 59095 h 131501"/>
                <a:gd name="csX36" fmla="*/ 2892 w 156391"/>
                <a:gd name="csY36" fmla="*/ 64754 h 131501"/>
                <a:gd name="csX37" fmla="*/ 5014 w 156391"/>
                <a:gd name="csY37" fmla="*/ 70091 h 131501"/>
                <a:gd name="csX38" fmla="*/ 7264 w 156391"/>
                <a:gd name="csY38" fmla="*/ 75171 h 131501"/>
                <a:gd name="csX39" fmla="*/ 9192 w 156391"/>
                <a:gd name="csY39" fmla="*/ 80123 h 131501"/>
                <a:gd name="csX40" fmla="*/ 10799 w 156391"/>
                <a:gd name="csY40" fmla="*/ 85138 h 131501"/>
                <a:gd name="csX41" fmla="*/ 12149 w 156391"/>
                <a:gd name="csY41" fmla="*/ 90347 h 131501"/>
                <a:gd name="csX42" fmla="*/ 13370 w 156391"/>
                <a:gd name="csY42" fmla="*/ 95813 h 131501"/>
                <a:gd name="csX43" fmla="*/ 14784 w 156391"/>
                <a:gd name="csY43" fmla="*/ 101535 h 131501"/>
                <a:gd name="csX44" fmla="*/ 16777 w 156391"/>
                <a:gd name="csY44" fmla="*/ 107387 h 131501"/>
                <a:gd name="csX45" fmla="*/ 19605 w 156391"/>
                <a:gd name="csY45" fmla="*/ 113110 h 131501"/>
                <a:gd name="csX46" fmla="*/ 23398 w 156391"/>
                <a:gd name="csY46" fmla="*/ 118383 h 131501"/>
                <a:gd name="csX47" fmla="*/ 28283 w 156391"/>
                <a:gd name="csY47" fmla="*/ 123013 h 131501"/>
                <a:gd name="csX48" fmla="*/ 34068 w 156391"/>
                <a:gd name="csY48" fmla="*/ 126678 h 131501"/>
                <a:gd name="csX49" fmla="*/ 40624 w 156391"/>
                <a:gd name="csY49" fmla="*/ 129315 h 131501"/>
                <a:gd name="csX50" fmla="*/ 47567 w 156391"/>
                <a:gd name="csY50" fmla="*/ 130858 h 131501"/>
                <a:gd name="csX51" fmla="*/ 54638 w 156391"/>
                <a:gd name="csY51" fmla="*/ 131501 h 131501"/>
                <a:gd name="csX52" fmla="*/ 61708 w 156391"/>
                <a:gd name="csY52" fmla="*/ 131501 h 131501"/>
                <a:gd name="csX53" fmla="*/ 68586 w 156391"/>
                <a:gd name="csY53" fmla="*/ 130922 h 131501"/>
                <a:gd name="csX54" fmla="*/ 75271 w 156391"/>
                <a:gd name="csY54" fmla="*/ 130151 h 131501"/>
                <a:gd name="csX55" fmla="*/ 81764 w 156391"/>
                <a:gd name="csY55" fmla="*/ 129122 h 131501"/>
                <a:gd name="csX56" fmla="*/ 88127 w 156391"/>
                <a:gd name="csY56" fmla="*/ 127965 h 131501"/>
                <a:gd name="csX57" fmla="*/ 94362 w 156391"/>
                <a:gd name="csY57" fmla="*/ 126614 h 131501"/>
                <a:gd name="csX58" fmla="*/ 100469 w 156391"/>
                <a:gd name="csY58" fmla="*/ 124942 h 131501"/>
                <a:gd name="csX59" fmla="*/ 106382 w 156391"/>
                <a:gd name="csY59" fmla="*/ 122756 h 131501"/>
                <a:gd name="csX60" fmla="*/ 111975 w 156391"/>
                <a:gd name="csY60" fmla="*/ 119927 h 131501"/>
                <a:gd name="csX61" fmla="*/ 116989 w 156391"/>
                <a:gd name="csY61" fmla="*/ 116518 h 131501"/>
                <a:gd name="csX62" fmla="*/ 121424 w 156391"/>
                <a:gd name="csY62" fmla="*/ 112531 h 131501"/>
                <a:gd name="csX63" fmla="*/ 125216 w 156391"/>
                <a:gd name="csY63" fmla="*/ 108159 h 131501"/>
                <a:gd name="csX64" fmla="*/ 128430 w 156391"/>
                <a:gd name="csY64" fmla="*/ 103465 h 131501"/>
                <a:gd name="csX65" fmla="*/ 131194 w 156391"/>
                <a:gd name="csY65" fmla="*/ 98770 h 131501"/>
                <a:gd name="csX66" fmla="*/ 133830 w 156391"/>
                <a:gd name="csY66" fmla="*/ 94076 h 131501"/>
                <a:gd name="csX67" fmla="*/ 136465 w 156391"/>
                <a:gd name="csY67" fmla="*/ 89511 h 131501"/>
                <a:gd name="csX68" fmla="*/ 139422 w 156391"/>
                <a:gd name="csY68" fmla="*/ 85010 h 131501"/>
                <a:gd name="csX69" fmla="*/ 142636 w 156391"/>
                <a:gd name="csY69" fmla="*/ 80444 h 131501"/>
                <a:gd name="csX70" fmla="*/ 146107 w 156391"/>
                <a:gd name="csY70" fmla="*/ 75621 h 131501"/>
                <a:gd name="csX71" fmla="*/ 149643 w 156391"/>
                <a:gd name="csY71" fmla="*/ 70413 h 131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156391" h="131501">
                  <a:moveTo>
                    <a:pt x="152792" y="64754"/>
                  </a:moveTo>
                  <a:lnTo>
                    <a:pt x="155171" y="58709"/>
                  </a:lnTo>
                  <a:lnTo>
                    <a:pt x="156392" y="52343"/>
                  </a:lnTo>
                  <a:lnTo>
                    <a:pt x="156199" y="45913"/>
                  </a:lnTo>
                  <a:lnTo>
                    <a:pt x="154399" y="39740"/>
                  </a:lnTo>
                  <a:lnTo>
                    <a:pt x="151121" y="34081"/>
                  </a:lnTo>
                  <a:lnTo>
                    <a:pt x="146557" y="29001"/>
                  </a:lnTo>
                  <a:lnTo>
                    <a:pt x="141029" y="24757"/>
                  </a:lnTo>
                  <a:lnTo>
                    <a:pt x="134987" y="21220"/>
                  </a:lnTo>
                  <a:lnTo>
                    <a:pt x="128752" y="18327"/>
                  </a:lnTo>
                  <a:lnTo>
                    <a:pt x="122645" y="15754"/>
                  </a:lnTo>
                  <a:lnTo>
                    <a:pt x="116667" y="13375"/>
                  </a:lnTo>
                  <a:lnTo>
                    <a:pt x="111011" y="11060"/>
                  </a:lnTo>
                  <a:lnTo>
                    <a:pt x="105418" y="8617"/>
                  </a:lnTo>
                  <a:lnTo>
                    <a:pt x="99826" y="6238"/>
                  </a:lnTo>
                  <a:lnTo>
                    <a:pt x="94041" y="3922"/>
                  </a:lnTo>
                  <a:lnTo>
                    <a:pt x="87999" y="1993"/>
                  </a:lnTo>
                  <a:lnTo>
                    <a:pt x="81764" y="643"/>
                  </a:lnTo>
                  <a:lnTo>
                    <a:pt x="75271" y="0"/>
                  </a:lnTo>
                  <a:lnTo>
                    <a:pt x="68779" y="129"/>
                  </a:lnTo>
                  <a:lnTo>
                    <a:pt x="62351" y="1157"/>
                  </a:lnTo>
                  <a:lnTo>
                    <a:pt x="56180" y="2829"/>
                  </a:lnTo>
                  <a:lnTo>
                    <a:pt x="50202" y="4952"/>
                  </a:lnTo>
                  <a:lnTo>
                    <a:pt x="44481" y="7459"/>
                  </a:lnTo>
                  <a:lnTo>
                    <a:pt x="38953" y="10160"/>
                  </a:lnTo>
                  <a:lnTo>
                    <a:pt x="33490" y="12925"/>
                  </a:lnTo>
                  <a:lnTo>
                    <a:pt x="27962" y="15819"/>
                  </a:lnTo>
                  <a:lnTo>
                    <a:pt x="22433" y="18841"/>
                  </a:lnTo>
                  <a:lnTo>
                    <a:pt x="16970" y="22314"/>
                  </a:lnTo>
                  <a:lnTo>
                    <a:pt x="11892" y="26236"/>
                  </a:lnTo>
                  <a:lnTo>
                    <a:pt x="7392" y="30737"/>
                  </a:lnTo>
                  <a:lnTo>
                    <a:pt x="3728" y="35817"/>
                  </a:lnTo>
                  <a:lnTo>
                    <a:pt x="1221" y="41347"/>
                  </a:lnTo>
                  <a:lnTo>
                    <a:pt x="0" y="47263"/>
                  </a:lnTo>
                  <a:lnTo>
                    <a:pt x="0" y="53244"/>
                  </a:lnTo>
                  <a:lnTo>
                    <a:pt x="1093" y="59095"/>
                  </a:lnTo>
                  <a:lnTo>
                    <a:pt x="2892" y="64754"/>
                  </a:lnTo>
                  <a:lnTo>
                    <a:pt x="5014" y="70091"/>
                  </a:lnTo>
                  <a:lnTo>
                    <a:pt x="7264" y="75171"/>
                  </a:lnTo>
                  <a:lnTo>
                    <a:pt x="9192" y="80123"/>
                  </a:lnTo>
                  <a:lnTo>
                    <a:pt x="10799" y="85138"/>
                  </a:lnTo>
                  <a:lnTo>
                    <a:pt x="12149" y="90347"/>
                  </a:lnTo>
                  <a:lnTo>
                    <a:pt x="13370" y="95813"/>
                  </a:lnTo>
                  <a:lnTo>
                    <a:pt x="14784" y="101535"/>
                  </a:lnTo>
                  <a:lnTo>
                    <a:pt x="16777" y="107387"/>
                  </a:lnTo>
                  <a:lnTo>
                    <a:pt x="19605" y="113110"/>
                  </a:lnTo>
                  <a:lnTo>
                    <a:pt x="23398" y="118383"/>
                  </a:lnTo>
                  <a:lnTo>
                    <a:pt x="28283" y="123013"/>
                  </a:lnTo>
                  <a:lnTo>
                    <a:pt x="34068" y="126678"/>
                  </a:lnTo>
                  <a:lnTo>
                    <a:pt x="40624" y="129315"/>
                  </a:lnTo>
                  <a:lnTo>
                    <a:pt x="47567" y="130858"/>
                  </a:lnTo>
                  <a:lnTo>
                    <a:pt x="54638" y="131501"/>
                  </a:lnTo>
                  <a:lnTo>
                    <a:pt x="61708" y="131501"/>
                  </a:lnTo>
                  <a:lnTo>
                    <a:pt x="68586" y="130922"/>
                  </a:lnTo>
                  <a:lnTo>
                    <a:pt x="75271" y="130151"/>
                  </a:lnTo>
                  <a:lnTo>
                    <a:pt x="81764" y="129122"/>
                  </a:lnTo>
                  <a:lnTo>
                    <a:pt x="88127" y="127965"/>
                  </a:lnTo>
                  <a:lnTo>
                    <a:pt x="94362" y="126614"/>
                  </a:lnTo>
                  <a:lnTo>
                    <a:pt x="100469" y="124942"/>
                  </a:lnTo>
                  <a:lnTo>
                    <a:pt x="106382" y="122756"/>
                  </a:lnTo>
                  <a:lnTo>
                    <a:pt x="111975" y="119927"/>
                  </a:lnTo>
                  <a:lnTo>
                    <a:pt x="116989" y="116518"/>
                  </a:lnTo>
                  <a:lnTo>
                    <a:pt x="121424" y="112531"/>
                  </a:lnTo>
                  <a:lnTo>
                    <a:pt x="125216" y="108159"/>
                  </a:lnTo>
                  <a:lnTo>
                    <a:pt x="128430" y="103465"/>
                  </a:lnTo>
                  <a:lnTo>
                    <a:pt x="131194" y="98770"/>
                  </a:lnTo>
                  <a:lnTo>
                    <a:pt x="133830" y="94076"/>
                  </a:lnTo>
                  <a:lnTo>
                    <a:pt x="136465" y="89511"/>
                  </a:lnTo>
                  <a:lnTo>
                    <a:pt x="139422" y="85010"/>
                  </a:lnTo>
                  <a:lnTo>
                    <a:pt x="142636" y="80444"/>
                  </a:lnTo>
                  <a:lnTo>
                    <a:pt x="146107" y="75621"/>
                  </a:lnTo>
                  <a:lnTo>
                    <a:pt x="149643" y="70413"/>
                  </a:lnTo>
                  <a:close/>
                </a:path>
              </a:pathLst>
            </a:custGeom>
            <a:solidFill>
              <a:srgbClr val="8A6FC0"/>
            </a:solidFill>
            <a:ln w="6425" cap="flat">
              <a:solidFill>
                <a:srgbClr val="5F4A9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2" name="Freeform 261">
              <a:extLst>
                <a:ext uri="{FF2B5EF4-FFF2-40B4-BE49-F238E27FC236}">
                  <a16:creationId xmlns:a16="http://schemas.microsoft.com/office/drawing/2014/main" id="{F2B90EFE-69DF-4D98-0FAB-D9414D1923B1}"/>
                </a:ext>
              </a:extLst>
            </p:cNvPr>
            <p:cNvSpPr/>
            <p:nvPr/>
          </p:nvSpPr>
          <p:spPr>
            <a:xfrm>
              <a:off x="3376775" y="4466149"/>
              <a:ext cx="4082" cy="118833"/>
            </a:xfrm>
            <a:custGeom>
              <a:avLst/>
              <a:gdLst>
                <a:gd name="csX0" fmla="*/ 2041 w 4082"/>
                <a:gd name="csY0" fmla="*/ 0 h 118833"/>
                <a:gd name="csX1" fmla="*/ 2041 w 4082"/>
                <a:gd name="csY1" fmla="*/ 118834 h 118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082" h="118833">
                  <a:moveTo>
                    <a:pt x="2041" y="0"/>
                  </a:moveTo>
                  <a:cubicBezTo>
                    <a:pt x="9112" y="39611"/>
                    <a:pt x="-5030" y="82052"/>
                    <a:pt x="2041" y="118834"/>
                  </a:cubicBezTo>
                </a:path>
              </a:pathLst>
            </a:custGeom>
            <a:noFill/>
            <a:ln w="5462" cap="rnd">
              <a:solidFill>
                <a:srgbClr val="FFFFFF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3" name="Freeform 262">
              <a:extLst>
                <a:ext uri="{FF2B5EF4-FFF2-40B4-BE49-F238E27FC236}">
                  <a16:creationId xmlns:a16="http://schemas.microsoft.com/office/drawing/2014/main" id="{C2289290-033C-849E-7B16-15245085E1C0}"/>
                </a:ext>
              </a:extLst>
            </p:cNvPr>
            <p:cNvSpPr/>
            <p:nvPr/>
          </p:nvSpPr>
          <p:spPr>
            <a:xfrm>
              <a:off x="3323664" y="4498687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1" y="-1886"/>
                    <a:pt x="21212" y="-1886"/>
                    <a:pt x="21212" y="5659"/>
                  </a:cubicBezTo>
                  <a:cubicBezTo>
                    <a:pt x="21212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4" name="Freeform 263">
              <a:extLst>
                <a:ext uri="{FF2B5EF4-FFF2-40B4-BE49-F238E27FC236}">
                  <a16:creationId xmlns:a16="http://schemas.microsoft.com/office/drawing/2014/main" id="{FDA78E2C-5C27-C39B-9F4A-E81831EBDAC7}"/>
                </a:ext>
              </a:extLst>
            </p:cNvPr>
            <p:cNvSpPr/>
            <p:nvPr/>
          </p:nvSpPr>
          <p:spPr>
            <a:xfrm>
              <a:off x="3327907" y="4537591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5" name="Freeform 264">
              <a:extLst>
                <a:ext uri="{FF2B5EF4-FFF2-40B4-BE49-F238E27FC236}">
                  <a16:creationId xmlns:a16="http://schemas.microsoft.com/office/drawing/2014/main" id="{E9758708-544D-6174-62B2-F211995C6B0C}"/>
                </a:ext>
              </a:extLst>
            </p:cNvPr>
            <p:cNvSpPr/>
            <p:nvPr/>
          </p:nvSpPr>
          <p:spPr>
            <a:xfrm>
              <a:off x="3391543" y="4500102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1" y="-1886"/>
                    <a:pt x="21212" y="-1886"/>
                    <a:pt x="21212" y="5659"/>
                  </a:cubicBezTo>
                  <a:cubicBezTo>
                    <a:pt x="21212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" name="Freeform 265">
              <a:extLst>
                <a:ext uri="{FF2B5EF4-FFF2-40B4-BE49-F238E27FC236}">
                  <a16:creationId xmlns:a16="http://schemas.microsoft.com/office/drawing/2014/main" id="{EC768218-2B5F-BBAB-161A-6D5D1E407E87}"/>
                </a:ext>
              </a:extLst>
            </p:cNvPr>
            <p:cNvSpPr/>
            <p:nvPr/>
          </p:nvSpPr>
          <p:spPr>
            <a:xfrm>
              <a:off x="3392958" y="4539005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7" name="TextBox 266">
            <a:extLst>
              <a:ext uri="{FF2B5EF4-FFF2-40B4-BE49-F238E27FC236}">
                <a16:creationId xmlns:a16="http://schemas.microsoft.com/office/drawing/2014/main" id="{FA461049-879E-BEEE-A5F1-2FABA1FA8821}"/>
              </a:ext>
            </a:extLst>
          </p:cNvPr>
          <p:cNvSpPr txBox="1"/>
          <p:nvPr/>
        </p:nvSpPr>
        <p:spPr>
          <a:xfrm>
            <a:off x="3441647" y="4383599"/>
            <a:ext cx="986293" cy="187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b="1" spc="0" baseline="0">
                <a:ln/>
                <a:solidFill>
                  <a:srgbClr val="22314A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Multiaversive (MPA2)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C84C4ED3-3356-3BFC-B1B3-EDE7F3CA7229}"/>
              </a:ext>
            </a:extLst>
          </p:cNvPr>
          <p:cNvSpPr txBox="1"/>
          <p:nvPr/>
        </p:nvSpPr>
        <p:spPr>
          <a:xfrm>
            <a:off x="3441647" y="4503593"/>
            <a:ext cx="562720" cy="174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25" i="1" spc="0" baseline="0">
                <a:ln/>
                <a:solidFill>
                  <a:srgbClr val="7C8598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Čeko · 2021</a:t>
            </a:r>
          </a:p>
        </p:txBody>
      </p:sp>
      <p:sp>
        <p:nvSpPr>
          <p:cNvPr id="269" name="Oval 268">
            <a:extLst>
              <a:ext uri="{FF2B5EF4-FFF2-40B4-BE49-F238E27FC236}">
                <a16:creationId xmlns:a16="http://schemas.microsoft.com/office/drawing/2014/main" id="{A1CE1C64-920C-E579-D0B3-4EDA5A2BE580}"/>
              </a:ext>
            </a:extLst>
          </p:cNvPr>
          <p:cNvSpPr/>
          <p:nvPr/>
        </p:nvSpPr>
        <p:spPr>
          <a:xfrm>
            <a:off x="3050991" y="4932094"/>
            <a:ext cx="64279" cy="64303"/>
          </a:xfrm>
          <a:prstGeom prst="ellipse">
            <a:avLst/>
          </a:prstGeom>
          <a:solidFill>
            <a:srgbClr val="8A6FC0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43BD6134-CFFD-14D3-5278-5641149BF502}"/>
              </a:ext>
            </a:extLst>
          </p:cNvPr>
          <p:cNvSpPr txBox="1"/>
          <p:nvPr/>
        </p:nvSpPr>
        <p:spPr>
          <a:xfrm>
            <a:off x="3094537" y="4872308"/>
            <a:ext cx="576752" cy="187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b="1" spc="30" baseline="0">
                <a:ln/>
                <a:solidFill>
                  <a:srgbClr val="5F4A94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EMOTION</a:t>
            </a:r>
          </a:p>
        </p:txBody>
      </p:sp>
      <p:sp>
        <p:nvSpPr>
          <p:cNvPr id="271" name="Freeform 270">
            <a:extLst>
              <a:ext uri="{FF2B5EF4-FFF2-40B4-BE49-F238E27FC236}">
                <a16:creationId xmlns:a16="http://schemas.microsoft.com/office/drawing/2014/main" id="{DCE9DF71-06AB-A39A-E468-D349AB30D9AD}"/>
              </a:ext>
            </a:extLst>
          </p:cNvPr>
          <p:cNvSpPr/>
          <p:nvPr/>
        </p:nvSpPr>
        <p:spPr>
          <a:xfrm>
            <a:off x="3083130" y="4996398"/>
            <a:ext cx="128558" cy="263645"/>
          </a:xfrm>
          <a:custGeom>
            <a:avLst/>
            <a:gdLst>
              <a:gd name="csX0" fmla="*/ 0 w 128558"/>
              <a:gd name="csY0" fmla="*/ 0 h 263645"/>
              <a:gd name="csX1" fmla="*/ 128559 w 128558"/>
              <a:gd name="csY1" fmla="*/ 263645 h 26364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8558" h="263645">
                <a:moveTo>
                  <a:pt x="0" y="0"/>
                </a:moveTo>
                <a:cubicBezTo>
                  <a:pt x="0" y="263645"/>
                  <a:pt x="64279" y="263645"/>
                  <a:pt x="128559" y="263645"/>
                </a:cubicBezTo>
              </a:path>
            </a:pathLst>
          </a:custGeom>
          <a:noFill/>
          <a:ln w="12851" cap="flat">
            <a:solidFill>
              <a:srgbClr val="8A6FC0">
                <a:alpha val="4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72" name="Rounded Rectangle 271">
            <a:extLst>
              <a:ext uri="{FF2B5EF4-FFF2-40B4-BE49-F238E27FC236}">
                <a16:creationId xmlns:a16="http://schemas.microsoft.com/office/drawing/2014/main" id="{E8DE5A20-211A-A378-8AFA-3F051CE9E477}"/>
              </a:ext>
            </a:extLst>
          </p:cNvPr>
          <p:cNvSpPr/>
          <p:nvPr/>
        </p:nvSpPr>
        <p:spPr>
          <a:xfrm>
            <a:off x="3211689" y="5105714"/>
            <a:ext cx="1722690" cy="308657"/>
          </a:xfrm>
          <a:prstGeom prst="roundRect">
            <a:avLst>
              <a:gd name="adj" fmla="val 24990"/>
            </a:avLst>
          </a:prstGeom>
          <a:solidFill>
            <a:srgbClr val="FFFFFF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73" name="Rounded Rectangle 272">
            <a:extLst>
              <a:ext uri="{FF2B5EF4-FFF2-40B4-BE49-F238E27FC236}">
                <a16:creationId xmlns:a16="http://schemas.microsoft.com/office/drawing/2014/main" id="{90D136E9-E8DE-F626-FBFE-E783894B688D}"/>
              </a:ext>
            </a:extLst>
          </p:cNvPr>
          <p:cNvSpPr/>
          <p:nvPr/>
        </p:nvSpPr>
        <p:spPr>
          <a:xfrm>
            <a:off x="3211689" y="5105714"/>
            <a:ext cx="32139" cy="308657"/>
          </a:xfrm>
          <a:prstGeom prst="roundRect">
            <a:avLst>
              <a:gd name="adj" fmla="val 50000"/>
            </a:avLst>
          </a:prstGeom>
          <a:solidFill>
            <a:srgbClr val="8A6FC0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74" name="Oval 273">
            <a:extLst>
              <a:ext uri="{FF2B5EF4-FFF2-40B4-BE49-F238E27FC236}">
                <a16:creationId xmlns:a16="http://schemas.microsoft.com/office/drawing/2014/main" id="{F520532D-B865-53AD-D401-1C1B13F2B3E7}"/>
              </a:ext>
            </a:extLst>
          </p:cNvPr>
          <p:cNvSpPr/>
          <p:nvPr/>
        </p:nvSpPr>
        <p:spPr>
          <a:xfrm>
            <a:off x="3282397" y="5163587"/>
            <a:ext cx="192838" cy="192911"/>
          </a:xfrm>
          <a:prstGeom prst="ellipse">
            <a:avLst/>
          </a:prstGeom>
          <a:solidFill>
            <a:srgbClr val="EEEAF7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275" name="Graphic 2">
            <a:extLst>
              <a:ext uri="{FF2B5EF4-FFF2-40B4-BE49-F238E27FC236}">
                <a16:creationId xmlns:a16="http://schemas.microsoft.com/office/drawing/2014/main" id="{1A2FFD7C-FF01-20C6-66A6-9A0C768202F8}"/>
              </a:ext>
            </a:extLst>
          </p:cNvPr>
          <p:cNvGrpSpPr/>
          <p:nvPr/>
        </p:nvGrpSpPr>
        <p:grpSpPr>
          <a:xfrm>
            <a:off x="3303545" y="5195289"/>
            <a:ext cx="156391" cy="131501"/>
            <a:chOff x="3303545" y="5195289"/>
            <a:chExt cx="156391" cy="131501"/>
          </a:xfrm>
        </p:grpSpPr>
        <p:sp>
          <p:nvSpPr>
            <p:cNvPr id="276" name="Freeform 275">
              <a:extLst>
                <a:ext uri="{FF2B5EF4-FFF2-40B4-BE49-F238E27FC236}">
                  <a16:creationId xmlns:a16="http://schemas.microsoft.com/office/drawing/2014/main" id="{F3139624-5D72-CE03-A366-4E50E10998D5}"/>
                </a:ext>
              </a:extLst>
            </p:cNvPr>
            <p:cNvSpPr/>
            <p:nvPr/>
          </p:nvSpPr>
          <p:spPr>
            <a:xfrm>
              <a:off x="3303545" y="5195289"/>
              <a:ext cx="156391" cy="131501"/>
            </a:xfrm>
            <a:custGeom>
              <a:avLst/>
              <a:gdLst>
                <a:gd name="csX0" fmla="*/ 152792 w 156391"/>
                <a:gd name="csY0" fmla="*/ 64754 h 131501"/>
                <a:gd name="csX1" fmla="*/ 155171 w 156391"/>
                <a:gd name="csY1" fmla="*/ 58709 h 131501"/>
                <a:gd name="csX2" fmla="*/ 156392 w 156391"/>
                <a:gd name="csY2" fmla="*/ 52343 h 131501"/>
                <a:gd name="csX3" fmla="*/ 156199 w 156391"/>
                <a:gd name="csY3" fmla="*/ 45913 h 131501"/>
                <a:gd name="csX4" fmla="*/ 154399 w 156391"/>
                <a:gd name="csY4" fmla="*/ 39740 h 131501"/>
                <a:gd name="csX5" fmla="*/ 151121 w 156391"/>
                <a:gd name="csY5" fmla="*/ 34081 h 131501"/>
                <a:gd name="csX6" fmla="*/ 146557 w 156391"/>
                <a:gd name="csY6" fmla="*/ 29001 h 131501"/>
                <a:gd name="csX7" fmla="*/ 141029 w 156391"/>
                <a:gd name="csY7" fmla="*/ 24757 h 131501"/>
                <a:gd name="csX8" fmla="*/ 134987 w 156391"/>
                <a:gd name="csY8" fmla="*/ 21220 h 131501"/>
                <a:gd name="csX9" fmla="*/ 128752 w 156391"/>
                <a:gd name="csY9" fmla="*/ 18327 h 131501"/>
                <a:gd name="csX10" fmla="*/ 122645 w 156391"/>
                <a:gd name="csY10" fmla="*/ 15754 h 131501"/>
                <a:gd name="csX11" fmla="*/ 116667 w 156391"/>
                <a:gd name="csY11" fmla="*/ 13375 h 131501"/>
                <a:gd name="csX12" fmla="*/ 111011 w 156391"/>
                <a:gd name="csY12" fmla="*/ 11060 h 131501"/>
                <a:gd name="csX13" fmla="*/ 105418 w 156391"/>
                <a:gd name="csY13" fmla="*/ 8617 h 131501"/>
                <a:gd name="csX14" fmla="*/ 99826 w 156391"/>
                <a:gd name="csY14" fmla="*/ 6238 h 131501"/>
                <a:gd name="csX15" fmla="*/ 94041 w 156391"/>
                <a:gd name="csY15" fmla="*/ 3922 h 131501"/>
                <a:gd name="csX16" fmla="*/ 87999 w 156391"/>
                <a:gd name="csY16" fmla="*/ 1993 h 131501"/>
                <a:gd name="csX17" fmla="*/ 81764 w 156391"/>
                <a:gd name="csY17" fmla="*/ 643 h 131501"/>
                <a:gd name="csX18" fmla="*/ 75271 w 156391"/>
                <a:gd name="csY18" fmla="*/ 0 h 131501"/>
                <a:gd name="csX19" fmla="*/ 68779 w 156391"/>
                <a:gd name="csY19" fmla="*/ 129 h 131501"/>
                <a:gd name="csX20" fmla="*/ 62351 w 156391"/>
                <a:gd name="csY20" fmla="*/ 1157 h 131501"/>
                <a:gd name="csX21" fmla="*/ 56180 w 156391"/>
                <a:gd name="csY21" fmla="*/ 2829 h 131501"/>
                <a:gd name="csX22" fmla="*/ 50202 w 156391"/>
                <a:gd name="csY22" fmla="*/ 4952 h 131501"/>
                <a:gd name="csX23" fmla="*/ 44481 w 156391"/>
                <a:gd name="csY23" fmla="*/ 7459 h 131501"/>
                <a:gd name="csX24" fmla="*/ 38953 w 156391"/>
                <a:gd name="csY24" fmla="*/ 10160 h 131501"/>
                <a:gd name="csX25" fmla="*/ 33490 w 156391"/>
                <a:gd name="csY25" fmla="*/ 12925 h 131501"/>
                <a:gd name="csX26" fmla="*/ 27962 w 156391"/>
                <a:gd name="csY26" fmla="*/ 15819 h 131501"/>
                <a:gd name="csX27" fmla="*/ 22433 w 156391"/>
                <a:gd name="csY27" fmla="*/ 18841 h 131501"/>
                <a:gd name="csX28" fmla="*/ 16970 w 156391"/>
                <a:gd name="csY28" fmla="*/ 22314 h 131501"/>
                <a:gd name="csX29" fmla="*/ 11892 w 156391"/>
                <a:gd name="csY29" fmla="*/ 26236 h 131501"/>
                <a:gd name="csX30" fmla="*/ 7392 w 156391"/>
                <a:gd name="csY30" fmla="*/ 30737 h 131501"/>
                <a:gd name="csX31" fmla="*/ 3728 w 156391"/>
                <a:gd name="csY31" fmla="*/ 35817 h 131501"/>
                <a:gd name="csX32" fmla="*/ 1221 w 156391"/>
                <a:gd name="csY32" fmla="*/ 41347 h 131501"/>
                <a:gd name="csX33" fmla="*/ 0 w 156391"/>
                <a:gd name="csY33" fmla="*/ 47263 h 131501"/>
                <a:gd name="csX34" fmla="*/ 0 w 156391"/>
                <a:gd name="csY34" fmla="*/ 53244 h 131501"/>
                <a:gd name="csX35" fmla="*/ 1093 w 156391"/>
                <a:gd name="csY35" fmla="*/ 59095 h 131501"/>
                <a:gd name="csX36" fmla="*/ 2892 w 156391"/>
                <a:gd name="csY36" fmla="*/ 64754 h 131501"/>
                <a:gd name="csX37" fmla="*/ 5014 w 156391"/>
                <a:gd name="csY37" fmla="*/ 70091 h 131501"/>
                <a:gd name="csX38" fmla="*/ 7264 w 156391"/>
                <a:gd name="csY38" fmla="*/ 75171 h 131501"/>
                <a:gd name="csX39" fmla="*/ 9192 w 156391"/>
                <a:gd name="csY39" fmla="*/ 80123 h 131501"/>
                <a:gd name="csX40" fmla="*/ 10799 w 156391"/>
                <a:gd name="csY40" fmla="*/ 85138 h 131501"/>
                <a:gd name="csX41" fmla="*/ 12149 w 156391"/>
                <a:gd name="csY41" fmla="*/ 90347 h 131501"/>
                <a:gd name="csX42" fmla="*/ 13370 w 156391"/>
                <a:gd name="csY42" fmla="*/ 95813 h 131501"/>
                <a:gd name="csX43" fmla="*/ 14784 w 156391"/>
                <a:gd name="csY43" fmla="*/ 101535 h 131501"/>
                <a:gd name="csX44" fmla="*/ 16777 w 156391"/>
                <a:gd name="csY44" fmla="*/ 107387 h 131501"/>
                <a:gd name="csX45" fmla="*/ 19605 w 156391"/>
                <a:gd name="csY45" fmla="*/ 113110 h 131501"/>
                <a:gd name="csX46" fmla="*/ 23398 w 156391"/>
                <a:gd name="csY46" fmla="*/ 118383 h 131501"/>
                <a:gd name="csX47" fmla="*/ 28283 w 156391"/>
                <a:gd name="csY47" fmla="*/ 123013 h 131501"/>
                <a:gd name="csX48" fmla="*/ 34068 w 156391"/>
                <a:gd name="csY48" fmla="*/ 126678 h 131501"/>
                <a:gd name="csX49" fmla="*/ 40624 w 156391"/>
                <a:gd name="csY49" fmla="*/ 129315 h 131501"/>
                <a:gd name="csX50" fmla="*/ 47567 w 156391"/>
                <a:gd name="csY50" fmla="*/ 130858 h 131501"/>
                <a:gd name="csX51" fmla="*/ 54638 w 156391"/>
                <a:gd name="csY51" fmla="*/ 131501 h 131501"/>
                <a:gd name="csX52" fmla="*/ 61708 w 156391"/>
                <a:gd name="csY52" fmla="*/ 131501 h 131501"/>
                <a:gd name="csX53" fmla="*/ 68586 w 156391"/>
                <a:gd name="csY53" fmla="*/ 130922 h 131501"/>
                <a:gd name="csX54" fmla="*/ 75271 w 156391"/>
                <a:gd name="csY54" fmla="*/ 130151 h 131501"/>
                <a:gd name="csX55" fmla="*/ 81764 w 156391"/>
                <a:gd name="csY55" fmla="*/ 129122 h 131501"/>
                <a:gd name="csX56" fmla="*/ 88127 w 156391"/>
                <a:gd name="csY56" fmla="*/ 127965 h 131501"/>
                <a:gd name="csX57" fmla="*/ 94362 w 156391"/>
                <a:gd name="csY57" fmla="*/ 126614 h 131501"/>
                <a:gd name="csX58" fmla="*/ 100469 w 156391"/>
                <a:gd name="csY58" fmla="*/ 124942 h 131501"/>
                <a:gd name="csX59" fmla="*/ 106382 w 156391"/>
                <a:gd name="csY59" fmla="*/ 122756 h 131501"/>
                <a:gd name="csX60" fmla="*/ 111975 w 156391"/>
                <a:gd name="csY60" fmla="*/ 119927 h 131501"/>
                <a:gd name="csX61" fmla="*/ 116989 w 156391"/>
                <a:gd name="csY61" fmla="*/ 116518 h 131501"/>
                <a:gd name="csX62" fmla="*/ 121424 w 156391"/>
                <a:gd name="csY62" fmla="*/ 112531 h 131501"/>
                <a:gd name="csX63" fmla="*/ 125216 w 156391"/>
                <a:gd name="csY63" fmla="*/ 108159 h 131501"/>
                <a:gd name="csX64" fmla="*/ 128430 w 156391"/>
                <a:gd name="csY64" fmla="*/ 103465 h 131501"/>
                <a:gd name="csX65" fmla="*/ 131194 w 156391"/>
                <a:gd name="csY65" fmla="*/ 98770 h 131501"/>
                <a:gd name="csX66" fmla="*/ 133830 w 156391"/>
                <a:gd name="csY66" fmla="*/ 94076 h 131501"/>
                <a:gd name="csX67" fmla="*/ 136465 w 156391"/>
                <a:gd name="csY67" fmla="*/ 89511 h 131501"/>
                <a:gd name="csX68" fmla="*/ 139422 w 156391"/>
                <a:gd name="csY68" fmla="*/ 85010 h 131501"/>
                <a:gd name="csX69" fmla="*/ 142636 w 156391"/>
                <a:gd name="csY69" fmla="*/ 80444 h 131501"/>
                <a:gd name="csX70" fmla="*/ 146107 w 156391"/>
                <a:gd name="csY70" fmla="*/ 75621 h 131501"/>
                <a:gd name="csX71" fmla="*/ 149643 w 156391"/>
                <a:gd name="csY71" fmla="*/ 70413 h 131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156391" h="131501">
                  <a:moveTo>
                    <a:pt x="152792" y="64754"/>
                  </a:moveTo>
                  <a:lnTo>
                    <a:pt x="155171" y="58709"/>
                  </a:lnTo>
                  <a:lnTo>
                    <a:pt x="156392" y="52343"/>
                  </a:lnTo>
                  <a:lnTo>
                    <a:pt x="156199" y="45913"/>
                  </a:lnTo>
                  <a:lnTo>
                    <a:pt x="154399" y="39740"/>
                  </a:lnTo>
                  <a:lnTo>
                    <a:pt x="151121" y="34081"/>
                  </a:lnTo>
                  <a:lnTo>
                    <a:pt x="146557" y="29001"/>
                  </a:lnTo>
                  <a:lnTo>
                    <a:pt x="141029" y="24757"/>
                  </a:lnTo>
                  <a:lnTo>
                    <a:pt x="134987" y="21220"/>
                  </a:lnTo>
                  <a:lnTo>
                    <a:pt x="128752" y="18327"/>
                  </a:lnTo>
                  <a:lnTo>
                    <a:pt x="122645" y="15754"/>
                  </a:lnTo>
                  <a:lnTo>
                    <a:pt x="116667" y="13375"/>
                  </a:lnTo>
                  <a:lnTo>
                    <a:pt x="111011" y="11060"/>
                  </a:lnTo>
                  <a:lnTo>
                    <a:pt x="105418" y="8617"/>
                  </a:lnTo>
                  <a:lnTo>
                    <a:pt x="99826" y="6238"/>
                  </a:lnTo>
                  <a:lnTo>
                    <a:pt x="94041" y="3922"/>
                  </a:lnTo>
                  <a:lnTo>
                    <a:pt x="87999" y="1993"/>
                  </a:lnTo>
                  <a:lnTo>
                    <a:pt x="81764" y="643"/>
                  </a:lnTo>
                  <a:lnTo>
                    <a:pt x="75271" y="0"/>
                  </a:lnTo>
                  <a:lnTo>
                    <a:pt x="68779" y="129"/>
                  </a:lnTo>
                  <a:lnTo>
                    <a:pt x="62351" y="1157"/>
                  </a:lnTo>
                  <a:lnTo>
                    <a:pt x="56180" y="2829"/>
                  </a:lnTo>
                  <a:lnTo>
                    <a:pt x="50202" y="4952"/>
                  </a:lnTo>
                  <a:lnTo>
                    <a:pt x="44481" y="7459"/>
                  </a:lnTo>
                  <a:lnTo>
                    <a:pt x="38953" y="10160"/>
                  </a:lnTo>
                  <a:lnTo>
                    <a:pt x="33490" y="12925"/>
                  </a:lnTo>
                  <a:lnTo>
                    <a:pt x="27962" y="15819"/>
                  </a:lnTo>
                  <a:lnTo>
                    <a:pt x="22433" y="18841"/>
                  </a:lnTo>
                  <a:lnTo>
                    <a:pt x="16970" y="22314"/>
                  </a:lnTo>
                  <a:lnTo>
                    <a:pt x="11892" y="26236"/>
                  </a:lnTo>
                  <a:lnTo>
                    <a:pt x="7392" y="30737"/>
                  </a:lnTo>
                  <a:lnTo>
                    <a:pt x="3728" y="35817"/>
                  </a:lnTo>
                  <a:lnTo>
                    <a:pt x="1221" y="41347"/>
                  </a:lnTo>
                  <a:lnTo>
                    <a:pt x="0" y="47263"/>
                  </a:lnTo>
                  <a:lnTo>
                    <a:pt x="0" y="53244"/>
                  </a:lnTo>
                  <a:lnTo>
                    <a:pt x="1093" y="59095"/>
                  </a:lnTo>
                  <a:lnTo>
                    <a:pt x="2892" y="64754"/>
                  </a:lnTo>
                  <a:lnTo>
                    <a:pt x="5014" y="70091"/>
                  </a:lnTo>
                  <a:lnTo>
                    <a:pt x="7264" y="75171"/>
                  </a:lnTo>
                  <a:lnTo>
                    <a:pt x="9192" y="80123"/>
                  </a:lnTo>
                  <a:lnTo>
                    <a:pt x="10799" y="85138"/>
                  </a:lnTo>
                  <a:lnTo>
                    <a:pt x="12149" y="90347"/>
                  </a:lnTo>
                  <a:lnTo>
                    <a:pt x="13370" y="95813"/>
                  </a:lnTo>
                  <a:lnTo>
                    <a:pt x="14784" y="101535"/>
                  </a:lnTo>
                  <a:lnTo>
                    <a:pt x="16777" y="107387"/>
                  </a:lnTo>
                  <a:lnTo>
                    <a:pt x="19605" y="113110"/>
                  </a:lnTo>
                  <a:lnTo>
                    <a:pt x="23398" y="118383"/>
                  </a:lnTo>
                  <a:lnTo>
                    <a:pt x="28283" y="123013"/>
                  </a:lnTo>
                  <a:lnTo>
                    <a:pt x="34068" y="126678"/>
                  </a:lnTo>
                  <a:lnTo>
                    <a:pt x="40624" y="129315"/>
                  </a:lnTo>
                  <a:lnTo>
                    <a:pt x="47567" y="130858"/>
                  </a:lnTo>
                  <a:lnTo>
                    <a:pt x="54638" y="131501"/>
                  </a:lnTo>
                  <a:lnTo>
                    <a:pt x="61708" y="131501"/>
                  </a:lnTo>
                  <a:lnTo>
                    <a:pt x="68586" y="130922"/>
                  </a:lnTo>
                  <a:lnTo>
                    <a:pt x="75271" y="130151"/>
                  </a:lnTo>
                  <a:lnTo>
                    <a:pt x="81764" y="129122"/>
                  </a:lnTo>
                  <a:lnTo>
                    <a:pt x="88127" y="127965"/>
                  </a:lnTo>
                  <a:lnTo>
                    <a:pt x="94362" y="126614"/>
                  </a:lnTo>
                  <a:lnTo>
                    <a:pt x="100469" y="124942"/>
                  </a:lnTo>
                  <a:lnTo>
                    <a:pt x="106382" y="122756"/>
                  </a:lnTo>
                  <a:lnTo>
                    <a:pt x="111975" y="119927"/>
                  </a:lnTo>
                  <a:lnTo>
                    <a:pt x="116989" y="116518"/>
                  </a:lnTo>
                  <a:lnTo>
                    <a:pt x="121424" y="112531"/>
                  </a:lnTo>
                  <a:lnTo>
                    <a:pt x="125216" y="108159"/>
                  </a:lnTo>
                  <a:lnTo>
                    <a:pt x="128430" y="103465"/>
                  </a:lnTo>
                  <a:lnTo>
                    <a:pt x="131194" y="98770"/>
                  </a:lnTo>
                  <a:lnTo>
                    <a:pt x="133830" y="94076"/>
                  </a:lnTo>
                  <a:lnTo>
                    <a:pt x="136465" y="89511"/>
                  </a:lnTo>
                  <a:lnTo>
                    <a:pt x="139422" y="85010"/>
                  </a:lnTo>
                  <a:lnTo>
                    <a:pt x="142636" y="80444"/>
                  </a:lnTo>
                  <a:lnTo>
                    <a:pt x="146107" y="75621"/>
                  </a:lnTo>
                  <a:lnTo>
                    <a:pt x="149643" y="70413"/>
                  </a:lnTo>
                  <a:close/>
                </a:path>
              </a:pathLst>
            </a:custGeom>
            <a:solidFill>
              <a:srgbClr val="8A6FC0"/>
            </a:solidFill>
            <a:ln w="6425" cap="flat">
              <a:solidFill>
                <a:srgbClr val="5F4A9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" name="Freeform 276">
              <a:extLst>
                <a:ext uri="{FF2B5EF4-FFF2-40B4-BE49-F238E27FC236}">
                  <a16:creationId xmlns:a16="http://schemas.microsoft.com/office/drawing/2014/main" id="{A7214385-CEF8-88C3-9703-A43A5A227E65}"/>
                </a:ext>
              </a:extLst>
            </p:cNvPr>
            <p:cNvSpPr/>
            <p:nvPr/>
          </p:nvSpPr>
          <p:spPr>
            <a:xfrm>
              <a:off x="3376775" y="5199211"/>
              <a:ext cx="4082" cy="118833"/>
            </a:xfrm>
            <a:custGeom>
              <a:avLst/>
              <a:gdLst>
                <a:gd name="csX0" fmla="*/ 2041 w 4082"/>
                <a:gd name="csY0" fmla="*/ 0 h 118833"/>
                <a:gd name="csX1" fmla="*/ 2041 w 4082"/>
                <a:gd name="csY1" fmla="*/ 118834 h 118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082" h="118833">
                  <a:moveTo>
                    <a:pt x="2041" y="0"/>
                  </a:moveTo>
                  <a:cubicBezTo>
                    <a:pt x="9112" y="39611"/>
                    <a:pt x="-5030" y="82052"/>
                    <a:pt x="2041" y="118834"/>
                  </a:cubicBezTo>
                </a:path>
              </a:pathLst>
            </a:custGeom>
            <a:noFill/>
            <a:ln w="5462" cap="rnd">
              <a:solidFill>
                <a:srgbClr val="FFFFFF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8" name="Freeform 277">
              <a:extLst>
                <a:ext uri="{FF2B5EF4-FFF2-40B4-BE49-F238E27FC236}">
                  <a16:creationId xmlns:a16="http://schemas.microsoft.com/office/drawing/2014/main" id="{3D74E652-2B41-B916-BA5F-DAD3525A62AD}"/>
                </a:ext>
              </a:extLst>
            </p:cNvPr>
            <p:cNvSpPr/>
            <p:nvPr/>
          </p:nvSpPr>
          <p:spPr>
            <a:xfrm>
              <a:off x="3323664" y="5231749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1" y="-1886"/>
                    <a:pt x="21212" y="-1886"/>
                    <a:pt x="21212" y="5659"/>
                  </a:cubicBezTo>
                  <a:cubicBezTo>
                    <a:pt x="21212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9" name="Freeform 278">
              <a:extLst>
                <a:ext uri="{FF2B5EF4-FFF2-40B4-BE49-F238E27FC236}">
                  <a16:creationId xmlns:a16="http://schemas.microsoft.com/office/drawing/2014/main" id="{DDB1A996-07A8-F989-FDCF-9AAC74512547}"/>
                </a:ext>
              </a:extLst>
            </p:cNvPr>
            <p:cNvSpPr/>
            <p:nvPr/>
          </p:nvSpPr>
          <p:spPr>
            <a:xfrm>
              <a:off x="3327907" y="5270653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0" name="Freeform 279">
              <a:extLst>
                <a:ext uri="{FF2B5EF4-FFF2-40B4-BE49-F238E27FC236}">
                  <a16:creationId xmlns:a16="http://schemas.microsoft.com/office/drawing/2014/main" id="{5E439FDC-2983-0084-F01F-EA27F8A94F76}"/>
                </a:ext>
              </a:extLst>
            </p:cNvPr>
            <p:cNvSpPr/>
            <p:nvPr/>
          </p:nvSpPr>
          <p:spPr>
            <a:xfrm>
              <a:off x="3391543" y="5233164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1" y="-1886"/>
                    <a:pt x="21212" y="-1886"/>
                    <a:pt x="21212" y="5659"/>
                  </a:cubicBezTo>
                  <a:cubicBezTo>
                    <a:pt x="21212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1" name="Freeform 280">
              <a:extLst>
                <a:ext uri="{FF2B5EF4-FFF2-40B4-BE49-F238E27FC236}">
                  <a16:creationId xmlns:a16="http://schemas.microsoft.com/office/drawing/2014/main" id="{9052077C-3966-4007-722F-4C112285C7E5}"/>
                </a:ext>
              </a:extLst>
            </p:cNvPr>
            <p:cNvSpPr/>
            <p:nvPr/>
          </p:nvSpPr>
          <p:spPr>
            <a:xfrm>
              <a:off x="3392958" y="5272068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2" name="TextBox 281">
            <a:extLst>
              <a:ext uri="{FF2B5EF4-FFF2-40B4-BE49-F238E27FC236}">
                <a16:creationId xmlns:a16="http://schemas.microsoft.com/office/drawing/2014/main" id="{4CC9E594-8C4B-A75A-E7F1-7E8188ED8EB6}"/>
              </a:ext>
            </a:extLst>
          </p:cNvPr>
          <p:cNvSpPr txBox="1"/>
          <p:nvPr/>
        </p:nvSpPr>
        <p:spPr>
          <a:xfrm>
            <a:off x="3441647" y="5116662"/>
            <a:ext cx="1071704" cy="187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b="1" spc="0" baseline="0">
                <a:ln/>
                <a:solidFill>
                  <a:srgbClr val="22314A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Negative affect (PINES)</a:t>
            </a: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20F663C3-0693-73E8-AFDC-BE68A439E3BB}"/>
              </a:ext>
            </a:extLst>
          </p:cNvPr>
          <p:cNvSpPr txBox="1"/>
          <p:nvPr/>
        </p:nvSpPr>
        <p:spPr>
          <a:xfrm>
            <a:off x="3441647" y="5236656"/>
            <a:ext cx="606064" cy="174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25" i="1" spc="0" baseline="0">
                <a:ln/>
                <a:solidFill>
                  <a:srgbClr val="7C8598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Chang · 2015</a:t>
            </a:r>
          </a:p>
        </p:txBody>
      </p:sp>
      <p:sp>
        <p:nvSpPr>
          <p:cNvPr id="284" name="Freeform 283">
            <a:extLst>
              <a:ext uri="{FF2B5EF4-FFF2-40B4-BE49-F238E27FC236}">
                <a16:creationId xmlns:a16="http://schemas.microsoft.com/office/drawing/2014/main" id="{BC2327E6-A00F-20F7-D4DD-F46D22A994D2}"/>
              </a:ext>
            </a:extLst>
          </p:cNvPr>
          <p:cNvSpPr/>
          <p:nvPr/>
        </p:nvSpPr>
        <p:spPr>
          <a:xfrm>
            <a:off x="3083130" y="4996398"/>
            <a:ext cx="128558" cy="623745"/>
          </a:xfrm>
          <a:custGeom>
            <a:avLst/>
            <a:gdLst>
              <a:gd name="csX0" fmla="*/ 0 w 128558"/>
              <a:gd name="csY0" fmla="*/ 0 h 623745"/>
              <a:gd name="csX1" fmla="*/ 128559 w 128558"/>
              <a:gd name="csY1" fmla="*/ 623746 h 62374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8558" h="623745">
                <a:moveTo>
                  <a:pt x="0" y="0"/>
                </a:moveTo>
                <a:cubicBezTo>
                  <a:pt x="0" y="623746"/>
                  <a:pt x="64279" y="623746"/>
                  <a:pt x="128559" y="623746"/>
                </a:cubicBezTo>
              </a:path>
            </a:pathLst>
          </a:custGeom>
          <a:noFill/>
          <a:ln w="12851" cap="flat">
            <a:solidFill>
              <a:srgbClr val="8A6FC0">
                <a:alpha val="4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85" name="Rounded Rectangle 284">
            <a:extLst>
              <a:ext uri="{FF2B5EF4-FFF2-40B4-BE49-F238E27FC236}">
                <a16:creationId xmlns:a16="http://schemas.microsoft.com/office/drawing/2014/main" id="{015FFDAB-EDC0-61BF-EE59-D8B5E5A01FB4}"/>
              </a:ext>
            </a:extLst>
          </p:cNvPr>
          <p:cNvSpPr/>
          <p:nvPr/>
        </p:nvSpPr>
        <p:spPr>
          <a:xfrm>
            <a:off x="3211689" y="5465815"/>
            <a:ext cx="1722690" cy="308657"/>
          </a:xfrm>
          <a:prstGeom prst="roundRect">
            <a:avLst>
              <a:gd name="adj" fmla="val 24990"/>
            </a:avLst>
          </a:prstGeom>
          <a:solidFill>
            <a:srgbClr val="FFFFFF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86" name="Rounded Rectangle 285">
            <a:extLst>
              <a:ext uri="{FF2B5EF4-FFF2-40B4-BE49-F238E27FC236}">
                <a16:creationId xmlns:a16="http://schemas.microsoft.com/office/drawing/2014/main" id="{1F16B440-B951-DB2E-4985-9FAD66AC2387}"/>
              </a:ext>
            </a:extLst>
          </p:cNvPr>
          <p:cNvSpPr/>
          <p:nvPr/>
        </p:nvSpPr>
        <p:spPr>
          <a:xfrm>
            <a:off x="3211689" y="5465815"/>
            <a:ext cx="32139" cy="308657"/>
          </a:xfrm>
          <a:prstGeom prst="roundRect">
            <a:avLst>
              <a:gd name="adj" fmla="val 50000"/>
            </a:avLst>
          </a:prstGeom>
          <a:solidFill>
            <a:srgbClr val="8A6FC0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87" name="Oval 286">
            <a:extLst>
              <a:ext uri="{FF2B5EF4-FFF2-40B4-BE49-F238E27FC236}">
                <a16:creationId xmlns:a16="http://schemas.microsoft.com/office/drawing/2014/main" id="{FB423D1D-61CA-A454-46C2-41317C71EEF0}"/>
              </a:ext>
            </a:extLst>
          </p:cNvPr>
          <p:cNvSpPr/>
          <p:nvPr/>
        </p:nvSpPr>
        <p:spPr>
          <a:xfrm>
            <a:off x="3282397" y="5523688"/>
            <a:ext cx="192838" cy="192911"/>
          </a:xfrm>
          <a:prstGeom prst="ellipse">
            <a:avLst/>
          </a:prstGeom>
          <a:solidFill>
            <a:srgbClr val="EEEAF7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288" name="Graphic 2">
            <a:extLst>
              <a:ext uri="{FF2B5EF4-FFF2-40B4-BE49-F238E27FC236}">
                <a16:creationId xmlns:a16="http://schemas.microsoft.com/office/drawing/2014/main" id="{2BBACFB0-A2DC-3F39-5215-8C41C8293418}"/>
              </a:ext>
            </a:extLst>
          </p:cNvPr>
          <p:cNvGrpSpPr/>
          <p:nvPr/>
        </p:nvGrpSpPr>
        <p:grpSpPr>
          <a:xfrm>
            <a:off x="3303545" y="5555390"/>
            <a:ext cx="156391" cy="131501"/>
            <a:chOff x="3303545" y="5555390"/>
            <a:chExt cx="156391" cy="131501"/>
          </a:xfrm>
        </p:grpSpPr>
        <p:sp>
          <p:nvSpPr>
            <p:cNvPr id="289" name="Freeform 288">
              <a:extLst>
                <a:ext uri="{FF2B5EF4-FFF2-40B4-BE49-F238E27FC236}">
                  <a16:creationId xmlns:a16="http://schemas.microsoft.com/office/drawing/2014/main" id="{CA3C6D4A-1C0D-95C8-DA03-D80BEA3460F9}"/>
                </a:ext>
              </a:extLst>
            </p:cNvPr>
            <p:cNvSpPr/>
            <p:nvPr/>
          </p:nvSpPr>
          <p:spPr>
            <a:xfrm>
              <a:off x="3303545" y="5555390"/>
              <a:ext cx="156391" cy="131501"/>
            </a:xfrm>
            <a:custGeom>
              <a:avLst/>
              <a:gdLst>
                <a:gd name="csX0" fmla="*/ 152792 w 156391"/>
                <a:gd name="csY0" fmla="*/ 64754 h 131501"/>
                <a:gd name="csX1" fmla="*/ 155171 w 156391"/>
                <a:gd name="csY1" fmla="*/ 58709 h 131501"/>
                <a:gd name="csX2" fmla="*/ 156392 w 156391"/>
                <a:gd name="csY2" fmla="*/ 52343 h 131501"/>
                <a:gd name="csX3" fmla="*/ 156199 w 156391"/>
                <a:gd name="csY3" fmla="*/ 45913 h 131501"/>
                <a:gd name="csX4" fmla="*/ 154399 w 156391"/>
                <a:gd name="csY4" fmla="*/ 39740 h 131501"/>
                <a:gd name="csX5" fmla="*/ 151121 w 156391"/>
                <a:gd name="csY5" fmla="*/ 34081 h 131501"/>
                <a:gd name="csX6" fmla="*/ 146557 w 156391"/>
                <a:gd name="csY6" fmla="*/ 29001 h 131501"/>
                <a:gd name="csX7" fmla="*/ 141029 w 156391"/>
                <a:gd name="csY7" fmla="*/ 24757 h 131501"/>
                <a:gd name="csX8" fmla="*/ 134987 w 156391"/>
                <a:gd name="csY8" fmla="*/ 21220 h 131501"/>
                <a:gd name="csX9" fmla="*/ 128752 w 156391"/>
                <a:gd name="csY9" fmla="*/ 18327 h 131501"/>
                <a:gd name="csX10" fmla="*/ 122645 w 156391"/>
                <a:gd name="csY10" fmla="*/ 15754 h 131501"/>
                <a:gd name="csX11" fmla="*/ 116667 w 156391"/>
                <a:gd name="csY11" fmla="*/ 13375 h 131501"/>
                <a:gd name="csX12" fmla="*/ 111011 w 156391"/>
                <a:gd name="csY12" fmla="*/ 11060 h 131501"/>
                <a:gd name="csX13" fmla="*/ 105418 w 156391"/>
                <a:gd name="csY13" fmla="*/ 8617 h 131501"/>
                <a:gd name="csX14" fmla="*/ 99826 w 156391"/>
                <a:gd name="csY14" fmla="*/ 6238 h 131501"/>
                <a:gd name="csX15" fmla="*/ 94041 w 156391"/>
                <a:gd name="csY15" fmla="*/ 3922 h 131501"/>
                <a:gd name="csX16" fmla="*/ 87999 w 156391"/>
                <a:gd name="csY16" fmla="*/ 1993 h 131501"/>
                <a:gd name="csX17" fmla="*/ 81764 w 156391"/>
                <a:gd name="csY17" fmla="*/ 643 h 131501"/>
                <a:gd name="csX18" fmla="*/ 75271 w 156391"/>
                <a:gd name="csY18" fmla="*/ 0 h 131501"/>
                <a:gd name="csX19" fmla="*/ 68779 w 156391"/>
                <a:gd name="csY19" fmla="*/ 129 h 131501"/>
                <a:gd name="csX20" fmla="*/ 62351 w 156391"/>
                <a:gd name="csY20" fmla="*/ 1157 h 131501"/>
                <a:gd name="csX21" fmla="*/ 56180 w 156391"/>
                <a:gd name="csY21" fmla="*/ 2829 h 131501"/>
                <a:gd name="csX22" fmla="*/ 50202 w 156391"/>
                <a:gd name="csY22" fmla="*/ 4952 h 131501"/>
                <a:gd name="csX23" fmla="*/ 44481 w 156391"/>
                <a:gd name="csY23" fmla="*/ 7459 h 131501"/>
                <a:gd name="csX24" fmla="*/ 38953 w 156391"/>
                <a:gd name="csY24" fmla="*/ 10160 h 131501"/>
                <a:gd name="csX25" fmla="*/ 33490 w 156391"/>
                <a:gd name="csY25" fmla="*/ 12925 h 131501"/>
                <a:gd name="csX26" fmla="*/ 27962 w 156391"/>
                <a:gd name="csY26" fmla="*/ 15819 h 131501"/>
                <a:gd name="csX27" fmla="*/ 22433 w 156391"/>
                <a:gd name="csY27" fmla="*/ 18841 h 131501"/>
                <a:gd name="csX28" fmla="*/ 16970 w 156391"/>
                <a:gd name="csY28" fmla="*/ 22314 h 131501"/>
                <a:gd name="csX29" fmla="*/ 11892 w 156391"/>
                <a:gd name="csY29" fmla="*/ 26236 h 131501"/>
                <a:gd name="csX30" fmla="*/ 7392 w 156391"/>
                <a:gd name="csY30" fmla="*/ 30737 h 131501"/>
                <a:gd name="csX31" fmla="*/ 3728 w 156391"/>
                <a:gd name="csY31" fmla="*/ 35817 h 131501"/>
                <a:gd name="csX32" fmla="*/ 1221 w 156391"/>
                <a:gd name="csY32" fmla="*/ 41347 h 131501"/>
                <a:gd name="csX33" fmla="*/ 0 w 156391"/>
                <a:gd name="csY33" fmla="*/ 47263 h 131501"/>
                <a:gd name="csX34" fmla="*/ 0 w 156391"/>
                <a:gd name="csY34" fmla="*/ 53244 h 131501"/>
                <a:gd name="csX35" fmla="*/ 1093 w 156391"/>
                <a:gd name="csY35" fmla="*/ 59095 h 131501"/>
                <a:gd name="csX36" fmla="*/ 2892 w 156391"/>
                <a:gd name="csY36" fmla="*/ 64754 h 131501"/>
                <a:gd name="csX37" fmla="*/ 5014 w 156391"/>
                <a:gd name="csY37" fmla="*/ 70091 h 131501"/>
                <a:gd name="csX38" fmla="*/ 7264 w 156391"/>
                <a:gd name="csY38" fmla="*/ 75171 h 131501"/>
                <a:gd name="csX39" fmla="*/ 9192 w 156391"/>
                <a:gd name="csY39" fmla="*/ 80123 h 131501"/>
                <a:gd name="csX40" fmla="*/ 10799 w 156391"/>
                <a:gd name="csY40" fmla="*/ 85138 h 131501"/>
                <a:gd name="csX41" fmla="*/ 12149 w 156391"/>
                <a:gd name="csY41" fmla="*/ 90347 h 131501"/>
                <a:gd name="csX42" fmla="*/ 13370 w 156391"/>
                <a:gd name="csY42" fmla="*/ 95813 h 131501"/>
                <a:gd name="csX43" fmla="*/ 14784 w 156391"/>
                <a:gd name="csY43" fmla="*/ 101535 h 131501"/>
                <a:gd name="csX44" fmla="*/ 16777 w 156391"/>
                <a:gd name="csY44" fmla="*/ 107387 h 131501"/>
                <a:gd name="csX45" fmla="*/ 19605 w 156391"/>
                <a:gd name="csY45" fmla="*/ 113110 h 131501"/>
                <a:gd name="csX46" fmla="*/ 23398 w 156391"/>
                <a:gd name="csY46" fmla="*/ 118383 h 131501"/>
                <a:gd name="csX47" fmla="*/ 28283 w 156391"/>
                <a:gd name="csY47" fmla="*/ 123013 h 131501"/>
                <a:gd name="csX48" fmla="*/ 34068 w 156391"/>
                <a:gd name="csY48" fmla="*/ 126678 h 131501"/>
                <a:gd name="csX49" fmla="*/ 40624 w 156391"/>
                <a:gd name="csY49" fmla="*/ 129315 h 131501"/>
                <a:gd name="csX50" fmla="*/ 47567 w 156391"/>
                <a:gd name="csY50" fmla="*/ 130858 h 131501"/>
                <a:gd name="csX51" fmla="*/ 54638 w 156391"/>
                <a:gd name="csY51" fmla="*/ 131501 h 131501"/>
                <a:gd name="csX52" fmla="*/ 61708 w 156391"/>
                <a:gd name="csY52" fmla="*/ 131501 h 131501"/>
                <a:gd name="csX53" fmla="*/ 68586 w 156391"/>
                <a:gd name="csY53" fmla="*/ 130922 h 131501"/>
                <a:gd name="csX54" fmla="*/ 75271 w 156391"/>
                <a:gd name="csY54" fmla="*/ 130151 h 131501"/>
                <a:gd name="csX55" fmla="*/ 81764 w 156391"/>
                <a:gd name="csY55" fmla="*/ 129122 h 131501"/>
                <a:gd name="csX56" fmla="*/ 88127 w 156391"/>
                <a:gd name="csY56" fmla="*/ 127965 h 131501"/>
                <a:gd name="csX57" fmla="*/ 94362 w 156391"/>
                <a:gd name="csY57" fmla="*/ 126614 h 131501"/>
                <a:gd name="csX58" fmla="*/ 100469 w 156391"/>
                <a:gd name="csY58" fmla="*/ 124942 h 131501"/>
                <a:gd name="csX59" fmla="*/ 106382 w 156391"/>
                <a:gd name="csY59" fmla="*/ 122756 h 131501"/>
                <a:gd name="csX60" fmla="*/ 111975 w 156391"/>
                <a:gd name="csY60" fmla="*/ 119927 h 131501"/>
                <a:gd name="csX61" fmla="*/ 116989 w 156391"/>
                <a:gd name="csY61" fmla="*/ 116518 h 131501"/>
                <a:gd name="csX62" fmla="*/ 121424 w 156391"/>
                <a:gd name="csY62" fmla="*/ 112531 h 131501"/>
                <a:gd name="csX63" fmla="*/ 125216 w 156391"/>
                <a:gd name="csY63" fmla="*/ 108159 h 131501"/>
                <a:gd name="csX64" fmla="*/ 128430 w 156391"/>
                <a:gd name="csY64" fmla="*/ 103465 h 131501"/>
                <a:gd name="csX65" fmla="*/ 131194 w 156391"/>
                <a:gd name="csY65" fmla="*/ 98770 h 131501"/>
                <a:gd name="csX66" fmla="*/ 133830 w 156391"/>
                <a:gd name="csY66" fmla="*/ 94076 h 131501"/>
                <a:gd name="csX67" fmla="*/ 136465 w 156391"/>
                <a:gd name="csY67" fmla="*/ 89511 h 131501"/>
                <a:gd name="csX68" fmla="*/ 139422 w 156391"/>
                <a:gd name="csY68" fmla="*/ 85010 h 131501"/>
                <a:gd name="csX69" fmla="*/ 142636 w 156391"/>
                <a:gd name="csY69" fmla="*/ 80444 h 131501"/>
                <a:gd name="csX70" fmla="*/ 146107 w 156391"/>
                <a:gd name="csY70" fmla="*/ 75621 h 131501"/>
                <a:gd name="csX71" fmla="*/ 149643 w 156391"/>
                <a:gd name="csY71" fmla="*/ 70413 h 131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156391" h="131501">
                  <a:moveTo>
                    <a:pt x="152792" y="64754"/>
                  </a:moveTo>
                  <a:lnTo>
                    <a:pt x="155171" y="58709"/>
                  </a:lnTo>
                  <a:lnTo>
                    <a:pt x="156392" y="52343"/>
                  </a:lnTo>
                  <a:lnTo>
                    <a:pt x="156199" y="45913"/>
                  </a:lnTo>
                  <a:lnTo>
                    <a:pt x="154399" y="39740"/>
                  </a:lnTo>
                  <a:lnTo>
                    <a:pt x="151121" y="34081"/>
                  </a:lnTo>
                  <a:lnTo>
                    <a:pt x="146557" y="29001"/>
                  </a:lnTo>
                  <a:lnTo>
                    <a:pt x="141029" y="24757"/>
                  </a:lnTo>
                  <a:lnTo>
                    <a:pt x="134987" y="21220"/>
                  </a:lnTo>
                  <a:lnTo>
                    <a:pt x="128752" y="18327"/>
                  </a:lnTo>
                  <a:lnTo>
                    <a:pt x="122645" y="15754"/>
                  </a:lnTo>
                  <a:lnTo>
                    <a:pt x="116667" y="13375"/>
                  </a:lnTo>
                  <a:lnTo>
                    <a:pt x="111011" y="11060"/>
                  </a:lnTo>
                  <a:lnTo>
                    <a:pt x="105418" y="8617"/>
                  </a:lnTo>
                  <a:lnTo>
                    <a:pt x="99826" y="6238"/>
                  </a:lnTo>
                  <a:lnTo>
                    <a:pt x="94041" y="3922"/>
                  </a:lnTo>
                  <a:lnTo>
                    <a:pt x="87999" y="1993"/>
                  </a:lnTo>
                  <a:lnTo>
                    <a:pt x="81764" y="643"/>
                  </a:lnTo>
                  <a:lnTo>
                    <a:pt x="75271" y="0"/>
                  </a:lnTo>
                  <a:lnTo>
                    <a:pt x="68779" y="129"/>
                  </a:lnTo>
                  <a:lnTo>
                    <a:pt x="62351" y="1157"/>
                  </a:lnTo>
                  <a:lnTo>
                    <a:pt x="56180" y="2829"/>
                  </a:lnTo>
                  <a:lnTo>
                    <a:pt x="50202" y="4952"/>
                  </a:lnTo>
                  <a:lnTo>
                    <a:pt x="44481" y="7459"/>
                  </a:lnTo>
                  <a:lnTo>
                    <a:pt x="38953" y="10160"/>
                  </a:lnTo>
                  <a:lnTo>
                    <a:pt x="33490" y="12925"/>
                  </a:lnTo>
                  <a:lnTo>
                    <a:pt x="27962" y="15819"/>
                  </a:lnTo>
                  <a:lnTo>
                    <a:pt x="22433" y="18841"/>
                  </a:lnTo>
                  <a:lnTo>
                    <a:pt x="16970" y="22314"/>
                  </a:lnTo>
                  <a:lnTo>
                    <a:pt x="11892" y="26236"/>
                  </a:lnTo>
                  <a:lnTo>
                    <a:pt x="7392" y="30737"/>
                  </a:lnTo>
                  <a:lnTo>
                    <a:pt x="3728" y="35817"/>
                  </a:lnTo>
                  <a:lnTo>
                    <a:pt x="1221" y="41347"/>
                  </a:lnTo>
                  <a:lnTo>
                    <a:pt x="0" y="47263"/>
                  </a:lnTo>
                  <a:lnTo>
                    <a:pt x="0" y="53244"/>
                  </a:lnTo>
                  <a:lnTo>
                    <a:pt x="1093" y="59095"/>
                  </a:lnTo>
                  <a:lnTo>
                    <a:pt x="2892" y="64754"/>
                  </a:lnTo>
                  <a:lnTo>
                    <a:pt x="5014" y="70091"/>
                  </a:lnTo>
                  <a:lnTo>
                    <a:pt x="7264" y="75171"/>
                  </a:lnTo>
                  <a:lnTo>
                    <a:pt x="9192" y="80123"/>
                  </a:lnTo>
                  <a:lnTo>
                    <a:pt x="10799" y="85138"/>
                  </a:lnTo>
                  <a:lnTo>
                    <a:pt x="12149" y="90347"/>
                  </a:lnTo>
                  <a:lnTo>
                    <a:pt x="13370" y="95813"/>
                  </a:lnTo>
                  <a:lnTo>
                    <a:pt x="14784" y="101535"/>
                  </a:lnTo>
                  <a:lnTo>
                    <a:pt x="16777" y="107387"/>
                  </a:lnTo>
                  <a:lnTo>
                    <a:pt x="19605" y="113110"/>
                  </a:lnTo>
                  <a:lnTo>
                    <a:pt x="23398" y="118383"/>
                  </a:lnTo>
                  <a:lnTo>
                    <a:pt x="28283" y="123013"/>
                  </a:lnTo>
                  <a:lnTo>
                    <a:pt x="34068" y="126678"/>
                  </a:lnTo>
                  <a:lnTo>
                    <a:pt x="40624" y="129315"/>
                  </a:lnTo>
                  <a:lnTo>
                    <a:pt x="47567" y="130858"/>
                  </a:lnTo>
                  <a:lnTo>
                    <a:pt x="54638" y="131501"/>
                  </a:lnTo>
                  <a:lnTo>
                    <a:pt x="61708" y="131501"/>
                  </a:lnTo>
                  <a:lnTo>
                    <a:pt x="68586" y="130922"/>
                  </a:lnTo>
                  <a:lnTo>
                    <a:pt x="75271" y="130151"/>
                  </a:lnTo>
                  <a:lnTo>
                    <a:pt x="81764" y="129122"/>
                  </a:lnTo>
                  <a:lnTo>
                    <a:pt x="88127" y="127965"/>
                  </a:lnTo>
                  <a:lnTo>
                    <a:pt x="94362" y="126614"/>
                  </a:lnTo>
                  <a:lnTo>
                    <a:pt x="100469" y="124942"/>
                  </a:lnTo>
                  <a:lnTo>
                    <a:pt x="106382" y="122756"/>
                  </a:lnTo>
                  <a:lnTo>
                    <a:pt x="111975" y="119927"/>
                  </a:lnTo>
                  <a:lnTo>
                    <a:pt x="116989" y="116518"/>
                  </a:lnTo>
                  <a:lnTo>
                    <a:pt x="121424" y="112531"/>
                  </a:lnTo>
                  <a:lnTo>
                    <a:pt x="125216" y="108159"/>
                  </a:lnTo>
                  <a:lnTo>
                    <a:pt x="128430" y="103465"/>
                  </a:lnTo>
                  <a:lnTo>
                    <a:pt x="131194" y="98770"/>
                  </a:lnTo>
                  <a:lnTo>
                    <a:pt x="133830" y="94076"/>
                  </a:lnTo>
                  <a:lnTo>
                    <a:pt x="136465" y="89511"/>
                  </a:lnTo>
                  <a:lnTo>
                    <a:pt x="139422" y="85010"/>
                  </a:lnTo>
                  <a:lnTo>
                    <a:pt x="142636" y="80444"/>
                  </a:lnTo>
                  <a:lnTo>
                    <a:pt x="146107" y="75621"/>
                  </a:lnTo>
                  <a:lnTo>
                    <a:pt x="149643" y="70413"/>
                  </a:lnTo>
                  <a:close/>
                </a:path>
              </a:pathLst>
            </a:custGeom>
            <a:solidFill>
              <a:srgbClr val="8A6FC0"/>
            </a:solidFill>
            <a:ln w="6425" cap="flat">
              <a:solidFill>
                <a:srgbClr val="5F4A9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0" name="Freeform 289">
              <a:extLst>
                <a:ext uri="{FF2B5EF4-FFF2-40B4-BE49-F238E27FC236}">
                  <a16:creationId xmlns:a16="http://schemas.microsoft.com/office/drawing/2014/main" id="{B66CF15C-B775-2B05-F662-297B723643C4}"/>
                </a:ext>
              </a:extLst>
            </p:cNvPr>
            <p:cNvSpPr/>
            <p:nvPr/>
          </p:nvSpPr>
          <p:spPr>
            <a:xfrm>
              <a:off x="3376775" y="5559312"/>
              <a:ext cx="4082" cy="118833"/>
            </a:xfrm>
            <a:custGeom>
              <a:avLst/>
              <a:gdLst>
                <a:gd name="csX0" fmla="*/ 2041 w 4082"/>
                <a:gd name="csY0" fmla="*/ 0 h 118833"/>
                <a:gd name="csX1" fmla="*/ 2041 w 4082"/>
                <a:gd name="csY1" fmla="*/ 118834 h 118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082" h="118833">
                  <a:moveTo>
                    <a:pt x="2041" y="0"/>
                  </a:moveTo>
                  <a:cubicBezTo>
                    <a:pt x="9112" y="39611"/>
                    <a:pt x="-5030" y="82052"/>
                    <a:pt x="2041" y="118834"/>
                  </a:cubicBezTo>
                </a:path>
              </a:pathLst>
            </a:custGeom>
            <a:noFill/>
            <a:ln w="5462" cap="rnd">
              <a:solidFill>
                <a:srgbClr val="FFFFFF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1" name="Freeform 290">
              <a:extLst>
                <a:ext uri="{FF2B5EF4-FFF2-40B4-BE49-F238E27FC236}">
                  <a16:creationId xmlns:a16="http://schemas.microsoft.com/office/drawing/2014/main" id="{9CBC9CB6-9723-7F72-EEEA-2762321BD8FB}"/>
                </a:ext>
              </a:extLst>
            </p:cNvPr>
            <p:cNvSpPr/>
            <p:nvPr/>
          </p:nvSpPr>
          <p:spPr>
            <a:xfrm>
              <a:off x="3323664" y="5591850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1" y="-1886"/>
                    <a:pt x="21212" y="-1886"/>
                    <a:pt x="21212" y="5659"/>
                  </a:cubicBezTo>
                  <a:cubicBezTo>
                    <a:pt x="21212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2" name="Freeform 291">
              <a:extLst>
                <a:ext uri="{FF2B5EF4-FFF2-40B4-BE49-F238E27FC236}">
                  <a16:creationId xmlns:a16="http://schemas.microsoft.com/office/drawing/2014/main" id="{72B9E5E6-8BDC-2F26-9A5B-50C895DCD557}"/>
                </a:ext>
              </a:extLst>
            </p:cNvPr>
            <p:cNvSpPr/>
            <p:nvPr/>
          </p:nvSpPr>
          <p:spPr>
            <a:xfrm>
              <a:off x="3327907" y="5630754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E42CE582-1CA5-F60F-4C85-4D54557B7E3F}"/>
                </a:ext>
              </a:extLst>
            </p:cNvPr>
            <p:cNvSpPr/>
            <p:nvPr/>
          </p:nvSpPr>
          <p:spPr>
            <a:xfrm>
              <a:off x="3391543" y="5593265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1" y="-1886"/>
                    <a:pt x="21212" y="-1886"/>
                    <a:pt x="21212" y="5659"/>
                  </a:cubicBezTo>
                  <a:cubicBezTo>
                    <a:pt x="21212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4" name="Freeform 293">
              <a:extLst>
                <a:ext uri="{FF2B5EF4-FFF2-40B4-BE49-F238E27FC236}">
                  <a16:creationId xmlns:a16="http://schemas.microsoft.com/office/drawing/2014/main" id="{2D677946-905A-0799-0429-538432215AAD}"/>
                </a:ext>
              </a:extLst>
            </p:cNvPr>
            <p:cNvSpPr/>
            <p:nvPr/>
          </p:nvSpPr>
          <p:spPr>
            <a:xfrm>
              <a:off x="3392958" y="5632168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5" name="TextBox 294">
            <a:extLst>
              <a:ext uri="{FF2B5EF4-FFF2-40B4-BE49-F238E27FC236}">
                <a16:creationId xmlns:a16="http://schemas.microsoft.com/office/drawing/2014/main" id="{034200C3-4308-8B2E-F79B-67F45F898B22}"/>
              </a:ext>
            </a:extLst>
          </p:cNvPr>
          <p:cNvSpPr txBox="1"/>
          <p:nvPr/>
        </p:nvSpPr>
        <p:spPr>
          <a:xfrm>
            <a:off x="3441647" y="5476762"/>
            <a:ext cx="1210869" cy="187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b="1" spc="0" baseline="0">
                <a:ln/>
                <a:solidFill>
                  <a:srgbClr val="22314A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Emotion categories (BPLS)</a:t>
            </a:r>
          </a:p>
        </p:txBody>
      </p:sp>
      <p:sp>
        <p:nvSpPr>
          <p:cNvPr id="296" name="TextBox 295">
            <a:extLst>
              <a:ext uri="{FF2B5EF4-FFF2-40B4-BE49-F238E27FC236}">
                <a16:creationId xmlns:a16="http://schemas.microsoft.com/office/drawing/2014/main" id="{59D9E950-92D6-2723-A0D5-836305BE43D1}"/>
              </a:ext>
            </a:extLst>
          </p:cNvPr>
          <p:cNvSpPr txBox="1"/>
          <p:nvPr/>
        </p:nvSpPr>
        <p:spPr>
          <a:xfrm>
            <a:off x="3441647" y="5596756"/>
            <a:ext cx="600761" cy="174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25" i="1" spc="0" baseline="0">
                <a:ln/>
                <a:solidFill>
                  <a:srgbClr val="7C8598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Kragel · 2015</a:t>
            </a:r>
          </a:p>
        </p:txBody>
      </p:sp>
      <p:sp>
        <p:nvSpPr>
          <p:cNvPr id="297" name="Freeform 296">
            <a:extLst>
              <a:ext uri="{FF2B5EF4-FFF2-40B4-BE49-F238E27FC236}">
                <a16:creationId xmlns:a16="http://schemas.microsoft.com/office/drawing/2014/main" id="{EA9DD029-C222-0E38-4534-D37663A1BF67}"/>
              </a:ext>
            </a:extLst>
          </p:cNvPr>
          <p:cNvSpPr/>
          <p:nvPr/>
        </p:nvSpPr>
        <p:spPr>
          <a:xfrm>
            <a:off x="3083130" y="4996398"/>
            <a:ext cx="128558" cy="983846"/>
          </a:xfrm>
          <a:custGeom>
            <a:avLst/>
            <a:gdLst>
              <a:gd name="csX0" fmla="*/ 0 w 128558"/>
              <a:gd name="csY0" fmla="*/ 0 h 983846"/>
              <a:gd name="csX1" fmla="*/ 128559 w 128558"/>
              <a:gd name="csY1" fmla="*/ 983847 h 98384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8558" h="983846">
                <a:moveTo>
                  <a:pt x="0" y="0"/>
                </a:moveTo>
                <a:cubicBezTo>
                  <a:pt x="0" y="983847"/>
                  <a:pt x="64279" y="983847"/>
                  <a:pt x="128559" y="983847"/>
                </a:cubicBezTo>
              </a:path>
            </a:pathLst>
          </a:custGeom>
          <a:noFill/>
          <a:ln w="12851" cap="flat">
            <a:solidFill>
              <a:srgbClr val="8A6FC0">
                <a:alpha val="4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98" name="Rounded Rectangle 297">
            <a:extLst>
              <a:ext uri="{FF2B5EF4-FFF2-40B4-BE49-F238E27FC236}">
                <a16:creationId xmlns:a16="http://schemas.microsoft.com/office/drawing/2014/main" id="{BA58D5A1-CCAF-7A5F-3DFE-2FF781AE4A8F}"/>
              </a:ext>
            </a:extLst>
          </p:cNvPr>
          <p:cNvSpPr/>
          <p:nvPr/>
        </p:nvSpPr>
        <p:spPr>
          <a:xfrm>
            <a:off x="3211689" y="5825915"/>
            <a:ext cx="1722690" cy="308657"/>
          </a:xfrm>
          <a:prstGeom prst="roundRect">
            <a:avLst>
              <a:gd name="adj" fmla="val 24990"/>
            </a:avLst>
          </a:prstGeom>
          <a:solidFill>
            <a:srgbClr val="FFFFFF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99" name="Rounded Rectangle 298">
            <a:extLst>
              <a:ext uri="{FF2B5EF4-FFF2-40B4-BE49-F238E27FC236}">
                <a16:creationId xmlns:a16="http://schemas.microsoft.com/office/drawing/2014/main" id="{E00348B9-4C76-3A32-29A8-DF06214E56FF}"/>
              </a:ext>
            </a:extLst>
          </p:cNvPr>
          <p:cNvSpPr/>
          <p:nvPr/>
        </p:nvSpPr>
        <p:spPr>
          <a:xfrm>
            <a:off x="3211689" y="5825915"/>
            <a:ext cx="32139" cy="308657"/>
          </a:xfrm>
          <a:prstGeom prst="roundRect">
            <a:avLst>
              <a:gd name="adj" fmla="val 50000"/>
            </a:avLst>
          </a:prstGeom>
          <a:solidFill>
            <a:srgbClr val="8A6FC0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00" name="Oval 299">
            <a:extLst>
              <a:ext uri="{FF2B5EF4-FFF2-40B4-BE49-F238E27FC236}">
                <a16:creationId xmlns:a16="http://schemas.microsoft.com/office/drawing/2014/main" id="{2AC1B329-6650-B67B-6142-4B80083D2B53}"/>
              </a:ext>
            </a:extLst>
          </p:cNvPr>
          <p:cNvSpPr/>
          <p:nvPr/>
        </p:nvSpPr>
        <p:spPr>
          <a:xfrm>
            <a:off x="3282397" y="5883789"/>
            <a:ext cx="192838" cy="192911"/>
          </a:xfrm>
          <a:prstGeom prst="ellipse">
            <a:avLst/>
          </a:prstGeom>
          <a:solidFill>
            <a:srgbClr val="EEEAF7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301" name="Graphic 2">
            <a:extLst>
              <a:ext uri="{FF2B5EF4-FFF2-40B4-BE49-F238E27FC236}">
                <a16:creationId xmlns:a16="http://schemas.microsoft.com/office/drawing/2014/main" id="{005DABE1-43DB-CADA-9915-6E240D43761F}"/>
              </a:ext>
            </a:extLst>
          </p:cNvPr>
          <p:cNvGrpSpPr/>
          <p:nvPr/>
        </p:nvGrpSpPr>
        <p:grpSpPr>
          <a:xfrm>
            <a:off x="3303545" y="5915491"/>
            <a:ext cx="156391" cy="131501"/>
            <a:chOff x="3303545" y="5915491"/>
            <a:chExt cx="156391" cy="131501"/>
          </a:xfrm>
        </p:grpSpPr>
        <p:sp>
          <p:nvSpPr>
            <p:cNvPr id="302" name="Freeform 301">
              <a:extLst>
                <a:ext uri="{FF2B5EF4-FFF2-40B4-BE49-F238E27FC236}">
                  <a16:creationId xmlns:a16="http://schemas.microsoft.com/office/drawing/2014/main" id="{83A3C671-3EBC-682A-11AA-55DE2B38205F}"/>
                </a:ext>
              </a:extLst>
            </p:cNvPr>
            <p:cNvSpPr/>
            <p:nvPr/>
          </p:nvSpPr>
          <p:spPr>
            <a:xfrm>
              <a:off x="3303545" y="5915491"/>
              <a:ext cx="156391" cy="131501"/>
            </a:xfrm>
            <a:custGeom>
              <a:avLst/>
              <a:gdLst>
                <a:gd name="csX0" fmla="*/ 152792 w 156391"/>
                <a:gd name="csY0" fmla="*/ 64754 h 131501"/>
                <a:gd name="csX1" fmla="*/ 155171 w 156391"/>
                <a:gd name="csY1" fmla="*/ 58709 h 131501"/>
                <a:gd name="csX2" fmla="*/ 156392 w 156391"/>
                <a:gd name="csY2" fmla="*/ 52343 h 131501"/>
                <a:gd name="csX3" fmla="*/ 156199 w 156391"/>
                <a:gd name="csY3" fmla="*/ 45913 h 131501"/>
                <a:gd name="csX4" fmla="*/ 154399 w 156391"/>
                <a:gd name="csY4" fmla="*/ 39740 h 131501"/>
                <a:gd name="csX5" fmla="*/ 151121 w 156391"/>
                <a:gd name="csY5" fmla="*/ 34081 h 131501"/>
                <a:gd name="csX6" fmla="*/ 146557 w 156391"/>
                <a:gd name="csY6" fmla="*/ 29001 h 131501"/>
                <a:gd name="csX7" fmla="*/ 141029 w 156391"/>
                <a:gd name="csY7" fmla="*/ 24757 h 131501"/>
                <a:gd name="csX8" fmla="*/ 134987 w 156391"/>
                <a:gd name="csY8" fmla="*/ 21220 h 131501"/>
                <a:gd name="csX9" fmla="*/ 128752 w 156391"/>
                <a:gd name="csY9" fmla="*/ 18327 h 131501"/>
                <a:gd name="csX10" fmla="*/ 122645 w 156391"/>
                <a:gd name="csY10" fmla="*/ 15754 h 131501"/>
                <a:gd name="csX11" fmla="*/ 116667 w 156391"/>
                <a:gd name="csY11" fmla="*/ 13375 h 131501"/>
                <a:gd name="csX12" fmla="*/ 111011 w 156391"/>
                <a:gd name="csY12" fmla="*/ 11060 h 131501"/>
                <a:gd name="csX13" fmla="*/ 105418 w 156391"/>
                <a:gd name="csY13" fmla="*/ 8617 h 131501"/>
                <a:gd name="csX14" fmla="*/ 99826 w 156391"/>
                <a:gd name="csY14" fmla="*/ 6238 h 131501"/>
                <a:gd name="csX15" fmla="*/ 94041 w 156391"/>
                <a:gd name="csY15" fmla="*/ 3922 h 131501"/>
                <a:gd name="csX16" fmla="*/ 87999 w 156391"/>
                <a:gd name="csY16" fmla="*/ 1993 h 131501"/>
                <a:gd name="csX17" fmla="*/ 81764 w 156391"/>
                <a:gd name="csY17" fmla="*/ 643 h 131501"/>
                <a:gd name="csX18" fmla="*/ 75271 w 156391"/>
                <a:gd name="csY18" fmla="*/ 0 h 131501"/>
                <a:gd name="csX19" fmla="*/ 68779 w 156391"/>
                <a:gd name="csY19" fmla="*/ 129 h 131501"/>
                <a:gd name="csX20" fmla="*/ 62351 w 156391"/>
                <a:gd name="csY20" fmla="*/ 1157 h 131501"/>
                <a:gd name="csX21" fmla="*/ 56180 w 156391"/>
                <a:gd name="csY21" fmla="*/ 2829 h 131501"/>
                <a:gd name="csX22" fmla="*/ 50202 w 156391"/>
                <a:gd name="csY22" fmla="*/ 4952 h 131501"/>
                <a:gd name="csX23" fmla="*/ 44481 w 156391"/>
                <a:gd name="csY23" fmla="*/ 7459 h 131501"/>
                <a:gd name="csX24" fmla="*/ 38953 w 156391"/>
                <a:gd name="csY24" fmla="*/ 10160 h 131501"/>
                <a:gd name="csX25" fmla="*/ 33490 w 156391"/>
                <a:gd name="csY25" fmla="*/ 12925 h 131501"/>
                <a:gd name="csX26" fmla="*/ 27962 w 156391"/>
                <a:gd name="csY26" fmla="*/ 15819 h 131501"/>
                <a:gd name="csX27" fmla="*/ 22433 w 156391"/>
                <a:gd name="csY27" fmla="*/ 18841 h 131501"/>
                <a:gd name="csX28" fmla="*/ 16970 w 156391"/>
                <a:gd name="csY28" fmla="*/ 22314 h 131501"/>
                <a:gd name="csX29" fmla="*/ 11892 w 156391"/>
                <a:gd name="csY29" fmla="*/ 26236 h 131501"/>
                <a:gd name="csX30" fmla="*/ 7392 w 156391"/>
                <a:gd name="csY30" fmla="*/ 30737 h 131501"/>
                <a:gd name="csX31" fmla="*/ 3728 w 156391"/>
                <a:gd name="csY31" fmla="*/ 35817 h 131501"/>
                <a:gd name="csX32" fmla="*/ 1221 w 156391"/>
                <a:gd name="csY32" fmla="*/ 41347 h 131501"/>
                <a:gd name="csX33" fmla="*/ 0 w 156391"/>
                <a:gd name="csY33" fmla="*/ 47263 h 131501"/>
                <a:gd name="csX34" fmla="*/ 0 w 156391"/>
                <a:gd name="csY34" fmla="*/ 53244 h 131501"/>
                <a:gd name="csX35" fmla="*/ 1093 w 156391"/>
                <a:gd name="csY35" fmla="*/ 59095 h 131501"/>
                <a:gd name="csX36" fmla="*/ 2892 w 156391"/>
                <a:gd name="csY36" fmla="*/ 64754 h 131501"/>
                <a:gd name="csX37" fmla="*/ 5014 w 156391"/>
                <a:gd name="csY37" fmla="*/ 70091 h 131501"/>
                <a:gd name="csX38" fmla="*/ 7264 w 156391"/>
                <a:gd name="csY38" fmla="*/ 75171 h 131501"/>
                <a:gd name="csX39" fmla="*/ 9192 w 156391"/>
                <a:gd name="csY39" fmla="*/ 80123 h 131501"/>
                <a:gd name="csX40" fmla="*/ 10799 w 156391"/>
                <a:gd name="csY40" fmla="*/ 85138 h 131501"/>
                <a:gd name="csX41" fmla="*/ 12149 w 156391"/>
                <a:gd name="csY41" fmla="*/ 90347 h 131501"/>
                <a:gd name="csX42" fmla="*/ 13370 w 156391"/>
                <a:gd name="csY42" fmla="*/ 95813 h 131501"/>
                <a:gd name="csX43" fmla="*/ 14784 w 156391"/>
                <a:gd name="csY43" fmla="*/ 101535 h 131501"/>
                <a:gd name="csX44" fmla="*/ 16777 w 156391"/>
                <a:gd name="csY44" fmla="*/ 107387 h 131501"/>
                <a:gd name="csX45" fmla="*/ 19605 w 156391"/>
                <a:gd name="csY45" fmla="*/ 113110 h 131501"/>
                <a:gd name="csX46" fmla="*/ 23398 w 156391"/>
                <a:gd name="csY46" fmla="*/ 118383 h 131501"/>
                <a:gd name="csX47" fmla="*/ 28283 w 156391"/>
                <a:gd name="csY47" fmla="*/ 123013 h 131501"/>
                <a:gd name="csX48" fmla="*/ 34068 w 156391"/>
                <a:gd name="csY48" fmla="*/ 126678 h 131501"/>
                <a:gd name="csX49" fmla="*/ 40624 w 156391"/>
                <a:gd name="csY49" fmla="*/ 129315 h 131501"/>
                <a:gd name="csX50" fmla="*/ 47567 w 156391"/>
                <a:gd name="csY50" fmla="*/ 130858 h 131501"/>
                <a:gd name="csX51" fmla="*/ 54638 w 156391"/>
                <a:gd name="csY51" fmla="*/ 131501 h 131501"/>
                <a:gd name="csX52" fmla="*/ 61708 w 156391"/>
                <a:gd name="csY52" fmla="*/ 131501 h 131501"/>
                <a:gd name="csX53" fmla="*/ 68586 w 156391"/>
                <a:gd name="csY53" fmla="*/ 130922 h 131501"/>
                <a:gd name="csX54" fmla="*/ 75271 w 156391"/>
                <a:gd name="csY54" fmla="*/ 130151 h 131501"/>
                <a:gd name="csX55" fmla="*/ 81764 w 156391"/>
                <a:gd name="csY55" fmla="*/ 129122 h 131501"/>
                <a:gd name="csX56" fmla="*/ 88127 w 156391"/>
                <a:gd name="csY56" fmla="*/ 127965 h 131501"/>
                <a:gd name="csX57" fmla="*/ 94362 w 156391"/>
                <a:gd name="csY57" fmla="*/ 126614 h 131501"/>
                <a:gd name="csX58" fmla="*/ 100469 w 156391"/>
                <a:gd name="csY58" fmla="*/ 124942 h 131501"/>
                <a:gd name="csX59" fmla="*/ 106382 w 156391"/>
                <a:gd name="csY59" fmla="*/ 122756 h 131501"/>
                <a:gd name="csX60" fmla="*/ 111975 w 156391"/>
                <a:gd name="csY60" fmla="*/ 119927 h 131501"/>
                <a:gd name="csX61" fmla="*/ 116989 w 156391"/>
                <a:gd name="csY61" fmla="*/ 116518 h 131501"/>
                <a:gd name="csX62" fmla="*/ 121424 w 156391"/>
                <a:gd name="csY62" fmla="*/ 112531 h 131501"/>
                <a:gd name="csX63" fmla="*/ 125216 w 156391"/>
                <a:gd name="csY63" fmla="*/ 108159 h 131501"/>
                <a:gd name="csX64" fmla="*/ 128430 w 156391"/>
                <a:gd name="csY64" fmla="*/ 103465 h 131501"/>
                <a:gd name="csX65" fmla="*/ 131194 w 156391"/>
                <a:gd name="csY65" fmla="*/ 98770 h 131501"/>
                <a:gd name="csX66" fmla="*/ 133830 w 156391"/>
                <a:gd name="csY66" fmla="*/ 94076 h 131501"/>
                <a:gd name="csX67" fmla="*/ 136465 w 156391"/>
                <a:gd name="csY67" fmla="*/ 89511 h 131501"/>
                <a:gd name="csX68" fmla="*/ 139422 w 156391"/>
                <a:gd name="csY68" fmla="*/ 85010 h 131501"/>
                <a:gd name="csX69" fmla="*/ 142636 w 156391"/>
                <a:gd name="csY69" fmla="*/ 80444 h 131501"/>
                <a:gd name="csX70" fmla="*/ 146107 w 156391"/>
                <a:gd name="csY70" fmla="*/ 75621 h 131501"/>
                <a:gd name="csX71" fmla="*/ 149643 w 156391"/>
                <a:gd name="csY71" fmla="*/ 70413 h 131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156391" h="131501">
                  <a:moveTo>
                    <a:pt x="152792" y="64754"/>
                  </a:moveTo>
                  <a:lnTo>
                    <a:pt x="155171" y="58709"/>
                  </a:lnTo>
                  <a:lnTo>
                    <a:pt x="156392" y="52343"/>
                  </a:lnTo>
                  <a:lnTo>
                    <a:pt x="156199" y="45913"/>
                  </a:lnTo>
                  <a:lnTo>
                    <a:pt x="154399" y="39740"/>
                  </a:lnTo>
                  <a:lnTo>
                    <a:pt x="151121" y="34081"/>
                  </a:lnTo>
                  <a:lnTo>
                    <a:pt x="146557" y="29001"/>
                  </a:lnTo>
                  <a:lnTo>
                    <a:pt x="141029" y="24757"/>
                  </a:lnTo>
                  <a:lnTo>
                    <a:pt x="134987" y="21220"/>
                  </a:lnTo>
                  <a:lnTo>
                    <a:pt x="128752" y="18327"/>
                  </a:lnTo>
                  <a:lnTo>
                    <a:pt x="122645" y="15754"/>
                  </a:lnTo>
                  <a:lnTo>
                    <a:pt x="116667" y="13375"/>
                  </a:lnTo>
                  <a:lnTo>
                    <a:pt x="111011" y="11060"/>
                  </a:lnTo>
                  <a:lnTo>
                    <a:pt x="105418" y="8617"/>
                  </a:lnTo>
                  <a:lnTo>
                    <a:pt x="99826" y="6238"/>
                  </a:lnTo>
                  <a:lnTo>
                    <a:pt x="94041" y="3922"/>
                  </a:lnTo>
                  <a:lnTo>
                    <a:pt x="87999" y="1993"/>
                  </a:lnTo>
                  <a:lnTo>
                    <a:pt x="81764" y="643"/>
                  </a:lnTo>
                  <a:lnTo>
                    <a:pt x="75271" y="0"/>
                  </a:lnTo>
                  <a:lnTo>
                    <a:pt x="68779" y="129"/>
                  </a:lnTo>
                  <a:lnTo>
                    <a:pt x="62351" y="1157"/>
                  </a:lnTo>
                  <a:lnTo>
                    <a:pt x="56180" y="2829"/>
                  </a:lnTo>
                  <a:lnTo>
                    <a:pt x="50202" y="4952"/>
                  </a:lnTo>
                  <a:lnTo>
                    <a:pt x="44481" y="7459"/>
                  </a:lnTo>
                  <a:lnTo>
                    <a:pt x="38953" y="10160"/>
                  </a:lnTo>
                  <a:lnTo>
                    <a:pt x="33490" y="12925"/>
                  </a:lnTo>
                  <a:lnTo>
                    <a:pt x="27962" y="15819"/>
                  </a:lnTo>
                  <a:lnTo>
                    <a:pt x="22433" y="18841"/>
                  </a:lnTo>
                  <a:lnTo>
                    <a:pt x="16970" y="22314"/>
                  </a:lnTo>
                  <a:lnTo>
                    <a:pt x="11892" y="26236"/>
                  </a:lnTo>
                  <a:lnTo>
                    <a:pt x="7392" y="30737"/>
                  </a:lnTo>
                  <a:lnTo>
                    <a:pt x="3728" y="35817"/>
                  </a:lnTo>
                  <a:lnTo>
                    <a:pt x="1221" y="41347"/>
                  </a:lnTo>
                  <a:lnTo>
                    <a:pt x="0" y="47263"/>
                  </a:lnTo>
                  <a:lnTo>
                    <a:pt x="0" y="53244"/>
                  </a:lnTo>
                  <a:lnTo>
                    <a:pt x="1093" y="59095"/>
                  </a:lnTo>
                  <a:lnTo>
                    <a:pt x="2892" y="64754"/>
                  </a:lnTo>
                  <a:lnTo>
                    <a:pt x="5014" y="70091"/>
                  </a:lnTo>
                  <a:lnTo>
                    <a:pt x="7264" y="75171"/>
                  </a:lnTo>
                  <a:lnTo>
                    <a:pt x="9192" y="80123"/>
                  </a:lnTo>
                  <a:lnTo>
                    <a:pt x="10799" y="85138"/>
                  </a:lnTo>
                  <a:lnTo>
                    <a:pt x="12149" y="90347"/>
                  </a:lnTo>
                  <a:lnTo>
                    <a:pt x="13370" y="95813"/>
                  </a:lnTo>
                  <a:lnTo>
                    <a:pt x="14784" y="101535"/>
                  </a:lnTo>
                  <a:lnTo>
                    <a:pt x="16777" y="107387"/>
                  </a:lnTo>
                  <a:lnTo>
                    <a:pt x="19605" y="113110"/>
                  </a:lnTo>
                  <a:lnTo>
                    <a:pt x="23398" y="118383"/>
                  </a:lnTo>
                  <a:lnTo>
                    <a:pt x="28283" y="123013"/>
                  </a:lnTo>
                  <a:lnTo>
                    <a:pt x="34068" y="126678"/>
                  </a:lnTo>
                  <a:lnTo>
                    <a:pt x="40624" y="129315"/>
                  </a:lnTo>
                  <a:lnTo>
                    <a:pt x="47567" y="130858"/>
                  </a:lnTo>
                  <a:lnTo>
                    <a:pt x="54638" y="131501"/>
                  </a:lnTo>
                  <a:lnTo>
                    <a:pt x="61708" y="131501"/>
                  </a:lnTo>
                  <a:lnTo>
                    <a:pt x="68586" y="130922"/>
                  </a:lnTo>
                  <a:lnTo>
                    <a:pt x="75271" y="130151"/>
                  </a:lnTo>
                  <a:lnTo>
                    <a:pt x="81764" y="129122"/>
                  </a:lnTo>
                  <a:lnTo>
                    <a:pt x="88127" y="127965"/>
                  </a:lnTo>
                  <a:lnTo>
                    <a:pt x="94362" y="126614"/>
                  </a:lnTo>
                  <a:lnTo>
                    <a:pt x="100469" y="124942"/>
                  </a:lnTo>
                  <a:lnTo>
                    <a:pt x="106382" y="122756"/>
                  </a:lnTo>
                  <a:lnTo>
                    <a:pt x="111975" y="119927"/>
                  </a:lnTo>
                  <a:lnTo>
                    <a:pt x="116989" y="116518"/>
                  </a:lnTo>
                  <a:lnTo>
                    <a:pt x="121424" y="112531"/>
                  </a:lnTo>
                  <a:lnTo>
                    <a:pt x="125216" y="108159"/>
                  </a:lnTo>
                  <a:lnTo>
                    <a:pt x="128430" y="103465"/>
                  </a:lnTo>
                  <a:lnTo>
                    <a:pt x="131194" y="98770"/>
                  </a:lnTo>
                  <a:lnTo>
                    <a:pt x="133830" y="94076"/>
                  </a:lnTo>
                  <a:lnTo>
                    <a:pt x="136465" y="89511"/>
                  </a:lnTo>
                  <a:lnTo>
                    <a:pt x="139422" y="85010"/>
                  </a:lnTo>
                  <a:lnTo>
                    <a:pt x="142636" y="80444"/>
                  </a:lnTo>
                  <a:lnTo>
                    <a:pt x="146107" y="75621"/>
                  </a:lnTo>
                  <a:lnTo>
                    <a:pt x="149643" y="70413"/>
                  </a:lnTo>
                  <a:close/>
                </a:path>
              </a:pathLst>
            </a:custGeom>
            <a:solidFill>
              <a:srgbClr val="8A6FC0"/>
            </a:solidFill>
            <a:ln w="6425" cap="flat">
              <a:solidFill>
                <a:srgbClr val="5F4A94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3" name="Freeform 302">
              <a:extLst>
                <a:ext uri="{FF2B5EF4-FFF2-40B4-BE49-F238E27FC236}">
                  <a16:creationId xmlns:a16="http://schemas.microsoft.com/office/drawing/2014/main" id="{B6E38289-A48A-080E-AC22-F3CF328DE345}"/>
                </a:ext>
              </a:extLst>
            </p:cNvPr>
            <p:cNvSpPr/>
            <p:nvPr/>
          </p:nvSpPr>
          <p:spPr>
            <a:xfrm>
              <a:off x="3376775" y="5919413"/>
              <a:ext cx="4082" cy="118833"/>
            </a:xfrm>
            <a:custGeom>
              <a:avLst/>
              <a:gdLst>
                <a:gd name="csX0" fmla="*/ 2041 w 4082"/>
                <a:gd name="csY0" fmla="*/ 0 h 118833"/>
                <a:gd name="csX1" fmla="*/ 2041 w 4082"/>
                <a:gd name="csY1" fmla="*/ 118834 h 118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082" h="118833">
                  <a:moveTo>
                    <a:pt x="2041" y="0"/>
                  </a:moveTo>
                  <a:cubicBezTo>
                    <a:pt x="9112" y="39611"/>
                    <a:pt x="-5030" y="82052"/>
                    <a:pt x="2041" y="118834"/>
                  </a:cubicBezTo>
                </a:path>
              </a:pathLst>
            </a:custGeom>
            <a:noFill/>
            <a:ln w="5462" cap="rnd">
              <a:solidFill>
                <a:srgbClr val="FFFFFF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4" name="Freeform 303">
              <a:extLst>
                <a:ext uri="{FF2B5EF4-FFF2-40B4-BE49-F238E27FC236}">
                  <a16:creationId xmlns:a16="http://schemas.microsoft.com/office/drawing/2014/main" id="{7837F04B-3F1F-326B-FAE3-06FB1AE7AACD}"/>
                </a:ext>
              </a:extLst>
            </p:cNvPr>
            <p:cNvSpPr/>
            <p:nvPr/>
          </p:nvSpPr>
          <p:spPr>
            <a:xfrm>
              <a:off x="3323664" y="5951951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1" y="-1886"/>
                    <a:pt x="21212" y="-1886"/>
                    <a:pt x="21212" y="5659"/>
                  </a:cubicBezTo>
                  <a:cubicBezTo>
                    <a:pt x="21212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5" name="Freeform 304">
              <a:extLst>
                <a:ext uri="{FF2B5EF4-FFF2-40B4-BE49-F238E27FC236}">
                  <a16:creationId xmlns:a16="http://schemas.microsoft.com/office/drawing/2014/main" id="{05EDF14E-A2A4-4484-5E87-28808CF1E16A}"/>
                </a:ext>
              </a:extLst>
            </p:cNvPr>
            <p:cNvSpPr/>
            <p:nvPr/>
          </p:nvSpPr>
          <p:spPr>
            <a:xfrm>
              <a:off x="3327907" y="5990854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6" name="Freeform 305">
              <a:extLst>
                <a:ext uri="{FF2B5EF4-FFF2-40B4-BE49-F238E27FC236}">
                  <a16:creationId xmlns:a16="http://schemas.microsoft.com/office/drawing/2014/main" id="{914F0603-CFAB-1908-B0B8-D66D99FB6F66}"/>
                </a:ext>
              </a:extLst>
            </p:cNvPr>
            <p:cNvSpPr/>
            <p:nvPr/>
          </p:nvSpPr>
          <p:spPr>
            <a:xfrm>
              <a:off x="3391543" y="5953365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1" y="-1886"/>
                    <a:pt x="21212" y="-1886"/>
                    <a:pt x="21212" y="5659"/>
                  </a:cubicBezTo>
                  <a:cubicBezTo>
                    <a:pt x="21212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" name="Freeform 306">
              <a:extLst>
                <a:ext uri="{FF2B5EF4-FFF2-40B4-BE49-F238E27FC236}">
                  <a16:creationId xmlns:a16="http://schemas.microsoft.com/office/drawing/2014/main" id="{089A1EE8-2863-2BB9-C8C8-B835AE831784}"/>
                </a:ext>
              </a:extLst>
            </p:cNvPr>
            <p:cNvSpPr/>
            <p:nvPr/>
          </p:nvSpPr>
          <p:spPr>
            <a:xfrm>
              <a:off x="3392958" y="5992269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8" name="TextBox 307">
            <a:extLst>
              <a:ext uri="{FF2B5EF4-FFF2-40B4-BE49-F238E27FC236}">
                <a16:creationId xmlns:a16="http://schemas.microsoft.com/office/drawing/2014/main" id="{3D48EF04-18E6-B69C-87B0-DFEECC83CBAD}"/>
              </a:ext>
            </a:extLst>
          </p:cNvPr>
          <p:cNvSpPr txBox="1"/>
          <p:nvPr/>
        </p:nvSpPr>
        <p:spPr>
          <a:xfrm>
            <a:off x="3441647" y="5836863"/>
            <a:ext cx="1315083" cy="187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b="1" spc="0" baseline="0">
                <a:ln/>
                <a:solidFill>
                  <a:srgbClr val="22314A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Emotion schemas — 20 types</a:t>
            </a: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C75AB9CA-56FC-58C2-E299-1A4F156294F1}"/>
              </a:ext>
            </a:extLst>
          </p:cNvPr>
          <p:cNvSpPr txBox="1"/>
          <p:nvPr/>
        </p:nvSpPr>
        <p:spPr>
          <a:xfrm>
            <a:off x="3441647" y="5956857"/>
            <a:ext cx="600761" cy="174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25" i="1" spc="0" baseline="0">
                <a:ln/>
                <a:solidFill>
                  <a:srgbClr val="7C8598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Kragel · 2019</a:t>
            </a:r>
          </a:p>
        </p:txBody>
      </p:sp>
      <p:sp>
        <p:nvSpPr>
          <p:cNvPr id="310" name="Rounded Rectangle 309">
            <a:extLst>
              <a:ext uri="{FF2B5EF4-FFF2-40B4-BE49-F238E27FC236}">
                <a16:creationId xmlns:a16="http://schemas.microsoft.com/office/drawing/2014/main" id="{850C3625-4508-881F-C058-026ACC1931BF}"/>
              </a:ext>
            </a:extLst>
          </p:cNvPr>
          <p:cNvSpPr/>
          <p:nvPr/>
        </p:nvSpPr>
        <p:spPr>
          <a:xfrm>
            <a:off x="5152930" y="1376099"/>
            <a:ext cx="2069799" cy="398682"/>
          </a:xfrm>
          <a:prstGeom prst="roundRect">
            <a:avLst>
              <a:gd name="adj" fmla="val 25796"/>
            </a:avLst>
          </a:prstGeom>
          <a:solidFill>
            <a:srgbClr val="E39A3C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311" name="Graphic 2">
            <a:extLst>
              <a:ext uri="{FF2B5EF4-FFF2-40B4-BE49-F238E27FC236}">
                <a16:creationId xmlns:a16="http://schemas.microsoft.com/office/drawing/2014/main" id="{B2CBCCE2-76EC-DB13-B1E7-8877EB69F28B}"/>
              </a:ext>
            </a:extLst>
          </p:cNvPr>
          <p:cNvGrpSpPr/>
          <p:nvPr/>
        </p:nvGrpSpPr>
        <p:grpSpPr>
          <a:xfrm>
            <a:off x="5234629" y="1457636"/>
            <a:ext cx="284308" cy="239209"/>
            <a:chOff x="5234629" y="1457636"/>
            <a:chExt cx="284308" cy="239209"/>
          </a:xfrm>
        </p:grpSpPr>
        <p:sp>
          <p:nvSpPr>
            <p:cNvPr id="312" name="Freeform 311">
              <a:extLst>
                <a:ext uri="{FF2B5EF4-FFF2-40B4-BE49-F238E27FC236}">
                  <a16:creationId xmlns:a16="http://schemas.microsoft.com/office/drawing/2014/main" id="{3553BDCA-9956-8717-D84C-A5C2F062C9EA}"/>
                </a:ext>
              </a:extLst>
            </p:cNvPr>
            <p:cNvSpPr/>
            <p:nvPr/>
          </p:nvSpPr>
          <p:spPr>
            <a:xfrm>
              <a:off x="5234629" y="1457636"/>
              <a:ext cx="284308" cy="239209"/>
            </a:xfrm>
            <a:custGeom>
              <a:avLst/>
              <a:gdLst>
                <a:gd name="csX0" fmla="*/ 277751 w 284308"/>
                <a:gd name="csY0" fmla="*/ 117804 h 239209"/>
                <a:gd name="csX1" fmla="*/ 282058 w 284308"/>
                <a:gd name="csY1" fmla="*/ 106744 h 239209"/>
                <a:gd name="csX2" fmla="*/ 284308 w 284308"/>
                <a:gd name="csY2" fmla="*/ 95234 h 239209"/>
                <a:gd name="csX3" fmla="*/ 283922 w 284308"/>
                <a:gd name="csY3" fmla="*/ 83595 h 239209"/>
                <a:gd name="csX4" fmla="*/ 280708 w 284308"/>
                <a:gd name="csY4" fmla="*/ 72342 h 239209"/>
                <a:gd name="csX5" fmla="*/ 274731 w 284308"/>
                <a:gd name="csY5" fmla="*/ 61989 h 239209"/>
                <a:gd name="csX6" fmla="*/ 266438 w 284308"/>
                <a:gd name="csY6" fmla="*/ 52858 h 239209"/>
                <a:gd name="csX7" fmla="*/ 256411 w 284308"/>
                <a:gd name="csY7" fmla="*/ 45141 h 239209"/>
                <a:gd name="csX8" fmla="*/ 245419 w 284308"/>
                <a:gd name="csY8" fmla="*/ 38711 h 239209"/>
                <a:gd name="csX9" fmla="*/ 234106 w 284308"/>
                <a:gd name="csY9" fmla="*/ 33374 h 239209"/>
                <a:gd name="csX10" fmla="*/ 222921 w 284308"/>
                <a:gd name="csY10" fmla="*/ 28744 h 239209"/>
                <a:gd name="csX11" fmla="*/ 212186 w 284308"/>
                <a:gd name="csY11" fmla="*/ 24435 h 239209"/>
                <a:gd name="csX12" fmla="*/ 201773 w 284308"/>
                <a:gd name="csY12" fmla="*/ 20127 h 239209"/>
                <a:gd name="csX13" fmla="*/ 191682 w 284308"/>
                <a:gd name="csY13" fmla="*/ 15754 h 239209"/>
                <a:gd name="csX14" fmla="*/ 181461 w 284308"/>
                <a:gd name="csY14" fmla="*/ 11382 h 239209"/>
                <a:gd name="csX15" fmla="*/ 170983 w 284308"/>
                <a:gd name="csY15" fmla="*/ 7202 h 239209"/>
                <a:gd name="csX16" fmla="*/ 160056 w 284308"/>
                <a:gd name="csY16" fmla="*/ 3665 h 239209"/>
                <a:gd name="csX17" fmla="*/ 148614 w 284308"/>
                <a:gd name="csY17" fmla="*/ 1158 h 239209"/>
                <a:gd name="csX18" fmla="*/ 136851 w 284308"/>
                <a:gd name="csY18" fmla="*/ 0 h 239209"/>
                <a:gd name="csX19" fmla="*/ 125023 w 284308"/>
                <a:gd name="csY19" fmla="*/ 322 h 239209"/>
                <a:gd name="csX20" fmla="*/ 113389 w 284308"/>
                <a:gd name="csY20" fmla="*/ 2122 h 239209"/>
                <a:gd name="csX21" fmla="*/ 102076 w 284308"/>
                <a:gd name="csY21" fmla="*/ 5144 h 239209"/>
                <a:gd name="csX22" fmla="*/ 91277 w 284308"/>
                <a:gd name="csY22" fmla="*/ 9131 h 239209"/>
                <a:gd name="csX23" fmla="*/ 80928 w 284308"/>
                <a:gd name="csY23" fmla="*/ 13697 h 239209"/>
                <a:gd name="csX24" fmla="*/ 70836 w 284308"/>
                <a:gd name="csY24" fmla="*/ 18520 h 239209"/>
                <a:gd name="csX25" fmla="*/ 60808 w 284308"/>
                <a:gd name="csY25" fmla="*/ 23535 h 239209"/>
                <a:gd name="csX26" fmla="*/ 50781 w 284308"/>
                <a:gd name="csY26" fmla="*/ 28744 h 239209"/>
                <a:gd name="csX27" fmla="*/ 40753 w 284308"/>
                <a:gd name="csY27" fmla="*/ 34403 h 239209"/>
                <a:gd name="csX28" fmla="*/ 30918 w 284308"/>
                <a:gd name="csY28" fmla="*/ 40640 h 239209"/>
                <a:gd name="csX29" fmla="*/ 21598 w 284308"/>
                <a:gd name="csY29" fmla="*/ 47713 h 239209"/>
                <a:gd name="csX30" fmla="*/ 13370 w 284308"/>
                <a:gd name="csY30" fmla="*/ 55944 h 239209"/>
                <a:gd name="csX31" fmla="*/ 6814 w 284308"/>
                <a:gd name="csY31" fmla="*/ 65140 h 239209"/>
                <a:gd name="csX32" fmla="*/ 2250 w 284308"/>
                <a:gd name="csY32" fmla="*/ 75300 h 239209"/>
                <a:gd name="csX33" fmla="*/ 0 w 284308"/>
                <a:gd name="csY33" fmla="*/ 85974 h 239209"/>
                <a:gd name="csX34" fmla="*/ 0 w 284308"/>
                <a:gd name="csY34" fmla="*/ 96841 h 239209"/>
                <a:gd name="csX35" fmla="*/ 1928 w 284308"/>
                <a:gd name="csY35" fmla="*/ 107580 h 239209"/>
                <a:gd name="csX36" fmla="*/ 5207 w 284308"/>
                <a:gd name="csY36" fmla="*/ 117804 h 239209"/>
                <a:gd name="csX37" fmla="*/ 9128 w 284308"/>
                <a:gd name="csY37" fmla="*/ 127514 h 239209"/>
                <a:gd name="csX38" fmla="*/ 13177 w 284308"/>
                <a:gd name="csY38" fmla="*/ 136710 h 239209"/>
                <a:gd name="csX39" fmla="*/ 16713 w 284308"/>
                <a:gd name="csY39" fmla="*/ 145777 h 239209"/>
                <a:gd name="csX40" fmla="*/ 19670 w 284308"/>
                <a:gd name="csY40" fmla="*/ 154843 h 239209"/>
                <a:gd name="csX41" fmla="*/ 22048 w 284308"/>
                <a:gd name="csY41" fmla="*/ 164296 h 239209"/>
                <a:gd name="csX42" fmla="*/ 24297 w 284308"/>
                <a:gd name="csY42" fmla="*/ 174263 h 239209"/>
                <a:gd name="csX43" fmla="*/ 26869 w 284308"/>
                <a:gd name="csY43" fmla="*/ 184680 h 239209"/>
                <a:gd name="csX44" fmla="*/ 30468 w 284308"/>
                <a:gd name="csY44" fmla="*/ 195290 h 239209"/>
                <a:gd name="csX45" fmla="*/ 35611 w 284308"/>
                <a:gd name="csY45" fmla="*/ 205708 h 239209"/>
                <a:gd name="csX46" fmla="*/ 42553 w 284308"/>
                <a:gd name="csY46" fmla="*/ 215353 h 239209"/>
                <a:gd name="csX47" fmla="*/ 51424 w 284308"/>
                <a:gd name="csY47" fmla="*/ 223713 h 239209"/>
                <a:gd name="csX48" fmla="*/ 61965 w 284308"/>
                <a:gd name="csY48" fmla="*/ 230400 h 239209"/>
                <a:gd name="csX49" fmla="*/ 73857 w 284308"/>
                <a:gd name="csY49" fmla="*/ 235159 h 239209"/>
                <a:gd name="csX50" fmla="*/ 86456 w 284308"/>
                <a:gd name="csY50" fmla="*/ 237988 h 239209"/>
                <a:gd name="csX51" fmla="*/ 99376 w 284308"/>
                <a:gd name="csY51" fmla="*/ 239210 h 239209"/>
                <a:gd name="csX52" fmla="*/ 112232 w 284308"/>
                <a:gd name="csY52" fmla="*/ 239146 h 239209"/>
                <a:gd name="csX53" fmla="*/ 124702 w 284308"/>
                <a:gd name="csY53" fmla="*/ 238181 h 239209"/>
                <a:gd name="csX54" fmla="*/ 136851 w 284308"/>
                <a:gd name="csY54" fmla="*/ 236638 h 239209"/>
                <a:gd name="csX55" fmla="*/ 148614 w 284308"/>
                <a:gd name="csY55" fmla="*/ 234837 h 239209"/>
                <a:gd name="csX56" fmla="*/ 160184 w 284308"/>
                <a:gd name="csY56" fmla="*/ 232780 h 239209"/>
                <a:gd name="csX57" fmla="*/ 171562 w 284308"/>
                <a:gd name="csY57" fmla="*/ 230336 h 239209"/>
                <a:gd name="csX58" fmla="*/ 182682 w 284308"/>
                <a:gd name="csY58" fmla="*/ 227185 h 239209"/>
                <a:gd name="csX59" fmla="*/ 193481 w 284308"/>
                <a:gd name="csY59" fmla="*/ 223198 h 239209"/>
                <a:gd name="csX60" fmla="*/ 203573 w 284308"/>
                <a:gd name="csY60" fmla="*/ 218118 h 239209"/>
                <a:gd name="csX61" fmla="*/ 212765 w 284308"/>
                <a:gd name="csY61" fmla="*/ 211945 h 239209"/>
                <a:gd name="csX62" fmla="*/ 220800 w 284308"/>
                <a:gd name="csY62" fmla="*/ 204679 h 239209"/>
                <a:gd name="csX63" fmla="*/ 227678 w 284308"/>
                <a:gd name="csY63" fmla="*/ 196705 h 239209"/>
                <a:gd name="csX64" fmla="*/ 233527 w 284308"/>
                <a:gd name="csY64" fmla="*/ 188217 h 239209"/>
                <a:gd name="csX65" fmla="*/ 238605 w 284308"/>
                <a:gd name="csY65" fmla="*/ 179665 h 239209"/>
                <a:gd name="csX66" fmla="*/ 243298 w 284308"/>
                <a:gd name="csY66" fmla="*/ 171177 h 239209"/>
                <a:gd name="csX67" fmla="*/ 248119 w 284308"/>
                <a:gd name="csY67" fmla="*/ 162881 h 239209"/>
                <a:gd name="csX68" fmla="*/ 253454 w 284308"/>
                <a:gd name="csY68" fmla="*/ 154650 h 239209"/>
                <a:gd name="csX69" fmla="*/ 259303 w 284308"/>
                <a:gd name="csY69" fmla="*/ 146291 h 239209"/>
                <a:gd name="csX70" fmla="*/ 265667 w 284308"/>
                <a:gd name="csY70" fmla="*/ 137546 h 239209"/>
                <a:gd name="csX71" fmla="*/ 272031 w 284308"/>
                <a:gd name="csY71" fmla="*/ 128093 h 2392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284308" h="239209">
                  <a:moveTo>
                    <a:pt x="277751" y="117804"/>
                  </a:moveTo>
                  <a:lnTo>
                    <a:pt x="282058" y="106744"/>
                  </a:lnTo>
                  <a:lnTo>
                    <a:pt x="284308" y="95234"/>
                  </a:lnTo>
                  <a:lnTo>
                    <a:pt x="283922" y="83595"/>
                  </a:lnTo>
                  <a:lnTo>
                    <a:pt x="280708" y="72342"/>
                  </a:lnTo>
                  <a:lnTo>
                    <a:pt x="274731" y="61989"/>
                  </a:lnTo>
                  <a:lnTo>
                    <a:pt x="266438" y="52858"/>
                  </a:lnTo>
                  <a:lnTo>
                    <a:pt x="256411" y="45141"/>
                  </a:lnTo>
                  <a:lnTo>
                    <a:pt x="245419" y="38711"/>
                  </a:lnTo>
                  <a:lnTo>
                    <a:pt x="234106" y="33374"/>
                  </a:lnTo>
                  <a:lnTo>
                    <a:pt x="222921" y="28744"/>
                  </a:lnTo>
                  <a:lnTo>
                    <a:pt x="212186" y="24435"/>
                  </a:lnTo>
                  <a:lnTo>
                    <a:pt x="201773" y="20127"/>
                  </a:lnTo>
                  <a:lnTo>
                    <a:pt x="191682" y="15754"/>
                  </a:lnTo>
                  <a:lnTo>
                    <a:pt x="181461" y="11382"/>
                  </a:lnTo>
                  <a:lnTo>
                    <a:pt x="170983" y="7202"/>
                  </a:lnTo>
                  <a:lnTo>
                    <a:pt x="160056" y="3665"/>
                  </a:lnTo>
                  <a:lnTo>
                    <a:pt x="148614" y="1158"/>
                  </a:lnTo>
                  <a:lnTo>
                    <a:pt x="136851" y="0"/>
                  </a:lnTo>
                  <a:lnTo>
                    <a:pt x="125023" y="322"/>
                  </a:lnTo>
                  <a:lnTo>
                    <a:pt x="113389" y="2122"/>
                  </a:lnTo>
                  <a:lnTo>
                    <a:pt x="102076" y="5144"/>
                  </a:lnTo>
                  <a:lnTo>
                    <a:pt x="91277" y="9131"/>
                  </a:lnTo>
                  <a:lnTo>
                    <a:pt x="80928" y="13697"/>
                  </a:lnTo>
                  <a:lnTo>
                    <a:pt x="70836" y="18520"/>
                  </a:lnTo>
                  <a:lnTo>
                    <a:pt x="60808" y="23535"/>
                  </a:lnTo>
                  <a:lnTo>
                    <a:pt x="50781" y="28744"/>
                  </a:lnTo>
                  <a:lnTo>
                    <a:pt x="40753" y="34403"/>
                  </a:lnTo>
                  <a:lnTo>
                    <a:pt x="30918" y="40640"/>
                  </a:lnTo>
                  <a:lnTo>
                    <a:pt x="21598" y="47713"/>
                  </a:lnTo>
                  <a:lnTo>
                    <a:pt x="13370" y="55944"/>
                  </a:lnTo>
                  <a:lnTo>
                    <a:pt x="6814" y="65140"/>
                  </a:lnTo>
                  <a:lnTo>
                    <a:pt x="2250" y="75300"/>
                  </a:lnTo>
                  <a:lnTo>
                    <a:pt x="0" y="85974"/>
                  </a:lnTo>
                  <a:lnTo>
                    <a:pt x="0" y="96841"/>
                  </a:lnTo>
                  <a:lnTo>
                    <a:pt x="1928" y="107580"/>
                  </a:lnTo>
                  <a:lnTo>
                    <a:pt x="5207" y="117804"/>
                  </a:lnTo>
                  <a:lnTo>
                    <a:pt x="9128" y="127514"/>
                  </a:lnTo>
                  <a:lnTo>
                    <a:pt x="13177" y="136710"/>
                  </a:lnTo>
                  <a:lnTo>
                    <a:pt x="16713" y="145777"/>
                  </a:lnTo>
                  <a:lnTo>
                    <a:pt x="19670" y="154843"/>
                  </a:lnTo>
                  <a:lnTo>
                    <a:pt x="22048" y="164296"/>
                  </a:lnTo>
                  <a:lnTo>
                    <a:pt x="24297" y="174263"/>
                  </a:lnTo>
                  <a:lnTo>
                    <a:pt x="26869" y="184680"/>
                  </a:lnTo>
                  <a:lnTo>
                    <a:pt x="30468" y="195290"/>
                  </a:lnTo>
                  <a:lnTo>
                    <a:pt x="35611" y="205708"/>
                  </a:lnTo>
                  <a:lnTo>
                    <a:pt x="42553" y="215353"/>
                  </a:lnTo>
                  <a:lnTo>
                    <a:pt x="51424" y="223713"/>
                  </a:lnTo>
                  <a:lnTo>
                    <a:pt x="61965" y="230400"/>
                  </a:lnTo>
                  <a:lnTo>
                    <a:pt x="73857" y="235159"/>
                  </a:lnTo>
                  <a:lnTo>
                    <a:pt x="86456" y="237988"/>
                  </a:lnTo>
                  <a:lnTo>
                    <a:pt x="99376" y="239210"/>
                  </a:lnTo>
                  <a:lnTo>
                    <a:pt x="112232" y="239146"/>
                  </a:lnTo>
                  <a:lnTo>
                    <a:pt x="124702" y="238181"/>
                  </a:lnTo>
                  <a:lnTo>
                    <a:pt x="136851" y="236638"/>
                  </a:lnTo>
                  <a:lnTo>
                    <a:pt x="148614" y="234837"/>
                  </a:lnTo>
                  <a:lnTo>
                    <a:pt x="160184" y="232780"/>
                  </a:lnTo>
                  <a:lnTo>
                    <a:pt x="171562" y="230336"/>
                  </a:lnTo>
                  <a:lnTo>
                    <a:pt x="182682" y="227185"/>
                  </a:lnTo>
                  <a:lnTo>
                    <a:pt x="193481" y="223198"/>
                  </a:lnTo>
                  <a:lnTo>
                    <a:pt x="203573" y="218118"/>
                  </a:lnTo>
                  <a:lnTo>
                    <a:pt x="212765" y="211945"/>
                  </a:lnTo>
                  <a:lnTo>
                    <a:pt x="220800" y="204679"/>
                  </a:lnTo>
                  <a:lnTo>
                    <a:pt x="227678" y="196705"/>
                  </a:lnTo>
                  <a:lnTo>
                    <a:pt x="233527" y="188217"/>
                  </a:lnTo>
                  <a:lnTo>
                    <a:pt x="238605" y="179665"/>
                  </a:lnTo>
                  <a:lnTo>
                    <a:pt x="243298" y="171177"/>
                  </a:lnTo>
                  <a:lnTo>
                    <a:pt x="248119" y="162881"/>
                  </a:lnTo>
                  <a:lnTo>
                    <a:pt x="253454" y="154650"/>
                  </a:lnTo>
                  <a:lnTo>
                    <a:pt x="259303" y="146291"/>
                  </a:lnTo>
                  <a:lnTo>
                    <a:pt x="265667" y="137546"/>
                  </a:lnTo>
                  <a:lnTo>
                    <a:pt x="272031" y="128093"/>
                  </a:lnTo>
                  <a:close/>
                </a:path>
              </a:pathLst>
            </a:custGeom>
            <a:solidFill>
              <a:srgbClr val="FFFFFF"/>
            </a:solidFill>
            <a:ln w="11566" cap="flat">
              <a:solidFill>
                <a:srgbClr val="B57216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3" name="Freeform 312">
              <a:extLst>
                <a:ext uri="{FF2B5EF4-FFF2-40B4-BE49-F238E27FC236}">
                  <a16:creationId xmlns:a16="http://schemas.microsoft.com/office/drawing/2014/main" id="{3D28E87E-38D9-4B3C-5BC5-2779C58388D0}"/>
                </a:ext>
              </a:extLst>
            </p:cNvPr>
            <p:cNvSpPr/>
            <p:nvPr/>
          </p:nvSpPr>
          <p:spPr>
            <a:xfrm>
              <a:off x="5367769" y="1464838"/>
              <a:ext cx="7422" cy="216060"/>
            </a:xfrm>
            <a:custGeom>
              <a:avLst/>
              <a:gdLst>
                <a:gd name="csX0" fmla="*/ 3711 w 7422"/>
                <a:gd name="csY0" fmla="*/ 0 h 216060"/>
                <a:gd name="csX1" fmla="*/ 3711 w 7422"/>
                <a:gd name="csY1" fmla="*/ 216060 h 2160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422" h="216060">
                  <a:moveTo>
                    <a:pt x="3711" y="0"/>
                  </a:moveTo>
                  <a:cubicBezTo>
                    <a:pt x="16567" y="72020"/>
                    <a:pt x="-9145" y="149185"/>
                    <a:pt x="3711" y="216060"/>
                  </a:cubicBezTo>
                </a:path>
              </a:pathLst>
            </a:custGeom>
            <a:noFill/>
            <a:ln w="9831" cap="rnd">
              <a:solidFill>
                <a:srgbClr val="E39A3C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4" name="Freeform 313">
              <a:extLst>
                <a:ext uri="{FF2B5EF4-FFF2-40B4-BE49-F238E27FC236}">
                  <a16:creationId xmlns:a16="http://schemas.microsoft.com/office/drawing/2014/main" id="{8437B518-035E-D6A1-4B49-7B3F21190463}"/>
                </a:ext>
              </a:extLst>
            </p:cNvPr>
            <p:cNvSpPr/>
            <p:nvPr/>
          </p:nvSpPr>
          <p:spPr>
            <a:xfrm>
              <a:off x="5271205" y="1523997"/>
              <a:ext cx="77135" cy="23149"/>
            </a:xfrm>
            <a:custGeom>
              <a:avLst/>
              <a:gdLst>
                <a:gd name="csX0" fmla="*/ 0 w 77135"/>
                <a:gd name="csY0" fmla="*/ 10289 h 23149"/>
                <a:gd name="csX1" fmla="*/ 38568 w 77135"/>
                <a:gd name="csY1" fmla="*/ 10289 h 23149"/>
                <a:gd name="csX2" fmla="*/ 77135 w 77135"/>
                <a:gd name="csY2" fmla="*/ 18519 h 231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7135" h="23149">
                  <a:moveTo>
                    <a:pt x="0" y="10289"/>
                  </a:moveTo>
                  <a:cubicBezTo>
                    <a:pt x="25712" y="-3429"/>
                    <a:pt x="38568" y="-3430"/>
                    <a:pt x="38568" y="10289"/>
                  </a:cubicBezTo>
                  <a:cubicBezTo>
                    <a:pt x="38568" y="24007"/>
                    <a:pt x="51424" y="26750"/>
                    <a:pt x="77135" y="18519"/>
                  </a:cubicBezTo>
                </a:path>
              </a:pathLst>
            </a:custGeom>
            <a:noFill/>
            <a:ln w="8674" cap="rnd">
              <a:solidFill>
                <a:srgbClr val="E39A3C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5" name="Freeform 314">
              <a:extLst>
                <a:ext uri="{FF2B5EF4-FFF2-40B4-BE49-F238E27FC236}">
                  <a16:creationId xmlns:a16="http://schemas.microsoft.com/office/drawing/2014/main" id="{28B31D26-DC59-8BC1-F2B9-1328E8D43BDD}"/>
                </a:ext>
              </a:extLst>
            </p:cNvPr>
            <p:cNvSpPr/>
            <p:nvPr/>
          </p:nvSpPr>
          <p:spPr>
            <a:xfrm>
              <a:off x="5278918" y="1594731"/>
              <a:ext cx="66850" cy="20255"/>
            </a:xfrm>
            <a:custGeom>
              <a:avLst/>
              <a:gdLst>
                <a:gd name="csX0" fmla="*/ 0 w 66850"/>
                <a:gd name="csY0" fmla="*/ 9002 h 20255"/>
                <a:gd name="csX1" fmla="*/ 33425 w 66850"/>
                <a:gd name="csY1" fmla="*/ 9002 h 20255"/>
                <a:gd name="csX2" fmla="*/ 66851 w 66850"/>
                <a:gd name="csY2" fmla="*/ 16205 h 202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6850" h="20255">
                  <a:moveTo>
                    <a:pt x="0" y="9002"/>
                  </a:moveTo>
                  <a:cubicBezTo>
                    <a:pt x="22284" y="-3001"/>
                    <a:pt x="33425" y="-3001"/>
                    <a:pt x="33425" y="9002"/>
                  </a:cubicBezTo>
                  <a:cubicBezTo>
                    <a:pt x="33425" y="21006"/>
                    <a:pt x="44567" y="23407"/>
                    <a:pt x="66851" y="16205"/>
                  </a:cubicBezTo>
                </a:path>
              </a:pathLst>
            </a:custGeom>
            <a:noFill/>
            <a:ln w="8674" cap="rnd">
              <a:solidFill>
                <a:srgbClr val="E39A3C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6" name="Freeform 315">
              <a:extLst>
                <a:ext uri="{FF2B5EF4-FFF2-40B4-BE49-F238E27FC236}">
                  <a16:creationId xmlns:a16="http://schemas.microsoft.com/office/drawing/2014/main" id="{6A659D9B-7C44-3248-82C5-D1086D04E2B1}"/>
                </a:ext>
              </a:extLst>
            </p:cNvPr>
            <p:cNvSpPr/>
            <p:nvPr/>
          </p:nvSpPr>
          <p:spPr>
            <a:xfrm>
              <a:off x="5394621" y="1526570"/>
              <a:ext cx="77135" cy="23149"/>
            </a:xfrm>
            <a:custGeom>
              <a:avLst/>
              <a:gdLst>
                <a:gd name="csX0" fmla="*/ 0 w 77135"/>
                <a:gd name="csY0" fmla="*/ 10289 h 23149"/>
                <a:gd name="csX1" fmla="*/ 38568 w 77135"/>
                <a:gd name="csY1" fmla="*/ 10289 h 23149"/>
                <a:gd name="csX2" fmla="*/ 77135 w 77135"/>
                <a:gd name="csY2" fmla="*/ 18519 h 231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7135" h="23149">
                  <a:moveTo>
                    <a:pt x="0" y="10289"/>
                  </a:moveTo>
                  <a:cubicBezTo>
                    <a:pt x="25712" y="-3430"/>
                    <a:pt x="38568" y="-3430"/>
                    <a:pt x="38568" y="10289"/>
                  </a:cubicBezTo>
                  <a:cubicBezTo>
                    <a:pt x="38568" y="24007"/>
                    <a:pt x="51424" y="26750"/>
                    <a:pt x="77135" y="18519"/>
                  </a:cubicBezTo>
                </a:path>
              </a:pathLst>
            </a:custGeom>
            <a:noFill/>
            <a:ln w="8674" cap="rnd">
              <a:solidFill>
                <a:srgbClr val="E39A3C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" name="Freeform 316">
              <a:extLst>
                <a:ext uri="{FF2B5EF4-FFF2-40B4-BE49-F238E27FC236}">
                  <a16:creationId xmlns:a16="http://schemas.microsoft.com/office/drawing/2014/main" id="{1B1EB99D-7C33-ECFF-80D6-0662228F4D5C}"/>
                </a:ext>
              </a:extLst>
            </p:cNvPr>
            <p:cNvSpPr/>
            <p:nvPr/>
          </p:nvSpPr>
          <p:spPr>
            <a:xfrm>
              <a:off x="5397192" y="1597304"/>
              <a:ext cx="66850" cy="20255"/>
            </a:xfrm>
            <a:custGeom>
              <a:avLst/>
              <a:gdLst>
                <a:gd name="csX0" fmla="*/ 0 w 66850"/>
                <a:gd name="csY0" fmla="*/ 9003 h 20255"/>
                <a:gd name="csX1" fmla="*/ 33425 w 66850"/>
                <a:gd name="csY1" fmla="*/ 9003 h 20255"/>
                <a:gd name="csX2" fmla="*/ 66851 w 66850"/>
                <a:gd name="csY2" fmla="*/ 16205 h 202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6850" h="20255">
                  <a:moveTo>
                    <a:pt x="0" y="9003"/>
                  </a:moveTo>
                  <a:cubicBezTo>
                    <a:pt x="22284" y="-3001"/>
                    <a:pt x="33425" y="-3001"/>
                    <a:pt x="33425" y="9003"/>
                  </a:cubicBezTo>
                  <a:cubicBezTo>
                    <a:pt x="33425" y="21006"/>
                    <a:pt x="44567" y="23406"/>
                    <a:pt x="66851" y="16205"/>
                  </a:cubicBezTo>
                </a:path>
              </a:pathLst>
            </a:custGeom>
            <a:noFill/>
            <a:ln w="8674" cap="rnd">
              <a:solidFill>
                <a:srgbClr val="E39A3C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8" name="TextBox 317">
            <a:extLst>
              <a:ext uri="{FF2B5EF4-FFF2-40B4-BE49-F238E27FC236}">
                <a16:creationId xmlns:a16="http://schemas.microsoft.com/office/drawing/2014/main" id="{92CE0C90-8F2D-B6A0-8FBA-9EF9C7238959}"/>
              </a:ext>
            </a:extLst>
          </p:cNvPr>
          <p:cNvSpPr txBox="1"/>
          <p:nvPr/>
        </p:nvSpPr>
        <p:spPr>
          <a:xfrm>
            <a:off x="5472879" y="1397415"/>
            <a:ext cx="1210722" cy="221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75" b="1" spc="0" baseline="0">
                <a:ln/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Appetitive / Reward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8A1E998D-D275-F66B-948D-7B8C00F891E7}"/>
              </a:ext>
            </a:extLst>
          </p:cNvPr>
          <p:cNvSpPr txBox="1"/>
          <p:nvPr/>
        </p:nvSpPr>
        <p:spPr>
          <a:xfrm>
            <a:off x="5472879" y="1565576"/>
            <a:ext cx="604347" cy="1813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spc="0" baseline="0">
                <a:ln/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3 signatures</a:t>
            </a:r>
          </a:p>
        </p:txBody>
      </p:sp>
      <p:sp>
        <p:nvSpPr>
          <p:cNvPr id="320" name="Freeform 319">
            <a:extLst>
              <a:ext uri="{FF2B5EF4-FFF2-40B4-BE49-F238E27FC236}">
                <a16:creationId xmlns:a16="http://schemas.microsoft.com/office/drawing/2014/main" id="{F476F599-F217-1B23-4352-DC0DE6911889}"/>
              </a:ext>
            </a:extLst>
          </p:cNvPr>
          <p:cNvSpPr/>
          <p:nvPr/>
        </p:nvSpPr>
        <p:spPr>
          <a:xfrm>
            <a:off x="5281489" y="1800503"/>
            <a:ext cx="6427" cy="1273213"/>
          </a:xfrm>
          <a:custGeom>
            <a:avLst/>
            <a:gdLst>
              <a:gd name="csX0" fmla="*/ 0 w 6427"/>
              <a:gd name="csY0" fmla="*/ 0 h 1273213"/>
              <a:gd name="csX1" fmla="*/ 0 w 6427"/>
              <a:gd name="csY1" fmla="*/ 1273213 h 12732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27" h="1273213">
                <a:moveTo>
                  <a:pt x="0" y="0"/>
                </a:moveTo>
                <a:lnTo>
                  <a:pt x="0" y="1273213"/>
                </a:lnTo>
              </a:path>
            </a:pathLst>
          </a:custGeom>
          <a:ln w="16063" cap="flat">
            <a:solidFill>
              <a:srgbClr val="E39A3C">
                <a:alpha val="45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21" name="Oval 320">
            <a:extLst>
              <a:ext uri="{FF2B5EF4-FFF2-40B4-BE49-F238E27FC236}">
                <a16:creationId xmlns:a16="http://schemas.microsoft.com/office/drawing/2014/main" id="{BCC14E38-85BC-B282-10C5-C5B8ACC6B8D1}"/>
              </a:ext>
            </a:extLst>
          </p:cNvPr>
          <p:cNvSpPr/>
          <p:nvPr/>
        </p:nvSpPr>
        <p:spPr>
          <a:xfrm>
            <a:off x="5249349" y="2025566"/>
            <a:ext cx="64279" cy="64303"/>
          </a:xfrm>
          <a:prstGeom prst="ellipse">
            <a:avLst/>
          </a:prstGeom>
          <a:solidFill>
            <a:srgbClr val="E39A3C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D1EFF35F-1AF0-2D22-85EE-BB520FAB62A5}"/>
              </a:ext>
            </a:extLst>
          </p:cNvPr>
          <p:cNvSpPr txBox="1"/>
          <p:nvPr/>
        </p:nvSpPr>
        <p:spPr>
          <a:xfrm>
            <a:off x="5292896" y="1965780"/>
            <a:ext cx="1033618" cy="187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b="1" spc="30" baseline="0">
                <a:ln/>
                <a:solidFill>
                  <a:srgbClr val="B57216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REWARD &amp; CRAVING</a:t>
            </a:r>
          </a:p>
        </p:txBody>
      </p:sp>
      <p:sp>
        <p:nvSpPr>
          <p:cNvPr id="323" name="Freeform 322">
            <a:extLst>
              <a:ext uri="{FF2B5EF4-FFF2-40B4-BE49-F238E27FC236}">
                <a16:creationId xmlns:a16="http://schemas.microsoft.com/office/drawing/2014/main" id="{DF2FDC0A-DF17-F8D3-E586-7F7E909135F0}"/>
              </a:ext>
            </a:extLst>
          </p:cNvPr>
          <p:cNvSpPr/>
          <p:nvPr/>
        </p:nvSpPr>
        <p:spPr>
          <a:xfrm>
            <a:off x="5281489" y="2089870"/>
            <a:ext cx="128558" cy="263645"/>
          </a:xfrm>
          <a:custGeom>
            <a:avLst/>
            <a:gdLst>
              <a:gd name="csX0" fmla="*/ 0 w 128558"/>
              <a:gd name="csY0" fmla="*/ 0 h 263645"/>
              <a:gd name="csX1" fmla="*/ 128559 w 128558"/>
              <a:gd name="csY1" fmla="*/ 263645 h 26364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8558" h="263645">
                <a:moveTo>
                  <a:pt x="0" y="0"/>
                </a:moveTo>
                <a:cubicBezTo>
                  <a:pt x="0" y="263645"/>
                  <a:pt x="64279" y="263645"/>
                  <a:pt x="128559" y="263645"/>
                </a:cubicBezTo>
              </a:path>
            </a:pathLst>
          </a:custGeom>
          <a:noFill/>
          <a:ln w="12851" cap="flat">
            <a:solidFill>
              <a:srgbClr val="E39A3C">
                <a:alpha val="4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24" name="Rounded Rectangle 323">
            <a:extLst>
              <a:ext uri="{FF2B5EF4-FFF2-40B4-BE49-F238E27FC236}">
                <a16:creationId xmlns:a16="http://schemas.microsoft.com/office/drawing/2014/main" id="{750D91D0-1315-E6F4-A73A-3B527B27009D}"/>
              </a:ext>
            </a:extLst>
          </p:cNvPr>
          <p:cNvSpPr/>
          <p:nvPr/>
        </p:nvSpPr>
        <p:spPr>
          <a:xfrm>
            <a:off x="5410048" y="2199186"/>
            <a:ext cx="1722690" cy="308657"/>
          </a:xfrm>
          <a:prstGeom prst="roundRect">
            <a:avLst>
              <a:gd name="adj" fmla="val 24990"/>
            </a:avLst>
          </a:prstGeom>
          <a:solidFill>
            <a:srgbClr val="FFFFFF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ECD4F11F-5432-C907-F15D-5B013BA1AF2A}"/>
              </a:ext>
            </a:extLst>
          </p:cNvPr>
          <p:cNvSpPr/>
          <p:nvPr/>
        </p:nvSpPr>
        <p:spPr>
          <a:xfrm>
            <a:off x="5410048" y="2199186"/>
            <a:ext cx="32139" cy="308657"/>
          </a:xfrm>
          <a:prstGeom prst="roundRect">
            <a:avLst>
              <a:gd name="adj" fmla="val 50000"/>
            </a:avLst>
          </a:prstGeom>
          <a:solidFill>
            <a:srgbClr val="E39A3C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26" name="Oval 325">
            <a:extLst>
              <a:ext uri="{FF2B5EF4-FFF2-40B4-BE49-F238E27FC236}">
                <a16:creationId xmlns:a16="http://schemas.microsoft.com/office/drawing/2014/main" id="{64AEB60E-A1DA-FE4F-0A09-69490E8F322D}"/>
              </a:ext>
            </a:extLst>
          </p:cNvPr>
          <p:cNvSpPr/>
          <p:nvPr/>
        </p:nvSpPr>
        <p:spPr>
          <a:xfrm>
            <a:off x="5480756" y="2257060"/>
            <a:ext cx="192838" cy="192911"/>
          </a:xfrm>
          <a:prstGeom prst="ellipse">
            <a:avLst/>
          </a:prstGeom>
          <a:solidFill>
            <a:srgbClr val="FBF1E1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327" name="Graphic 2">
            <a:extLst>
              <a:ext uri="{FF2B5EF4-FFF2-40B4-BE49-F238E27FC236}">
                <a16:creationId xmlns:a16="http://schemas.microsoft.com/office/drawing/2014/main" id="{81524EA2-30C5-06C7-AAC0-8C2BC1BEE18E}"/>
              </a:ext>
            </a:extLst>
          </p:cNvPr>
          <p:cNvGrpSpPr/>
          <p:nvPr/>
        </p:nvGrpSpPr>
        <p:grpSpPr>
          <a:xfrm>
            <a:off x="5501903" y="2288761"/>
            <a:ext cx="156392" cy="131501"/>
            <a:chOff x="5501903" y="2288761"/>
            <a:chExt cx="156392" cy="131501"/>
          </a:xfrm>
        </p:grpSpPr>
        <p:sp>
          <p:nvSpPr>
            <p:cNvPr id="328" name="Freeform 327">
              <a:extLst>
                <a:ext uri="{FF2B5EF4-FFF2-40B4-BE49-F238E27FC236}">
                  <a16:creationId xmlns:a16="http://schemas.microsoft.com/office/drawing/2014/main" id="{8F99580E-04FD-2A19-E492-7D85B5B9EB94}"/>
                </a:ext>
              </a:extLst>
            </p:cNvPr>
            <p:cNvSpPr/>
            <p:nvPr/>
          </p:nvSpPr>
          <p:spPr>
            <a:xfrm>
              <a:off x="5501903" y="2288761"/>
              <a:ext cx="156392" cy="131501"/>
            </a:xfrm>
            <a:custGeom>
              <a:avLst/>
              <a:gdLst>
                <a:gd name="csX0" fmla="*/ 152792 w 156392"/>
                <a:gd name="csY0" fmla="*/ 64754 h 131501"/>
                <a:gd name="csX1" fmla="*/ 155171 w 156392"/>
                <a:gd name="csY1" fmla="*/ 58709 h 131501"/>
                <a:gd name="csX2" fmla="*/ 156392 w 156392"/>
                <a:gd name="csY2" fmla="*/ 52343 h 131501"/>
                <a:gd name="csX3" fmla="*/ 156199 w 156392"/>
                <a:gd name="csY3" fmla="*/ 45913 h 131501"/>
                <a:gd name="csX4" fmla="*/ 154399 w 156392"/>
                <a:gd name="csY4" fmla="*/ 39740 h 131501"/>
                <a:gd name="csX5" fmla="*/ 151121 w 156392"/>
                <a:gd name="csY5" fmla="*/ 34081 h 131501"/>
                <a:gd name="csX6" fmla="*/ 146558 w 156392"/>
                <a:gd name="csY6" fmla="*/ 29001 h 131501"/>
                <a:gd name="csX7" fmla="*/ 141029 w 156392"/>
                <a:gd name="csY7" fmla="*/ 24757 h 131501"/>
                <a:gd name="csX8" fmla="*/ 134987 w 156392"/>
                <a:gd name="csY8" fmla="*/ 21220 h 131501"/>
                <a:gd name="csX9" fmla="*/ 128752 w 156392"/>
                <a:gd name="csY9" fmla="*/ 18327 h 131501"/>
                <a:gd name="csX10" fmla="*/ 122645 w 156392"/>
                <a:gd name="csY10" fmla="*/ 15754 h 131501"/>
                <a:gd name="csX11" fmla="*/ 116667 w 156392"/>
                <a:gd name="csY11" fmla="*/ 13375 h 131501"/>
                <a:gd name="csX12" fmla="*/ 111011 w 156392"/>
                <a:gd name="csY12" fmla="*/ 11060 h 131501"/>
                <a:gd name="csX13" fmla="*/ 105419 w 156392"/>
                <a:gd name="csY13" fmla="*/ 8617 h 131501"/>
                <a:gd name="csX14" fmla="*/ 99826 w 156392"/>
                <a:gd name="csY14" fmla="*/ 6237 h 131501"/>
                <a:gd name="csX15" fmla="*/ 94041 w 156392"/>
                <a:gd name="csY15" fmla="*/ 3923 h 131501"/>
                <a:gd name="csX16" fmla="*/ 87999 w 156392"/>
                <a:gd name="csY16" fmla="*/ 1993 h 131501"/>
                <a:gd name="csX17" fmla="*/ 81764 w 156392"/>
                <a:gd name="csY17" fmla="*/ 643 h 131501"/>
                <a:gd name="csX18" fmla="*/ 75271 w 156392"/>
                <a:gd name="csY18" fmla="*/ 0 h 131501"/>
                <a:gd name="csX19" fmla="*/ 68779 w 156392"/>
                <a:gd name="csY19" fmla="*/ 129 h 131501"/>
                <a:gd name="csX20" fmla="*/ 62351 w 156392"/>
                <a:gd name="csY20" fmla="*/ 1157 h 131501"/>
                <a:gd name="csX21" fmla="*/ 56181 w 156392"/>
                <a:gd name="csY21" fmla="*/ 2829 h 131501"/>
                <a:gd name="csX22" fmla="*/ 50202 w 156392"/>
                <a:gd name="csY22" fmla="*/ 4952 h 131501"/>
                <a:gd name="csX23" fmla="*/ 44482 w 156392"/>
                <a:gd name="csY23" fmla="*/ 7459 h 131501"/>
                <a:gd name="csX24" fmla="*/ 38953 w 156392"/>
                <a:gd name="csY24" fmla="*/ 10160 h 131501"/>
                <a:gd name="csX25" fmla="*/ 33490 w 156392"/>
                <a:gd name="csY25" fmla="*/ 12925 h 131501"/>
                <a:gd name="csX26" fmla="*/ 27962 w 156392"/>
                <a:gd name="csY26" fmla="*/ 15819 h 131501"/>
                <a:gd name="csX27" fmla="*/ 22434 w 156392"/>
                <a:gd name="csY27" fmla="*/ 18841 h 131501"/>
                <a:gd name="csX28" fmla="*/ 16970 w 156392"/>
                <a:gd name="csY28" fmla="*/ 22313 h 131501"/>
                <a:gd name="csX29" fmla="*/ 11892 w 156392"/>
                <a:gd name="csY29" fmla="*/ 26236 h 131501"/>
                <a:gd name="csX30" fmla="*/ 7392 w 156392"/>
                <a:gd name="csY30" fmla="*/ 30737 h 131501"/>
                <a:gd name="csX31" fmla="*/ 3728 w 156392"/>
                <a:gd name="csY31" fmla="*/ 35817 h 131501"/>
                <a:gd name="csX32" fmla="*/ 1221 w 156392"/>
                <a:gd name="csY32" fmla="*/ 41347 h 131501"/>
                <a:gd name="csX33" fmla="*/ 0 w 156392"/>
                <a:gd name="csY33" fmla="*/ 47263 h 131501"/>
                <a:gd name="csX34" fmla="*/ 0 w 156392"/>
                <a:gd name="csY34" fmla="*/ 53243 h 131501"/>
                <a:gd name="csX35" fmla="*/ 1093 w 156392"/>
                <a:gd name="csY35" fmla="*/ 59095 h 131501"/>
                <a:gd name="csX36" fmla="*/ 2893 w 156392"/>
                <a:gd name="csY36" fmla="*/ 64754 h 131501"/>
                <a:gd name="csX37" fmla="*/ 5014 w 156392"/>
                <a:gd name="csY37" fmla="*/ 70091 h 131501"/>
                <a:gd name="csX38" fmla="*/ 7264 w 156392"/>
                <a:gd name="csY38" fmla="*/ 75171 h 131501"/>
                <a:gd name="csX39" fmla="*/ 9192 w 156392"/>
                <a:gd name="csY39" fmla="*/ 80123 h 131501"/>
                <a:gd name="csX40" fmla="*/ 10799 w 156392"/>
                <a:gd name="csY40" fmla="*/ 85138 h 131501"/>
                <a:gd name="csX41" fmla="*/ 12149 w 156392"/>
                <a:gd name="csY41" fmla="*/ 90347 h 131501"/>
                <a:gd name="csX42" fmla="*/ 13370 w 156392"/>
                <a:gd name="csY42" fmla="*/ 95812 h 131501"/>
                <a:gd name="csX43" fmla="*/ 14785 w 156392"/>
                <a:gd name="csY43" fmla="*/ 101536 h 131501"/>
                <a:gd name="csX44" fmla="*/ 16777 w 156392"/>
                <a:gd name="csY44" fmla="*/ 107387 h 131501"/>
                <a:gd name="csX45" fmla="*/ 19606 w 156392"/>
                <a:gd name="csY45" fmla="*/ 113110 h 131501"/>
                <a:gd name="csX46" fmla="*/ 23398 w 156392"/>
                <a:gd name="csY46" fmla="*/ 118383 h 131501"/>
                <a:gd name="csX47" fmla="*/ 28283 w 156392"/>
                <a:gd name="csY47" fmla="*/ 123013 h 131501"/>
                <a:gd name="csX48" fmla="*/ 34068 w 156392"/>
                <a:gd name="csY48" fmla="*/ 126678 h 131501"/>
                <a:gd name="csX49" fmla="*/ 40625 w 156392"/>
                <a:gd name="csY49" fmla="*/ 129315 h 131501"/>
                <a:gd name="csX50" fmla="*/ 47567 w 156392"/>
                <a:gd name="csY50" fmla="*/ 130858 h 131501"/>
                <a:gd name="csX51" fmla="*/ 54638 w 156392"/>
                <a:gd name="csY51" fmla="*/ 131501 h 131501"/>
                <a:gd name="csX52" fmla="*/ 61709 w 156392"/>
                <a:gd name="csY52" fmla="*/ 131501 h 131501"/>
                <a:gd name="csX53" fmla="*/ 68587 w 156392"/>
                <a:gd name="csY53" fmla="*/ 130922 h 131501"/>
                <a:gd name="csX54" fmla="*/ 75271 w 156392"/>
                <a:gd name="csY54" fmla="*/ 130151 h 131501"/>
                <a:gd name="csX55" fmla="*/ 81764 w 156392"/>
                <a:gd name="csY55" fmla="*/ 129122 h 131501"/>
                <a:gd name="csX56" fmla="*/ 88127 w 156392"/>
                <a:gd name="csY56" fmla="*/ 127964 h 131501"/>
                <a:gd name="csX57" fmla="*/ 94362 w 156392"/>
                <a:gd name="csY57" fmla="*/ 126614 h 131501"/>
                <a:gd name="csX58" fmla="*/ 100469 w 156392"/>
                <a:gd name="csY58" fmla="*/ 124942 h 131501"/>
                <a:gd name="csX59" fmla="*/ 106383 w 156392"/>
                <a:gd name="csY59" fmla="*/ 122756 h 131501"/>
                <a:gd name="csX60" fmla="*/ 111975 w 156392"/>
                <a:gd name="csY60" fmla="*/ 119926 h 131501"/>
                <a:gd name="csX61" fmla="*/ 116989 w 156392"/>
                <a:gd name="csY61" fmla="*/ 116518 h 131501"/>
                <a:gd name="csX62" fmla="*/ 121424 w 156392"/>
                <a:gd name="csY62" fmla="*/ 112531 h 131501"/>
                <a:gd name="csX63" fmla="*/ 125217 w 156392"/>
                <a:gd name="csY63" fmla="*/ 108159 h 131501"/>
                <a:gd name="csX64" fmla="*/ 128431 w 156392"/>
                <a:gd name="csY64" fmla="*/ 103465 h 131501"/>
                <a:gd name="csX65" fmla="*/ 131195 w 156392"/>
                <a:gd name="csY65" fmla="*/ 98771 h 131501"/>
                <a:gd name="csX66" fmla="*/ 133830 w 156392"/>
                <a:gd name="csY66" fmla="*/ 94076 h 131501"/>
                <a:gd name="csX67" fmla="*/ 136466 w 156392"/>
                <a:gd name="csY67" fmla="*/ 89511 h 131501"/>
                <a:gd name="csX68" fmla="*/ 139422 w 156392"/>
                <a:gd name="csY68" fmla="*/ 85010 h 131501"/>
                <a:gd name="csX69" fmla="*/ 142636 w 156392"/>
                <a:gd name="csY69" fmla="*/ 80444 h 131501"/>
                <a:gd name="csX70" fmla="*/ 146108 w 156392"/>
                <a:gd name="csY70" fmla="*/ 75621 h 131501"/>
                <a:gd name="csX71" fmla="*/ 149643 w 156392"/>
                <a:gd name="csY71" fmla="*/ 70413 h 131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156392" h="131501">
                  <a:moveTo>
                    <a:pt x="152792" y="64754"/>
                  </a:moveTo>
                  <a:lnTo>
                    <a:pt x="155171" y="58709"/>
                  </a:lnTo>
                  <a:lnTo>
                    <a:pt x="156392" y="52343"/>
                  </a:lnTo>
                  <a:lnTo>
                    <a:pt x="156199" y="45913"/>
                  </a:lnTo>
                  <a:lnTo>
                    <a:pt x="154399" y="39740"/>
                  </a:lnTo>
                  <a:lnTo>
                    <a:pt x="151121" y="34081"/>
                  </a:lnTo>
                  <a:lnTo>
                    <a:pt x="146558" y="29001"/>
                  </a:lnTo>
                  <a:lnTo>
                    <a:pt x="141029" y="24757"/>
                  </a:lnTo>
                  <a:lnTo>
                    <a:pt x="134987" y="21220"/>
                  </a:lnTo>
                  <a:lnTo>
                    <a:pt x="128752" y="18327"/>
                  </a:lnTo>
                  <a:lnTo>
                    <a:pt x="122645" y="15754"/>
                  </a:lnTo>
                  <a:lnTo>
                    <a:pt x="116667" y="13375"/>
                  </a:lnTo>
                  <a:lnTo>
                    <a:pt x="111011" y="11060"/>
                  </a:lnTo>
                  <a:lnTo>
                    <a:pt x="105419" y="8617"/>
                  </a:lnTo>
                  <a:lnTo>
                    <a:pt x="99826" y="6237"/>
                  </a:lnTo>
                  <a:lnTo>
                    <a:pt x="94041" y="3923"/>
                  </a:lnTo>
                  <a:lnTo>
                    <a:pt x="87999" y="1993"/>
                  </a:lnTo>
                  <a:lnTo>
                    <a:pt x="81764" y="643"/>
                  </a:lnTo>
                  <a:lnTo>
                    <a:pt x="75271" y="0"/>
                  </a:lnTo>
                  <a:lnTo>
                    <a:pt x="68779" y="129"/>
                  </a:lnTo>
                  <a:lnTo>
                    <a:pt x="62351" y="1157"/>
                  </a:lnTo>
                  <a:lnTo>
                    <a:pt x="56181" y="2829"/>
                  </a:lnTo>
                  <a:lnTo>
                    <a:pt x="50202" y="4952"/>
                  </a:lnTo>
                  <a:lnTo>
                    <a:pt x="44482" y="7459"/>
                  </a:lnTo>
                  <a:lnTo>
                    <a:pt x="38953" y="10160"/>
                  </a:lnTo>
                  <a:lnTo>
                    <a:pt x="33490" y="12925"/>
                  </a:lnTo>
                  <a:lnTo>
                    <a:pt x="27962" y="15819"/>
                  </a:lnTo>
                  <a:lnTo>
                    <a:pt x="22434" y="18841"/>
                  </a:lnTo>
                  <a:lnTo>
                    <a:pt x="16970" y="22313"/>
                  </a:lnTo>
                  <a:lnTo>
                    <a:pt x="11892" y="26236"/>
                  </a:lnTo>
                  <a:lnTo>
                    <a:pt x="7392" y="30737"/>
                  </a:lnTo>
                  <a:lnTo>
                    <a:pt x="3728" y="35817"/>
                  </a:lnTo>
                  <a:lnTo>
                    <a:pt x="1221" y="41347"/>
                  </a:lnTo>
                  <a:lnTo>
                    <a:pt x="0" y="47263"/>
                  </a:lnTo>
                  <a:lnTo>
                    <a:pt x="0" y="53243"/>
                  </a:lnTo>
                  <a:lnTo>
                    <a:pt x="1093" y="59095"/>
                  </a:lnTo>
                  <a:lnTo>
                    <a:pt x="2893" y="64754"/>
                  </a:lnTo>
                  <a:lnTo>
                    <a:pt x="5014" y="70091"/>
                  </a:lnTo>
                  <a:lnTo>
                    <a:pt x="7264" y="75171"/>
                  </a:lnTo>
                  <a:lnTo>
                    <a:pt x="9192" y="80123"/>
                  </a:lnTo>
                  <a:lnTo>
                    <a:pt x="10799" y="85138"/>
                  </a:lnTo>
                  <a:lnTo>
                    <a:pt x="12149" y="90347"/>
                  </a:lnTo>
                  <a:lnTo>
                    <a:pt x="13370" y="95812"/>
                  </a:lnTo>
                  <a:lnTo>
                    <a:pt x="14785" y="101536"/>
                  </a:lnTo>
                  <a:lnTo>
                    <a:pt x="16777" y="107387"/>
                  </a:lnTo>
                  <a:lnTo>
                    <a:pt x="19606" y="113110"/>
                  </a:lnTo>
                  <a:lnTo>
                    <a:pt x="23398" y="118383"/>
                  </a:lnTo>
                  <a:lnTo>
                    <a:pt x="28283" y="123013"/>
                  </a:lnTo>
                  <a:lnTo>
                    <a:pt x="34068" y="126678"/>
                  </a:lnTo>
                  <a:lnTo>
                    <a:pt x="40625" y="129315"/>
                  </a:lnTo>
                  <a:lnTo>
                    <a:pt x="47567" y="130858"/>
                  </a:lnTo>
                  <a:lnTo>
                    <a:pt x="54638" y="131501"/>
                  </a:lnTo>
                  <a:lnTo>
                    <a:pt x="61709" y="131501"/>
                  </a:lnTo>
                  <a:lnTo>
                    <a:pt x="68587" y="130922"/>
                  </a:lnTo>
                  <a:lnTo>
                    <a:pt x="75271" y="130151"/>
                  </a:lnTo>
                  <a:lnTo>
                    <a:pt x="81764" y="129122"/>
                  </a:lnTo>
                  <a:lnTo>
                    <a:pt x="88127" y="127964"/>
                  </a:lnTo>
                  <a:lnTo>
                    <a:pt x="94362" y="126614"/>
                  </a:lnTo>
                  <a:lnTo>
                    <a:pt x="100469" y="124942"/>
                  </a:lnTo>
                  <a:lnTo>
                    <a:pt x="106383" y="122756"/>
                  </a:lnTo>
                  <a:lnTo>
                    <a:pt x="111975" y="119926"/>
                  </a:lnTo>
                  <a:lnTo>
                    <a:pt x="116989" y="116518"/>
                  </a:lnTo>
                  <a:lnTo>
                    <a:pt x="121424" y="112531"/>
                  </a:lnTo>
                  <a:lnTo>
                    <a:pt x="125217" y="108159"/>
                  </a:lnTo>
                  <a:lnTo>
                    <a:pt x="128431" y="103465"/>
                  </a:lnTo>
                  <a:lnTo>
                    <a:pt x="131195" y="98771"/>
                  </a:lnTo>
                  <a:lnTo>
                    <a:pt x="133830" y="94076"/>
                  </a:lnTo>
                  <a:lnTo>
                    <a:pt x="136466" y="89511"/>
                  </a:lnTo>
                  <a:lnTo>
                    <a:pt x="139422" y="85010"/>
                  </a:lnTo>
                  <a:lnTo>
                    <a:pt x="142636" y="80444"/>
                  </a:lnTo>
                  <a:lnTo>
                    <a:pt x="146108" y="75621"/>
                  </a:lnTo>
                  <a:lnTo>
                    <a:pt x="149643" y="70413"/>
                  </a:lnTo>
                  <a:close/>
                </a:path>
              </a:pathLst>
            </a:custGeom>
            <a:solidFill>
              <a:srgbClr val="E39A3C"/>
            </a:solidFill>
            <a:ln w="6425" cap="flat">
              <a:solidFill>
                <a:srgbClr val="B57216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9" name="Freeform 328">
              <a:extLst>
                <a:ext uri="{FF2B5EF4-FFF2-40B4-BE49-F238E27FC236}">
                  <a16:creationId xmlns:a16="http://schemas.microsoft.com/office/drawing/2014/main" id="{F0B9A1FC-42DD-34C1-1C8F-EB3523CC1186}"/>
                </a:ext>
              </a:extLst>
            </p:cNvPr>
            <p:cNvSpPr/>
            <p:nvPr/>
          </p:nvSpPr>
          <p:spPr>
            <a:xfrm>
              <a:off x="5575134" y="2292684"/>
              <a:ext cx="4082" cy="118833"/>
            </a:xfrm>
            <a:custGeom>
              <a:avLst/>
              <a:gdLst>
                <a:gd name="csX0" fmla="*/ 2041 w 4082"/>
                <a:gd name="csY0" fmla="*/ 0 h 118833"/>
                <a:gd name="csX1" fmla="*/ 2041 w 4082"/>
                <a:gd name="csY1" fmla="*/ 118833 h 118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082" h="118833">
                  <a:moveTo>
                    <a:pt x="2041" y="0"/>
                  </a:moveTo>
                  <a:cubicBezTo>
                    <a:pt x="9112" y="39611"/>
                    <a:pt x="-5029" y="82051"/>
                    <a:pt x="2041" y="118833"/>
                  </a:cubicBezTo>
                </a:path>
              </a:pathLst>
            </a:custGeom>
            <a:noFill/>
            <a:ln w="5462" cap="rnd">
              <a:solidFill>
                <a:srgbClr val="FFFFFF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0" name="Freeform 329">
              <a:extLst>
                <a:ext uri="{FF2B5EF4-FFF2-40B4-BE49-F238E27FC236}">
                  <a16:creationId xmlns:a16="http://schemas.microsoft.com/office/drawing/2014/main" id="{449D095C-74CA-9296-720E-0BFE390898A6}"/>
                </a:ext>
              </a:extLst>
            </p:cNvPr>
            <p:cNvSpPr/>
            <p:nvPr/>
          </p:nvSpPr>
          <p:spPr>
            <a:xfrm>
              <a:off x="5522023" y="2325222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5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2" y="-1886"/>
                    <a:pt x="21212" y="-1886"/>
                    <a:pt x="21212" y="5659"/>
                  </a:cubicBezTo>
                  <a:cubicBezTo>
                    <a:pt x="21212" y="13204"/>
                    <a:pt x="28283" y="14704"/>
                    <a:pt x="42425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1" name="Freeform 330">
              <a:extLst>
                <a:ext uri="{FF2B5EF4-FFF2-40B4-BE49-F238E27FC236}">
                  <a16:creationId xmlns:a16="http://schemas.microsoft.com/office/drawing/2014/main" id="{16D3BABC-DFD7-A4F0-6886-843E85201B56}"/>
                </a:ext>
              </a:extLst>
            </p:cNvPr>
            <p:cNvSpPr/>
            <p:nvPr/>
          </p:nvSpPr>
          <p:spPr>
            <a:xfrm>
              <a:off x="5526266" y="2364125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2" name="Freeform 331">
              <a:extLst>
                <a:ext uri="{FF2B5EF4-FFF2-40B4-BE49-F238E27FC236}">
                  <a16:creationId xmlns:a16="http://schemas.microsoft.com/office/drawing/2014/main" id="{97FAA430-D60D-9EE5-97CA-F2A24D840D7A}"/>
                </a:ext>
              </a:extLst>
            </p:cNvPr>
            <p:cNvSpPr/>
            <p:nvPr/>
          </p:nvSpPr>
          <p:spPr>
            <a:xfrm>
              <a:off x="5589902" y="2326636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3 w 42424"/>
                <a:gd name="csY1" fmla="*/ 5659 h 12722"/>
                <a:gd name="csX2" fmla="*/ 42425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2" y="-1886"/>
                    <a:pt x="21213" y="-1886"/>
                    <a:pt x="21213" y="5659"/>
                  </a:cubicBezTo>
                  <a:cubicBezTo>
                    <a:pt x="21213" y="13204"/>
                    <a:pt x="28283" y="14704"/>
                    <a:pt x="42425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3" name="Freeform 332">
              <a:extLst>
                <a:ext uri="{FF2B5EF4-FFF2-40B4-BE49-F238E27FC236}">
                  <a16:creationId xmlns:a16="http://schemas.microsoft.com/office/drawing/2014/main" id="{4B97DCC3-F398-4BBC-8ECB-CCAA9AE33FB4}"/>
                </a:ext>
              </a:extLst>
            </p:cNvPr>
            <p:cNvSpPr/>
            <p:nvPr/>
          </p:nvSpPr>
          <p:spPr>
            <a:xfrm>
              <a:off x="5591316" y="2365540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4" name="TextBox 333">
            <a:extLst>
              <a:ext uri="{FF2B5EF4-FFF2-40B4-BE49-F238E27FC236}">
                <a16:creationId xmlns:a16="http://schemas.microsoft.com/office/drawing/2014/main" id="{79294FCC-A7A2-AC3F-0FBC-C955F647AE77}"/>
              </a:ext>
            </a:extLst>
          </p:cNvPr>
          <p:cNvSpPr txBox="1"/>
          <p:nvPr/>
        </p:nvSpPr>
        <p:spPr>
          <a:xfrm>
            <a:off x="5640006" y="2210134"/>
            <a:ext cx="1331554" cy="187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b="1" spc="0" baseline="0">
                <a:ln/>
                <a:solidFill>
                  <a:srgbClr val="22314A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Brain Reward Signature (BRS)</a:t>
            </a:r>
          </a:p>
        </p:txBody>
      </p:sp>
      <p:sp>
        <p:nvSpPr>
          <p:cNvPr id="335" name="TextBox 334">
            <a:extLst>
              <a:ext uri="{FF2B5EF4-FFF2-40B4-BE49-F238E27FC236}">
                <a16:creationId xmlns:a16="http://schemas.microsoft.com/office/drawing/2014/main" id="{C29FA402-2453-01BC-CA50-6ACD358F7C20}"/>
              </a:ext>
            </a:extLst>
          </p:cNvPr>
          <p:cNvSpPr txBox="1"/>
          <p:nvPr/>
        </p:nvSpPr>
        <p:spPr>
          <a:xfrm>
            <a:off x="5640006" y="2330128"/>
            <a:ext cx="586336" cy="174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25" i="1" spc="0" baseline="0">
                <a:ln/>
                <a:solidFill>
                  <a:srgbClr val="7C8598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Speer · 2023</a:t>
            </a:r>
          </a:p>
        </p:txBody>
      </p:sp>
      <p:sp>
        <p:nvSpPr>
          <p:cNvPr id="336" name="Freeform 335">
            <a:extLst>
              <a:ext uri="{FF2B5EF4-FFF2-40B4-BE49-F238E27FC236}">
                <a16:creationId xmlns:a16="http://schemas.microsoft.com/office/drawing/2014/main" id="{31900FD3-1142-25F2-EBC4-3D6C453DAEDB}"/>
              </a:ext>
            </a:extLst>
          </p:cNvPr>
          <p:cNvSpPr/>
          <p:nvPr/>
        </p:nvSpPr>
        <p:spPr>
          <a:xfrm>
            <a:off x="5281489" y="2089870"/>
            <a:ext cx="128558" cy="623745"/>
          </a:xfrm>
          <a:custGeom>
            <a:avLst/>
            <a:gdLst>
              <a:gd name="csX0" fmla="*/ 0 w 128558"/>
              <a:gd name="csY0" fmla="*/ 0 h 623745"/>
              <a:gd name="csX1" fmla="*/ 128559 w 128558"/>
              <a:gd name="csY1" fmla="*/ 623746 h 62374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8558" h="623745">
                <a:moveTo>
                  <a:pt x="0" y="0"/>
                </a:moveTo>
                <a:cubicBezTo>
                  <a:pt x="0" y="623746"/>
                  <a:pt x="64279" y="623746"/>
                  <a:pt x="128559" y="623746"/>
                </a:cubicBezTo>
              </a:path>
            </a:pathLst>
          </a:custGeom>
          <a:noFill/>
          <a:ln w="12851" cap="flat">
            <a:solidFill>
              <a:srgbClr val="E39A3C">
                <a:alpha val="4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37" name="Rounded Rectangle 336">
            <a:extLst>
              <a:ext uri="{FF2B5EF4-FFF2-40B4-BE49-F238E27FC236}">
                <a16:creationId xmlns:a16="http://schemas.microsoft.com/office/drawing/2014/main" id="{C7346DB4-E4A4-196B-4CCA-D803679062B8}"/>
              </a:ext>
            </a:extLst>
          </p:cNvPr>
          <p:cNvSpPr/>
          <p:nvPr/>
        </p:nvSpPr>
        <p:spPr>
          <a:xfrm>
            <a:off x="5410048" y="2559287"/>
            <a:ext cx="1722690" cy="308657"/>
          </a:xfrm>
          <a:prstGeom prst="roundRect">
            <a:avLst>
              <a:gd name="adj" fmla="val 24990"/>
            </a:avLst>
          </a:prstGeom>
          <a:solidFill>
            <a:srgbClr val="FFFFFF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38" name="Rounded Rectangle 337">
            <a:extLst>
              <a:ext uri="{FF2B5EF4-FFF2-40B4-BE49-F238E27FC236}">
                <a16:creationId xmlns:a16="http://schemas.microsoft.com/office/drawing/2014/main" id="{A3BB7FE0-92F4-866D-711A-B8DB18C3FBB8}"/>
              </a:ext>
            </a:extLst>
          </p:cNvPr>
          <p:cNvSpPr/>
          <p:nvPr/>
        </p:nvSpPr>
        <p:spPr>
          <a:xfrm>
            <a:off x="5410048" y="2559287"/>
            <a:ext cx="32139" cy="308657"/>
          </a:xfrm>
          <a:prstGeom prst="roundRect">
            <a:avLst>
              <a:gd name="adj" fmla="val 50000"/>
            </a:avLst>
          </a:prstGeom>
          <a:solidFill>
            <a:srgbClr val="E39A3C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39" name="Oval 338">
            <a:extLst>
              <a:ext uri="{FF2B5EF4-FFF2-40B4-BE49-F238E27FC236}">
                <a16:creationId xmlns:a16="http://schemas.microsoft.com/office/drawing/2014/main" id="{C79490FC-2255-881C-8410-076542C276D3}"/>
              </a:ext>
            </a:extLst>
          </p:cNvPr>
          <p:cNvSpPr/>
          <p:nvPr/>
        </p:nvSpPr>
        <p:spPr>
          <a:xfrm>
            <a:off x="5480756" y="2617160"/>
            <a:ext cx="192838" cy="192911"/>
          </a:xfrm>
          <a:prstGeom prst="ellipse">
            <a:avLst/>
          </a:prstGeom>
          <a:solidFill>
            <a:srgbClr val="FBF1E1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340" name="Graphic 2">
            <a:extLst>
              <a:ext uri="{FF2B5EF4-FFF2-40B4-BE49-F238E27FC236}">
                <a16:creationId xmlns:a16="http://schemas.microsoft.com/office/drawing/2014/main" id="{19D9C626-13EA-E324-1BF4-36447A3C4B21}"/>
              </a:ext>
            </a:extLst>
          </p:cNvPr>
          <p:cNvGrpSpPr/>
          <p:nvPr/>
        </p:nvGrpSpPr>
        <p:grpSpPr>
          <a:xfrm>
            <a:off x="5501903" y="2648862"/>
            <a:ext cx="156392" cy="131501"/>
            <a:chOff x="5501903" y="2648862"/>
            <a:chExt cx="156392" cy="131501"/>
          </a:xfrm>
        </p:grpSpPr>
        <p:sp>
          <p:nvSpPr>
            <p:cNvPr id="341" name="Freeform 340">
              <a:extLst>
                <a:ext uri="{FF2B5EF4-FFF2-40B4-BE49-F238E27FC236}">
                  <a16:creationId xmlns:a16="http://schemas.microsoft.com/office/drawing/2014/main" id="{2A68BC3D-942F-052C-F073-0978ADB74294}"/>
                </a:ext>
              </a:extLst>
            </p:cNvPr>
            <p:cNvSpPr/>
            <p:nvPr/>
          </p:nvSpPr>
          <p:spPr>
            <a:xfrm>
              <a:off x="5501903" y="2648862"/>
              <a:ext cx="156392" cy="131501"/>
            </a:xfrm>
            <a:custGeom>
              <a:avLst/>
              <a:gdLst>
                <a:gd name="csX0" fmla="*/ 152792 w 156392"/>
                <a:gd name="csY0" fmla="*/ 64754 h 131501"/>
                <a:gd name="csX1" fmla="*/ 155171 w 156392"/>
                <a:gd name="csY1" fmla="*/ 58709 h 131501"/>
                <a:gd name="csX2" fmla="*/ 156392 w 156392"/>
                <a:gd name="csY2" fmla="*/ 52343 h 131501"/>
                <a:gd name="csX3" fmla="*/ 156199 w 156392"/>
                <a:gd name="csY3" fmla="*/ 45913 h 131501"/>
                <a:gd name="csX4" fmla="*/ 154399 w 156392"/>
                <a:gd name="csY4" fmla="*/ 39740 h 131501"/>
                <a:gd name="csX5" fmla="*/ 151121 w 156392"/>
                <a:gd name="csY5" fmla="*/ 34081 h 131501"/>
                <a:gd name="csX6" fmla="*/ 146558 w 156392"/>
                <a:gd name="csY6" fmla="*/ 29001 h 131501"/>
                <a:gd name="csX7" fmla="*/ 141029 w 156392"/>
                <a:gd name="csY7" fmla="*/ 24757 h 131501"/>
                <a:gd name="csX8" fmla="*/ 134987 w 156392"/>
                <a:gd name="csY8" fmla="*/ 21220 h 131501"/>
                <a:gd name="csX9" fmla="*/ 128752 w 156392"/>
                <a:gd name="csY9" fmla="*/ 18327 h 131501"/>
                <a:gd name="csX10" fmla="*/ 122645 w 156392"/>
                <a:gd name="csY10" fmla="*/ 15754 h 131501"/>
                <a:gd name="csX11" fmla="*/ 116667 w 156392"/>
                <a:gd name="csY11" fmla="*/ 13375 h 131501"/>
                <a:gd name="csX12" fmla="*/ 111011 w 156392"/>
                <a:gd name="csY12" fmla="*/ 11060 h 131501"/>
                <a:gd name="csX13" fmla="*/ 105419 w 156392"/>
                <a:gd name="csY13" fmla="*/ 8617 h 131501"/>
                <a:gd name="csX14" fmla="*/ 99826 w 156392"/>
                <a:gd name="csY14" fmla="*/ 6237 h 131501"/>
                <a:gd name="csX15" fmla="*/ 94041 w 156392"/>
                <a:gd name="csY15" fmla="*/ 3923 h 131501"/>
                <a:gd name="csX16" fmla="*/ 87999 w 156392"/>
                <a:gd name="csY16" fmla="*/ 1993 h 131501"/>
                <a:gd name="csX17" fmla="*/ 81764 w 156392"/>
                <a:gd name="csY17" fmla="*/ 643 h 131501"/>
                <a:gd name="csX18" fmla="*/ 75271 w 156392"/>
                <a:gd name="csY18" fmla="*/ 0 h 131501"/>
                <a:gd name="csX19" fmla="*/ 68779 w 156392"/>
                <a:gd name="csY19" fmla="*/ 129 h 131501"/>
                <a:gd name="csX20" fmla="*/ 62351 w 156392"/>
                <a:gd name="csY20" fmla="*/ 1157 h 131501"/>
                <a:gd name="csX21" fmla="*/ 56181 w 156392"/>
                <a:gd name="csY21" fmla="*/ 2829 h 131501"/>
                <a:gd name="csX22" fmla="*/ 50202 w 156392"/>
                <a:gd name="csY22" fmla="*/ 4952 h 131501"/>
                <a:gd name="csX23" fmla="*/ 44482 w 156392"/>
                <a:gd name="csY23" fmla="*/ 7459 h 131501"/>
                <a:gd name="csX24" fmla="*/ 38953 w 156392"/>
                <a:gd name="csY24" fmla="*/ 10160 h 131501"/>
                <a:gd name="csX25" fmla="*/ 33490 w 156392"/>
                <a:gd name="csY25" fmla="*/ 12925 h 131501"/>
                <a:gd name="csX26" fmla="*/ 27962 w 156392"/>
                <a:gd name="csY26" fmla="*/ 15819 h 131501"/>
                <a:gd name="csX27" fmla="*/ 22434 w 156392"/>
                <a:gd name="csY27" fmla="*/ 18841 h 131501"/>
                <a:gd name="csX28" fmla="*/ 16970 w 156392"/>
                <a:gd name="csY28" fmla="*/ 22313 h 131501"/>
                <a:gd name="csX29" fmla="*/ 11892 w 156392"/>
                <a:gd name="csY29" fmla="*/ 26236 h 131501"/>
                <a:gd name="csX30" fmla="*/ 7392 w 156392"/>
                <a:gd name="csY30" fmla="*/ 30737 h 131501"/>
                <a:gd name="csX31" fmla="*/ 3728 w 156392"/>
                <a:gd name="csY31" fmla="*/ 35817 h 131501"/>
                <a:gd name="csX32" fmla="*/ 1221 w 156392"/>
                <a:gd name="csY32" fmla="*/ 41347 h 131501"/>
                <a:gd name="csX33" fmla="*/ 0 w 156392"/>
                <a:gd name="csY33" fmla="*/ 47263 h 131501"/>
                <a:gd name="csX34" fmla="*/ 0 w 156392"/>
                <a:gd name="csY34" fmla="*/ 53243 h 131501"/>
                <a:gd name="csX35" fmla="*/ 1093 w 156392"/>
                <a:gd name="csY35" fmla="*/ 59095 h 131501"/>
                <a:gd name="csX36" fmla="*/ 2893 w 156392"/>
                <a:gd name="csY36" fmla="*/ 64754 h 131501"/>
                <a:gd name="csX37" fmla="*/ 5014 w 156392"/>
                <a:gd name="csY37" fmla="*/ 70091 h 131501"/>
                <a:gd name="csX38" fmla="*/ 7264 w 156392"/>
                <a:gd name="csY38" fmla="*/ 75171 h 131501"/>
                <a:gd name="csX39" fmla="*/ 9192 w 156392"/>
                <a:gd name="csY39" fmla="*/ 80123 h 131501"/>
                <a:gd name="csX40" fmla="*/ 10799 w 156392"/>
                <a:gd name="csY40" fmla="*/ 85138 h 131501"/>
                <a:gd name="csX41" fmla="*/ 12149 w 156392"/>
                <a:gd name="csY41" fmla="*/ 90347 h 131501"/>
                <a:gd name="csX42" fmla="*/ 13370 w 156392"/>
                <a:gd name="csY42" fmla="*/ 95812 h 131501"/>
                <a:gd name="csX43" fmla="*/ 14785 w 156392"/>
                <a:gd name="csY43" fmla="*/ 101536 h 131501"/>
                <a:gd name="csX44" fmla="*/ 16777 w 156392"/>
                <a:gd name="csY44" fmla="*/ 107387 h 131501"/>
                <a:gd name="csX45" fmla="*/ 19606 w 156392"/>
                <a:gd name="csY45" fmla="*/ 113110 h 131501"/>
                <a:gd name="csX46" fmla="*/ 23398 w 156392"/>
                <a:gd name="csY46" fmla="*/ 118383 h 131501"/>
                <a:gd name="csX47" fmla="*/ 28283 w 156392"/>
                <a:gd name="csY47" fmla="*/ 123013 h 131501"/>
                <a:gd name="csX48" fmla="*/ 34068 w 156392"/>
                <a:gd name="csY48" fmla="*/ 126678 h 131501"/>
                <a:gd name="csX49" fmla="*/ 40625 w 156392"/>
                <a:gd name="csY49" fmla="*/ 129315 h 131501"/>
                <a:gd name="csX50" fmla="*/ 47567 w 156392"/>
                <a:gd name="csY50" fmla="*/ 130858 h 131501"/>
                <a:gd name="csX51" fmla="*/ 54638 w 156392"/>
                <a:gd name="csY51" fmla="*/ 131501 h 131501"/>
                <a:gd name="csX52" fmla="*/ 61709 w 156392"/>
                <a:gd name="csY52" fmla="*/ 131501 h 131501"/>
                <a:gd name="csX53" fmla="*/ 68587 w 156392"/>
                <a:gd name="csY53" fmla="*/ 130922 h 131501"/>
                <a:gd name="csX54" fmla="*/ 75271 w 156392"/>
                <a:gd name="csY54" fmla="*/ 130151 h 131501"/>
                <a:gd name="csX55" fmla="*/ 81764 w 156392"/>
                <a:gd name="csY55" fmla="*/ 129122 h 131501"/>
                <a:gd name="csX56" fmla="*/ 88127 w 156392"/>
                <a:gd name="csY56" fmla="*/ 127964 h 131501"/>
                <a:gd name="csX57" fmla="*/ 94362 w 156392"/>
                <a:gd name="csY57" fmla="*/ 126614 h 131501"/>
                <a:gd name="csX58" fmla="*/ 100469 w 156392"/>
                <a:gd name="csY58" fmla="*/ 124942 h 131501"/>
                <a:gd name="csX59" fmla="*/ 106383 w 156392"/>
                <a:gd name="csY59" fmla="*/ 122756 h 131501"/>
                <a:gd name="csX60" fmla="*/ 111975 w 156392"/>
                <a:gd name="csY60" fmla="*/ 119926 h 131501"/>
                <a:gd name="csX61" fmla="*/ 116989 w 156392"/>
                <a:gd name="csY61" fmla="*/ 116518 h 131501"/>
                <a:gd name="csX62" fmla="*/ 121424 w 156392"/>
                <a:gd name="csY62" fmla="*/ 112531 h 131501"/>
                <a:gd name="csX63" fmla="*/ 125217 w 156392"/>
                <a:gd name="csY63" fmla="*/ 108159 h 131501"/>
                <a:gd name="csX64" fmla="*/ 128431 w 156392"/>
                <a:gd name="csY64" fmla="*/ 103465 h 131501"/>
                <a:gd name="csX65" fmla="*/ 131195 w 156392"/>
                <a:gd name="csY65" fmla="*/ 98771 h 131501"/>
                <a:gd name="csX66" fmla="*/ 133830 w 156392"/>
                <a:gd name="csY66" fmla="*/ 94076 h 131501"/>
                <a:gd name="csX67" fmla="*/ 136466 w 156392"/>
                <a:gd name="csY67" fmla="*/ 89511 h 131501"/>
                <a:gd name="csX68" fmla="*/ 139422 w 156392"/>
                <a:gd name="csY68" fmla="*/ 85010 h 131501"/>
                <a:gd name="csX69" fmla="*/ 142636 w 156392"/>
                <a:gd name="csY69" fmla="*/ 80444 h 131501"/>
                <a:gd name="csX70" fmla="*/ 146108 w 156392"/>
                <a:gd name="csY70" fmla="*/ 75621 h 131501"/>
                <a:gd name="csX71" fmla="*/ 149643 w 156392"/>
                <a:gd name="csY71" fmla="*/ 70413 h 131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156392" h="131501">
                  <a:moveTo>
                    <a:pt x="152792" y="64754"/>
                  </a:moveTo>
                  <a:lnTo>
                    <a:pt x="155171" y="58709"/>
                  </a:lnTo>
                  <a:lnTo>
                    <a:pt x="156392" y="52343"/>
                  </a:lnTo>
                  <a:lnTo>
                    <a:pt x="156199" y="45913"/>
                  </a:lnTo>
                  <a:lnTo>
                    <a:pt x="154399" y="39740"/>
                  </a:lnTo>
                  <a:lnTo>
                    <a:pt x="151121" y="34081"/>
                  </a:lnTo>
                  <a:lnTo>
                    <a:pt x="146558" y="29001"/>
                  </a:lnTo>
                  <a:lnTo>
                    <a:pt x="141029" y="24757"/>
                  </a:lnTo>
                  <a:lnTo>
                    <a:pt x="134987" y="21220"/>
                  </a:lnTo>
                  <a:lnTo>
                    <a:pt x="128752" y="18327"/>
                  </a:lnTo>
                  <a:lnTo>
                    <a:pt x="122645" y="15754"/>
                  </a:lnTo>
                  <a:lnTo>
                    <a:pt x="116667" y="13375"/>
                  </a:lnTo>
                  <a:lnTo>
                    <a:pt x="111011" y="11060"/>
                  </a:lnTo>
                  <a:lnTo>
                    <a:pt x="105419" y="8617"/>
                  </a:lnTo>
                  <a:lnTo>
                    <a:pt x="99826" y="6237"/>
                  </a:lnTo>
                  <a:lnTo>
                    <a:pt x="94041" y="3923"/>
                  </a:lnTo>
                  <a:lnTo>
                    <a:pt x="87999" y="1993"/>
                  </a:lnTo>
                  <a:lnTo>
                    <a:pt x="81764" y="643"/>
                  </a:lnTo>
                  <a:lnTo>
                    <a:pt x="75271" y="0"/>
                  </a:lnTo>
                  <a:lnTo>
                    <a:pt x="68779" y="129"/>
                  </a:lnTo>
                  <a:lnTo>
                    <a:pt x="62351" y="1157"/>
                  </a:lnTo>
                  <a:lnTo>
                    <a:pt x="56181" y="2829"/>
                  </a:lnTo>
                  <a:lnTo>
                    <a:pt x="50202" y="4952"/>
                  </a:lnTo>
                  <a:lnTo>
                    <a:pt x="44482" y="7459"/>
                  </a:lnTo>
                  <a:lnTo>
                    <a:pt x="38953" y="10160"/>
                  </a:lnTo>
                  <a:lnTo>
                    <a:pt x="33490" y="12925"/>
                  </a:lnTo>
                  <a:lnTo>
                    <a:pt x="27962" y="15819"/>
                  </a:lnTo>
                  <a:lnTo>
                    <a:pt x="22434" y="18841"/>
                  </a:lnTo>
                  <a:lnTo>
                    <a:pt x="16970" y="22313"/>
                  </a:lnTo>
                  <a:lnTo>
                    <a:pt x="11892" y="26236"/>
                  </a:lnTo>
                  <a:lnTo>
                    <a:pt x="7392" y="30737"/>
                  </a:lnTo>
                  <a:lnTo>
                    <a:pt x="3728" y="35817"/>
                  </a:lnTo>
                  <a:lnTo>
                    <a:pt x="1221" y="41347"/>
                  </a:lnTo>
                  <a:lnTo>
                    <a:pt x="0" y="47263"/>
                  </a:lnTo>
                  <a:lnTo>
                    <a:pt x="0" y="53243"/>
                  </a:lnTo>
                  <a:lnTo>
                    <a:pt x="1093" y="59095"/>
                  </a:lnTo>
                  <a:lnTo>
                    <a:pt x="2893" y="64754"/>
                  </a:lnTo>
                  <a:lnTo>
                    <a:pt x="5014" y="70091"/>
                  </a:lnTo>
                  <a:lnTo>
                    <a:pt x="7264" y="75171"/>
                  </a:lnTo>
                  <a:lnTo>
                    <a:pt x="9192" y="80123"/>
                  </a:lnTo>
                  <a:lnTo>
                    <a:pt x="10799" y="85138"/>
                  </a:lnTo>
                  <a:lnTo>
                    <a:pt x="12149" y="90347"/>
                  </a:lnTo>
                  <a:lnTo>
                    <a:pt x="13370" y="95812"/>
                  </a:lnTo>
                  <a:lnTo>
                    <a:pt x="14785" y="101536"/>
                  </a:lnTo>
                  <a:lnTo>
                    <a:pt x="16777" y="107387"/>
                  </a:lnTo>
                  <a:lnTo>
                    <a:pt x="19606" y="113110"/>
                  </a:lnTo>
                  <a:lnTo>
                    <a:pt x="23398" y="118383"/>
                  </a:lnTo>
                  <a:lnTo>
                    <a:pt x="28283" y="123013"/>
                  </a:lnTo>
                  <a:lnTo>
                    <a:pt x="34068" y="126678"/>
                  </a:lnTo>
                  <a:lnTo>
                    <a:pt x="40625" y="129315"/>
                  </a:lnTo>
                  <a:lnTo>
                    <a:pt x="47567" y="130858"/>
                  </a:lnTo>
                  <a:lnTo>
                    <a:pt x="54638" y="131501"/>
                  </a:lnTo>
                  <a:lnTo>
                    <a:pt x="61709" y="131501"/>
                  </a:lnTo>
                  <a:lnTo>
                    <a:pt x="68587" y="130922"/>
                  </a:lnTo>
                  <a:lnTo>
                    <a:pt x="75271" y="130151"/>
                  </a:lnTo>
                  <a:lnTo>
                    <a:pt x="81764" y="129122"/>
                  </a:lnTo>
                  <a:lnTo>
                    <a:pt x="88127" y="127964"/>
                  </a:lnTo>
                  <a:lnTo>
                    <a:pt x="94362" y="126614"/>
                  </a:lnTo>
                  <a:lnTo>
                    <a:pt x="100469" y="124942"/>
                  </a:lnTo>
                  <a:lnTo>
                    <a:pt x="106383" y="122756"/>
                  </a:lnTo>
                  <a:lnTo>
                    <a:pt x="111975" y="119926"/>
                  </a:lnTo>
                  <a:lnTo>
                    <a:pt x="116989" y="116518"/>
                  </a:lnTo>
                  <a:lnTo>
                    <a:pt x="121424" y="112531"/>
                  </a:lnTo>
                  <a:lnTo>
                    <a:pt x="125217" y="108159"/>
                  </a:lnTo>
                  <a:lnTo>
                    <a:pt x="128431" y="103465"/>
                  </a:lnTo>
                  <a:lnTo>
                    <a:pt x="131195" y="98771"/>
                  </a:lnTo>
                  <a:lnTo>
                    <a:pt x="133830" y="94076"/>
                  </a:lnTo>
                  <a:lnTo>
                    <a:pt x="136466" y="89511"/>
                  </a:lnTo>
                  <a:lnTo>
                    <a:pt x="139422" y="85010"/>
                  </a:lnTo>
                  <a:lnTo>
                    <a:pt x="142636" y="80444"/>
                  </a:lnTo>
                  <a:lnTo>
                    <a:pt x="146108" y="75621"/>
                  </a:lnTo>
                  <a:lnTo>
                    <a:pt x="149643" y="70413"/>
                  </a:lnTo>
                  <a:close/>
                </a:path>
              </a:pathLst>
            </a:custGeom>
            <a:solidFill>
              <a:srgbClr val="E39A3C"/>
            </a:solidFill>
            <a:ln w="6425" cap="flat">
              <a:solidFill>
                <a:srgbClr val="B57216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2" name="Freeform 341">
              <a:extLst>
                <a:ext uri="{FF2B5EF4-FFF2-40B4-BE49-F238E27FC236}">
                  <a16:creationId xmlns:a16="http://schemas.microsoft.com/office/drawing/2014/main" id="{E5D1A1AA-E49C-FFB5-CD4E-67C0CE12D87F}"/>
                </a:ext>
              </a:extLst>
            </p:cNvPr>
            <p:cNvSpPr/>
            <p:nvPr/>
          </p:nvSpPr>
          <p:spPr>
            <a:xfrm>
              <a:off x="5575134" y="2652785"/>
              <a:ext cx="4082" cy="118833"/>
            </a:xfrm>
            <a:custGeom>
              <a:avLst/>
              <a:gdLst>
                <a:gd name="csX0" fmla="*/ 2041 w 4082"/>
                <a:gd name="csY0" fmla="*/ 0 h 118833"/>
                <a:gd name="csX1" fmla="*/ 2041 w 4082"/>
                <a:gd name="csY1" fmla="*/ 118833 h 118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082" h="118833">
                  <a:moveTo>
                    <a:pt x="2041" y="0"/>
                  </a:moveTo>
                  <a:cubicBezTo>
                    <a:pt x="9112" y="39611"/>
                    <a:pt x="-5029" y="82051"/>
                    <a:pt x="2041" y="118833"/>
                  </a:cubicBezTo>
                </a:path>
              </a:pathLst>
            </a:custGeom>
            <a:noFill/>
            <a:ln w="5462" cap="rnd">
              <a:solidFill>
                <a:srgbClr val="FFFFFF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3" name="Freeform 342">
              <a:extLst>
                <a:ext uri="{FF2B5EF4-FFF2-40B4-BE49-F238E27FC236}">
                  <a16:creationId xmlns:a16="http://schemas.microsoft.com/office/drawing/2014/main" id="{C4234924-D15F-B081-4DDC-C1893D1D37D8}"/>
                </a:ext>
              </a:extLst>
            </p:cNvPr>
            <p:cNvSpPr/>
            <p:nvPr/>
          </p:nvSpPr>
          <p:spPr>
            <a:xfrm>
              <a:off x="5522023" y="2685322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5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2" y="-1886"/>
                    <a:pt x="21212" y="-1886"/>
                    <a:pt x="21212" y="5659"/>
                  </a:cubicBezTo>
                  <a:cubicBezTo>
                    <a:pt x="21212" y="13204"/>
                    <a:pt x="28283" y="14704"/>
                    <a:pt x="42425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4" name="Freeform 343">
              <a:extLst>
                <a:ext uri="{FF2B5EF4-FFF2-40B4-BE49-F238E27FC236}">
                  <a16:creationId xmlns:a16="http://schemas.microsoft.com/office/drawing/2014/main" id="{4174B25B-E62E-C7F4-A70A-83A4BBFCD1D2}"/>
                </a:ext>
              </a:extLst>
            </p:cNvPr>
            <p:cNvSpPr/>
            <p:nvPr/>
          </p:nvSpPr>
          <p:spPr>
            <a:xfrm>
              <a:off x="5526266" y="2724226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5" name="Freeform 344">
              <a:extLst>
                <a:ext uri="{FF2B5EF4-FFF2-40B4-BE49-F238E27FC236}">
                  <a16:creationId xmlns:a16="http://schemas.microsoft.com/office/drawing/2014/main" id="{FE35FE4B-6909-1330-71F3-E75E4D91A3E4}"/>
                </a:ext>
              </a:extLst>
            </p:cNvPr>
            <p:cNvSpPr/>
            <p:nvPr/>
          </p:nvSpPr>
          <p:spPr>
            <a:xfrm>
              <a:off x="5589902" y="2686737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3 w 42424"/>
                <a:gd name="csY1" fmla="*/ 5659 h 12722"/>
                <a:gd name="csX2" fmla="*/ 42425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2" y="-1886"/>
                    <a:pt x="21213" y="-1886"/>
                    <a:pt x="21213" y="5659"/>
                  </a:cubicBezTo>
                  <a:cubicBezTo>
                    <a:pt x="21213" y="13204"/>
                    <a:pt x="28283" y="14704"/>
                    <a:pt x="42425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6" name="Freeform 345">
              <a:extLst>
                <a:ext uri="{FF2B5EF4-FFF2-40B4-BE49-F238E27FC236}">
                  <a16:creationId xmlns:a16="http://schemas.microsoft.com/office/drawing/2014/main" id="{64427DB7-83E7-AD66-DB21-5971FB27BA69}"/>
                </a:ext>
              </a:extLst>
            </p:cNvPr>
            <p:cNvSpPr/>
            <p:nvPr/>
          </p:nvSpPr>
          <p:spPr>
            <a:xfrm>
              <a:off x="5591316" y="2725641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7" name="TextBox 346">
            <a:extLst>
              <a:ext uri="{FF2B5EF4-FFF2-40B4-BE49-F238E27FC236}">
                <a16:creationId xmlns:a16="http://schemas.microsoft.com/office/drawing/2014/main" id="{398FDB26-A0EA-1C1A-35EC-D838123F41F7}"/>
              </a:ext>
            </a:extLst>
          </p:cNvPr>
          <p:cNvSpPr txBox="1"/>
          <p:nvPr/>
        </p:nvSpPr>
        <p:spPr>
          <a:xfrm>
            <a:off x="5640006" y="2570235"/>
            <a:ext cx="1296040" cy="187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b="1" spc="0" baseline="0">
                <a:ln/>
                <a:solidFill>
                  <a:srgbClr val="22314A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Craving — drug &amp; food (NCS)</a:t>
            </a: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0603FB5F-FFEE-C7EB-1B5B-BA147A609652}"/>
              </a:ext>
            </a:extLst>
          </p:cNvPr>
          <p:cNvSpPr txBox="1"/>
          <p:nvPr/>
        </p:nvSpPr>
        <p:spPr>
          <a:xfrm>
            <a:off x="5640006" y="2690229"/>
            <a:ext cx="604791" cy="174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25" i="1" spc="0" baseline="0">
                <a:ln/>
                <a:solidFill>
                  <a:srgbClr val="7C8598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Koban · 2022</a:t>
            </a:r>
          </a:p>
        </p:txBody>
      </p:sp>
      <p:sp>
        <p:nvSpPr>
          <p:cNvPr id="349" name="Freeform 348">
            <a:extLst>
              <a:ext uri="{FF2B5EF4-FFF2-40B4-BE49-F238E27FC236}">
                <a16:creationId xmlns:a16="http://schemas.microsoft.com/office/drawing/2014/main" id="{4492FE04-F234-A4AA-EEA3-C8FFE6055A1A}"/>
              </a:ext>
            </a:extLst>
          </p:cNvPr>
          <p:cNvSpPr/>
          <p:nvPr/>
        </p:nvSpPr>
        <p:spPr>
          <a:xfrm>
            <a:off x="5281489" y="2089870"/>
            <a:ext cx="128558" cy="983846"/>
          </a:xfrm>
          <a:custGeom>
            <a:avLst/>
            <a:gdLst>
              <a:gd name="csX0" fmla="*/ 0 w 128558"/>
              <a:gd name="csY0" fmla="*/ 0 h 983846"/>
              <a:gd name="csX1" fmla="*/ 128559 w 128558"/>
              <a:gd name="csY1" fmla="*/ 983847 h 98384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8558" h="983846">
                <a:moveTo>
                  <a:pt x="0" y="0"/>
                </a:moveTo>
                <a:cubicBezTo>
                  <a:pt x="0" y="983847"/>
                  <a:pt x="64279" y="983847"/>
                  <a:pt x="128559" y="983847"/>
                </a:cubicBezTo>
              </a:path>
            </a:pathLst>
          </a:custGeom>
          <a:noFill/>
          <a:ln w="12851" cap="flat">
            <a:solidFill>
              <a:srgbClr val="E39A3C">
                <a:alpha val="4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50" name="Rounded Rectangle 349">
            <a:extLst>
              <a:ext uri="{FF2B5EF4-FFF2-40B4-BE49-F238E27FC236}">
                <a16:creationId xmlns:a16="http://schemas.microsoft.com/office/drawing/2014/main" id="{FB1B84FB-F2BA-461F-66E2-32BAA65B857D}"/>
              </a:ext>
            </a:extLst>
          </p:cNvPr>
          <p:cNvSpPr/>
          <p:nvPr/>
        </p:nvSpPr>
        <p:spPr>
          <a:xfrm>
            <a:off x="5410048" y="2919388"/>
            <a:ext cx="1722690" cy="308657"/>
          </a:xfrm>
          <a:prstGeom prst="roundRect">
            <a:avLst>
              <a:gd name="adj" fmla="val 24990"/>
            </a:avLst>
          </a:prstGeom>
          <a:solidFill>
            <a:srgbClr val="FFFFFF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51" name="Rounded Rectangle 350">
            <a:extLst>
              <a:ext uri="{FF2B5EF4-FFF2-40B4-BE49-F238E27FC236}">
                <a16:creationId xmlns:a16="http://schemas.microsoft.com/office/drawing/2014/main" id="{C62CBF9C-50C7-E962-1AE4-A71F48EAE504}"/>
              </a:ext>
            </a:extLst>
          </p:cNvPr>
          <p:cNvSpPr/>
          <p:nvPr/>
        </p:nvSpPr>
        <p:spPr>
          <a:xfrm>
            <a:off x="5410048" y="2919388"/>
            <a:ext cx="32139" cy="308657"/>
          </a:xfrm>
          <a:prstGeom prst="roundRect">
            <a:avLst>
              <a:gd name="adj" fmla="val 50000"/>
            </a:avLst>
          </a:prstGeom>
          <a:solidFill>
            <a:srgbClr val="E39A3C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52" name="Oval 351">
            <a:extLst>
              <a:ext uri="{FF2B5EF4-FFF2-40B4-BE49-F238E27FC236}">
                <a16:creationId xmlns:a16="http://schemas.microsoft.com/office/drawing/2014/main" id="{6D826DEA-A4C4-7F39-9764-999F77C6C0F9}"/>
              </a:ext>
            </a:extLst>
          </p:cNvPr>
          <p:cNvSpPr/>
          <p:nvPr/>
        </p:nvSpPr>
        <p:spPr>
          <a:xfrm>
            <a:off x="5480756" y="2977261"/>
            <a:ext cx="192838" cy="192911"/>
          </a:xfrm>
          <a:prstGeom prst="ellipse">
            <a:avLst/>
          </a:prstGeom>
          <a:solidFill>
            <a:srgbClr val="FBF1E1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353" name="Graphic 2">
            <a:extLst>
              <a:ext uri="{FF2B5EF4-FFF2-40B4-BE49-F238E27FC236}">
                <a16:creationId xmlns:a16="http://schemas.microsoft.com/office/drawing/2014/main" id="{066E3A21-7F63-8DF3-3E06-317C7987FFCD}"/>
              </a:ext>
            </a:extLst>
          </p:cNvPr>
          <p:cNvGrpSpPr/>
          <p:nvPr/>
        </p:nvGrpSpPr>
        <p:grpSpPr>
          <a:xfrm>
            <a:off x="5501903" y="3008963"/>
            <a:ext cx="156392" cy="131501"/>
            <a:chOff x="5501903" y="3008963"/>
            <a:chExt cx="156392" cy="131501"/>
          </a:xfrm>
        </p:grpSpPr>
        <p:sp>
          <p:nvSpPr>
            <p:cNvPr id="354" name="Freeform 353">
              <a:extLst>
                <a:ext uri="{FF2B5EF4-FFF2-40B4-BE49-F238E27FC236}">
                  <a16:creationId xmlns:a16="http://schemas.microsoft.com/office/drawing/2014/main" id="{C4821173-6145-B60C-201B-42C80DAC465A}"/>
                </a:ext>
              </a:extLst>
            </p:cNvPr>
            <p:cNvSpPr/>
            <p:nvPr/>
          </p:nvSpPr>
          <p:spPr>
            <a:xfrm>
              <a:off x="5501903" y="3008963"/>
              <a:ext cx="156392" cy="131501"/>
            </a:xfrm>
            <a:custGeom>
              <a:avLst/>
              <a:gdLst>
                <a:gd name="csX0" fmla="*/ 152792 w 156392"/>
                <a:gd name="csY0" fmla="*/ 64754 h 131501"/>
                <a:gd name="csX1" fmla="*/ 155171 w 156392"/>
                <a:gd name="csY1" fmla="*/ 58709 h 131501"/>
                <a:gd name="csX2" fmla="*/ 156392 w 156392"/>
                <a:gd name="csY2" fmla="*/ 52343 h 131501"/>
                <a:gd name="csX3" fmla="*/ 156199 w 156392"/>
                <a:gd name="csY3" fmla="*/ 45913 h 131501"/>
                <a:gd name="csX4" fmla="*/ 154399 w 156392"/>
                <a:gd name="csY4" fmla="*/ 39740 h 131501"/>
                <a:gd name="csX5" fmla="*/ 151121 w 156392"/>
                <a:gd name="csY5" fmla="*/ 34081 h 131501"/>
                <a:gd name="csX6" fmla="*/ 146558 w 156392"/>
                <a:gd name="csY6" fmla="*/ 29001 h 131501"/>
                <a:gd name="csX7" fmla="*/ 141029 w 156392"/>
                <a:gd name="csY7" fmla="*/ 24757 h 131501"/>
                <a:gd name="csX8" fmla="*/ 134987 w 156392"/>
                <a:gd name="csY8" fmla="*/ 21220 h 131501"/>
                <a:gd name="csX9" fmla="*/ 128752 w 156392"/>
                <a:gd name="csY9" fmla="*/ 18327 h 131501"/>
                <a:gd name="csX10" fmla="*/ 122645 w 156392"/>
                <a:gd name="csY10" fmla="*/ 15754 h 131501"/>
                <a:gd name="csX11" fmla="*/ 116667 w 156392"/>
                <a:gd name="csY11" fmla="*/ 13375 h 131501"/>
                <a:gd name="csX12" fmla="*/ 111011 w 156392"/>
                <a:gd name="csY12" fmla="*/ 11060 h 131501"/>
                <a:gd name="csX13" fmla="*/ 105419 w 156392"/>
                <a:gd name="csY13" fmla="*/ 8617 h 131501"/>
                <a:gd name="csX14" fmla="*/ 99826 w 156392"/>
                <a:gd name="csY14" fmla="*/ 6237 h 131501"/>
                <a:gd name="csX15" fmla="*/ 94041 w 156392"/>
                <a:gd name="csY15" fmla="*/ 3923 h 131501"/>
                <a:gd name="csX16" fmla="*/ 87999 w 156392"/>
                <a:gd name="csY16" fmla="*/ 1993 h 131501"/>
                <a:gd name="csX17" fmla="*/ 81764 w 156392"/>
                <a:gd name="csY17" fmla="*/ 643 h 131501"/>
                <a:gd name="csX18" fmla="*/ 75271 w 156392"/>
                <a:gd name="csY18" fmla="*/ 0 h 131501"/>
                <a:gd name="csX19" fmla="*/ 68779 w 156392"/>
                <a:gd name="csY19" fmla="*/ 129 h 131501"/>
                <a:gd name="csX20" fmla="*/ 62351 w 156392"/>
                <a:gd name="csY20" fmla="*/ 1157 h 131501"/>
                <a:gd name="csX21" fmla="*/ 56181 w 156392"/>
                <a:gd name="csY21" fmla="*/ 2829 h 131501"/>
                <a:gd name="csX22" fmla="*/ 50202 w 156392"/>
                <a:gd name="csY22" fmla="*/ 4952 h 131501"/>
                <a:gd name="csX23" fmla="*/ 44482 w 156392"/>
                <a:gd name="csY23" fmla="*/ 7459 h 131501"/>
                <a:gd name="csX24" fmla="*/ 38953 w 156392"/>
                <a:gd name="csY24" fmla="*/ 10160 h 131501"/>
                <a:gd name="csX25" fmla="*/ 33490 w 156392"/>
                <a:gd name="csY25" fmla="*/ 12925 h 131501"/>
                <a:gd name="csX26" fmla="*/ 27962 w 156392"/>
                <a:gd name="csY26" fmla="*/ 15819 h 131501"/>
                <a:gd name="csX27" fmla="*/ 22434 w 156392"/>
                <a:gd name="csY27" fmla="*/ 18841 h 131501"/>
                <a:gd name="csX28" fmla="*/ 16970 w 156392"/>
                <a:gd name="csY28" fmla="*/ 22313 h 131501"/>
                <a:gd name="csX29" fmla="*/ 11892 w 156392"/>
                <a:gd name="csY29" fmla="*/ 26236 h 131501"/>
                <a:gd name="csX30" fmla="*/ 7392 w 156392"/>
                <a:gd name="csY30" fmla="*/ 30737 h 131501"/>
                <a:gd name="csX31" fmla="*/ 3728 w 156392"/>
                <a:gd name="csY31" fmla="*/ 35817 h 131501"/>
                <a:gd name="csX32" fmla="*/ 1221 w 156392"/>
                <a:gd name="csY32" fmla="*/ 41347 h 131501"/>
                <a:gd name="csX33" fmla="*/ 0 w 156392"/>
                <a:gd name="csY33" fmla="*/ 47263 h 131501"/>
                <a:gd name="csX34" fmla="*/ 0 w 156392"/>
                <a:gd name="csY34" fmla="*/ 53243 h 131501"/>
                <a:gd name="csX35" fmla="*/ 1093 w 156392"/>
                <a:gd name="csY35" fmla="*/ 59095 h 131501"/>
                <a:gd name="csX36" fmla="*/ 2893 w 156392"/>
                <a:gd name="csY36" fmla="*/ 64754 h 131501"/>
                <a:gd name="csX37" fmla="*/ 5014 w 156392"/>
                <a:gd name="csY37" fmla="*/ 70091 h 131501"/>
                <a:gd name="csX38" fmla="*/ 7264 w 156392"/>
                <a:gd name="csY38" fmla="*/ 75171 h 131501"/>
                <a:gd name="csX39" fmla="*/ 9192 w 156392"/>
                <a:gd name="csY39" fmla="*/ 80123 h 131501"/>
                <a:gd name="csX40" fmla="*/ 10799 w 156392"/>
                <a:gd name="csY40" fmla="*/ 85138 h 131501"/>
                <a:gd name="csX41" fmla="*/ 12149 w 156392"/>
                <a:gd name="csY41" fmla="*/ 90347 h 131501"/>
                <a:gd name="csX42" fmla="*/ 13370 w 156392"/>
                <a:gd name="csY42" fmla="*/ 95812 h 131501"/>
                <a:gd name="csX43" fmla="*/ 14785 w 156392"/>
                <a:gd name="csY43" fmla="*/ 101536 h 131501"/>
                <a:gd name="csX44" fmla="*/ 16777 w 156392"/>
                <a:gd name="csY44" fmla="*/ 107387 h 131501"/>
                <a:gd name="csX45" fmla="*/ 19606 w 156392"/>
                <a:gd name="csY45" fmla="*/ 113110 h 131501"/>
                <a:gd name="csX46" fmla="*/ 23398 w 156392"/>
                <a:gd name="csY46" fmla="*/ 118383 h 131501"/>
                <a:gd name="csX47" fmla="*/ 28283 w 156392"/>
                <a:gd name="csY47" fmla="*/ 123013 h 131501"/>
                <a:gd name="csX48" fmla="*/ 34068 w 156392"/>
                <a:gd name="csY48" fmla="*/ 126678 h 131501"/>
                <a:gd name="csX49" fmla="*/ 40625 w 156392"/>
                <a:gd name="csY49" fmla="*/ 129315 h 131501"/>
                <a:gd name="csX50" fmla="*/ 47567 w 156392"/>
                <a:gd name="csY50" fmla="*/ 130858 h 131501"/>
                <a:gd name="csX51" fmla="*/ 54638 w 156392"/>
                <a:gd name="csY51" fmla="*/ 131501 h 131501"/>
                <a:gd name="csX52" fmla="*/ 61709 w 156392"/>
                <a:gd name="csY52" fmla="*/ 131501 h 131501"/>
                <a:gd name="csX53" fmla="*/ 68587 w 156392"/>
                <a:gd name="csY53" fmla="*/ 130922 h 131501"/>
                <a:gd name="csX54" fmla="*/ 75271 w 156392"/>
                <a:gd name="csY54" fmla="*/ 130151 h 131501"/>
                <a:gd name="csX55" fmla="*/ 81764 w 156392"/>
                <a:gd name="csY55" fmla="*/ 129122 h 131501"/>
                <a:gd name="csX56" fmla="*/ 88127 w 156392"/>
                <a:gd name="csY56" fmla="*/ 127964 h 131501"/>
                <a:gd name="csX57" fmla="*/ 94362 w 156392"/>
                <a:gd name="csY57" fmla="*/ 126614 h 131501"/>
                <a:gd name="csX58" fmla="*/ 100469 w 156392"/>
                <a:gd name="csY58" fmla="*/ 124942 h 131501"/>
                <a:gd name="csX59" fmla="*/ 106383 w 156392"/>
                <a:gd name="csY59" fmla="*/ 122756 h 131501"/>
                <a:gd name="csX60" fmla="*/ 111975 w 156392"/>
                <a:gd name="csY60" fmla="*/ 119926 h 131501"/>
                <a:gd name="csX61" fmla="*/ 116989 w 156392"/>
                <a:gd name="csY61" fmla="*/ 116518 h 131501"/>
                <a:gd name="csX62" fmla="*/ 121424 w 156392"/>
                <a:gd name="csY62" fmla="*/ 112531 h 131501"/>
                <a:gd name="csX63" fmla="*/ 125217 w 156392"/>
                <a:gd name="csY63" fmla="*/ 108159 h 131501"/>
                <a:gd name="csX64" fmla="*/ 128431 w 156392"/>
                <a:gd name="csY64" fmla="*/ 103465 h 131501"/>
                <a:gd name="csX65" fmla="*/ 131195 w 156392"/>
                <a:gd name="csY65" fmla="*/ 98771 h 131501"/>
                <a:gd name="csX66" fmla="*/ 133830 w 156392"/>
                <a:gd name="csY66" fmla="*/ 94076 h 131501"/>
                <a:gd name="csX67" fmla="*/ 136466 w 156392"/>
                <a:gd name="csY67" fmla="*/ 89511 h 131501"/>
                <a:gd name="csX68" fmla="*/ 139422 w 156392"/>
                <a:gd name="csY68" fmla="*/ 85010 h 131501"/>
                <a:gd name="csX69" fmla="*/ 142636 w 156392"/>
                <a:gd name="csY69" fmla="*/ 80444 h 131501"/>
                <a:gd name="csX70" fmla="*/ 146108 w 156392"/>
                <a:gd name="csY70" fmla="*/ 75621 h 131501"/>
                <a:gd name="csX71" fmla="*/ 149643 w 156392"/>
                <a:gd name="csY71" fmla="*/ 70413 h 131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156392" h="131501">
                  <a:moveTo>
                    <a:pt x="152792" y="64754"/>
                  </a:moveTo>
                  <a:lnTo>
                    <a:pt x="155171" y="58709"/>
                  </a:lnTo>
                  <a:lnTo>
                    <a:pt x="156392" y="52343"/>
                  </a:lnTo>
                  <a:lnTo>
                    <a:pt x="156199" y="45913"/>
                  </a:lnTo>
                  <a:lnTo>
                    <a:pt x="154399" y="39740"/>
                  </a:lnTo>
                  <a:lnTo>
                    <a:pt x="151121" y="34081"/>
                  </a:lnTo>
                  <a:lnTo>
                    <a:pt x="146558" y="29001"/>
                  </a:lnTo>
                  <a:lnTo>
                    <a:pt x="141029" y="24757"/>
                  </a:lnTo>
                  <a:lnTo>
                    <a:pt x="134987" y="21220"/>
                  </a:lnTo>
                  <a:lnTo>
                    <a:pt x="128752" y="18327"/>
                  </a:lnTo>
                  <a:lnTo>
                    <a:pt x="122645" y="15754"/>
                  </a:lnTo>
                  <a:lnTo>
                    <a:pt x="116667" y="13375"/>
                  </a:lnTo>
                  <a:lnTo>
                    <a:pt x="111011" y="11060"/>
                  </a:lnTo>
                  <a:lnTo>
                    <a:pt x="105419" y="8617"/>
                  </a:lnTo>
                  <a:lnTo>
                    <a:pt x="99826" y="6237"/>
                  </a:lnTo>
                  <a:lnTo>
                    <a:pt x="94041" y="3923"/>
                  </a:lnTo>
                  <a:lnTo>
                    <a:pt x="87999" y="1993"/>
                  </a:lnTo>
                  <a:lnTo>
                    <a:pt x="81764" y="643"/>
                  </a:lnTo>
                  <a:lnTo>
                    <a:pt x="75271" y="0"/>
                  </a:lnTo>
                  <a:lnTo>
                    <a:pt x="68779" y="129"/>
                  </a:lnTo>
                  <a:lnTo>
                    <a:pt x="62351" y="1157"/>
                  </a:lnTo>
                  <a:lnTo>
                    <a:pt x="56181" y="2829"/>
                  </a:lnTo>
                  <a:lnTo>
                    <a:pt x="50202" y="4952"/>
                  </a:lnTo>
                  <a:lnTo>
                    <a:pt x="44482" y="7459"/>
                  </a:lnTo>
                  <a:lnTo>
                    <a:pt x="38953" y="10160"/>
                  </a:lnTo>
                  <a:lnTo>
                    <a:pt x="33490" y="12925"/>
                  </a:lnTo>
                  <a:lnTo>
                    <a:pt x="27962" y="15819"/>
                  </a:lnTo>
                  <a:lnTo>
                    <a:pt x="22434" y="18841"/>
                  </a:lnTo>
                  <a:lnTo>
                    <a:pt x="16970" y="22313"/>
                  </a:lnTo>
                  <a:lnTo>
                    <a:pt x="11892" y="26236"/>
                  </a:lnTo>
                  <a:lnTo>
                    <a:pt x="7392" y="30737"/>
                  </a:lnTo>
                  <a:lnTo>
                    <a:pt x="3728" y="35817"/>
                  </a:lnTo>
                  <a:lnTo>
                    <a:pt x="1221" y="41347"/>
                  </a:lnTo>
                  <a:lnTo>
                    <a:pt x="0" y="47263"/>
                  </a:lnTo>
                  <a:lnTo>
                    <a:pt x="0" y="53243"/>
                  </a:lnTo>
                  <a:lnTo>
                    <a:pt x="1093" y="59095"/>
                  </a:lnTo>
                  <a:lnTo>
                    <a:pt x="2893" y="64754"/>
                  </a:lnTo>
                  <a:lnTo>
                    <a:pt x="5014" y="70091"/>
                  </a:lnTo>
                  <a:lnTo>
                    <a:pt x="7264" y="75171"/>
                  </a:lnTo>
                  <a:lnTo>
                    <a:pt x="9192" y="80123"/>
                  </a:lnTo>
                  <a:lnTo>
                    <a:pt x="10799" y="85138"/>
                  </a:lnTo>
                  <a:lnTo>
                    <a:pt x="12149" y="90347"/>
                  </a:lnTo>
                  <a:lnTo>
                    <a:pt x="13370" y="95812"/>
                  </a:lnTo>
                  <a:lnTo>
                    <a:pt x="14785" y="101536"/>
                  </a:lnTo>
                  <a:lnTo>
                    <a:pt x="16777" y="107387"/>
                  </a:lnTo>
                  <a:lnTo>
                    <a:pt x="19606" y="113110"/>
                  </a:lnTo>
                  <a:lnTo>
                    <a:pt x="23398" y="118383"/>
                  </a:lnTo>
                  <a:lnTo>
                    <a:pt x="28283" y="123013"/>
                  </a:lnTo>
                  <a:lnTo>
                    <a:pt x="34068" y="126678"/>
                  </a:lnTo>
                  <a:lnTo>
                    <a:pt x="40625" y="129315"/>
                  </a:lnTo>
                  <a:lnTo>
                    <a:pt x="47567" y="130858"/>
                  </a:lnTo>
                  <a:lnTo>
                    <a:pt x="54638" y="131501"/>
                  </a:lnTo>
                  <a:lnTo>
                    <a:pt x="61709" y="131501"/>
                  </a:lnTo>
                  <a:lnTo>
                    <a:pt x="68587" y="130922"/>
                  </a:lnTo>
                  <a:lnTo>
                    <a:pt x="75271" y="130151"/>
                  </a:lnTo>
                  <a:lnTo>
                    <a:pt x="81764" y="129122"/>
                  </a:lnTo>
                  <a:lnTo>
                    <a:pt x="88127" y="127964"/>
                  </a:lnTo>
                  <a:lnTo>
                    <a:pt x="94362" y="126614"/>
                  </a:lnTo>
                  <a:lnTo>
                    <a:pt x="100469" y="124942"/>
                  </a:lnTo>
                  <a:lnTo>
                    <a:pt x="106383" y="122756"/>
                  </a:lnTo>
                  <a:lnTo>
                    <a:pt x="111975" y="119926"/>
                  </a:lnTo>
                  <a:lnTo>
                    <a:pt x="116989" y="116518"/>
                  </a:lnTo>
                  <a:lnTo>
                    <a:pt x="121424" y="112531"/>
                  </a:lnTo>
                  <a:lnTo>
                    <a:pt x="125217" y="108159"/>
                  </a:lnTo>
                  <a:lnTo>
                    <a:pt x="128431" y="103465"/>
                  </a:lnTo>
                  <a:lnTo>
                    <a:pt x="131195" y="98771"/>
                  </a:lnTo>
                  <a:lnTo>
                    <a:pt x="133830" y="94076"/>
                  </a:lnTo>
                  <a:lnTo>
                    <a:pt x="136466" y="89511"/>
                  </a:lnTo>
                  <a:lnTo>
                    <a:pt x="139422" y="85010"/>
                  </a:lnTo>
                  <a:lnTo>
                    <a:pt x="142636" y="80444"/>
                  </a:lnTo>
                  <a:lnTo>
                    <a:pt x="146108" y="75621"/>
                  </a:lnTo>
                  <a:lnTo>
                    <a:pt x="149643" y="70413"/>
                  </a:lnTo>
                  <a:close/>
                </a:path>
              </a:pathLst>
            </a:custGeom>
            <a:solidFill>
              <a:srgbClr val="E39A3C"/>
            </a:solidFill>
            <a:ln w="6425" cap="flat">
              <a:solidFill>
                <a:srgbClr val="B57216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5" name="Freeform 354">
              <a:extLst>
                <a:ext uri="{FF2B5EF4-FFF2-40B4-BE49-F238E27FC236}">
                  <a16:creationId xmlns:a16="http://schemas.microsoft.com/office/drawing/2014/main" id="{C34978FC-5B37-C51B-F34D-D6D9D620E94D}"/>
                </a:ext>
              </a:extLst>
            </p:cNvPr>
            <p:cNvSpPr/>
            <p:nvPr/>
          </p:nvSpPr>
          <p:spPr>
            <a:xfrm>
              <a:off x="5575134" y="3012886"/>
              <a:ext cx="4082" cy="118833"/>
            </a:xfrm>
            <a:custGeom>
              <a:avLst/>
              <a:gdLst>
                <a:gd name="csX0" fmla="*/ 2041 w 4082"/>
                <a:gd name="csY0" fmla="*/ 0 h 118833"/>
                <a:gd name="csX1" fmla="*/ 2041 w 4082"/>
                <a:gd name="csY1" fmla="*/ 118833 h 118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082" h="118833">
                  <a:moveTo>
                    <a:pt x="2041" y="0"/>
                  </a:moveTo>
                  <a:cubicBezTo>
                    <a:pt x="9112" y="39611"/>
                    <a:pt x="-5029" y="82051"/>
                    <a:pt x="2041" y="118833"/>
                  </a:cubicBezTo>
                </a:path>
              </a:pathLst>
            </a:custGeom>
            <a:noFill/>
            <a:ln w="5462" cap="rnd">
              <a:solidFill>
                <a:srgbClr val="FFFFFF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6" name="Freeform 355">
              <a:extLst>
                <a:ext uri="{FF2B5EF4-FFF2-40B4-BE49-F238E27FC236}">
                  <a16:creationId xmlns:a16="http://schemas.microsoft.com/office/drawing/2014/main" id="{2EF49FAB-C0CF-F7A8-1A22-1BF8724EA059}"/>
                </a:ext>
              </a:extLst>
            </p:cNvPr>
            <p:cNvSpPr/>
            <p:nvPr/>
          </p:nvSpPr>
          <p:spPr>
            <a:xfrm>
              <a:off x="5522023" y="3045423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5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2" y="-1886"/>
                    <a:pt x="21212" y="-1886"/>
                    <a:pt x="21212" y="5659"/>
                  </a:cubicBezTo>
                  <a:cubicBezTo>
                    <a:pt x="21212" y="13204"/>
                    <a:pt x="28283" y="14704"/>
                    <a:pt x="42425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7" name="Freeform 356">
              <a:extLst>
                <a:ext uri="{FF2B5EF4-FFF2-40B4-BE49-F238E27FC236}">
                  <a16:creationId xmlns:a16="http://schemas.microsoft.com/office/drawing/2014/main" id="{F1B33CC4-419F-DE79-3B9B-8342FA50F37E}"/>
                </a:ext>
              </a:extLst>
            </p:cNvPr>
            <p:cNvSpPr/>
            <p:nvPr/>
          </p:nvSpPr>
          <p:spPr>
            <a:xfrm>
              <a:off x="5526266" y="3084327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8" name="Freeform 357">
              <a:extLst>
                <a:ext uri="{FF2B5EF4-FFF2-40B4-BE49-F238E27FC236}">
                  <a16:creationId xmlns:a16="http://schemas.microsoft.com/office/drawing/2014/main" id="{1379B45E-DCD8-CB75-3EDD-5D7C18A17D74}"/>
                </a:ext>
              </a:extLst>
            </p:cNvPr>
            <p:cNvSpPr/>
            <p:nvPr/>
          </p:nvSpPr>
          <p:spPr>
            <a:xfrm>
              <a:off x="5589902" y="3046838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3 w 42424"/>
                <a:gd name="csY1" fmla="*/ 5659 h 12722"/>
                <a:gd name="csX2" fmla="*/ 42425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2" y="-1886"/>
                    <a:pt x="21213" y="-1886"/>
                    <a:pt x="21213" y="5659"/>
                  </a:cubicBezTo>
                  <a:cubicBezTo>
                    <a:pt x="21213" y="13204"/>
                    <a:pt x="28283" y="14704"/>
                    <a:pt x="42425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9" name="Freeform 358">
              <a:extLst>
                <a:ext uri="{FF2B5EF4-FFF2-40B4-BE49-F238E27FC236}">
                  <a16:creationId xmlns:a16="http://schemas.microsoft.com/office/drawing/2014/main" id="{19E6FDFB-4B59-64B9-403B-76E5892A0849}"/>
                </a:ext>
              </a:extLst>
            </p:cNvPr>
            <p:cNvSpPr/>
            <p:nvPr/>
          </p:nvSpPr>
          <p:spPr>
            <a:xfrm>
              <a:off x="5591316" y="3085742"/>
              <a:ext cx="36767" cy="11150"/>
            </a:xfrm>
            <a:custGeom>
              <a:avLst/>
              <a:gdLst>
                <a:gd name="csX0" fmla="*/ 0 w 36767"/>
                <a:gd name="csY0" fmla="*/ 4951 h 11150"/>
                <a:gd name="csX1" fmla="*/ 18384 w 36767"/>
                <a:gd name="csY1" fmla="*/ 4951 h 11150"/>
                <a:gd name="csX2" fmla="*/ 36768 w 36767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7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0" name="TextBox 359">
            <a:extLst>
              <a:ext uri="{FF2B5EF4-FFF2-40B4-BE49-F238E27FC236}">
                <a16:creationId xmlns:a16="http://schemas.microsoft.com/office/drawing/2014/main" id="{319AEBD1-6CF0-4DEB-3F25-12E0CF3F5EB5}"/>
              </a:ext>
            </a:extLst>
          </p:cNvPr>
          <p:cNvSpPr txBox="1"/>
          <p:nvPr/>
        </p:nvSpPr>
        <p:spPr>
          <a:xfrm>
            <a:off x="5640006" y="2930336"/>
            <a:ext cx="1392057" cy="187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b="1" spc="0" baseline="0">
                <a:ln/>
                <a:solidFill>
                  <a:srgbClr val="22314A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Sexual-image classifier (BASIC)</a:t>
            </a:r>
          </a:p>
        </p:txBody>
      </p:sp>
      <p:sp>
        <p:nvSpPr>
          <p:cNvPr id="361" name="TextBox 360">
            <a:extLst>
              <a:ext uri="{FF2B5EF4-FFF2-40B4-BE49-F238E27FC236}">
                <a16:creationId xmlns:a16="http://schemas.microsoft.com/office/drawing/2014/main" id="{3F669001-D76D-454D-7ABB-17E288AD1EEF}"/>
              </a:ext>
            </a:extLst>
          </p:cNvPr>
          <p:cNvSpPr txBox="1"/>
          <p:nvPr/>
        </p:nvSpPr>
        <p:spPr>
          <a:xfrm>
            <a:off x="5640006" y="3050329"/>
            <a:ext cx="702933" cy="174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25" i="1" spc="0" baseline="0">
                <a:ln/>
                <a:solidFill>
                  <a:srgbClr val="7C8598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van 't Hof · 2021</a:t>
            </a:r>
          </a:p>
        </p:txBody>
      </p:sp>
      <p:sp>
        <p:nvSpPr>
          <p:cNvPr id="362" name="Rounded Rectangle 361">
            <a:extLst>
              <a:ext uri="{FF2B5EF4-FFF2-40B4-BE49-F238E27FC236}">
                <a16:creationId xmlns:a16="http://schemas.microsoft.com/office/drawing/2014/main" id="{88837DDB-D383-32AE-DF5A-94D3582F2924}"/>
              </a:ext>
            </a:extLst>
          </p:cNvPr>
          <p:cNvSpPr/>
          <p:nvPr/>
        </p:nvSpPr>
        <p:spPr>
          <a:xfrm>
            <a:off x="7351289" y="1376099"/>
            <a:ext cx="2069799" cy="398682"/>
          </a:xfrm>
          <a:prstGeom prst="roundRect">
            <a:avLst>
              <a:gd name="adj" fmla="val 25796"/>
            </a:avLst>
          </a:prstGeom>
          <a:solidFill>
            <a:srgbClr val="3E86C0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363" name="Graphic 2">
            <a:extLst>
              <a:ext uri="{FF2B5EF4-FFF2-40B4-BE49-F238E27FC236}">
                <a16:creationId xmlns:a16="http://schemas.microsoft.com/office/drawing/2014/main" id="{B6C4E2CB-ACDA-1F2A-0A33-B66C9CCA7E5E}"/>
              </a:ext>
            </a:extLst>
          </p:cNvPr>
          <p:cNvGrpSpPr/>
          <p:nvPr/>
        </p:nvGrpSpPr>
        <p:grpSpPr>
          <a:xfrm>
            <a:off x="7432988" y="1457636"/>
            <a:ext cx="284308" cy="239209"/>
            <a:chOff x="7432988" y="1457636"/>
            <a:chExt cx="284308" cy="239209"/>
          </a:xfrm>
        </p:grpSpPr>
        <p:sp>
          <p:nvSpPr>
            <p:cNvPr id="364" name="Freeform 363">
              <a:extLst>
                <a:ext uri="{FF2B5EF4-FFF2-40B4-BE49-F238E27FC236}">
                  <a16:creationId xmlns:a16="http://schemas.microsoft.com/office/drawing/2014/main" id="{BCDD3E3F-B7A9-CFEC-7CDC-BA76A3A3B3DF}"/>
                </a:ext>
              </a:extLst>
            </p:cNvPr>
            <p:cNvSpPr/>
            <p:nvPr/>
          </p:nvSpPr>
          <p:spPr>
            <a:xfrm>
              <a:off x="7432988" y="1457636"/>
              <a:ext cx="284308" cy="239209"/>
            </a:xfrm>
            <a:custGeom>
              <a:avLst/>
              <a:gdLst>
                <a:gd name="csX0" fmla="*/ 277752 w 284308"/>
                <a:gd name="csY0" fmla="*/ 117804 h 239209"/>
                <a:gd name="csX1" fmla="*/ 282058 w 284308"/>
                <a:gd name="csY1" fmla="*/ 106744 h 239209"/>
                <a:gd name="csX2" fmla="*/ 284308 w 284308"/>
                <a:gd name="csY2" fmla="*/ 95234 h 239209"/>
                <a:gd name="csX3" fmla="*/ 283923 w 284308"/>
                <a:gd name="csY3" fmla="*/ 83595 h 239209"/>
                <a:gd name="csX4" fmla="*/ 280709 w 284308"/>
                <a:gd name="csY4" fmla="*/ 72342 h 239209"/>
                <a:gd name="csX5" fmla="*/ 274731 w 284308"/>
                <a:gd name="csY5" fmla="*/ 61989 h 239209"/>
                <a:gd name="csX6" fmla="*/ 266439 w 284308"/>
                <a:gd name="csY6" fmla="*/ 52858 h 239209"/>
                <a:gd name="csX7" fmla="*/ 256411 w 284308"/>
                <a:gd name="csY7" fmla="*/ 45141 h 239209"/>
                <a:gd name="csX8" fmla="*/ 245419 w 284308"/>
                <a:gd name="csY8" fmla="*/ 38711 h 239209"/>
                <a:gd name="csX9" fmla="*/ 234106 w 284308"/>
                <a:gd name="csY9" fmla="*/ 33374 h 239209"/>
                <a:gd name="csX10" fmla="*/ 222922 w 284308"/>
                <a:gd name="csY10" fmla="*/ 28744 h 239209"/>
                <a:gd name="csX11" fmla="*/ 212187 w 284308"/>
                <a:gd name="csY11" fmla="*/ 24435 h 239209"/>
                <a:gd name="csX12" fmla="*/ 201773 w 284308"/>
                <a:gd name="csY12" fmla="*/ 20127 h 239209"/>
                <a:gd name="csX13" fmla="*/ 191682 w 284308"/>
                <a:gd name="csY13" fmla="*/ 15754 h 239209"/>
                <a:gd name="csX14" fmla="*/ 181461 w 284308"/>
                <a:gd name="csY14" fmla="*/ 11382 h 239209"/>
                <a:gd name="csX15" fmla="*/ 170984 w 284308"/>
                <a:gd name="csY15" fmla="*/ 7202 h 239209"/>
                <a:gd name="csX16" fmla="*/ 160056 w 284308"/>
                <a:gd name="csY16" fmla="*/ 3665 h 239209"/>
                <a:gd name="csX17" fmla="*/ 148614 w 284308"/>
                <a:gd name="csY17" fmla="*/ 1158 h 239209"/>
                <a:gd name="csX18" fmla="*/ 136851 w 284308"/>
                <a:gd name="csY18" fmla="*/ 0 h 239209"/>
                <a:gd name="csX19" fmla="*/ 125024 w 284308"/>
                <a:gd name="csY19" fmla="*/ 322 h 239209"/>
                <a:gd name="csX20" fmla="*/ 113389 w 284308"/>
                <a:gd name="csY20" fmla="*/ 2122 h 239209"/>
                <a:gd name="csX21" fmla="*/ 102076 w 284308"/>
                <a:gd name="csY21" fmla="*/ 5144 h 239209"/>
                <a:gd name="csX22" fmla="*/ 91277 w 284308"/>
                <a:gd name="csY22" fmla="*/ 9131 h 239209"/>
                <a:gd name="csX23" fmla="*/ 80928 w 284308"/>
                <a:gd name="csY23" fmla="*/ 13697 h 239209"/>
                <a:gd name="csX24" fmla="*/ 70836 w 284308"/>
                <a:gd name="csY24" fmla="*/ 18520 h 239209"/>
                <a:gd name="csX25" fmla="*/ 60809 w 284308"/>
                <a:gd name="csY25" fmla="*/ 23535 h 239209"/>
                <a:gd name="csX26" fmla="*/ 50781 w 284308"/>
                <a:gd name="csY26" fmla="*/ 28744 h 239209"/>
                <a:gd name="csX27" fmla="*/ 40754 w 284308"/>
                <a:gd name="csY27" fmla="*/ 34403 h 239209"/>
                <a:gd name="csX28" fmla="*/ 30919 w 284308"/>
                <a:gd name="csY28" fmla="*/ 40640 h 239209"/>
                <a:gd name="csX29" fmla="*/ 21598 w 284308"/>
                <a:gd name="csY29" fmla="*/ 47713 h 239209"/>
                <a:gd name="csX30" fmla="*/ 13371 w 284308"/>
                <a:gd name="csY30" fmla="*/ 55944 h 239209"/>
                <a:gd name="csX31" fmla="*/ 6814 w 284308"/>
                <a:gd name="csY31" fmla="*/ 65140 h 239209"/>
                <a:gd name="csX32" fmla="*/ 2250 w 284308"/>
                <a:gd name="csY32" fmla="*/ 75300 h 239209"/>
                <a:gd name="csX33" fmla="*/ 0 w 284308"/>
                <a:gd name="csY33" fmla="*/ 85974 h 239209"/>
                <a:gd name="csX34" fmla="*/ 0 w 284308"/>
                <a:gd name="csY34" fmla="*/ 96841 h 239209"/>
                <a:gd name="csX35" fmla="*/ 1929 w 284308"/>
                <a:gd name="csY35" fmla="*/ 107580 h 239209"/>
                <a:gd name="csX36" fmla="*/ 5207 w 284308"/>
                <a:gd name="csY36" fmla="*/ 117804 h 239209"/>
                <a:gd name="csX37" fmla="*/ 9128 w 284308"/>
                <a:gd name="csY37" fmla="*/ 127514 h 239209"/>
                <a:gd name="csX38" fmla="*/ 13178 w 284308"/>
                <a:gd name="csY38" fmla="*/ 136710 h 239209"/>
                <a:gd name="csX39" fmla="*/ 16713 w 284308"/>
                <a:gd name="csY39" fmla="*/ 145777 h 239209"/>
                <a:gd name="csX40" fmla="*/ 19670 w 284308"/>
                <a:gd name="csY40" fmla="*/ 154843 h 239209"/>
                <a:gd name="csX41" fmla="*/ 22048 w 284308"/>
                <a:gd name="csY41" fmla="*/ 164296 h 239209"/>
                <a:gd name="csX42" fmla="*/ 24298 w 284308"/>
                <a:gd name="csY42" fmla="*/ 174263 h 239209"/>
                <a:gd name="csX43" fmla="*/ 26869 w 284308"/>
                <a:gd name="csY43" fmla="*/ 184680 h 239209"/>
                <a:gd name="csX44" fmla="*/ 30468 w 284308"/>
                <a:gd name="csY44" fmla="*/ 195290 h 239209"/>
                <a:gd name="csX45" fmla="*/ 35611 w 284308"/>
                <a:gd name="csY45" fmla="*/ 205708 h 239209"/>
                <a:gd name="csX46" fmla="*/ 42553 w 284308"/>
                <a:gd name="csY46" fmla="*/ 215353 h 239209"/>
                <a:gd name="csX47" fmla="*/ 51424 w 284308"/>
                <a:gd name="csY47" fmla="*/ 223713 h 239209"/>
                <a:gd name="csX48" fmla="*/ 61966 w 284308"/>
                <a:gd name="csY48" fmla="*/ 230400 h 239209"/>
                <a:gd name="csX49" fmla="*/ 73857 w 284308"/>
                <a:gd name="csY49" fmla="*/ 235159 h 239209"/>
                <a:gd name="csX50" fmla="*/ 86456 w 284308"/>
                <a:gd name="csY50" fmla="*/ 237988 h 239209"/>
                <a:gd name="csX51" fmla="*/ 99377 w 284308"/>
                <a:gd name="csY51" fmla="*/ 239210 h 239209"/>
                <a:gd name="csX52" fmla="*/ 112233 w 284308"/>
                <a:gd name="csY52" fmla="*/ 239146 h 239209"/>
                <a:gd name="csX53" fmla="*/ 124702 w 284308"/>
                <a:gd name="csY53" fmla="*/ 238181 h 239209"/>
                <a:gd name="csX54" fmla="*/ 136851 w 284308"/>
                <a:gd name="csY54" fmla="*/ 236638 h 239209"/>
                <a:gd name="csX55" fmla="*/ 148614 w 284308"/>
                <a:gd name="csY55" fmla="*/ 234837 h 239209"/>
                <a:gd name="csX56" fmla="*/ 160185 w 284308"/>
                <a:gd name="csY56" fmla="*/ 232780 h 239209"/>
                <a:gd name="csX57" fmla="*/ 171562 w 284308"/>
                <a:gd name="csY57" fmla="*/ 230336 h 239209"/>
                <a:gd name="csX58" fmla="*/ 182683 w 284308"/>
                <a:gd name="csY58" fmla="*/ 227185 h 239209"/>
                <a:gd name="csX59" fmla="*/ 193482 w 284308"/>
                <a:gd name="csY59" fmla="*/ 223198 h 239209"/>
                <a:gd name="csX60" fmla="*/ 203573 w 284308"/>
                <a:gd name="csY60" fmla="*/ 218118 h 239209"/>
                <a:gd name="csX61" fmla="*/ 212766 w 284308"/>
                <a:gd name="csY61" fmla="*/ 211945 h 239209"/>
                <a:gd name="csX62" fmla="*/ 220801 w 284308"/>
                <a:gd name="csY62" fmla="*/ 204679 h 239209"/>
                <a:gd name="csX63" fmla="*/ 227678 w 284308"/>
                <a:gd name="csY63" fmla="*/ 196705 h 239209"/>
                <a:gd name="csX64" fmla="*/ 233528 w 284308"/>
                <a:gd name="csY64" fmla="*/ 188217 h 239209"/>
                <a:gd name="csX65" fmla="*/ 238605 w 284308"/>
                <a:gd name="csY65" fmla="*/ 179665 h 239209"/>
                <a:gd name="csX66" fmla="*/ 243299 w 284308"/>
                <a:gd name="csY66" fmla="*/ 171177 h 239209"/>
                <a:gd name="csX67" fmla="*/ 248119 w 284308"/>
                <a:gd name="csY67" fmla="*/ 162881 h 239209"/>
                <a:gd name="csX68" fmla="*/ 253454 w 284308"/>
                <a:gd name="csY68" fmla="*/ 154650 h 239209"/>
                <a:gd name="csX69" fmla="*/ 259304 w 284308"/>
                <a:gd name="csY69" fmla="*/ 146291 h 239209"/>
                <a:gd name="csX70" fmla="*/ 265668 w 284308"/>
                <a:gd name="csY70" fmla="*/ 137546 h 239209"/>
                <a:gd name="csX71" fmla="*/ 272031 w 284308"/>
                <a:gd name="csY71" fmla="*/ 128093 h 2392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284308" h="239209">
                  <a:moveTo>
                    <a:pt x="277752" y="117804"/>
                  </a:moveTo>
                  <a:lnTo>
                    <a:pt x="282058" y="106744"/>
                  </a:lnTo>
                  <a:lnTo>
                    <a:pt x="284308" y="95234"/>
                  </a:lnTo>
                  <a:lnTo>
                    <a:pt x="283923" y="83595"/>
                  </a:lnTo>
                  <a:lnTo>
                    <a:pt x="280709" y="72342"/>
                  </a:lnTo>
                  <a:lnTo>
                    <a:pt x="274731" y="61989"/>
                  </a:lnTo>
                  <a:lnTo>
                    <a:pt x="266439" y="52858"/>
                  </a:lnTo>
                  <a:lnTo>
                    <a:pt x="256411" y="45141"/>
                  </a:lnTo>
                  <a:lnTo>
                    <a:pt x="245419" y="38711"/>
                  </a:lnTo>
                  <a:lnTo>
                    <a:pt x="234106" y="33374"/>
                  </a:lnTo>
                  <a:lnTo>
                    <a:pt x="222922" y="28744"/>
                  </a:lnTo>
                  <a:lnTo>
                    <a:pt x="212187" y="24435"/>
                  </a:lnTo>
                  <a:lnTo>
                    <a:pt x="201773" y="20127"/>
                  </a:lnTo>
                  <a:lnTo>
                    <a:pt x="191682" y="15754"/>
                  </a:lnTo>
                  <a:lnTo>
                    <a:pt x="181461" y="11382"/>
                  </a:lnTo>
                  <a:lnTo>
                    <a:pt x="170984" y="7202"/>
                  </a:lnTo>
                  <a:lnTo>
                    <a:pt x="160056" y="3665"/>
                  </a:lnTo>
                  <a:lnTo>
                    <a:pt x="148614" y="1158"/>
                  </a:lnTo>
                  <a:lnTo>
                    <a:pt x="136851" y="0"/>
                  </a:lnTo>
                  <a:lnTo>
                    <a:pt x="125024" y="322"/>
                  </a:lnTo>
                  <a:lnTo>
                    <a:pt x="113389" y="2122"/>
                  </a:lnTo>
                  <a:lnTo>
                    <a:pt x="102076" y="5144"/>
                  </a:lnTo>
                  <a:lnTo>
                    <a:pt x="91277" y="9131"/>
                  </a:lnTo>
                  <a:lnTo>
                    <a:pt x="80928" y="13697"/>
                  </a:lnTo>
                  <a:lnTo>
                    <a:pt x="70836" y="18520"/>
                  </a:lnTo>
                  <a:lnTo>
                    <a:pt x="60809" y="23535"/>
                  </a:lnTo>
                  <a:lnTo>
                    <a:pt x="50781" y="28744"/>
                  </a:lnTo>
                  <a:lnTo>
                    <a:pt x="40754" y="34403"/>
                  </a:lnTo>
                  <a:lnTo>
                    <a:pt x="30919" y="40640"/>
                  </a:lnTo>
                  <a:lnTo>
                    <a:pt x="21598" y="47713"/>
                  </a:lnTo>
                  <a:lnTo>
                    <a:pt x="13371" y="55944"/>
                  </a:lnTo>
                  <a:lnTo>
                    <a:pt x="6814" y="65140"/>
                  </a:lnTo>
                  <a:lnTo>
                    <a:pt x="2250" y="75300"/>
                  </a:lnTo>
                  <a:lnTo>
                    <a:pt x="0" y="85974"/>
                  </a:lnTo>
                  <a:lnTo>
                    <a:pt x="0" y="96841"/>
                  </a:lnTo>
                  <a:lnTo>
                    <a:pt x="1929" y="107580"/>
                  </a:lnTo>
                  <a:lnTo>
                    <a:pt x="5207" y="117804"/>
                  </a:lnTo>
                  <a:lnTo>
                    <a:pt x="9128" y="127514"/>
                  </a:lnTo>
                  <a:lnTo>
                    <a:pt x="13178" y="136710"/>
                  </a:lnTo>
                  <a:lnTo>
                    <a:pt x="16713" y="145777"/>
                  </a:lnTo>
                  <a:lnTo>
                    <a:pt x="19670" y="154843"/>
                  </a:lnTo>
                  <a:lnTo>
                    <a:pt x="22048" y="164296"/>
                  </a:lnTo>
                  <a:lnTo>
                    <a:pt x="24298" y="174263"/>
                  </a:lnTo>
                  <a:lnTo>
                    <a:pt x="26869" y="184680"/>
                  </a:lnTo>
                  <a:lnTo>
                    <a:pt x="30468" y="195290"/>
                  </a:lnTo>
                  <a:lnTo>
                    <a:pt x="35611" y="205708"/>
                  </a:lnTo>
                  <a:lnTo>
                    <a:pt x="42553" y="215353"/>
                  </a:lnTo>
                  <a:lnTo>
                    <a:pt x="51424" y="223713"/>
                  </a:lnTo>
                  <a:lnTo>
                    <a:pt x="61966" y="230400"/>
                  </a:lnTo>
                  <a:lnTo>
                    <a:pt x="73857" y="235159"/>
                  </a:lnTo>
                  <a:lnTo>
                    <a:pt x="86456" y="237988"/>
                  </a:lnTo>
                  <a:lnTo>
                    <a:pt x="99377" y="239210"/>
                  </a:lnTo>
                  <a:lnTo>
                    <a:pt x="112233" y="239146"/>
                  </a:lnTo>
                  <a:lnTo>
                    <a:pt x="124702" y="238181"/>
                  </a:lnTo>
                  <a:lnTo>
                    <a:pt x="136851" y="236638"/>
                  </a:lnTo>
                  <a:lnTo>
                    <a:pt x="148614" y="234837"/>
                  </a:lnTo>
                  <a:lnTo>
                    <a:pt x="160185" y="232780"/>
                  </a:lnTo>
                  <a:lnTo>
                    <a:pt x="171562" y="230336"/>
                  </a:lnTo>
                  <a:lnTo>
                    <a:pt x="182683" y="227185"/>
                  </a:lnTo>
                  <a:lnTo>
                    <a:pt x="193482" y="223198"/>
                  </a:lnTo>
                  <a:lnTo>
                    <a:pt x="203573" y="218118"/>
                  </a:lnTo>
                  <a:lnTo>
                    <a:pt x="212766" y="211945"/>
                  </a:lnTo>
                  <a:lnTo>
                    <a:pt x="220801" y="204679"/>
                  </a:lnTo>
                  <a:lnTo>
                    <a:pt x="227678" y="196705"/>
                  </a:lnTo>
                  <a:lnTo>
                    <a:pt x="233528" y="188217"/>
                  </a:lnTo>
                  <a:lnTo>
                    <a:pt x="238605" y="179665"/>
                  </a:lnTo>
                  <a:lnTo>
                    <a:pt x="243299" y="171177"/>
                  </a:lnTo>
                  <a:lnTo>
                    <a:pt x="248119" y="162881"/>
                  </a:lnTo>
                  <a:lnTo>
                    <a:pt x="253454" y="154650"/>
                  </a:lnTo>
                  <a:lnTo>
                    <a:pt x="259304" y="146291"/>
                  </a:lnTo>
                  <a:lnTo>
                    <a:pt x="265668" y="137546"/>
                  </a:lnTo>
                  <a:lnTo>
                    <a:pt x="272031" y="128093"/>
                  </a:lnTo>
                  <a:close/>
                </a:path>
              </a:pathLst>
            </a:custGeom>
            <a:solidFill>
              <a:srgbClr val="FFFFFF"/>
            </a:solidFill>
            <a:ln w="11566" cap="flat">
              <a:solidFill>
                <a:srgbClr val="28608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5" name="Freeform 364">
              <a:extLst>
                <a:ext uri="{FF2B5EF4-FFF2-40B4-BE49-F238E27FC236}">
                  <a16:creationId xmlns:a16="http://schemas.microsoft.com/office/drawing/2014/main" id="{88CE4CB5-69BD-F7D7-DE80-572BAC7A83AD}"/>
                </a:ext>
              </a:extLst>
            </p:cNvPr>
            <p:cNvSpPr/>
            <p:nvPr/>
          </p:nvSpPr>
          <p:spPr>
            <a:xfrm>
              <a:off x="7566128" y="1464838"/>
              <a:ext cx="7422" cy="216060"/>
            </a:xfrm>
            <a:custGeom>
              <a:avLst/>
              <a:gdLst>
                <a:gd name="csX0" fmla="*/ 3711 w 7422"/>
                <a:gd name="csY0" fmla="*/ 0 h 216060"/>
                <a:gd name="csX1" fmla="*/ 3711 w 7422"/>
                <a:gd name="csY1" fmla="*/ 216060 h 2160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422" h="216060">
                  <a:moveTo>
                    <a:pt x="3711" y="0"/>
                  </a:moveTo>
                  <a:cubicBezTo>
                    <a:pt x="16567" y="72020"/>
                    <a:pt x="-9145" y="149185"/>
                    <a:pt x="3711" y="216060"/>
                  </a:cubicBezTo>
                </a:path>
              </a:pathLst>
            </a:custGeom>
            <a:noFill/>
            <a:ln w="9831" cap="rnd">
              <a:solidFill>
                <a:srgbClr val="3E86C0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6" name="Freeform 365">
              <a:extLst>
                <a:ext uri="{FF2B5EF4-FFF2-40B4-BE49-F238E27FC236}">
                  <a16:creationId xmlns:a16="http://schemas.microsoft.com/office/drawing/2014/main" id="{D28C125C-31B3-431F-48B4-51C629D3A747}"/>
                </a:ext>
              </a:extLst>
            </p:cNvPr>
            <p:cNvSpPr/>
            <p:nvPr/>
          </p:nvSpPr>
          <p:spPr>
            <a:xfrm>
              <a:off x="7469563" y="1523997"/>
              <a:ext cx="77135" cy="23149"/>
            </a:xfrm>
            <a:custGeom>
              <a:avLst/>
              <a:gdLst>
                <a:gd name="csX0" fmla="*/ 0 w 77135"/>
                <a:gd name="csY0" fmla="*/ 10289 h 23149"/>
                <a:gd name="csX1" fmla="*/ 38568 w 77135"/>
                <a:gd name="csY1" fmla="*/ 10289 h 23149"/>
                <a:gd name="csX2" fmla="*/ 77135 w 77135"/>
                <a:gd name="csY2" fmla="*/ 18519 h 231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7135" h="23149">
                  <a:moveTo>
                    <a:pt x="0" y="10289"/>
                  </a:moveTo>
                  <a:cubicBezTo>
                    <a:pt x="25712" y="-3429"/>
                    <a:pt x="38568" y="-3430"/>
                    <a:pt x="38568" y="10289"/>
                  </a:cubicBezTo>
                  <a:cubicBezTo>
                    <a:pt x="38568" y="24007"/>
                    <a:pt x="51424" y="26750"/>
                    <a:pt x="77135" y="18519"/>
                  </a:cubicBezTo>
                </a:path>
              </a:pathLst>
            </a:custGeom>
            <a:noFill/>
            <a:ln w="8674" cap="rnd">
              <a:solidFill>
                <a:srgbClr val="3E86C0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7" name="Freeform 366">
              <a:extLst>
                <a:ext uri="{FF2B5EF4-FFF2-40B4-BE49-F238E27FC236}">
                  <a16:creationId xmlns:a16="http://schemas.microsoft.com/office/drawing/2014/main" id="{3D5D16CE-1D43-B8D0-14DD-CAF9279E4AD4}"/>
                </a:ext>
              </a:extLst>
            </p:cNvPr>
            <p:cNvSpPr/>
            <p:nvPr/>
          </p:nvSpPr>
          <p:spPr>
            <a:xfrm>
              <a:off x="7477277" y="1594731"/>
              <a:ext cx="66850" cy="20255"/>
            </a:xfrm>
            <a:custGeom>
              <a:avLst/>
              <a:gdLst>
                <a:gd name="csX0" fmla="*/ 0 w 66850"/>
                <a:gd name="csY0" fmla="*/ 9002 h 20255"/>
                <a:gd name="csX1" fmla="*/ 33426 w 66850"/>
                <a:gd name="csY1" fmla="*/ 9002 h 20255"/>
                <a:gd name="csX2" fmla="*/ 66851 w 66850"/>
                <a:gd name="csY2" fmla="*/ 16205 h 202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6850" h="20255">
                  <a:moveTo>
                    <a:pt x="0" y="9002"/>
                  </a:moveTo>
                  <a:cubicBezTo>
                    <a:pt x="22284" y="-3001"/>
                    <a:pt x="33426" y="-3001"/>
                    <a:pt x="33426" y="9002"/>
                  </a:cubicBezTo>
                  <a:cubicBezTo>
                    <a:pt x="33426" y="21006"/>
                    <a:pt x="44567" y="23407"/>
                    <a:pt x="66851" y="16205"/>
                  </a:cubicBezTo>
                </a:path>
              </a:pathLst>
            </a:custGeom>
            <a:noFill/>
            <a:ln w="8674" cap="rnd">
              <a:solidFill>
                <a:srgbClr val="3E86C0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" name="Freeform 367">
              <a:extLst>
                <a:ext uri="{FF2B5EF4-FFF2-40B4-BE49-F238E27FC236}">
                  <a16:creationId xmlns:a16="http://schemas.microsoft.com/office/drawing/2014/main" id="{7FBC3A25-36EE-3C0C-BCCE-7A2025A4A3EB}"/>
                </a:ext>
              </a:extLst>
            </p:cNvPr>
            <p:cNvSpPr/>
            <p:nvPr/>
          </p:nvSpPr>
          <p:spPr>
            <a:xfrm>
              <a:off x="7592980" y="1526570"/>
              <a:ext cx="77135" cy="23149"/>
            </a:xfrm>
            <a:custGeom>
              <a:avLst/>
              <a:gdLst>
                <a:gd name="csX0" fmla="*/ 0 w 77135"/>
                <a:gd name="csY0" fmla="*/ 10289 h 23149"/>
                <a:gd name="csX1" fmla="*/ 38568 w 77135"/>
                <a:gd name="csY1" fmla="*/ 10289 h 23149"/>
                <a:gd name="csX2" fmla="*/ 77135 w 77135"/>
                <a:gd name="csY2" fmla="*/ 18519 h 231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7135" h="23149">
                  <a:moveTo>
                    <a:pt x="0" y="10289"/>
                  </a:moveTo>
                  <a:cubicBezTo>
                    <a:pt x="25712" y="-3430"/>
                    <a:pt x="38568" y="-3430"/>
                    <a:pt x="38568" y="10289"/>
                  </a:cubicBezTo>
                  <a:cubicBezTo>
                    <a:pt x="38568" y="24007"/>
                    <a:pt x="51424" y="26750"/>
                    <a:pt x="77135" y="18519"/>
                  </a:cubicBezTo>
                </a:path>
              </a:pathLst>
            </a:custGeom>
            <a:noFill/>
            <a:ln w="8674" cap="rnd">
              <a:solidFill>
                <a:srgbClr val="3E86C0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9" name="Freeform 368">
              <a:extLst>
                <a:ext uri="{FF2B5EF4-FFF2-40B4-BE49-F238E27FC236}">
                  <a16:creationId xmlns:a16="http://schemas.microsoft.com/office/drawing/2014/main" id="{A93CB210-9529-1F87-DBEA-B21A580F0921}"/>
                </a:ext>
              </a:extLst>
            </p:cNvPr>
            <p:cNvSpPr/>
            <p:nvPr/>
          </p:nvSpPr>
          <p:spPr>
            <a:xfrm>
              <a:off x="7595551" y="1597304"/>
              <a:ext cx="66850" cy="20255"/>
            </a:xfrm>
            <a:custGeom>
              <a:avLst/>
              <a:gdLst>
                <a:gd name="csX0" fmla="*/ 0 w 66850"/>
                <a:gd name="csY0" fmla="*/ 9003 h 20255"/>
                <a:gd name="csX1" fmla="*/ 33425 w 66850"/>
                <a:gd name="csY1" fmla="*/ 9003 h 20255"/>
                <a:gd name="csX2" fmla="*/ 66851 w 66850"/>
                <a:gd name="csY2" fmla="*/ 16205 h 202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6850" h="20255">
                  <a:moveTo>
                    <a:pt x="0" y="9003"/>
                  </a:moveTo>
                  <a:cubicBezTo>
                    <a:pt x="22284" y="-3001"/>
                    <a:pt x="33425" y="-3001"/>
                    <a:pt x="33425" y="9003"/>
                  </a:cubicBezTo>
                  <a:cubicBezTo>
                    <a:pt x="33425" y="21006"/>
                    <a:pt x="44567" y="23406"/>
                    <a:pt x="66851" y="16205"/>
                  </a:cubicBezTo>
                </a:path>
              </a:pathLst>
            </a:custGeom>
            <a:noFill/>
            <a:ln w="8674" cap="rnd">
              <a:solidFill>
                <a:srgbClr val="3E86C0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0" name="TextBox 369">
            <a:extLst>
              <a:ext uri="{FF2B5EF4-FFF2-40B4-BE49-F238E27FC236}">
                <a16:creationId xmlns:a16="http://schemas.microsoft.com/office/drawing/2014/main" id="{13684CD8-DE2E-83B2-262F-B967FF3CC860}"/>
              </a:ext>
            </a:extLst>
          </p:cNvPr>
          <p:cNvSpPr txBox="1"/>
          <p:nvPr/>
        </p:nvSpPr>
        <p:spPr>
          <a:xfrm>
            <a:off x="7671238" y="1397415"/>
            <a:ext cx="1131715" cy="221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75" b="1" spc="0" baseline="0">
                <a:ln/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Cognitive &amp; Social</a:t>
            </a:r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5F38475B-EA22-CEB6-1CC5-33AA077B31E3}"/>
              </a:ext>
            </a:extLst>
          </p:cNvPr>
          <p:cNvSpPr txBox="1"/>
          <p:nvPr/>
        </p:nvSpPr>
        <p:spPr>
          <a:xfrm>
            <a:off x="7671238" y="1565576"/>
            <a:ext cx="604347" cy="1813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spc="0" baseline="0">
                <a:ln/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6 signatures</a:t>
            </a:r>
          </a:p>
        </p:txBody>
      </p:sp>
      <p:sp>
        <p:nvSpPr>
          <p:cNvPr id="372" name="Freeform 371">
            <a:extLst>
              <a:ext uri="{FF2B5EF4-FFF2-40B4-BE49-F238E27FC236}">
                <a16:creationId xmlns:a16="http://schemas.microsoft.com/office/drawing/2014/main" id="{E916FB27-BA8B-FA95-5781-98CCA48C0343}"/>
              </a:ext>
            </a:extLst>
          </p:cNvPr>
          <p:cNvSpPr/>
          <p:nvPr/>
        </p:nvSpPr>
        <p:spPr>
          <a:xfrm>
            <a:off x="7479848" y="1800503"/>
            <a:ext cx="6427" cy="2726477"/>
          </a:xfrm>
          <a:custGeom>
            <a:avLst/>
            <a:gdLst>
              <a:gd name="csX0" fmla="*/ 0 w 6427"/>
              <a:gd name="csY0" fmla="*/ 0 h 2726477"/>
              <a:gd name="csX1" fmla="*/ 0 w 6427"/>
              <a:gd name="csY1" fmla="*/ 2726477 h 272647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27" h="2726477">
                <a:moveTo>
                  <a:pt x="0" y="0"/>
                </a:moveTo>
                <a:lnTo>
                  <a:pt x="0" y="2726477"/>
                </a:lnTo>
              </a:path>
            </a:pathLst>
          </a:custGeom>
          <a:ln w="16063" cap="flat">
            <a:solidFill>
              <a:srgbClr val="3E86C0">
                <a:alpha val="45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73" name="Oval 372">
            <a:extLst>
              <a:ext uri="{FF2B5EF4-FFF2-40B4-BE49-F238E27FC236}">
                <a16:creationId xmlns:a16="http://schemas.microsoft.com/office/drawing/2014/main" id="{DDAD3772-23ED-8791-CDE2-83EB6C02DFA2}"/>
              </a:ext>
            </a:extLst>
          </p:cNvPr>
          <p:cNvSpPr/>
          <p:nvPr/>
        </p:nvSpPr>
        <p:spPr>
          <a:xfrm>
            <a:off x="7447708" y="2025566"/>
            <a:ext cx="64279" cy="64303"/>
          </a:xfrm>
          <a:prstGeom prst="ellipse">
            <a:avLst/>
          </a:prstGeom>
          <a:solidFill>
            <a:srgbClr val="3E86C0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74" name="TextBox 373">
            <a:extLst>
              <a:ext uri="{FF2B5EF4-FFF2-40B4-BE49-F238E27FC236}">
                <a16:creationId xmlns:a16="http://schemas.microsoft.com/office/drawing/2014/main" id="{8D52E6DF-782D-17F6-676F-776D2D4DED6B}"/>
              </a:ext>
            </a:extLst>
          </p:cNvPr>
          <p:cNvSpPr txBox="1"/>
          <p:nvPr/>
        </p:nvSpPr>
        <p:spPr>
          <a:xfrm>
            <a:off x="7491255" y="1965780"/>
            <a:ext cx="1171980" cy="187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b="1" spc="30" baseline="0">
                <a:ln/>
                <a:solidFill>
                  <a:srgbClr val="28608F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ATTENTION &amp; CONTROL</a:t>
            </a:r>
          </a:p>
        </p:txBody>
      </p:sp>
      <p:sp>
        <p:nvSpPr>
          <p:cNvPr id="375" name="Freeform 374">
            <a:extLst>
              <a:ext uri="{FF2B5EF4-FFF2-40B4-BE49-F238E27FC236}">
                <a16:creationId xmlns:a16="http://schemas.microsoft.com/office/drawing/2014/main" id="{0AD75D69-87CE-1250-9948-7D11CE5CE306}"/>
              </a:ext>
            </a:extLst>
          </p:cNvPr>
          <p:cNvSpPr/>
          <p:nvPr/>
        </p:nvSpPr>
        <p:spPr>
          <a:xfrm>
            <a:off x="7479848" y="2089870"/>
            <a:ext cx="128558" cy="263645"/>
          </a:xfrm>
          <a:custGeom>
            <a:avLst/>
            <a:gdLst>
              <a:gd name="csX0" fmla="*/ 0 w 128558"/>
              <a:gd name="csY0" fmla="*/ 0 h 263645"/>
              <a:gd name="csX1" fmla="*/ 128559 w 128558"/>
              <a:gd name="csY1" fmla="*/ 263645 h 26364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8558" h="263645">
                <a:moveTo>
                  <a:pt x="0" y="0"/>
                </a:moveTo>
                <a:cubicBezTo>
                  <a:pt x="0" y="263645"/>
                  <a:pt x="64279" y="263645"/>
                  <a:pt x="128559" y="263645"/>
                </a:cubicBezTo>
              </a:path>
            </a:pathLst>
          </a:custGeom>
          <a:noFill/>
          <a:ln w="12851" cap="flat">
            <a:solidFill>
              <a:srgbClr val="3E86C0">
                <a:alpha val="4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76" name="Rounded Rectangle 375">
            <a:extLst>
              <a:ext uri="{FF2B5EF4-FFF2-40B4-BE49-F238E27FC236}">
                <a16:creationId xmlns:a16="http://schemas.microsoft.com/office/drawing/2014/main" id="{37E139DF-0ED2-BEAF-CAE3-06ECA01924A4}"/>
              </a:ext>
            </a:extLst>
          </p:cNvPr>
          <p:cNvSpPr/>
          <p:nvPr/>
        </p:nvSpPr>
        <p:spPr>
          <a:xfrm>
            <a:off x="7608407" y="2199186"/>
            <a:ext cx="1722690" cy="308657"/>
          </a:xfrm>
          <a:prstGeom prst="roundRect">
            <a:avLst>
              <a:gd name="adj" fmla="val 24990"/>
            </a:avLst>
          </a:prstGeom>
          <a:solidFill>
            <a:srgbClr val="FFFFFF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77" name="Rounded Rectangle 376">
            <a:extLst>
              <a:ext uri="{FF2B5EF4-FFF2-40B4-BE49-F238E27FC236}">
                <a16:creationId xmlns:a16="http://schemas.microsoft.com/office/drawing/2014/main" id="{98B7F956-9A03-28D4-E9EB-2279D4F518FE}"/>
              </a:ext>
            </a:extLst>
          </p:cNvPr>
          <p:cNvSpPr/>
          <p:nvPr/>
        </p:nvSpPr>
        <p:spPr>
          <a:xfrm>
            <a:off x="7608407" y="2199186"/>
            <a:ext cx="32139" cy="308657"/>
          </a:xfrm>
          <a:prstGeom prst="roundRect">
            <a:avLst>
              <a:gd name="adj" fmla="val 50000"/>
            </a:avLst>
          </a:prstGeom>
          <a:solidFill>
            <a:srgbClr val="3E86C0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78" name="Oval 377">
            <a:extLst>
              <a:ext uri="{FF2B5EF4-FFF2-40B4-BE49-F238E27FC236}">
                <a16:creationId xmlns:a16="http://schemas.microsoft.com/office/drawing/2014/main" id="{D460197C-87EB-9673-915E-B68E99A70F44}"/>
              </a:ext>
            </a:extLst>
          </p:cNvPr>
          <p:cNvSpPr/>
          <p:nvPr/>
        </p:nvSpPr>
        <p:spPr>
          <a:xfrm>
            <a:off x="7679114" y="2257060"/>
            <a:ext cx="192838" cy="192911"/>
          </a:xfrm>
          <a:prstGeom prst="ellipse">
            <a:avLst/>
          </a:prstGeom>
          <a:solidFill>
            <a:srgbClr val="E5EFF8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379" name="Graphic 2">
            <a:extLst>
              <a:ext uri="{FF2B5EF4-FFF2-40B4-BE49-F238E27FC236}">
                <a16:creationId xmlns:a16="http://schemas.microsoft.com/office/drawing/2014/main" id="{3876AD8E-5547-58BF-F2AF-FA26C7BCAB58}"/>
              </a:ext>
            </a:extLst>
          </p:cNvPr>
          <p:cNvGrpSpPr/>
          <p:nvPr/>
        </p:nvGrpSpPr>
        <p:grpSpPr>
          <a:xfrm>
            <a:off x="7700263" y="2288761"/>
            <a:ext cx="156391" cy="131501"/>
            <a:chOff x="7700263" y="2288761"/>
            <a:chExt cx="156391" cy="131501"/>
          </a:xfrm>
        </p:grpSpPr>
        <p:sp>
          <p:nvSpPr>
            <p:cNvPr id="380" name="Freeform 379">
              <a:extLst>
                <a:ext uri="{FF2B5EF4-FFF2-40B4-BE49-F238E27FC236}">
                  <a16:creationId xmlns:a16="http://schemas.microsoft.com/office/drawing/2014/main" id="{65445A16-88FC-56F4-D872-337B596CFCF3}"/>
                </a:ext>
              </a:extLst>
            </p:cNvPr>
            <p:cNvSpPr/>
            <p:nvPr/>
          </p:nvSpPr>
          <p:spPr>
            <a:xfrm>
              <a:off x="7700263" y="2288761"/>
              <a:ext cx="156391" cy="131501"/>
            </a:xfrm>
            <a:custGeom>
              <a:avLst/>
              <a:gdLst>
                <a:gd name="csX0" fmla="*/ 152792 w 156391"/>
                <a:gd name="csY0" fmla="*/ 64754 h 131501"/>
                <a:gd name="csX1" fmla="*/ 155171 w 156391"/>
                <a:gd name="csY1" fmla="*/ 58709 h 131501"/>
                <a:gd name="csX2" fmla="*/ 156392 w 156391"/>
                <a:gd name="csY2" fmla="*/ 52343 h 131501"/>
                <a:gd name="csX3" fmla="*/ 156199 w 156391"/>
                <a:gd name="csY3" fmla="*/ 45913 h 131501"/>
                <a:gd name="csX4" fmla="*/ 154399 w 156391"/>
                <a:gd name="csY4" fmla="*/ 39740 h 131501"/>
                <a:gd name="csX5" fmla="*/ 151121 w 156391"/>
                <a:gd name="csY5" fmla="*/ 34081 h 131501"/>
                <a:gd name="csX6" fmla="*/ 146557 w 156391"/>
                <a:gd name="csY6" fmla="*/ 29001 h 131501"/>
                <a:gd name="csX7" fmla="*/ 141029 w 156391"/>
                <a:gd name="csY7" fmla="*/ 24757 h 131501"/>
                <a:gd name="csX8" fmla="*/ 134987 w 156391"/>
                <a:gd name="csY8" fmla="*/ 21220 h 131501"/>
                <a:gd name="csX9" fmla="*/ 128751 w 156391"/>
                <a:gd name="csY9" fmla="*/ 18327 h 131501"/>
                <a:gd name="csX10" fmla="*/ 122645 w 156391"/>
                <a:gd name="csY10" fmla="*/ 15754 h 131501"/>
                <a:gd name="csX11" fmla="*/ 116667 w 156391"/>
                <a:gd name="csY11" fmla="*/ 13375 h 131501"/>
                <a:gd name="csX12" fmla="*/ 111011 w 156391"/>
                <a:gd name="csY12" fmla="*/ 11060 h 131501"/>
                <a:gd name="csX13" fmla="*/ 105418 w 156391"/>
                <a:gd name="csY13" fmla="*/ 8617 h 131501"/>
                <a:gd name="csX14" fmla="*/ 99825 w 156391"/>
                <a:gd name="csY14" fmla="*/ 6237 h 131501"/>
                <a:gd name="csX15" fmla="*/ 94041 w 156391"/>
                <a:gd name="csY15" fmla="*/ 3923 h 131501"/>
                <a:gd name="csX16" fmla="*/ 87998 w 156391"/>
                <a:gd name="csY16" fmla="*/ 1993 h 131501"/>
                <a:gd name="csX17" fmla="*/ 81763 w 156391"/>
                <a:gd name="csY17" fmla="*/ 643 h 131501"/>
                <a:gd name="csX18" fmla="*/ 75271 w 156391"/>
                <a:gd name="csY18" fmla="*/ 0 h 131501"/>
                <a:gd name="csX19" fmla="*/ 68779 w 156391"/>
                <a:gd name="csY19" fmla="*/ 129 h 131501"/>
                <a:gd name="csX20" fmla="*/ 62351 w 156391"/>
                <a:gd name="csY20" fmla="*/ 1157 h 131501"/>
                <a:gd name="csX21" fmla="*/ 56180 w 156391"/>
                <a:gd name="csY21" fmla="*/ 2829 h 131501"/>
                <a:gd name="csX22" fmla="*/ 50202 w 156391"/>
                <a:gd name="csY22" fmla="*/ 4952 h 131501"/>
                <a:gd name="csX23" fmla="*/ 44481 w 156391"/>
                <a:gd name="csY23" fmla="*/ 7459 h 131501"/>
                <a:gd name="csX24" fmla="*/ 38953 w 156391"/>
                <a:gd name="csY24" fmla="*/ 10160 h 131501"/>
                <a:gd name="csX25" fmla="*/ 33489 w 156391"/>
                <a:gd name="csY25" fmla="*/ 12925 h 131501"/>
                <a:gd name="csX26" fmla="*/ 27961 w 156391"/>
                <a:gd name="csY26" fmla="*/ 15819 h 131501"/>
                <a:gd name="csX27" fmla="*/ 22433 w 156391"/>
                <a:gd name="csY27" fmla="*/ 18841 h 131501"/>
                <a:gd name="csX28" fmla="*/ 16970 w 156391"/>
                <a:gd name="csY28" fmla="*/ 22313 h 131501"/>
                <a:gd name="csX29" fmla="*/ 11892 w 156391"/>
                <a:gd name="csY29" fmla="*/ 26236 h 131501"/>
                <a:gd name="csX30" fmla="*/ 7392 w 156391"/>
                <a:gd name="csY30" fmla="*/ 30737 h 131501"/>
                <a:gd name="csX31" fmla="*/ 3728 w 156391"/>
                <a:gd name="csY31" fmla="*/ 35817 h 131501"/>
                <a:gd name="csX32" fmla="*/ 1221 w 156391"/>
                <a:gd name="csY32" fmla="*/ 41347 h 131501"/>
                <a:gd name="csX33" fmla="*/ 0 w 156391"/>
                <a:gd name="csY33" fmla="*/ 47263 h 131501"/>
                <a:gd name="csX34" fmla="*/ 0 w 156391"/>
                <a:gd name="csY34" fmla="*/ 53243 h 131501"/>
                <a:gd name="csX35" fmla="*/ 1092 w 156391"/>
                <a:gd name="csY35" fmla="*/ 59095 h 131501"/>
                <a:gd name="csX36" fmla="*/ 2892 w 156391"/>
                <a:gd name="csY36" fmla="*/ 64754 h 131501"/>
                <a:gd name="csX37" fmla="*/ 5013 w 156391"/>
                <a:gd name="csY37" fmla="*/ 70091 h 131501"/>
                <a:gd name="csX38" fmla="*/ 7264 w 156391"/>
                <a:gd name="csY38" fmla="*/ 75171 h 131501"/>
                <a:gd name="csX39" fmla="*/ 9192 w 156391"/>
                <a:gd name="csY39" fmla="*/ 80123 h 131501"/>
                <a:gd name="csX40" fmla="*/ 10799 w 156391"/>
                <a:gd name="csY40" fmla="*/ 85138 h 131501"/>
                <a:gd name="csX41" fmla="*/ 12149 w 156391"/>
                <a:gd name="csY41" fmla="*/ 90347 h 131501"/>
                <a:gd name="csX42" fmla="*/ 13370 w 156391"/>
                <a:gd name="csY42" fmla="*/ 95812 h 131501"/>
                <a:gd name="csX43" fmla="*/ 14784 w 156391"/>
                <a:gd name="csY43" fmla="*/ 101536 h 131501"/>
                <a:gd name="csX44" fmla="*/ 16777 w 156391"/>
                <a:gd name="csY44" fmla="*/ 107387 h 131501"/>
                <a:gd name="csX45" fmla="*/ 19605 w 156391"/>
                <a:gd name="csY45" fmla="*/ 113110 h 131501"/>
                <a:gd name="csX46" fmla="*/ 23398 w 156391"/>
                <a:gd name="csY46" fmla="*/ 118383 h 131501"/>
                <a:gd name="csX47" fmla="*/ 28282 w 156391"/>
                <a:gd name="csY47" fmla="*/ 123013 h 131501"/>
                <a:gd name="csX48" fmla="*/ 34068 w 156391"/>
                <a:gd name="csY48" fmla="*/ 126678 h 131501"/>
                <a:gd name="csX49" fmla="*/ 40624 w 156391"/>
                <a:gd name="csY49" fmla="*/ 129315 h 131501"/>
                <a:gd name="csX50" fmla="*/ 47566 w 156391"/>
                <a:gd name="csY50" fmla="*/ 130858 h 131501"/>
                <a:gd name="csX51" fmla="*/ 54638 w 156391"/>
                <a:gd name="csY51" fmla="*/ 131501 h 131501"/>
                <a:gd name="csX52" fmla="*/ 61708 w 156391"/>
                <a:gd name="csY52" fmla="*/ 131501 h 131501"/>
                <a:gd name="csX53" fmla="*/ 68586 w 156391"/>
                <a:gd name="csY53" fmla="*/ 130922 h 131501"/>
                <a:gd name="csX54" fmla="*/ 75271 w 156391"/>
                <a:gd name="csY54" fmla="*/ 130151 h 131501"/>
                <a:gd name="csX55" fmla="*/ 81763 w 156391"/>
                <a:gd name="csY55" fmla="*/ 129122 h 131501"/>
                <a:gd name="csX56" fmla="*/ 88127 w 156391"/>
                <a:gd name="csY56" fmla="*/ 127964 h 131501"/>
                <a:gd name="csX57" fmla="*/ 94362 w 156391"/>
                <a:gd name="csY57" fmla="*/ 126614 h 131501"/>
                <a:gd name="csX58" fmla="*/ 100469 w 156391"/>
                <a:gd name="csY58" fmla="*/ 124942 h 131501"/>
                <a:gd name="csX59" fmla="*/ 106382 w 156391"/>
                <a:gd name="csY59" fmla="*/ 122756 h 131501"/>
                <a:gd name="csX60" fmla="*/ 111974 w 156391"/>
                <a:gd name="csY60" fmla="*/ 119926 h 131501"/>
                <a:gd name="csX61" fmla="*/ 116988 w 156391"/>
                <a:gd name="csY61" fmla="*/ 116518 h 131501"/>
                <a:gd name="csX62" fmla="*/ 121424 w 156391"/>
                <a:gd name="csY62" fmla="*/ 112531 h 131501"/>
                <a:gd name="csX63" fmla="*/ 125216 w 156391"/>
                <a:gd name="csY63" fmla="*/ 108159 h 131501"/>
                <a:gd name="csX64" fmla="*/ 128430 w 156391"/>
                <a:gd name="csY64" fmla="*/ 103465 h 131501"/>
                <a:gd name="csX65" fmla="*/ 131194 w 156391"/>
                <a:gd name="csY65" fmla="*/ 98771 h 131501"/>
                <a:gd name="csX66" fmla="*/ 133830 w 156391"/>
                <a:gd name="csY66" fmla="*/ 94076 h 131501"/>
                <a:gd name="csX67" fmla="*/ 136465 w 156391"/>
                <a:gd name="csY67" fmla="*/ 89511 h 131501"/>
                <a:gd name="csX68" fmla="*/ 139422 w 156391"/>
                <a:gd name="csY68" fmla="*/ 85010 h 131501"/>
                <a:gd name="csX69" fmla="*/ 142636 w 156391"/>
                <a:gd name="csY69" fmla="*/ 80444 h 131501"/>
                <a:gd name="csX70" fmla="*/ 146107 w 156391"/>
                <a:gd name="csY70" fmla="*/ 75621 h 131501"/>
                <a:gd name="csX71" fmla="*/ 149642 w 156391"/>
                <a:gd name="csY71" fmla="*/ 70413 h 131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156391" h="131501">
                  <a:moveTo>
                    <a:pt x="152792" y="64754"/>
                  </a:moveTo>
                  <a:lnTo>
                    <a:pt x="155171" y="58709"/>
                  </a:lnTo>
                  <a:lnTo>
                    <a:pt x="156392" y="52343"/>
                  </a:lnTo>
                  <a:lnTo>
                    <a:pt x="156199" y="45913"/>
                  </a:lnTo>
                  <a:lnTo>
                    <a:pt x="154399" y="39740"/>
                  </a:lnTo>
                  <a:lnTo>
                    <a:pt x="151121" y="34081"/>
                  </a:lnTo>
                  <a:lnTo>
                    <a:pt x="146557" y="29001"/>
                  </a:lnTo>
                  <a:lnTo>
                    <a:pt x="141029" y="24757"/>
                  </a:lnTo>
                  <a:lnTo>
                    <a:pt x="134987" y="21220"/>
                  </a:lnTo>
                  <a:lnTo>
                    <a:pt x="128751" y="18327"/>
                  </a:lnTo>
                  <a:lnTo>
                    <a:pt x="122645" y="15754"/>
                  </a:lnTo>
                  <a:lnTo>
                    <a:pt x="116667" y="13375"/>
                  </a:lnTo>
                  <a:lnTo>
                    <a:pt x="111011" y="11060"/>
                  </a:lnTo>
                  <a:lnTo>
                    <a:pt x="105418" y="8617"/>
                  </a:lnTo>
                  <a:lnTo>
                    <a:pt x="99825" y="6237"/>
                  </a:lnTo>
                  <a:lnTo>
                    <a:pt x="94041" y="3923"/>
                  </a:lnTo>
                  <a:lnTo>
                    <a:pt x="87998" y="1993"/>
                  </a:lnTo>
                  <a:lnTo>
                    <a:pt x="81763" y="643"/>
                  </a:lnTo>
                  <a:lnTo>
                    <a:pt x="75271" y="0"/>
                  </a:lnTo>
                  <a:lnTo>
                    <a:pt x="68779" y="129"/>
                  </a:lnTo>
                  <a:lnTo>
                    <a:pt x="62351" y="1157"/>
                  </a:lnTo>
                  <a:lnTo>
                    <a:pt x="56180" y="2829"/>
                  </a:lnTo>
                  <a:lnTo>
                    <a:pt x="50202" y="4952"/>
                  </a:lnTo>
                  <a:lnTo>
                    <a:pt x="44481" y="7459"/>
                  </a:lnTo>
                  <a:lnTo>
                    <a:pt x="38953" y="10160"/>
                  </a:lnTo>
                  <a:lnTo>
                    <a:pt x="33489" y="12925"/>
                  </a:lnTo>
                  <a:lnTo>
                    <a:pt x="27961" y="15819"/>
                  </a:lnTo>
                  <a:lnTo>
                    <a:pt x="22433" y="18841"/>
                  </a:lnTo>
                  <a:lnTo>
                    <a:pt x="16970" y="22313"/>
                  </a:lnTo>
                  <a:lnTo>
                    <a:pt x="11892" y="26236"/>
                  </a:lnTo>
                  <a:lnTo>
                    <a:pt x="7392" y="30737"/>
                  </a:lnTo>
                  <a:lnTo>
                    <a:pt x="3728" y="35817"/>
                  </a:lnTo>
                  <a:lnTo>
                    <a:pt x="1221" y="41347"/>
                  </a:lnTo>
                  <a:lnTo>
                    <a:pt x="0" y="47263"/>
                  </a:lnTo>
                  <a:lnTo>
                    <a:pt x="0" y="53243"/>
                  </a:lnTo>
                  <a:lnTo>
                    <a:pt x="1092" y="59095"/>
                  </a:lnTo>
                  <a:lnTo>
                    <a:pt x="2892" y="64754"/>
                  </a:lnTo>
                  <a:lnTo>
                    <a:pt x="5013" y="70091"/>
                  </a:lnTo>
                  <a:lnTo>
                    <a:pt x="7264" y="75171"/>
                  </a:lnTo>
                  <a:lnTo>
                    <a:pt x="9192" y="80123"/>
                  </a:lnTo>
                  <a:lnTo>
                    <a:pt x="10799" y="85138"/>
                  </a:lnTo>
                  <a:lnTo>
                    <a:pt x="12149" y="90347"/>
                  </a:lnTo>
                  <a:lnTo>
                    <a:pt x="13370" y="95812"/>
                  </a:lnTo>
                  <a:lnTo>
                    <a:pt x="14784" y="101536"/>
                  </a:lnTo>
                  <a:lnTo>
                    <a:pt x="16777" y="107387"/>
                  </a:lnTo>
                  <a:lnTo>
                    <a:pt x="19605" y="113110"/>
                  </a:lnTo>
                  <a:lnTo>
                    <a:pt x="23398" y="118383"/>
                  </a:lnTo>
                  <a:lnTo>
                    <a:pt x="28282" y="123013"/>
                  </a:lnTo>
                  <a:lnTo>
                    <a:pt x="34068" y="126678"/>
                  </a:lnTo>
                  <a:lnTo>
                    <a:pt x="40624" y="129315"/>
                  </a:lnTo>
                  <a:lnTo>
                    <a:pt x="47566" y="130858"/>
                  </a:lnTo>
                  <a:lnTo>
                    <a:pt x="54638" y="131501"/>
                  </a:lnTo>
                  <a:lnTo>
                    <a:pt x="61708" y="131501"/>
                  </a:lnTo>
                  <a:lnTo>
                    <a:pt x="68586" y="130922"/>
                  </a:lnTo>
                  <a:lnTo>
                    <a:pt x="75271" y="130151"/>
                  </a:lnTo>
                  <a:lnTo>
                    <a:pt x="81763" y="129122"/>
                  </a:lnTo>
                  <a:lnTo>
                    <a:pt x="88127" y="127964"/>
                  </a:lnTo>
                  <a:lnTo>
                    <a:pt x="94362" y="126614"/>
                  </a:lnTo>
                  <a:lnTo>
                    <a:pt x="100469" y="124942"/>
                  </a:lnTo>
                  <a:lnTo>
                    <a:pt x="106382" y="122756"/>
                  </a:lnTo>
                  <a:lnTo>
                    <a:pt x="111974" y="119926"/>
                  </a:lnTo>
                  <a:lnTo>
                    <a:pt x="116988" y="116518"/>
                  </a:lnTo>
                  <a:lnTo>
                    <a:pt x="121424" y="112531"/>
                  </a:lnTo>
                  <a:lnTo>
                    <a:pt x="125216" y="108159"/>
                  </a:lnTo>
                  <a:lnTo>
                    <a:pt x="128430" y="103465"/>
                  </a:lnTo>
                  <a:lnTo>
                    <a:pt x="131194" y="98771"/>
                  </a:lnTo>
                  <a:lnTo>
                    <a:pt x="133830" y="94076"/>
                  </a:lnTo>
                  <a:lnTo>
                    <a:pt x="136465" y="89511"/>
                  </a:lnTo>
                  <a:lnTo>
                    <a:pt x="139422" y="85010"/>
                  </a:lnTo>
                  <a:lnTo>
                    <a:pt x="142636" y="80444"/>
                  </a:lnTo>
                  <a:lnTo>
                    <a:pt x="146107" y="75621"/>
                  </a:lnTo>
                  <a:lnTo>
                    <a:pt x="149642" y="70413"/>
                  </a:lnTo>
                  <a:close/>
                </a:path>
              </a:pathLst>
            </a:custGeom>
            <a:solidFill>
              <a:srgbClr val="3E86C0"/>
            </a:solidFill>
            <a:ln w="6425" cap="flat">
              <a:solidFill>
                <a:srgbClr val="28608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1" name="Freeform 380">
              <a:extLst>
                <a:ext uri="{FF2B5EF4-FFF2-40B4-BE49-F238E27FC236}">
                  <a16:creationId xmlns:a16="http://schemas.microsoft.com/office/drawing/2014/main" id="{E40984D5-D043-08C3-061F-CD74191EFAC9}"/>
                </a:ext>
              </a:extLst>
            </p:cNvPr>
            <p:cNvSpPr/>
            <p:nvPr/>
          </p:nvSpPr>
          <p:spPr>
            <a:xfrm>
              <a:off x="7773492" y="2292684"/>
              <a:ext cx="4082" cy="118833"/>
            </a:xfrm>
            <a:custGeom>
              <a:avLst/>
              <a:gdLst>
                <a:gd name="csX0" fmla="*/ 2041 w 4082"/>
                <a:gd name="csY0" fmla="*/ 0 h 118833"/>
                <a:gd name="csX1" fmla="*/ 2041 w 4082"/>
                <a:gd name="csY1" fmla="*/ 118833 h 118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082" h="118833">
                  <a:moveTo>
                    <a:pt x="2041" y="0"/>
                  </a:moveTo>
                  <a:cubicBezTo>
                    <a:pt x="9112" y="39611"/>
                    <a:pt x="-5029" y="82051"/>
                    <a:pt x="2041" y="118833"/>
                  </a:cubicBezTo>
                </a:path>
              </a:pathLst>
            </a:custGeom>
            <a:noFill/>
            <a:ln w="5462" cap="rnd">
              <a:solidFill>
                <a:srgbClr val="FFFFFF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2" name="Freeform 381">
              <a:extLst>
                <a:ext uri="{FF2B5EF4-FFF2-40B4-BE49-F238E27FC236}">
                  <a16:creationId xmlns:a16="http://schemas.microsoft.com/office/drawing/2014/main" id="{C1FCBBE2-79FA-AD47-8672-2E3D6A5B2A6A}"/>
                </a:ext>
              </a:extLst>
            </p:cNvPr>
            <p:cNvSpPr/>
            <p:nvPr/>
          </p:nvSpPr>
          <p:spPr>
            <a:xfrm>
              <a:off x="7720382" y="2325222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1" y="-1886"/>
                    <a:pt x="21212" y="-1886"/>
                    <a:pt x="21212" y="5659"/>
                  </a:cubicBezTo>
                  <a:cubicBezTo>
                    <a:pt x="21212" y="13204"/>
                    <a:pt x="28282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3" name="Freeform 382">
              <a:extLst>
                <a:ext uri="{FF2B5EF4-FFF2-40B4-BE49-F238E27FC236}">
                  <a16:creationId xmlns:a16="http://schemas.microsoft.com/office/drawing/2014/main" id="{6BEAD640-1D3C-2002-1952-1A42ED1EDA66}"/>
                </a:ext>
              </a:extLst>
            </p:cNvPr>
            <p:cNvSpPr/>
            <p:nvPr/>
          </p:nvSpPr>
          <p:spPr>
            <a:xfrm>
              <a:off x="7724624" y="2364125"/>
              <a:ext cx="36768" cy="11150"/>
            </a:xfrm>
            <a:custGeom>
              <a:avLst/>
              <a:gdLst>
                <a:gd name="csX0" fmla="*/ 0 w 36768"/>
                <a:gd name="csY0" fmla="*/ 4951 h 11150"/>
                <a:gd name="csX1" fmla="*/ 18384 w 36768"/>
                <a:gd name="csY1" fmla="*/ 4951 h 11150"/>
                <a:gd name="csX2" fmla="*/ 36768 w 36768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8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4" name="Freeform 383">
              <a:extLst>
                <a:ext uri="{FF2B5EF4-FFF2-40B4-BE49-F238E27FC236}">
                  <a16:creationId xmlns:a16="http://schemas.microsoft.com/office/drawing/2014/main" id="{779250E7-7931-7C7D-6962-5E29135D0ADE}"/>
                </a:ext>
              </a:extLst>
            </p:cNvPr>
            <p:cNvSpPr/>
            <p:nvPr/>
          </p:nvSpPr>
          <p:spPr>
            <a:xfrm>
              <a:off x="7788261" y="2326636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3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2" y="-1886"/>
                    <a:pt x="21213" y="-1886"/>
                    <a:pt x="21213" y="5659"/>
                  </a:cubicBezTo>
                  <a:cubicBezTo>
                    <a:pt x="21213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5" name="Freeform 384">
              <a:extLst>
                <a:ext uri="{FF2B5EF4-FFF2-40B4-BE49-F238E27FC236}">
                  <a16:creationId xmlns:a16="http://schemas.microsoft.com/office/drawing/2014/main" id="{21F8B74A-4AF3-B421-375B-56B1E2F05C6C}"/>
                </a:ext>
              </a:extLst>
            </p:cNvPr>
            <p:cNvSpPr/>
            <p:nvPr/>
          </p:nvSpPr>
          <p:spPr>
            <a:xfrm>
              <a:off x="7789675" y="2365540"/>
              <a:ext cx="36768" cy="11150"/>
            </a:xfrm>
            <a:custGeom>
              <a:avLst/>
              <a:gdLst>
                <a:gd name="csX0" fmla="*/ 0 w 36768"/>
                <a:gd name="csY0" fmla="*/ 4951 h 11150"/>
                <a:gd name="csX1" fmla="*/ 18385 w 36768"/>
                <a:gd name="csY1" fmla="*/ 4951 h 11150"/>
                <a:gd name="csX2" fmla="*/ 36768 w 36768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8" h="11150">
                  <a:moveTo>
                    <a:pt x="0" y="4951"/>
                  </a:moveTo>
                  <a:cubicBezTo>
                    <a:pt x="12256" y="-1650"/>
                    <a:pt x="18385" y="-1650"/>
                    <a:pt x="18385" y="4951"/>
                  </a:cubicBezTo>
                  <a:cubicBezTo>
                    <a:pt x="18385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6" name="TextBox 385">
            <a:extLst>
              <a:ext uri="{FF2B5EF4-FFF2-40B4-BE49-F238E27FC236}">
                <a16:creationId xmlns:a16="http://schemas.microsoft.com/office/drawing/2014/main" id="{D91D2B67-9BE2-997D-9315-856E24F8F956}"/>
              </a:ext>
            </a:extLst>
          </p:cNvPr>
          <p:cNvSpPr txBox="1"/>
          <p:nvPr/>
        </p:nvSpPr>
        <p:spPr>
          <a:xfrm>
            <a:off x="7838364" y="2210134"/>
            <a:ext cx="1273542" cy="187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b="1" spc="0" baseline="0">
                <a:ln/>
                <a:solidFill>
                  <a:srgbClr val="22314A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Sustained attention (saCPM)</a:t>
            </a:r>
          </a:p>
        </p:txBody>
      </p:sp>
      <p:sp>
        <p:nvSpPr>
          <p:cNvPr id="387" name="TextBox 386">
            <a:extLst>
              <a:ext uri="{FF2B5EF4-FFF2-40B4-BE49-F238E27FC236}">
                <a16:creationId xmlns:a16="http://schemas.microsoft.com/office/drawing/2014/main" id="{789C41DA-FA99-901F-7550-6B66BB9A4087}"/>
              </a:ext>
            </a:extLst>
          </p:cNvPr>
          <p:cNvSpPr txBox="1"/>
          <p:nvPr/>
        </p:nvSpPr>
        <p:spPr>
          <a:xfrm>
            <a:off x="7838364" y="2330128"/>
            <a:ext cx="743448" cy="174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25" i="1" spc="0" baseline="0">
                <a:ln/>
                <a:solidFill>
                  <a:srgbClr val="7C8598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Rosenberg · 2017</a:t>
            </a:r>
          </a:p>
        </p:txBody>
      </p:sp>
      <p:sp>
        <p:nvSpPr>
          <p:cNvPr id="388" name="Freeform 387">
            <a:extLst>
              <a:ext uri="{FF2B5EF4-FFF2-40B4-BE49-F238E27FC236}">
                <a16:creationId xmlns:a16="http://schemas.microsoft.com/office/drawing/2014/main" id="{EC419448-4897-9CA9-7DF1-E89CCC4EC03E}"/>
              </a:ext>
            </a:extLst>
          </p:cNvPr>
          <p:cNvSpPr/>
          <p:nvPr/>
        </p:nvSpPr>
        <p:spPr>
          <a:xfrm>
            <a:off x="7479848" y="2089870"/>
            <a:ext cx="128558" cy="623745"/>
          </a:xfrm>
          <a:custGeom>
            <a:avLst/>
            <a:gdLst>
              <a:gd name="csX0" fmla="*/ 0 w 128558"/>
              <a:gd name="csY0" fmla="*/ 0 h 623745"/>
              <a:gd name="csX1" fmla="*/ 128559 w 128558"/>
              <a:gd name="csY1" fmla="*/ 623746 h 62374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8558" h="623745">
                <a:moveTo>
                  <a:pt x="0" y="0"/>
                </a:moveTo>
                <a:cubicBezTo>
                  <a:pt x="0" y="623746"/>
                  <a:pt x="64279" y="623746"/>
                  <a:pt x="128559" y="623746"/>
                </a:cubicBezTo>
              </a:path>
            </a:pathLst>
          </a:custGeom>
          <a:noFill/>
          <a:ln w="12851" cap="flat">
            <a:solidFill>
              <a:srgbClr val="3E86C0">
                <a:alpha val="4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89" name="Rounded Rectangle 388">
            <a:extLst>
              <a:ext uri="{FF2B5EF4-FFF2-40B4-BE49-F238E27FC236}">
                <a16:creationId xmlns:a16="http://schemas.microsoft.com/office/drawing/2014/main" id="{6D130E76-A7D9-AAE3-042E-22698C229592}"/>
              </a:ext>
            </a:extLst>
          </p:cNvPr>
          <p:cNvSpPr/>
          <p:nvPr/>
        </p:nvSpPr>
        <p:spPr>
          <a:xfrm>
            <a:off x="7608407" y="2559287"/>
            <a:ext cx="1722690" cy="308657"/>
          </a:xfrm>
          <a:prstGeom prst="roundRect">
            <a:avLst>
              <a:gd name="adj" fmla="val 24990"/>
            </a:avLst>
          </a:prstGeom>
          <a:solidFill>
            <a:srgbClr val="FFFFFF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90" name="Rounded Rectangle 389">
            <a:extLst>
              <a:ext uri="{FF2B5EF4-FFF2-40B4-BE49-F238E27FC236}">
                <a16:creationId xmlns:a16="http://schemas.microsoft.com/office/drawing/2014/main" id="{5C76C411-9A14-5CC4-E1F7-35817F9D57FC}"/>
              </a:ext>
            </a:extLst>
          </p:cNvPr>
          <p:cNvSpPr/>
          <p:nvPr/>
        </p:nvSpPr>
        <p:spPr>
          <a:xfrm>
            <a:off x="7608407" y="2559287"/>
            <a:ext cx="32139" cy="308657"/>
          </a:xfrm>
          <a:prstGeom prst="roundRect">
            <a:avLst>
              <a:gd name="adj" fmla="val 50000"/>
            </a:avLst>
          </a:prstGeom>
          <a:solidFill>
            <a:srgbClr val="3E86C0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91" name="Oval 390">
            <a:extLst>
              <a:ext uri="{FF2B5EF4-FFF2-40B4-BE49-F238E27FC236}">
                <a16:creationId xmlns:a16="http://schemas.microsoft.com/office/drawing/2014/main" id="{A3227E22-7FB9-81CD-A11D-2FF967D1F2B5}"/>
              </a:ext>
            </a:extLst>
          </p:cNvPr>
          <p:cNvSpPr/>
          <p:nvPr/>
        </p:nvSpPr>
        <p:spPr>
          <a:xfrm>
            <a:off x="7679114" y="2617160"/>
            <a:ext cx="192838" cy="192911"/>
          </a:xfrm>
          <a:prstGeom prst="ellipse">
            <a:avLst/>
          </a:prstGeom>
          <a:solidFill>
            <a:srgbClr val="E5EFF8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392" name="Graphic 2">
            <a:extLst>
              <a:ext uri="{FF2B5EF4-FFF2-40B4-BE49-F238E27FC236}">
                <a16:creationId xmlns:a16="http://schemas.microsoft.com/office/drawing/2014/main" id="{191D0F55-DB92-25C4-6F00-3D73F1240319}"/>
              </a:ext>
            </a:extLst>
          </p:cNvPr>
          <p:cNvGrpSpPr/>
          <p:nvPr/>
        </p:nvGrpSpPr>
        <p:grpSpPr>
          <a:xfrm>
            <a:off x="7700263" y="2648862"/>
            <a:ext cx="156391" cy="131501"/>
            <a:chOff x="7700263" y="2648862"/>
            <a:chExt cx="156391" cy="131501"/>
          </a:xfrm>
        </p:grpSpPr>
        <p:sp>
          <p:nvSpPr>
            <p:cNvPr id="393" name="Freeform 392">
              <a:extLst>
                <a:ext uri="{FF2B5EF4-FFF2-40B4-BE49-F238E27FC236}">
                  <a16:creationId xmlns:a16="http://schemas.microsoft.com/office/drawing/2014/main" id="{DC2D8F96-2B1C-5A31-779A-3313EA659814}"/>
                </a:ext>
              </a:extLst>
            </p:cNvPr>
            <p:cNvSpPr/>
            <p:nvPr/>
          </p:nvSpPr>
          <p:spPr>
            <a:xfrm>
              <a:off x="7700263" y="2648862"/>
              <a:ext cx="156391" cy="131501"/>
            </a:xfrm>
            <a:custGeom>
              <a:avLst/>
              <a:gdLst>
                <a:gd name="csX0" fmla="*/ 152792 w 156391"/>
                <a:gd name="csY0" fmla="*/ 64754 h 131501"/>
                <a:gd name="csX1" fmla="*/ 155171 w 156391"/>
                <a:gd name="csY1" fmla="*/ 58709 h 131501"/>
                <a:gd name="csX2" fmla="*/ 156392 w 156391"/>
                <a:gd name="csY2" fmla="*/ 52343 h 131501"/>
                <a:gd name="csX3" fmla="*/ 156199 w 156391"/>
                <a:gd name="csY3" fmla="*/ 45913 h 131501"/>
                <a:gd name="csX4" fmla="*/ 154399 w 156391"/>
                <a:gd name="csY4" fmla="*/ 39740 h 131501"/>
                <a:gd name="csX5" fmla="*/ 151121 w 156391"/>
                <a:gd name="csY5" fmla="*/ 34081 h 131501"/>
                <a:gd name="csX6" fmla="*/ 146557 w 156391"/>
                <a:gd name="csY6" fmla="*/ 29001 h 131501"/>
                <a:gd name="csX7" fmla="*/ 141029 w 156391"/>
                <a:gd name="csY7" fmla="*/ 24757 h 131501"/>
                <a:gd name="csX8" fmla="*/ 134987 w 156391"/>
                <a:gd name="csY8" fmla="*/ 21220 h 131501"/>
                <a:gd name="csX9" fmla="*/ 128751 w 156391"/>
                <a:gd name="csY9" fmla="*/ 18327 h 131501"/>
                <a:gd name="csX10" fmla="*/ 122645 w 156391"/>
                <a:gd name="csY10" fmla="*/ 15754 h 131501"/>
                <a:gd name="csX11" fmla="*/ 116667 w 156391"/>
                <a:gd name="csY11" fmla="*/ 13375 h 131501"/>
                <a:gd name="csX12" fmla="*/ 111011 w 156391"/>
                <a:gd name="csY12" fmla="*/ 11060 h 131501"/>
                <a:gd name="csX13" fmla="*/ 105418 w 156391"/>
                <a:gd name="csY13" fmla="*/ 8617 h 131501"/>
                <a:gd name="csX14" fmla="*/ 99825 w 156391"/>
                <a:gd name="csY14" fmla="*/ 6237 h 131501"/>
                <a:gd name="csX15" fmla="*/ 94041 w 156391"/>
                <a:gd name="csY15" fmla="*/ 3923 h 131501"/>
                <a:gd name="csX16" fmla="*/ 87998 w 156391"/>
                <a:gd name="csY16" fmla="*/ 1993 h 131501"/>
                <a:gd name="csX17" fmla="*/ 81763 w 156391"/>
                <a:gd name="csY17" fmla="*/ 643 h 131501"/>
                <a:gd name="csX18" fmla="*/ 75271 w 156391"/>
                <a:gd name="csY18" fmla="*/ 0 h 131501"/>
                <a:gd name="csX19" fmla="*/ 68779 w 156391"/>
                <a:gd name="csY19" fmla="*/ 129 h 131501"/>
                <a:gd name="csX20" fmla="*/ 62351 w 156391"/>
                <a:gd name="csY20" fmla="*/ 1157 h 131501"/>
                <a:gd name="csX21" fmla="*/ 56180 w 156391"/>
                <a:gd name="csY21" fmla="*/ 2829 h 131501"/>
                <a:gd name="csX22" fmla="*/ 50202 w 156391"/>
                <a:gd name="csY22" fmla="*/ 4952 h 131501"/>
                <a:gd name="csX23" fmla="*/ 44481 w 156391"/>
                <a:gd name="csY23" fmla="*/ 7459 h 131501"/>
                <a:gd name="csX24" fmla="*/ 38953 w 156391"/>
                <a:gd name="csY24" fmla="*/ 10160 h 131501"/>
                <a:gd name="csX25" fmla="*/ 33489 w 156391"/>
                <a:gd name="csY25" fmla="*/ 12925 h 131501"/>
                <a:gd name="csX26" fmla="*/ 27961 w 156391"/>
                <a:gd name="csY26" fmla="*/ 15819 h 131501"/>
                <a:gd name="csX27" fmla="*/ 22433 w 156391"/>
                <a:gd name="csY27" fmla="*/ 18841 h 131501"/>
                <a:gd name="csX28" fmla="*/ 16970 w 156391"/>
                <a:gd name="csY28" fmla="*/ 22313 h 131501"/>
                <a:gd name="csX29" fmla="*/ 11892 w 156391"/>
                <a:gd name="csY29" fmla="*/ 26236 h 131501"/>
                <a:gd name="csX30" fmla="*/ 7392 w 156391"/>
                <a:gd name="csY30" fmla="*/ 30737 h 131501"/>
                <a:gd name="csX31" fmla="*/ 3728 w 156391"/>
                <a:gd name="csY31" fmla="*/ 35817 h 131501"/>
                <a:gd name="csX32" fmla="*/ 1221 w 156391"/>
                <a:gd name="csY32" fmla="*/ 41347 h 131501"/>
                <a:gd name="csX33" fmla="*/ 0 w 156391"/>
                <a:gd name="csY33" fmla="*/ 47263 h 131501"/>
                <a:gd name="csX34" fmla="*/ 0 w 156391"/>
                <a:gd name="csY34" fmla="*/ 53243 h 131501"/>
                <a:gd name="csX35" fmla="*/ 1092 w 156391"/>
                <a:gd name="csY35" fmla="*/ 59095 h 131501"/>
                <a:gd name="csX36" fmla="*/ 2892 w 156391"/>
                <a:gd name="csY36" fmla="*/ 64754 h 131501"/>
                <a:gd name="csX37" fmla="*/ 5013 w 156391"/>
                <a:gd name="csY37" fmla="*/ 70091 h 131501"/>
                <a:gd name="csX38" fmla="*/ 7264 w 156391"/>
                <a:gd name="csY38" fmla="*/ 75171 h 131501"/>
                <a:gd name="csX39" fmla="*/ 9192 w 156391"/>
                <a:gd name="csY39" fmla="*/ 80123 h 131501"/>
                <a:gd name="csX40" fmla="*/ 10799 w 156391"/>
                <a:gd name="csY40" fmla="*/ 85138 h 131501"/>
                <a:gd name="csX41" fmla="*/ 12149 w 156391"/>
                <a:gd name="csY41" fmla="*/ 90347 h 131501"/>
                <a:gd name="csX42" fmla="*/ 13370 w 156391"/>
                <a:gd name="csY42" fmla="*/ 95812 h 131501"/>
                <a:gd name="csX43" fmla="*/ 14784 w 156391"/>
                <a:gd name="csY43" fmla="*/ 101536 h 131501"/>
                <a:gd name="csX44" fmla="*/ 16777 w 156391"/>
                <a:gd name="csY44" fmla="*/ 107387 h 131501"/>
                <a:gd name="csX45" fmla="*/ 19605 w 156391"/>
                <a:gd name="csY45" fmla="*/ 113110 h 131501"/>
                <a:gd name="csX46" fmla="*/ 23398 w 156391"/>
                <a:gd name="csY46" fmla="*/ 118383 h 131501"/>
                <a:gd name="csX47" fmla="*/ 28282 w 156391"/>
                <a:gd name="csY47" fmla="*/ 123013 h 131501"/>
                <a:gd name="csX48" fmla="*/ 34068 w 156391"/>
                <a:gd name="csY48" fmla="*/ 126678 h 131501"/>
                <a:gd name="csX49" fmla="*/ 40624 w 156391"/>
                <a:gd name="csY49" fmla="*/ 129315 h 131501"/>
                <a:gd name="csX50" fmla="*/ 47566 w 156391"/>
                <a:gd name="csY50" fmla="*/ 130858 h 131501"/>
                <a:gd name="csX51" fmla="*/ 54638 w 156391"/>
                <a:gd name="csY51" fmla="*/ 131501 h 131501"/>
                <a:gd name="csX52" fmla="*/ 61708 w 156391"/>
                <a:gd name="csY52" fmla="*/ 131501 h 131501"/>
                <a:gd name="csX53" fmla="*/ 68586 w 156391"/>
                <a:gd name="csY53" fmla="*/ 130922 h 131501"/>
                <a:gd name="csX54" fmla="*/ 75271 w 156391"/>
                <a:gd name="csY54" fmla="*/ 130151 h 131501"/>
                <a:gd name="csX55" fmla="*/ 81763 w 156391"/>
                <a:gd name="csY55" fmla="*/ 129122 h 131501"/>
                <a:gd name="csX56" fmla="*/ 88127 w 156391"/>
                <a:gd name="csY56" fmla="*/ 127964 h 131501"/>
                <a:gd name="csX57" fmla="*/ 94362 w 156391"/>
                <a:gd name="csY57" fmla="*/ 126614 h 131501"/>
                <a:gd name="csX58" fmla="*/ 100469 w 156391"/>
                <a:gd name="csY58" fmla="*/ 124942 h 131501"/>
                <a:gd name="csX59" fmla="*/ 106382 w 156391"/>
                <a:gd name="csY59" fmla="*/ 122756 h 131501"/>
                <a:gd name="csX60" fmla="*/ 111974 w 156391"/>
                <a:gd name="csY60" fmla="*/ 119926 h 131501"/>
                <a:gd name="csX61" fmla="*/ 116988 w 156391"/>
                <a:gd name="csY61" fmla="*/ 116518 h 131501"/>
                <a:gd name="csX62" fmla="*/ 121424 w 156391"/>
                <a:gd name="csY62" fmla="*/ 112531 h 131501"/>
                <a:gd name="csX63" fmla="*/ 125216 w 156391"/>
                <a:gd name="csY63" fmla="*/ 108159 h 131501"/>
                <a:gd name="csX64" fmla="*/ 128430 w 156391"/>
                <a:gd name="csY64" fmla="*/ 103465 h 131501"/>
                <a:gd name="csX65" fmla="*/ 131194 w 156391"/>
                <a:gd name="csY65" fmla="*/ 98771 h 131501"/>
                <a:gd name="csX66" fmla="*/ 133830 w 156391"/>
                <a:gd name="csY66" fmla="*/ 94076 h 131501"/>
                <a:gd name="csX67" fmla="*/ 136465 w 156391"/>
                <a:gd name="csY67" fmla="*/ 89511 h 131501"/>
                <a:gd name="csX68" fmla="*/ 139422 w 156391"/>
                <a:gd name="csY68" fmla="*/ 85010 h 131501"/>
                <a:gd name="csX69" fmla="*/ 142636 w 156391"/>
                <a:gd name="csY69" fmla="*/ 80444 h 131501"/>
                <a:gd name="csX70" fmla="*/ 146107 w 156391"/>
                <a:gd name="csY70" fmla="*/ 75621 h 131501"/>
                <a:gd name="csX71" fmla="*/ 149642 w 156391"/>
                <a:gd name="csY71" fmla="*/ 70413 h 131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156391" h="131501">
                  <a:moveTo>
                    <a:pt x="152792" y="64754"/>
                  </a:moveTo>
                  <a:lnTo>
                    <a:pt x="155171" y="58709"/>
                  </a:lnTo>
                  <a:lnTo>
                    <a:pt x="156392" y="52343"/>
                  </a:lnTo>
                  <a:lnTo>
                    <a:pt x="156199" y="45913"/>
                  </a:lnTo>
                  <a:lnTo>
                    <a:pt x="154399" y="39740"/>
                  </a:lnTo>
                  <a:lnTo>
                    <a:pt x="151121" y="34081"/>
                  </a:lnTo>
                  <a:lnTo>
                    <a:pt x="146557" y="29001"/>
                  </a:lnTo>
                  <a:lnTo>
                    <a:pt x="141029" y="24757"/>
                  </a:lnTo>
                  <a:lnTo>
                    <a:pt x="134987" y="21220"/>
                  </a:lnTo>
                  <a:lnTo>
                    <a:pt x="128751" y="18327"/>
                  </a:lnTo>
                  <a:lnTo>
                    <a:pt x="122645" y="15754"/>
                  </a:lnTo>
                  <a:lnTo>
                    <a:pt x="116667" y="13375"/>
                  </a:lnTo>
                  <a:lnTo>
                    <a:pt x="111011" y="11060"/>
                  </a:lnTo>
                  <a:lnTo>
                    <a:pt x="105418" y="8617"/>
                  </a:lnTo>
                  <a:lnTo>
                    <a:pt x="99825" y="6237"/>
                  </a:lnTo>
                  <a:lnTo>
                    <a:pt x="94041" y="3923"/>
                  </a:lnTo>
                  <a:lnTo>
                    <a:pt x="87998" y="1993"/>
                  </a:lnTo>
                  <a:lnTo>
                    <a:pt x="81763" y="643"/>
                  </a:lnTo>
                  <a:lnTo>
                    <a:pt x="75271" y="0"/>
                  </a:lnTo>
                  <a:lnTo>
                    <a:pt x="68779" y="129"/>
                  </a:lnTo>
                  <a:lnTo>
                    <a:pt x="62351" y="1157"/>
                  </a:lnTo>
                  <a:lnTo>
                    <a:pt x="56180" y="2829"/>
                  </a:lnTo>
                  <a:lnTo>
                    <a:pt x="50202" y="4952"/>
                  </a:lnTo>
                  <a:lnTo>
                    <a:pt x="44481" y="7459"/>
                  </a:lnTo>
                  <a:lnTo>
                    <a:pt x="38953" y="10160"/>
                  </a:lnTo>
                  <a:lnTo>
                    <a:pt x="33489" y="12925"/>
                  </a:lnTo>
                  <a:lnTo>
                    <a:pt x="27961" y="15819"/>
                  </a:lnTo>
                  <a:lnTo>
                    <a:pt x="22433" y="18841"/>
                  </a:lnTo>
                  <a:lnTo>
                    <a:pt x="16970" y="22313"/>
                  </a:lnTo>
                  <a:lnTo>
                    <a:pt x="11892" y="26236"/>
                  </a:lnTo>
                  <a:lnTo>
                    <a:pt x="7392" y="30737"/>
                  </a:lnTo>
                  <a:lnTo>
                    <a:pt x="3728" y="35817"/>
                  </a:lnTo>
                  <a:lnTo>
                    <a:pt x="1221" y="41347"/>
                  </a:lnTo>
                  <a:lnTo>
                    <a:pt x="0" y="47263"/>
                  </a:lnTo>
                  <a:lnTo>
                    <a:pt x="0" y="53243"/>
                  </a:lnTo>
                  <a:lnTo>
                    <a:pt x="1092" y="59095"/>
                  </a:lnTo>
                  <a:lnTo>
                    <a:pt x="2892" y="64754"/>
                  </a:lnTo>
                  <a:lnTo>
                    <a:pt x="5013" y="70091"/>
                  </a:lnTo>
                  <a:lnTo>
                    <a:pt x="7264" y="75171"/>
                  </a:lnTo>
                  <a:lnTo>
                    <a:pt x="9192" y="80123"/>
                  </a:lnTo>
                  <a:lnTo>
                    <a:pt x="10799" y="85138"/>
                  </a:lnTo>
                  <a:lnTo>
                    <a:pt x="12149" y="90347"/>
                  </a:lnTo>
                  <a:lnTo>
                    <a:pt x="13370" y="95812"/>
                  </a:lnTo>
                  <a:lnTo>
                    <a:pt x="14784" y="101536"/>
                  </a:lnTo>
                  <a:lnTo>
                    <a:pt x="16777" y="107387"/>
                  </a:lnTo>
                  <a:lnTo>
                    <a:pt x="19605" y="113110"/>
                  </a:lnTo>
                  <a:lnTo>
                    <a:pt x="23398" y="118383"/>
                  </a:lnTo>
                  <a:lnTo>
                    <a:pt x="28282" y="123013"/>
                  </a:lnTo>
                  <a:lnTo>
                    <a:pt x="34068" y="126678"/>
                  </a:lnTo>
                  <a:lnTo>
                    <a:pt x="40624" y="129315"/>
                  </a:lnTo>
                  <a:lnTo>
                    <a:pt x="47566" y="130858"/>
                  </a:lnTo>
                  <a:lnTo>
                    <a:pt x="54638" y="131501"/>
                  </a:lnTo>
                  <a:lnTo>
                    <a:pt x="61708" y="131501"/>
                  </a:lnTo>
                  <a:lnTo>
                    <a:pt x="68586" y="130922"/>
                  </a:lnTo>
                  <a:lnTo>
                    <a:pt x="75271" y="130151"/>
                  </a:lnTo>
                  <a:lnTo>
                    <a:pt x="81763" y="129122"/>
                  </a:lnTo>
                  <a:lnTo>
                    <a:pt x="88127" y="127964"/>
                  </a:lnTo>
                  <a:lnTo>
                    <a:pt x="94362" y="126614"/>
                  </a:lnTo>
                  <a:lnTo>
                    <a:pt x="100469" y="124942"/>
                  </a:lnTo>
                  <a:lnTo>
                    <a:pt x="106382" y="122756"/>
                  </a:lnTo>
                  <a:lnTo>
                    <a:pt x="111974" y="119926"/>
                  </a:lnTo>
                  <a:lnTo>
                    <a:pt x="116988" y="116518"/>
                  </a:lnTo>
                  <a:lnTo>
                    <a:pt x="121424" y="112531"/>
                  </a:lnTo>
                  <a:lnTo>
                    <a:pt x="125216" y="108159"/>
                  </a:lnTo>
                  <a:lnTo>
                    <a:pt x="128430" y="103465"/>
                  </a:lnTo>
                  <a:lnTo>
                    <a:pt x="131194" y="98771"/>
                  </a:lnTo>
                  <a:lnTo>
                    <a:pt x="133830" y="94076"/>
                  </a:lnTo>
                  <a:lnTo>
                    <a:pt x="136465" y="89511"/>
                  </a:lnTo>
                  <a:lnTo>
                    <a:pt x="139422" y="85010"/>
                  </a:lnTo>
                  <a:lnTo>
                    <a:pt x="142636" y="80444"/>
                  </a:lnTo>
                  <a:lnTo>
                    <a:pt x="146107" y="75621"/>
                  </a:lnTo>
                  <a:lnTo>
                    <a:pt x="149642" y="70413"/>
                  </a:lnTo>
                  <a:close/>
                </a:path>
              </a:pathLst>
            </a:custGeom>
            <a:solidFill>
              <a:srgbClr val="3E86C0"/>
            </a:solidFill>
            <a:ln w="6425" cap="flat">
              <a:solidFill>
                <a:srgbClr val="28608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4" name="Freeform 393">
              <a:extLst>
                <a:ext uri="{FF2B5EF4-FFF2-40B4-BE49-F238E27FC236}">
                  <a16:creationId xmlns:a16="http://schemas.microsoft.com/office/drawing/2014/main" id="{42936E7F-71A8-2B87-B8A8-BCCA6C2F0F07}"/>
                </a:ext>
              </a:extLst>
            </p:cNvPr>
            <p:cNvSpPr/>
            <p:nvPr/>
          </p:nvSpPr>
          <p:spPr>
            <a:xfrm>
              <a:off x="7773492" y="2652785"/>
              <a:ext cx="4082" cy="118833"/>
            </a:xfrm>
            <a:custGeom>
              <a:avLst/>
              <a:gdLst>
                <a:gd name="csX0" fmla="*/ 2041 w 4082"/>
                <a:gd name="csY0" fmla="*/ 0 h 118833"/>
                <a:gd name="csX1" fmla="*/ 2041 w 4082"/>
                <a:gd name="csY1" fmla="*/ 118833 h 118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082" h="118833">
                  <a:moveTo>
                    <a:pt x="2041" y="0"/>
                  </a:moveTo>
                  <a:cubicBezTo>
                    <a:pt x="9112" y="39611"/>
                    <a:pt x="-5029" y="82051"/>
                    <a:pt x="2041" y="118833"/>
                  </a:cubicBezTo>
                </a:path>
              </a:pathLst>
            </a:custGeom>
            <a:noFill/>
            <a:ln w="5462" cap="rnd">
              <a:solidFill>
                <a:srgbClr val="FFFFFF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5" name="Freeform 394">
              <a:extLst>
                <a:ext uri="{FF2B5EF4-FFF2-40B4-BE49-F238E27FC236}">
                  <a16:creationId xmlns:a16="http://schemas.microsoft.com/office/drawing/2014/main" id="{688FCC55-9265-07E6-9332-882F38340825}"/>
                </a:ext>
              </a:extLst>
            </p:cNvPr>
            <p:cNvSpPr/>
            <p:nvPr/>
          </p:nvSpPr>
          <p:spPr>
            <a:xfrm>
              <a:off x="7720382" y="2685322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1" y="-1886"/>
                    <a:pt x="21212" y="-1886"/>
                    <a:pt x="21212" y="5659"/>
                  </a:cubicBezTo>
                  <a:cubicBezTo>
                    <a:pt x="21212" y="13204"/>
                    <a:pt x="28282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6" name="Freeform 395">
              <a:extLst>
                <a:ext uri="{FF2B5EF4-FFF2-40B4-BE49-F238E27FC236}">
                  <a16:creationId xmlns:a16="http://schemas.microsoft.com/office/drawing/2014/main" id="{DA997E62-D8D9-AC16-F7FC-0DBD00CAE894}"/>
                </a:ext>
              </a:extLst>
            </p:cNvPr>
            <p:cNvSpPr/>
            <p:nvPr/>
          </p:nvSpPr>
          <p:spPr>
            <a:xfrm>
              <a:off x="7724624" y="2724226"/>
              <a:ext cx="36768" cy="11150"/>
            </a:xfrm>
            <a:custGeom>
              <a:avLst/>
              <a:gdLst>
                <a:gd name="csX0" fmla="*/ 0 w 36768"/>
                <a:gd name="csY0" fmla="*/ 4951 h 11150"/>
                <a:gd name="csX1" fmla="*/ 18384 w 36768"/>
                <a:gd name="csY1" fmla="*/ 4951 h 11150"/>
                <a:gd name="csX2" fmla="*/ 36768 w 36768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8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7" name="Freeform 396">
              <a:extLst>
                <a:ext uri="{FF2B5EF4-FFF2-40B4-BE49-F238E27FC236}">
                  <a16:creationId xmlns:a16="http://schemas.microsoft.com/office/drawing/2014/main" id="{CECC1C05-BC23-5C0C-FEB9-10CC537B4CD8}"/>
                </a:ext>
              </a:extLst>
            </p:cNvPr>
            <p:cNvSpPr/>
            <p:nvPr/>
          </p:nvSpPr>
          <p:spPr>
            <a:xfrm>
              <a:off x="7788261" y="2686737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3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2" y="-1886"/>
                    <a:pt x="21213" y="-1886"/>
                    <a:pt x="21213" y="5659"/>
                  </a:cubicBezTo>
                  <a:cubicBezTo>
                    <a:pt x="21213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8" name="Freeform 397">
              <a:extLst>
                <a:ext uri="{FF2B5EF4-FFF2-40B4-BE49-F238E27FC236}">
                  <a16:creationId xmlns:a16="http://schemas.microsoft.com/office/drawing/2014/main" id="{C51F5410-A1A5-2BEA-1F82-85E436CC7C5D}"/>
                </a:ext>
              </a:extLst>
            </p:cNvPr>
            <p:cNvSpPr/>
            <p:nvPr/>
          </p:nvSpPr>
          <p:spPr>
            <a:xfrm>
              <a:off x="7789675" y="2725641"/>
              <a:ext cx="36768" cy="11150"/>
            </a:xfrm>
            <a:custGeom>
              <a:avLst/>
              <a:gdLst>
                <a:gd name="csX0" fmla="*/ 0 w 36768"/>
                <a:gd name="csY0" fmla="*/ 4951 h 11150"/>
                <a:gd name="csX1" fmla="*/ 18385 w 36768"/>
                <a:gd name="csY1" fmla="*/ 4951 h 11150"/>
                <a:gd name="csX2" fmla="*/ 36768 w 36768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8" h="11150">
                  <a:moveTo>
                    <a:pt x="0" y="4951"/>
                  </a:moveTo>
                  <a:cubicBezTo>
                    <a:pt x="12256" y="-1650"/>
                    <a:pt x="18385" y="-1650"/>
                    <a:pt x="18385" y="4951"/>
                  </a:cubicBezTo>
                  <a:cubicBezTo>
                    <a:pt x="18385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9" name="TextBox 398">
            <a:extLst>
              <a:ext uri="{FF2B5EF4-FFF2-40B4-BE49-F238E27FC236}">
                <a16:creationId xmlns:a16="http://schemas.microsoft.com/office/drawing/2014/main" id="{103DD936-F88A-8AB7-5CBE-81B214EED7E7}"/>
              </a:ext>
            </a:extLst>
          </p:cNvPr>
          <p:cNvSpPr txBox="1"/>
          <p:nvPr/>
        </p:nvSpPr>
        <p:spPr>
          <a:xfrm>
            <a:off x="7838364" y="2570235"/>
            <a:ext cx="962188" cy="187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b="1" spc="0" baseline="0">
                <a:ln/>
                <a:solidFill>
                  <a:srgbClr val="22314A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MFC generalizability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B3CC9004-2AAD-3AF7-3A92-B665C7C1F4C9}"/>
              </a:ext>
            </a:extLst>
          </p:cNvPr>
          <p:cNvSpPr txBox="1"/>
          <p:nvPr/>
        </p:nvSpPr>
        <p:spPr>
          <a:xfrm>
            <a:off x="7838364" y="2690229"/>
            <a:ext cx="600761" cy="174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25" i="1" spc="0" baseline="0">
                <a:ln/>
                <a:solidFill>
                  <a:srgbClr val="7C8598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Kragel · 2018</a:t>
            </a:r>
          </a:p>
        </p:txBody>
      </p:sp>
      <p:sp>
        <p:nvSpPr>
          <p:cNvPr id="401" name="Oval 400">
            <a:extLst>
              <a:ext uri="{FF2B5EF4-FFF2-40B4-BE49-F238E27FC236}">
                <a16:creationId xmlns:a16="http://schemas.microsoft.com/office/drawing/2014/main" id="{9577E2C4-5BBF-CFB7-F02E-E44457222358}"/>
              </a:ext>
            </a:extLst>
          </p:cNvPr>
          <p:cNvSpPr/>
          <p:nvPr/>
        </p:nvSpPr>
        <p:spPr>
          <a:xfrm>
            <a:off x="7447708" y="3118729"/>
            <a:ext cx="64279" cy="64303"/>
          </a:xfrm>
          <a:prstGeom prst="ellipse">
            <a:avLst/>
          </a:prstGeom>
          <a:solidFill>
            <a:srgbClr val="3E86C0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482F37A4-7ED5-2F29-97EE-CDA849FBB4D6}"/>
              </a:ext>
            </a:extLst>
          </p:cNvPr>
          <p:cNvSpPr txBox="1"/>
          <p:nvPr/>
        </p:nvSpPr>
        <p:spPr>
          <a:xfrm>
            <a:off x="7491255" y="3058943"/>
            <a:ext cx="993926" cy="187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b="1" spc="30" baseline="0">
                <a:ln/>
                <a:solidFill>
                  <a:srgbClr val="28608F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SOCIAL COGNITION</a:t>
            </a:r>
          </a:p>
        </p:txBody>
      </p:sp>
      <p:sp>
        <p:nvSpPr>
          <p:cNvPr id="403" name="Freeform 402">
            <a:extLst>
              <a:ext uri="{FF2B5EF4-FFF2-40B4-BE49-F238E27FC236}">
                <a16:creationId xmlns:a16="http://schemas.microsoft.com/office/drawing/2014/main" id="{6942B45B-EFD0-B429-E3EB-E4CD22E7D5B5}"/>
              </a:ext>
            </a:extLst>
          </p:cNvPr>
          <p:cNvSpPr/>
          <p:nvPr/>
        </p:nvSpPr>
        <p:spPr>
          <a:xfrm>
            <a:off x="7479848" y="3183033"/>
            <a:ext cx="128558" cy="263645"/>
          </a:xfrm>
          <a:custGeom>
            <a:avLst/>
            <a:gdLst>
              <a:gd name="csX0" fmla="*/ 0 w 128558"/>
              <a:gd name="csY0" fmla="*/ 0 h 263645"/>
              <a:gd name="csX1" fmla="*/ 128559 w 128558"/>
              <a:gd name="csY1" fmla="*/ 263645 h 26364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8558" h="263645">
                <a:moveTo>
                  <a:pt x="0" y="0"/>
                </a:moveTo>
                <a:cubicBezTo>
                  <a:pt x="0" y="263645"/>
                  <a:pt x="64279" y="263645"/>
                  <a:pt x="128559" y="263645"/>
                </a:cubicBezTo>
              </a:path>
            </a:pathLst>
          </a:custGeom>
          <a:noFill/>
          <a:ln w="12851" cap="flat">
            <a:solidFill>
              <a:srgbClr val="3E86C0">
                <a:alpha val="4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04" name="Rounded Rectangle 403">
            <a:extLst>
              <a:ext uri="{FF2B5EF4-FFF2-40B4-BE49-F238E27FC236}">
                <a16:creationId xmlns:a16="http://schemas.microsoft.com/office/drawing/2014/main" id="{76B26675-3927-AADE-FEF8-C8E882A45F16}"/>
              </a:ext>
            </a:extLst>
          </p:cNvPr>
          <p:cNvSpPr/>
          <p:nvPr/>
        </p:nvSpPr>
        <p:spPr>
          <a:xfrm>
            <a:off x="7608407" y="3292349"/>
            <a:ext cx="1722690" cy="308657"/>
          </a:xfrm>
          <a:prstGeom prst="roundRect">
            <a:avLst>
              <a:gd name="adj" fmla="val 24990"/>
            </a:avLst>
          </a:prstGeom>
          <a:solidFill>
            <a:srgbClr val="FFFFFF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05" name="Rounded Rectangle 404">
            <a:extLst>
              <a:ext uri="{FF2B5EF4-FFF2-40B4-BE49-F238E27FC236}">
                <a16:creationId xmlns:a16="http://schemas.microsoft.com/office/drawing/2014/main" id="{9E9C252A-6E32-45A8-CC35-A8E8BE651845}"/>
              </a:ext>
            </a:extLst>
          </p:cNvPr>
          <p:cNvSpPr/>
          <p:nvPr/>
        </p:nvSpPr>
        <p:spPr>
          <a:xfrm>
            <a:off x="7608407" y="3292349"/>
            <a:ext cx="32139" cy="308657"/>
          </a:xfrm>
          <a:prstGeom prst="roundRect">
            <a:avLst>
              <a:gd name="adj" fmla="val 50000"/>
            </a:avLst>
          </a:prstGeom>
          <a:solidFill>
            <a:srgbClr val="3E86C0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06" name="Oval 405">
            <a:extLst>
              <a:ext uri="{FF2B5EF4-FFF2-40B4-BE49-F238E27FC236}">
                <a16:creationId xmlns:a16="http://schemas.microsoft.com/office/drawing/2014/main" id="{9F23010C-119A-CA75-6FB5-D5D5B9667A72}"/>
              </a:ext>
            </a:extLst>
          </p:cNvPr>
          <p:cNvSpPr/>
          <p:nvPr/>
        </p:nvSpPr>
        <p:spPr>
          <a:xfrm>
            <a:off x="7679114" y="3350223"/>
            <a:ext cx="192838" cy="192911"/>
          </a:xfrm>
          <a:prstGeom prst="ellipse">
            <a:avLst/>
          </a:prstGeom>
          <a:solidFill>
            <a:srgbClr val="E5EFF8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407" name="Graphic 2">
            <a:extLst>
              <a:ext uri="{FF2B5EF4-FFF2-40B4-BE49-F238E27FC236}">
                <a16:creationId xmlns:a16="http://schemas.microsoft.com/office/drawing/2014/main" id="{408BBD76-8A2B-0F9F-1088-8D3B4450AE31}"/>
              </a:ext>
            </a:extLst>
          </p:cNvPr>
          <p:cNvGrpSpPr/>
          <p:nvPr/>
        </p:nvGrpSpPr>
        <p:grpSpPr>
          <a:xfrm>
            <a:off x="7700263" y="3381924"/>
            <a:ext cx="156391" cy="131501"/>
            <a:chOff x="7700263" y="3381924"/>
            <a:chExt cx="156391" cy="131501"/>
          </a:xfrm>
        </p:grpSpPr>
        <p:sp>
          <p:nvSpPr>
            <p:cNvPr id="408" name="Freeform 407">
              <a:extLst>
                <a:ext uri="{FF2B5EF4-FFF2-40B4-BE49-F238E27FC236}">
                  <a16:creationId xmlns:a16="http://schemas.microsoft.com/office/drawing/2014/main" id="{3329E6EC-022C-FFB8-DC47-0D8748CE0F50}"/>
                </a:ext>
              </a:extLst>
            </p:cNvPr>
            <p:cNvSpPr/>
            <p:nvPr/>
          </p:nvSpPr>
          <p:spPr>
            <a:xfrm>
              <a:off x="7700263" y="3381924"/>
              <a:ext cx="156391" cy="131501"/>
            </a:xfrm>
            <a:custGeom>
              <a:avLst/>
              <a:gdLst>
                <a:gd name="csX0" fmla="*/ 152792 w 156391"/>
                <a:gd name="csY0" fmla="*/ 64754 h 131501"/>
                <a:gd name="csX1" fmla="*/ 155171 w 156391"/>
                <a:gd name="csY1" fmla="*/ 58709 h 131501"/>
                <a:gd name="csX2" fmla="*/ 156392 w 156391"/>
                <a:gd name="csY2" fmla="*/ 52343 h 131501"/>
                <a:gd name="csX3" fmla="*/ 156199 w 156391"/>
                <a:gd name="csY3" fmla="*/ 45913 h 131501"/>
                <a:gd name="csX4" fmla="*/ 154399 w 156391"/>
                <a:gd name="csY4" fmla="*/ 39740 h 131501"/>
                <a:gd name="csX5" fmla="*/ 151121 w 156391"/>
                <a:gd name="csY5" fmla="*/ 34081 h 131501"/>
                <a:gd name="csX6" fmla="*/ 146557 w 156391"/>
                <a:gd name="csY6" fmla="*/ 29001 h 131501"/>
                <a:gd name="csX7" fmla="*/ 141029 w 156391"/>
                <a:gd name="csY7" fmla="*/ 24757 h 131501"/>
                <a:gd name="csX8" fmla="*/ 134987 w 156391"/>
                <a:gd name="csY8" fmla="*/ 21220 h 131501"/>
                <a:gd name="csX9" fmla="*/ 128751 w 156391"/>
                <a:gd name="csY9" fmla="*/ 18327 h 131501"/>
                <a:gd name="csX10" fmla="*/ 122645 w 156391"/>
                <a:gd name="csY10" fmla="*/ 15754 h 131501"/>
                <a:gd name="csX11" fmla="*/ 116667 w 156391"/>
                <a:gd name="csY11" fmla="*/ 13375 h 131501"/>
                <a:gd name="csX12" fmla="*/ 111011 w 156391"/>
                <a:gd name="csY12" fmla="*/ 11060 h 131501"/>
                <a:gd name="csX13" fmla="*/ 105418 w 156391"/>
                <a:gd name="csY13" fmla="*/ 8617 h 131501"/>
                <a:gd name="csX14" fmla="*/ 99825 w 156391"/>
                <a:gd name="csY14" fmla="*/ 6238 h 131501"/>
                <a:gd name="csX15" fmla="*/ 94041 w 156391"/>
                <a:gd name="csY15" fmla="*/ 3922 h 131501"/>
                <a:gd name="csX16" fmla="*/ 87998 w 156391"/>
                <a:gd name="csY16" fmla="*/ 1993 h 131501"/>
                <a:gd name="csX17" fmla="*/ 81763 w 156391"/>
                <a:gd name="csY17" fmla="*/ 643 h 131501"/>
                <a:gd name="csX18" fmla="*/ 75271 w 156391"/>
                <a:gd name="csY18" fmla="*/ 0 h 131501"/>
                <a:gd name="csX19" fmla="*/ 68779 w 156391"/>
                <a:gd name="csY19" fmla="*/ 129 h 131501"/>
                <a:gd name="csX20" fmla="*/ 62351 w 156391"/>
                <a:gd name="csY20" fmla="*/ 1157 h 131501"/>
                <a:gd name="csX21" fmla="*/ 56180 w 156391"/>
                <a:gd name="csY21" fmla="*/ 2829 h 131501"/>
                <a:gd name="csX22" fmla="*/ 50202 w 156391"/>
                <a:gd name="csY22" fmla="*/ 4952 h 131501"/>
                <a:gd name="csX23" fmla="*/ 44481 w 156391"/>
                <a:gd name="csY23" fmla="*/ 7459 h 131501"/>
                <a:gd name="csX24" fmla="*/ 38953 w 156391"/>
                <a:gd name="csY24" fmla="*/ 10160 h 131501"/>
                <a:gd name="csX25" fmla="*/ 33489 w 156391"/>
                <a:gd name="csY25" fmla="*/ 12925 h 131501"/>
                <a:gd name="csX26" fmla="*/ 27961 w 156391"/>
                <a:gd name="csY26" fmla="*/ 15819 h 131501"/>
                <a:gd name="csX27" fmla="*/ 22433 w 156391"/>
                <a:gd name="csY27" fmla="*/ 18841 h 131501"/>
                <a:gd name="csX28" fmla="*/ 16970 w 156391"/>
                <a:gd name="csY28" fmla="*/ 22314 h 131501"/>
                <a:gd name="csX29" fmla="*/ 11892 w 156391"/>
                <a:gd name="csY29" fmla="*/ 26236 h 131501"/>
                <a:gd name="csX30" fmla="*/ 7392 w 156391"/>
                <a:gd name="csY30" fmla="*/ 30737 h 131501"/>
                <a:gd name="csX31" fmla="*/ 3728 w 156391"/>
                <a:gd name="csY31" fmla="*/ 35817 h 131501"/>
                <a:gd name="csX32" fmla="*/ 1221 w 156391"/>
                <a:gd name="csY32" fmla="*/ 41347 h 131501"/>
                <a:gd name="csX33" fmla="*/ 0 w 156391"/>
                <a:gd name="csY33" fmla="*/ 47263 h 131501"/>
                <a:gd name="csX34" fmla="*/ 0 w 156391"/>
                <a:gd name="csY34" fmla="*/ 53244 h 131501"/>
                <a:gd name="csX35" fmla="*/ 1092 w 156391"/>
                <a:gd name="csY35" fmla="*/ 59095 h 131501"/>
                <a:gd name="csX36" fmla="*/ 2892 w 156391"/>
                <a:gd name="csY36" fmla="*/ 64754 h 131501"/>
                <a:gd name="csX37" fmla="*/ 5013 w 156391"/>
                <a:gd name="csY37" fmla="*/ 70091 h 131501"/>
                <a:gd name="csX38" fmla="*/ 7264 w 156391"/>
                <a:gd name="csY38" fmla="*/ 75171 h 131501"/>
                <a:gd name="csX39" fmla="*/ 9192 w 156391"/>
                <a:gd name="csY39" fmla="*/ 80123 h 131501"/>
                <a:gd name="csX40" fmla="*/ 10799 w 156391"/>
                <a:gd name="csY40" fmla="*/ 85138 h 131501"/>
                <a:gd name="csX41" fmla="*/ 12149 w 156391"/>
                <a:gd name="csY41" fmla="*/ 90347 h 131501"/>
                <a:gd name="csX42" fmla="*/ 13370 w 156391"/>
                <a:gd name="csY42" fmla="*/ 95813 h 131501"/>
                <a:gd name="csX43" fmla="*/ 14784 w 156391"/>
                <a:gd name="csY43" fmla="*/ 101535 h 131501"/>
                <a:gd name="csX44" fmla="*/ 16777 w 156391"/>
                <a:gd name="csY44" fmla="*/ 107387 h 131501"/>
                <a:gd name="csX45" fmla="*/ 19605 w 156391"/>
                <a:gd name="csY45" fmla="*/ 113110 h 131501"/>
                <a:gd name="csX46" fmla="*/ 23398 w 156391"/>
                <a:gd name="csY46" fmla="*/ 118383 h 131501"/>
                <a:gd name="csX47" fmla="*/ 28282 w 156391"/>
                <a:gd name="csY47" fmla="*/ 123013 h 131501"/>
                <a:gd name="csX48" fmla="*/ 34068 w 156391"/>
                <a:gd name="csY48" fmla="*/ 126678 h 131501"/>
                <a:gd name="csX49" fmla="*/ 40624 w 156391"/>
                <a:gd name="csY49" fmla="*/ 129315 h 131501"/>
                <a:gd name="csX50" fmla="*/ 47566 w 156391"/>
                <a:gd name="csY50" fmla="*/ 130858 h 131501"/>
                <a:gd name="csX51" fmla="*/ 54638 w 156391"/>
                <a:gd name="csY51" fmla="*/ 131501 h 131501"/>
                <a:gd name="csX52" fmla="*/ 61708 w 156391"/>
                <a:gd name="csY52" fmla="*/ 131501 h 131501"/>
                <a:gd name="csX53" fmla="*/ 68586 w 156391"/>
                <a:gd name="csY53" fmla="*/ 130922 h 131501"/>
                <a:gd name="csX54" fmla="*/ 75271 w 156391"/>
                <a:gd name="csY54" fmla="*/ 130151 h 131501"/>
                <a:gd name="csX55" fmla="*/ 81763 w 156391"/>
                <a:gd name="csY55" fmla="*/ 129122 h 131501"/>
                <a:gd name="csX56" fmla="*/ 88127 w 156391"/>
                <a:gd name="csY56" fmla="*/ 127965 h 131501"/>
                <a:gd name="csX57" fmla="*/ 94362 w 156391"/>
                <a:gd name="csY57" fmla="*/ 126614 h 131501"/>
                <a:gd name="csX58" fmla="*/ 100469 w 156391"/>
                <a:gd name="csY58" fmla="*/ 124942 h 131501"/>
                <a:gd name="csX59" fmla="*/ 106382 w 156391"/>
                <a:gd name="csY59" fmla="*/ 122756 h 131501"/>
                <a:gd name="csX60" fmla="*/ 111974 w 156391"/>
                <a:gd name="csY60" fmla="*/ 119927 h 131501"/>
                <a:gd name="csX61" fmla="*/ 116988 w 156391"/>
                <a:gd name="csY61" fmla="*/ 116518 h 131501"/>
                <a:gd name="csX62" fmla="*/ 121424 w 156391"/>
                <a:gd name="csY62" fmla="*/ 112531 h 131501"/>
                <a:gd name="csX63" fmla="*/ 125216 w 156391"/>
                <a:gd name="csY63" fmla="*/ 108159 h 131501"/>
                <a:gd name="csX64" fmla="*/ 128430 w 156391"/>
                <a:gd name="csY64" fmla="*/ 103465 h 131501"/>
                <a:gd name="csX65" fmla="*/ 131194 w 156391"/>
                <a:gd name="csY65" fmla="*/ 98770 h 131501"/>
                <a:gd name="csX66" fmla="*/ 133830 w 156391"/>
                <a:gd name="csY66" fmla="*/ 94076 h 131501"/>
                <a:gd name="csX67" fmla="*/ 136465 w 156391"/>
                <a:gd name="csY67" fmla="*/ 89511 h 131501"/>
                <a:gd name="csX68" fmla="*/ 139422 w 156391"/>
                <a:gd name="csY68" fmla="*/ 85010 h 131501"/>
                <a:gd name="csX69" fmla="*/ 142636 w 156391"/>
                <a:gd name="csY69" fmla="*/ 80444 h 131501"/>
                <a:gd name="csX70" fmla="*/ 146107 w 156391"/>
                <a:gd name="csY70" fmla="*/ 75621 h 131501"/>
                <a:gd name="csX71" fmla="*/ 149642 w 156391"/>
                <a:gd name="csY71" fmla="*/ 70413 h 131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156391" h="131501">
                  <a:moveTo>
                    <a:pt x="152792" y="64754"/>
                  </a:moveTo>
                  <a:lnTo>
                    <a:pt x="155171" y="58709"/>
                  </a:lnTo>
                  <a:lnTo>
                    <a:pt x="156392" y="52343"/>
                  </a:lnTo>
                  <a:lnTo>
                    <a:pt x="156199" y="45913"/>
                  </a:lnTo>
                  <a:lnTo>
                    <a:pt x="154399" y="39740"/>
                  </a:lnTo>
                  <a:lnTo>
                    <a:pt x="151121" y="34081"/>
                  </a:lnTo>
                  <a:lnTo>
                    <a:pt x="146557" y="29001"/>
                  </a:lnTo>
                  <a:lnTo>
                    <a:pt x="141029" y="24757"/>
                  </a:lnTo>
                  <a:lnTo>
                    <a:pt x="134987" y="21220"/>
                  </a:lnTo>
                  <a:lnTo>
                    <a:pt x="128751" y="18327"/>
                  </a:lnTo>
                  <a:lnTo>
                    <a:pt x="122645" y="15754"/>
                  </a:lnTo>
                  <a:lnTo>
                    <a:pt x="116667" y="13375"/>
                  </a:lnTo>
                  <a:lnTo>
                    <a:pt x="111011" y="11060"/>
                  </a:lnTo>
                  <a:lnTo>
                    <a:pt x="105418" y="8617"/>
                  </a:lnTo>
                  <a:lnTo>
                    <a:pt x="99825" y="6238"/>
                  </a:lnTo>
                  <a:lnTo>
                    <a:pt x="94041" y="3922"/>
                  </a:lnTo>
                  <a:lnTo>
                    <a:pt x="87998" y="1993"/>
                  </a:lnTo>
                  <a:lnTo>
                    <a:pt x="81763" y="643"/>
                  </a:lnTo>
                  <a:lnTo>
                    <a:pt x="75271" y="0"/>
                  </a:lnTo>
                  <a:lnTo>
                    <a:pt x="68779" y="129"/>
                  </a:lnTo>
                  <a:lnTo>
                    <a:pt x="62351" y="1157"/>
                  </a:lnTo>
                  <a:lnTo>
                    <a:pt x="56180" y="2829"/>
                  </a:lnTo>
                  <a:lnTo>
                    <a:pt x="50202" y="4952"/>
                  </a:lnTo>
                  <a:lnTo>
                    <a:pt x="44481" y="7459"/>
                  </a:lnTo>
                  <a:lnTo>
                    <a:pt x="38953" y="10160"/>
                  </a:lnTo>
                  <a:lnTo>
                    <a:pt x="33489" y="12925"/>
                  </a:lnTo>
                  <a:lnTo>
                    <a:pt x="27961" y="15819"/>
                  </a:lnTo>
                  <a:lnTo>
                    <a:pt x="22433" y="18841"/>
                  </a:lnTo>
                  <a:lnTo>
                    <a:pt x="16970" y="22314"/>
                  </a:lnTo>
                  <a:lnTo>
                    <a:pt x="11892" y="26236"/>
                  </a:lnTo>
                  <a:lnTo>
                    <a:pt x="7392" y="30737"/>
                  </a:lnTo>
                  <a:lnTo>
                    <a:pt x="3728" y="35817"/>
                  </a:lnTo>
                  <a:lnTo>
                    <a:pt x="1221" y="41347"/>
                  </a:lnTo>
                  <a:lnTo>
                    <a:pt x="0" y="47263"/>
                  </a:lnTo>
                  <a:lnTo>
                    <a:pt x="0" y="53244"/>
                  </a:lnTo>
                  <a:lnTo>
                    <a:pt x="1092" y="59095"/>
                  </a:lnTo>
                  <a:lnTo>
                    <a:pt x="2892" y="64754"/>
                  </a:lnTo>
                  <a:lnTo>
                    <a:pt x="5013" y="70091"/>
                  </a:lnTo>
                  <a:lnTo>
                    <a:pt x="7264" y="75171"/>
                  </a:lnTo>
                  <a:lnTo>
                    <a:pt x="9192" y="80123"/>
                  </a:lnTo>
                  <a:lnTo>
                    <a:pt x="10799" y="85138"/>
                  </a:lnTo>
                  <a:lnTo>
                    <a:pt x="12149" y="90347"/>
                  </a:lnTo>
                  <a:lnTo>
                    <a:pt x="13370" y="95813"/>
                  </a:lnTo>
                  <a:lnTo>
                    <a:pt x="14784" y="101535"/>
                  </a:lnTo>
                  <a:lnTo>
                    <a:pt x="16777" y="107387"/>
                  </a:lnTo>
                  <a:lnTo>
                    <a:pt x="19605" y="113110"/>
                  </a:lnTo>
                  <a:lnTo>
                    <a:pt x="23398" y="118383"/>
                  </a:lnTo>
                  <a:lnTo>
                    <a:pt x="28282" y="123013"/>
                  </a:lnTo>
                  <a:lnTo>
                    <a:pt x="34068" y="126678"/>
                  </a:lnTo>
                  <a:lnTo>
                    <a:pt x="40624" y="129315"/>
                  </a:lnTo>
                  <a:lnTo>
                    <a:pt x="47566" y="130858"/>
                  </a:lnTo>
                  <a:lnTo>
                    <a:pt x="54638" y="131501"/>
                  </a:lnTo>
                  <a:lnTo>
                    <a:pt x="61708" y="131501"/>
                  </a:lnTo>
                  <a:lnTo>
                    <a:pt x="68586" y="130922"/>
                  </a:lnTo>
                  <a:lnTo>
                    <a:pt x="75271" y="130151"/>
                  </a:lnTo>
                  <a:lnTo>
                    <a:pt x="81763" y="129122"/>
                  </a:lnTo>
                  <a:lnTo>
                    <a:pt x="88127" y="127965"/>
                  </a:lnTo>
                  <a:lnTo>
                    <a:pt x="94362" y="126614"/>
                  </a:lnTo>
                  <a:lnTo>
                    <a:pt x="100469" y="124942"/>
                  </a:lnTo>
                  <a:lnTo>
                    <a:pt x="106382" y="122756"/>
                  </a:lnTo>
                  <a:lnTo>
                    <a:pt x="111974" y="119927"/>
                  </a:lnTo>
                  <a:lnTo>
                    <a:pt x="116988" y="116518"/>
                  </a:lnTo>
                  <a:lnTo>
                    <a:pt x="121424" y="112531"/>
                  </a:lnTo>
                  <a:lnTo>
                    <a:pt x="125216" y="108159"/>
                  </a:lnTo>
                  <a:lnTo>
                    <a:pt x="128430" y="103465"/>
                  </a:lnTo>
                  <a:lnTo>
                    <a:pt x="131194" y="98770"/>
                  </a:lnTo>
                  <a:lnTo>
                    <a:pt x="133830" y="94076"/>
                  </a:lnTo>
                  <a:lnTo>
                    <a:pt x="136465" y="89511"/>
                  </a:lnTo>
                  <a:lnTo>
                    <a:pt x="139422" y="85010"/>
                  </a:lnTo>
                  <a:lnTo>
                    <a:pt x="142636" y="80444"/>
                  </a:lnTo>
                  <a:lnTo>
                    <a:pt x="146107" y="75621"/>
                  </a:lnTo>
                  <a:lnTo>
                    <a:pt x="149642" y="70413"/>
                  </a:lnTo>
                  <a:close/>
                </a:path>
              </a:pathLst>
            </a:custGeom>
            <a:solidFill>
              <a:srgbClr val="3E86C0"/>
            </a:solidFill>
            <a:ln w="6425" cap="flat">
              <a:solidFill>
                <a:srgbClr val="28608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9" name="Freeform 408">
              <a:extLst>
                <a:ext uri="{FF2B5EF4-FFF2-40B4-BE49-F238E27FC236}">
                  <a16:creationId xmlns:a16="http://schemas.microsoft.com/office/drawing/2014/main" id="{AC6E75F6-D484-7AA4-F5E9-E5B932B4C3D1}"/>
                </a:ext>
              </a:extLst>
            </p:cNvPr>
            <p:cNvSpPr/>
            <p:nvPr/>
          </p:nvSpPr>
          <p:spPr>
            <a:xfrm>
              <a:off x="7773492" y="3385847"/>
              <a:ext cx="4082" cy="118833"/>
            </a:xfrm>
            <a:custGeom>
              <a:avLst/>
              <a:gdLst>
                <a:gd name="csX0" fmla="*/ 2041 w 4082"/>
                <a:gd name="csY0" fmla="*/ 0 h 118833"/>
                <a:gd name="csX1" fmla="*/ 2041 w 4082"/>
                <a:gd name="csY1" fmla="*/ 118834 h 118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082" h="118833">
                  <a:moveTo>
                    <a:pt x="2041" y="0"/>
                  </a:moveTo>
                  <a:cubicBezTo>
                    <a:pt x="9112" y="39611"/>
                    <a:pt x="-5029" y="82052"/>
                    <a:pt x="2041" y="118834"/>
                  </a:cubicBezTo>
                </a:path>
              </a:pathLst>
            </a:custGeom>
            <a:noFill/>
            <a:ln w="5462" cap="rnd">
              <a:solidFill>
                <a:srgbClr val="FFFFFF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" name="Freeform 409">
              <a:extLst>
                <a:ext uri="{FF2B5EF4-FFF2-40B4-BE49-F238E27FC236}">
                  <a16:creationId xmlns:a16="http://schemas.microsoft.com/office/drawing/2014/main" id="{59DBCCC6-0CC0-8901-DE02-5D3BA1011307}"/>
                </a:ext>
              </a:extLst>
            </p:cNvPr>
            <p:cNvSpPr/>
            <p:nvPr/>
          </p:nvSpPr>
          <p:spPr>
            <a:xfrm>
              <a:off x="7720382" y="3418384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1" y="-1886"/>
                    <a:pt x="21212" y="-1886"/>
                    <a:pt x="21212" y="5659"/>
                  </a:cubicBezTo>
                  <a:cubicBezTo>
                    <a:pt x="21212" y="13204"/>
                    <a:pt x="28282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" name="Freeform 410">
              <a:extLst>
                <a:ext uri="{FF2B5EF4-FFF2-40B4-BE49-F238E27FC236}">
                  <a16:creationId xmlns:a16="http://schemas.microsoft.com/office/drawing/2014/main" id="{FE503F11-D49C-67B2-3134-0A73A21CBE8E}"/>
                </a:ext>
              </a:extLst>
            </p:cNvPr>
            <p:cNvSpPr/>
            <p:nvPr/>
          </p:nvSpPr>
          <p:spPr>
            <a:xfrm>
              <a:off x="7724624" y="3457288"/>
              <a:ext cx="36768" cy="11150"/>
            </a:xfrm>
            <a:custGeom>
              <a:avLst/>
              <a:gdLst>
                <a:gd name="csX0" fmla="*/ 0 w 36768"/>
                <a:gd name="csY0" fmla="*/ 4951 h 11150"/>
                <a:gd name="csX1" fmla="*/ 18384 w 36768"/>
                <a:gd name="csY1" fmla="*/ 4951 h 11150"/>
                <a:gd name="csX2" fmla="*/ 36768 w 36768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8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" name="Freeform 411">
              <a:extLst>
                <a:ext uri="{FF2B5EF4-FFF2-40B4-BE49-F238E27FC236}">
                  <a16:creationId xmlns:a16="http://schemas.microsoft.com/office/drawing/2014/main" id="{4E074029-375C-A96C-8849-D56D7DF2A461}"/>
                </a:ext>
              </a:extLst>
            </p:cNvPr>
            <p:cNvSpPr/>
            <p:nvPr/>
          </p:nvSpPr>
          <p:spPr>
            <a:xfrm>
              <a:off x="7788261" y="3419799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3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2" y="-1886"/>
                    <a:pt x="21213" y="-1886"/>
                    <a:pt x="21213" y="5659"/>
                  </a:cubicBezTo>
                  <a:cubicBezTo>
                    <a:pt x="21213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" name="Freeform 412">
              <a:extLst>
                <a:ext uri="{FF2B5EF4-FFF2-40B4-BE49-F238E27FC236}">
                  <a16:creationId xmlns:a16="http://schemas.microsoft.com/office/drawing/2014/main" id="{F405E7A4-DD90-D2F3-2389-FE7BAF62B788}"/>
                </a:ext>
              </a:extLst>
            </p:cNvPr>
            <p:cNvSpPr/>
            <p:nvPr/>
          </p:nvSpPr>
          <p:spPr>
            <a:xfrm>
              <a:off x="7789675" y="3458703"/>
              <a:ext cx="36768" cy="11150"/>
            </a:xfrm>
            <a:custGeom>
              <a:avLst/>
              <a:gdLst>
                <a:gd name="csX0" fmla="*/ 0 w 36768"/>
                <a:gd name="csY0" fmla="*/ 4951 h 11150"/>
                <a:gd name="csX1" fmla="*/ 18385 w 36768"/>
                <a:gd name="csY1" fmla="*/ 4951 h 11150"/>
                <a:gd name="csX2" fmla="*/ 36768 w 36768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8" h="11150">
                  <a:moveTo>
                    <a:pt x="0" y="4951"/>
                  </a:moveTo>
                  <a:cubicBezTo>
                    <a:pt x="12256" y="-1650"/>
                    <a:pt x="18385" y="-1650"/>
                    <a:pt x="18385" y="4951"/>
                  </a:cubicBezTo>
                  <a:cubicBezTo>
                    <a:pt x="18385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4" name="TextBox 413">
            <a:extLst>
              <a:ext uri="{FF2B5EF4-FFF2-40B4-BE49-F238E27FC236}">
                <a16:creationId xmlns:a16="http://schemas.microsoft.com/office/drawing/2014/main" id="{99ABE1F3-DAE9-C763-8444-062DA941C803}"/>
              </a:ext>
            </a:extLst>
          </p:cNvPr>
          <p:cNvSpPr txBox="1"/>
          <p:nvPr/>
        </p:nvSpPr>
        <p:spPr>
          <a:xfrm>
            <a:off x="7838364" y="3303297"/>
            <a:ext cx="1163222" cy="187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b="1" spc="0" baseline="0">
                <a:ln/>
                <a:solidFill>
                  <a:srgbClr val="22314A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Mentalizing — self / other</a:t>
            </a: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6579D1AB-8E45-E3A5-8767-CB9FC995F628}"/>
              </a:ext>
            </a:extLst>
          </p:cNvPr>
          <p:cNvSpPr txBox="1"/>
          <p:nvPr/>
        </p:nvSpPr>
        <p:spPr>
          <a:xfrm>
            <a:off x="7838364" y="3423291"/>
            <a:ext cx="515629" cy="174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25" i="1" spc="0" baseline="0">
                <a:ln/>
                <a:solidFill>
                  <a:srgbClr val="7C8598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Açıl · 2026</a:t>
            </a:r>
          </a:p>
        </p:txBody>
      </p:sp>
      <p:sp>
        <p:nvSpPr>
          <p:cNvPr id="416" name="Freeform 415">
            <a:extLst>
              <a:ext uri="{FF2B5EF4-FFF2-40B4-BE49-F238E27FC236}">
                <a16:creationId xmlns:a16="http://schemas.microsoft.com/office/drawing/2014/main" id="{502DE8E4-3468-C88D-60FC-4343750AD3FD}"/>
              </a:ext>
            </a:extLst>
          </p:cNvPr>
          <p:cNvSpPr/>
          <p:nvPr/>
        </p:nvSpPr>
        <p:spPr>
          <a:xfrm>
            <a:off x="7479848" y="3183033"/>
            <a:ext cx="128558" cy="623745"/>
          </a:xfrm>
          <a:custGeom>
            <a:avLst/>
            <a:gdLst>
              <a:gd name="csX0" fmla="*/ 0 w 128558"/>
              <a:gd name="csY0" fmla="*/ 0 h 623745"/>
              <a:gd name="csX1" fmla="*/ 128559 w 128558"/>
              <a:gd name="csY1" fmla="*/ 623746 h 62374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8558" h="623745">
                <a:moveTo>
                  <a:pt x="0" y="0"/>
                </a:moveTo>
                <a:cubicBezTo>
                  <a:pt x="0" y="623746"/>
                  <a:pt x="64279" y="623746"/>
                  <a:pt x="128559" y="623746"/>
                </a:cubicBezTo>
              </a:path>
            </a:pathLst>
          </a:custGeom>
          <a:noFill/>
          <a:ln w="12851" cap="flat">
            <a:solidFill>
              <a:srgbClr val="3E86C0">
                <a:alpha val="4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17" name="Rounded Rectangle 416">
            <a:extLst>
              <a:ext uri="{FF2B5EF4-FFF2-40B4-BE49-F238E27FC236}">
                <a16:creationId xmlns:a16="http://schemas.microsoft.com/office/drawing/2014/main" id="{2D76B09A-6637-D6A5-6B63-4598BA113815}"/>
              </a:ext>
            </a:extLst>
          </p:cNvPr>
          <p:cNvSpPr/>
          <p:nvPr/>
        </p:nvSpPr>
        <p:spPr>
          <a:xfrm>
            <a:off x="7608407" y="3652450"/>
            <a:ext cx="1722690" cy="308657"/>
          </a:xfrm>
          <a:prstGeom prst="roundRect">
            <a:avLst>
              <a:gd name="adj" fmla="val 24990"/>
            </a:avLst>
          </a:prstGeom>
          <a:solidFill>
            <a:srgbClr val="FFFFFF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18" name="Rounded Rectangle 417">
            <a:extLst>
              <a:ext uri="{FF2B5EF4-FFF2-40B4-BE49-F238E27FC236}">
                <a16:creationId xmlns:a16="http://schemas.microsoft.com/office/drawing/2014/main" id="{87706CFC-5EEF-4FD9-AB1E-4D5BBE4D33B8}"/>
              </a:ext>
            </a:extLst>
          </p:cNvPr>
          <p:cNvSpPr/>
          <p:nvPr/>
        </p:nvSpPr>
        <p:spPr>
          <a:xfrm>
            <a:off x="7608407" y="3652450"/>
            <a:ext cx="32139" cy="308657"/>
          </a:xfrm>
          <a:prstGeom prst="roundRect">
            <a:avLst>
              <a:gd name="adj" fmla="val 50000"/>
            </a:avLst>
          </a:prstGeom>
          <a:solidFill>
            <a:srgbClr val="3E86C0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19" name="Oval 418">
            <a:extLst>
              <a:ext uri="{FF2B5EF4-FFF2-40B4-BE49-F238E27FC236}">
                <a16:creationId xmlns:a16="http://schemas.microsoft.com/office/drawing/2014/main" id="{36AD72DB-EF44-A573-B3B8-966AA57A7825}"/>
              </a:ext>
            </a:extLst>
          </p:cNvPr>
          <p:cNvSpPr/>
          <p:nvPr/>
        </p:nvSpPr>
        <p:spPr>
          <a:xfrm>
            <a:off x="7679114" y="3710323"/>
            <a:ext cx="192838" cy="192911"/>
          </a:xfrm>
          <a:prstGeom prst="ellipse">
            <a:avLst/>
          </a:prstGeom>
          <a:solidFill>
            <a:srgbClr val="E5EFF8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420" name="Graphic 2">
            <a:extLst>
              <a:ext uri="{FF2B5EF4-FFF2-40B4-BE49-F238E27FC236}">
                <a16:creationId xmlns:a16="http://schemas.microsoft.com/office/drawing/2014/main" id="{F35D93B1-49DB-7868-36FA-12C55F496121}"/>
              </a:ext>
            </a:extLst>
          </p:cNvPr>
          <p:cNvGrpSpPr/>
          <p:nvPr/>
        </p:nvGrpSpPr>
        <p:grpSpPr>
          <a:xfrm>
            <a:off x="7700263" y="3742025"/>
            <a:ext cx="156391" cy="131501"/>
            <a:chOff x="7700263" y="3742025"/>
            <a:chExt cx="156391" cy="131501"/>
          </a:xfrm>
        </p:grpSpPr>
        <p:sp>
          <p:nvSpPr>
            <p:cNvPr id="421" name="Freeform 420">
              <a:extLst>
                <a:ext uri="{FF2B5EF4-FFF2-40B4-BE49-F238E27FC236}">
                  <a16:creationId xmlns:a16="http://schemas.microsoft.com/office/drawing/2014/main" id="{1A2DDC18-329D-5A51-A66F-654300718333}"/>
                </a:ext>
              </a:extLst>
            </p:cNvPr>
            <p:cNvSpPr/>
            <p:nvPr/>
          </p:nvSpPr>
          <p:spPr>
            <a:xfrm>
              <a:off x="7700263" y="3742025"/>
              <a:ext cx="156391" cy="131501"/>
            </a:xfrm>
            <a:custGeom>
              <a:avLst/>
              <a:gdLst>
                <a:gd name="csX0" fmla="*/ 152792 w 156391"/>
                <a:gd name="csY0" fmla="*/ 64754 h 131501"/>
                <a:gd name="csX1" fmla="*/ 155171 w 156391"/>
                <a:gd name="csY1" fmla="*/ 58709 h 131501"/>
                <a:gd name="csX2" fmla="*/ 156392 w 156391"/>
                <a:gd name="csY2" fmla="*/ 52343 h 131501"/>
                <a:gd name="csX3" fmla="*/ 156199 w 156391"/>
                <a:gd name="csY3" fmla="*/ 45913 h 131501"/>
                <a:gd name="csX4" fmla="*/ 154399 w 156391"/>
                <a:gd name="csY4" fmla="*/ 39740 h 131501"/>
                <a:gd name="csX5" fmla="*/ 151121 w 156391"/>
                <a:gd name="csY5" fmla="*/ 34081 h 131501"/>
                <a:gd name="csX6" fmla="*/ 146557 w 156391"/>
                <a:gd name="csY6" fmla="*/ 29001 h 131501"/>
                <a:gd name="csX7" fmla="*/ 141029 w 156391"/>
                <a:gd name="csY7" fmla="*/ 24757 h 131501"/>
                <a:gd name="csX8" fmla="*/ 134987 w 156391"/>
                <a:gd name="csY8" fmla="*/ 21220 h 131501"/>
                <a:gd name="csX9" fmla="*/ 128751 w 156391"/>
                <a:gd name="csY9" fmla="*/ 18327 h 131501"/>
                <a:gd name="csX10" fmla="*/ 122645 w 156391"/>
                <a:gd name="csY10" fmla="*/ 15754 h 131501"/>
                <a:gd name="csX11" fmla="*/ 116667 w 156391"/>
                <a:gd name="csY11" fmla="*/ 13375 h 131501"/>
                <a:gd name="csX12" fmla="*/ 111011 w 156391"/>
                <a:gd name="csY12" fmla="*/ 11060 h 131501"/>
                <a:gd name="csX13" fmla="*/ 105418 w 156391"/>
                <a:gd name="csY13" fmla="*/ 8617 h 131501"/>
                <a:gd name="csX14" fmla="*/ 99825 w 156391"/>
                <a:gd name="csY14" fmla="*/ 6238 h 131501"/>
                <a:gd name="csX15" fmla="*/ 94041 w 156391"/>
                <a:gd name="csY15" fmla="*/ 3922 h 131501"/>
                <a:gd name="csX16" fmla="*/ 87998 w 156391"/>
                <a:gd name="csY16" fmla="*/ 1993 h 131501"/>
                <a:gd name="csX17" fmla="*/ 81763 w 156391"/>
                <a:gd name="csY17" fmla="*/ 643 h 131501"/>
                <a:gd name="csX18" fmla="*/ 75271 w 156391"/>
                <a:gd name="csY18" fmla="*/ 0 h 131501"/>
                <a:gd name="csX19" fmla="*/ 68779 w 156391"/>
                <a:gd name="csY19" fmla="*/ 129 h 131501"/>
                <a:gd name="csX20" fmla="*/ 62351 w 156391"/>
                <a:gd name="csY20" fmla="*/ 1157 h 131501"/>
                <a:gd name="csX21" fmla="*/ 56180 w 156391"/>
                <a:gd name="csY21" fmla="*/ 2829 h 131501"/>
                <a:gd name="csX22" fmla="*/ 50202 w 156391"/>
                <a:gd name="csY22" fmla="*/ 4952 h 131501"/>
                <a:gd name="csX23" fmla="*/ 44481 w 156391"/>
                <a:gd name="csY23" fmla="*/ 7459 h 131501"/>
                <a:gd name="csX24" fmla="*/ 38953 w 156391"/>
                <a:gd name="csY24" fmla="*/ 10160 h 131501"/>
                <a:gd name="csX25" fmla="*/ 33489 w 156391"/>
                <a:gd name="csY25" fmla="*/ 12925 h 131501"/>
                <a:gd name="csX26" fmla="*/ 27961 w 156391"/>
                <a:gd name="csY26" fmla="*/ 15819 h 131501"/>
                <a:gd name="csX27" fmla="*/ 22433 w 156391"/>
                <a:gd name="csY27" fmla="*/ 18841 h 131501"/>
                <a:gd name="csX28" fmla="*/ 16970 w 156391"/>
                <a:gd name="csY28" fmla="*/ 22314 h 131501"/>
                <a:gd name="csX29" fmla="*/ 11892 w 156391"/>
                <a:gd name="csY29" fmla="*/ 26236 h 131501"/>
                <a:gd name="csX30" fmla="*/ 7392 w 156391"/>
                <a:gd name="csY30" fmla="*/ 30737 h 131501"/>
                <a:gd name="csX31" fmla="*/ 3728 w 156391"/>
                <a:gd name="csY31" fmla="*/ 35817 h 131501"/>
                <a:gd name="csX32" fmla="*/ 1221 w 156391"/>
                <a:gd name="csY32" fmla="*/ 41347 h 131501"/>
                <a:gd name="csX33" fmla="*/ 0 w 156391"/>
                <a:gd name="csY33" fmla="*/ 47263 h 131501"/>
                <a:gd name="csX34" fmla="*/ 0 w 156391"/>
                <a:gd name="csY34" fmla="*/ 53244 h 131501"/>
                <a:gd name="csX35" fmla="*/ 1092 w 156391"/>
                <a:gd name="csY35" fmla="*/ 59095 h 131501"/>
                <a:gd name="csX36" fmla="*/ 2892 w 156391"/>
                <a:gd name="csY36" fmla="*/ 64754 h 131501"/>
                <a:gd name="csX37" fmla="*/ 5013 w 156391"/>
                <a:gd name="csY37" fmla="*/ 70091 h 131501"/>
                <a:gd name="csX38" fmla="*/ 7264 w 156391"/>
                <a:gd name="csY38" fmla="*/ 75171 h 131501"/>
                <a:gd name="csX39" fmla="*/ 9192 w 156391"/>
                <a:gd name="csY39" fmla="*/ 80123 h 131501"/>
                <a:gd name="csX40" fmla="*/ 10799 w 156391"/>
                <a:gd name="csY40" fmla="*/ 85138 h 131501"/>
                <a:gd name="csX41" fmla="*/ 12149 w 156391"/>
                <a:gd name="csY41" fmla="*/ 90347 h 131501"/>
                <a:gd name="csX42" fmla="*/ 13370 w 156391"/>
                <a:gd name="csY42" fmla="*/ 95813 h 131501"/>
                <a:gd name="csX43" fmla="*/ 14784 w 156391"/>
                <a:gd name="csY43" fmla="*/ 101535 h 131501"/>
                <a:gd name="csX44" fmla="*/ 16777 w 156391"/>
                <a:gd name="csY44" fmla="*/ 107387 h 131501"/>
                <a:gd name="csX45" fmla="*/ 19605 w 156391"/>
                <a:gd name="csY45" fmla="*/ 113110 h 131501"/>
                <a:gd name="csX46" fmla="*/ 23398 w 156391"/>
                <a:gd name="csY46" fmla="*/ 118383 h 131501"/>
                <a:gd name="csX47" fmla="*/ 28282 w 156391"/>
                <a:gd name="csY47" fmla="*/ 123013 h 131501"/>
                <a:gd name="csX48" fmla="*/ 34068 w 156391"/>
                <a:gd name="csY48" fmla="*/ 126678 h 131501"/>
                <a:gd name="csX49" fmla="*/ 40624 w 156391"/>
                <a:gd name="csY49" fmla="*/ 129315 h 131501"/>
                <a:gd name="csX50" fmla="*/ 47566 w 156391"/>
                <a:gd name="csY50" fmla="*/ 130858 h 131501"/>
                <a:gd name="csX51" fmla="*/ 54638 w 156391"/>
                <a:gd name="csY51" fmla="*/ 131501 h 131501"/>
                <a:gd name="csX52" fmla="*/ 61708 w 156391"/>
                <a:gd name="csY52" fmla="*/ 131501 h 131501"/>
                <a:gd name="csX53" fmla="*/ 68586 w 156391"/>
                <a:gd name="csY53" fmla="*/ 130922 h 131501"/>
                <a:gd name="csX54" fmla="*/ 75271 w 156391"/>
                <a:gd name="csY54" fmla="*/ 130151 h 131501"/>
                <a:gd name="csX55" fmla="*/ 81763 w 156391"/>
                <a:gd name="csY55" fmla="*/ 129122 h 131501"/>
                <a:gd name="csX56" fmla="*/ 88127 w 156391"/>
                <a:gd name="csY56" fmla="*/ 127965 h 131501"/>
                <a:gd name="csX57" fmla="*/ 94362 w 156391"/>
                <a:gd name="csY57" fmla="*/ 126614 h 131501"/>
                <a:gd name="csX58" fmla="*/ 100469 w 156391"/>
                <a:gd name="csY58" fmla="*/ 124942 h 131501"/>
                <a:gd name="csX59" fmla="*/ 106382 w 156391"/>
                <a:gd name="csY59" fmla="*/ 122756 h 131501"/>
                <a:gd name="csX60" fmla="*/ 111974 w 156391"/>
                <a:gd name="csY60" fmla="*/ 119927 h 131501"/>
                <a:gd name="csX61" fmla="*/ 116988 w 156391"/>
                <a:gd name="csY61" fmla="*/ 116518 h 131501"/>
                <a:gd name="csX62" fmla="*/ 121424 w 156391"/>
                <a:gd name="csY62" fmla="*/ 112531 h 131501"/>
                <a:gd name="csX63" fmla="*/ 125216 w 156391"/>
                <a:gd name="csY63" fmla="*/ 108159 h 131501"/>
                <a:gd name="csX64" fmla="*/ 128430 w 156391"/>
                <a:gd name="csY64" fmla="*/ 103465 h 131501"/>
                <a:gd name="csX65" fmla="*/ 131194 w 156391"/>
                <a:gd name="csY65" fmla="*/ 98770 h 131501"/>
                <a:gd name="csX66" fmla="*/ 133830 w 156391"/>
                <a:gd name="csY66" fmla="*/ 94076 h 131501"/>
                <a:gd name="csX67" fmla="*/ 136465 w 156391"/>
                <a:gd name="csY67" fmla="*/ 89511 h 131501"/>
                <a:gd name="csX68" fmla="*/ 139422 w 156391"/>
                <a:gd name="csY68" fmla="*/ 85010 h 131501"/>
                <a:gd name="csX69" fmla="*/ 142636 w 156391"/>
                <a:gd name="csY69" fmla="*/ 80444 h 131501"/>
                <a:gd name="csX70" fmla="*/ 146107 w 156391"/>
                <a:gd name="csY70" fmla="*/ 75621 h 131501"/>
                <a:gd name="csX71" fmla="*/ 149642 w 156391"/>
                <a:gd name="csY71" fmla="*/ 70413 h 131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156391" h="131501">
                  <a:moveTo>
                    <a:pt x="152792" y="64754"/>
                  </a:moveTo>
                  <a:lnTo>
                    <a:pt x="155171" y="58709"/>
                  </a:lnTo>
                  <a:lnTo>
                    <a:pt x="156392" y="52343"/>
                  </a:lnTo>
                  <a:lnTo>
                    <a:pt x="156199" y="45913"/>
                  </a:lnTo>
                  <a:lnTo>
                    <a:pt x="154399" y="39740"/>
                  </a:lnTo>
                  <a:lnTo>
                    <a:pt x="151121" y="34081"/>
                  </a:lnTo>
                  <a:lnTo>
                    <a:pt x="146557" y="29001"/>
                  </a:lnTo>
                  <a:lnTo>
                    <a:pt x="141029" y="24757"/>
                  </a:lnTo>
                  <a:lnTo>
                    <a:pt x="134987" y="21220"/>
                  </a:lnTo>
                  <a:lnTo>
                    <a:pt x="128751" y="18327"/>
                  </a:lnTo>
                  <a:lnTo>
                    <a:pt x="122645" y="15754"/>
                  </a:lnTo>
                  <a:lnTo>
                    <a:pt x="116667" y="13375"/>
                  </a:lnTo>
                  <a:lnTo>
                    <a:pt x="111011" y="11060"/>
                  </a:lnTo>
                  <a:lnTo>
                    <a:pt x="105418" y="8617"/>
                  </a:lnTo>
                  <a:lnTo>
                    <a:pt x="99825" y="6238"/>
                  </a:lnTo>
                  <a:lnTo>
                    <a:pt x="94041" y="3922"/>
                  </a:lnTo>
                  <a:lnTo>
                    <a:pt x="87998" y="1993"/>
                  </a:lnTo>
                  <a:lnTo>
                    <a:pt x="81763" y="643"/>
                  </a:lnTo>
                  <a:lnTo>
                    <a:pt x="75271" y="0"/>
                  </a:lnTo>
                  <a:lnTo>
                    <a:pt x="68779" y="129"/>
                  </a:lnTo>
                  <a:lnTo>
                    <a:pt x="62351" y="1157"/>
                  </a:lnTo>
                  <a:lnTo>
                    <a:pt x="56180" y="2829"/>
                  </a:lnTo>
                  <a:lnTo>
                    <a:pt x="50202" y="4952"/>
                  </a:lnTo>
                  <a:lnTo>
                    <a:pt x="44481" y="7459"/>
                  </a:lnTo>
                  <a:lnTo>
                    <a:pt x="38953" y="10160"/>
                  </a:lnTo>
                  <a:lnTo>
                    <a:pt x="33489" y="12925"/>
                  </a:lnTo>
                  <a:lnTo>
                    <a:pt x="27961" y="15819"/>
                  </a:lnTo>
                  <a:lnTo>
                    <a:pt x="22433" y="18841"/>
                  </a:lnTo>
                  <a:lnTo>
                    <a:pt x="16970" y="22314"/>
                  </a:lnTo>
                  <a:lnTo>
                    <a:pt x="11892" y="26236"/>
                  </a:lnTo>
                  <a:lnTo>
                    <a:pt x="7392" y="30737"/>
                  </a:lnTo>
                  <a:lnTo>
                    <a:pt x="3728" y="35817"/>
                  </a:lnTo>
                  <a:lnTo>
                    <a:pt x="1221" y="41347"/>
                  </a:lnTo>
                  <a:lnTo>
                    <a:pt x="0" y="47263"/>
                  </a:lnTo>
                  <a:lnTo>
                    <a:pt x="0" y="53244"/>
                  </a:lnTo>
                  <a:lnTo>
                    <a:pt x="1092" y="59095"/>
                  </a:lnTo>
                  <a:lnTo>
                    <a:pt x="2892" y="64754"/>
                  </a:lnTo>
                  <a:lnTo>
                    <a:pt x="5013" y="70091"/>
                  </a:lnTo>
                  <a:lnTo>
                    <a:pt x="7264" y="75171"/>
                  </a:lnTo>
                  <a:lnTo>
                    <a:pt x="9192" y="80123"/>
                  </a:lnTo>
                  <a:lnTo>
                    <a:pt x="10799" y="85138"/>
                  </a:lnTo>
                  <a:lnTo>
                    <a:pt x="12149" y="90347"/>
                  </a:lnTo>
                  <a:lnTo>
                    <a:pt x="13370" y="95813"/>
                  </a:lnTo>
                  <a:lnTo>
                    <a:pt x="14784" y="101535"/>
                  </a:lnTo>
                  <a:lnTo>
                    <a:pt x="16777" y="107387"/>
                  </a:lnTo>
                  <a:lnTo>
                    <a:pt x="19605" y="113110"/>
                  </a:lnTo>
                  <a:lnTo>
                    <a:pt x="23398" y="118383"/>
                  </a:lnTo>
                  <a:lnTo>
                    <a:pt x="28282" y="123013"/>
                  </a:lnTo>
                  <a:lnTo>
                    <a:pt x="34068" y="126678"/>
                  </a:lnTo>
                  <a:lnTo>
                    <a:pt x="40624" y="129315"/>
                  </a:lnTo>
                  <a:lnTo>
                    <a:pt x="47566" y="130858"/>
                  </a:lnTo>
                  <a:lnTo>
                    <a:pt x="54638" y="131501"/>
                  </a:lnTo>
                  <a:lnTo>
                    <a:pt x="61708" y="131501"/>
                  </a:lnTo>
                  <a:lnTo>
                    <a:pt x="68586" y="130922"/>
                  </a:lnTo>
                  <a:lnTo>
                    <a:pt x="75271" y="130151"/>
                  </a:lnTo>
                  <a:lnTo>
                    <a:pt x="81763" y="129122"/>
                  </a:lnTo>
                  <a:lnTo>
                    <a:pt x="88127" y="127965"/>
                  </a:lnTo>
                  <a:lnTo>
                    <a:pt x="94362" y="126614"/>
                  </a:lnTo>
                  <a:lnTo>
                    <a:pt x="100469" y="124942"/>
                  </a:lnTo>
                  <a:lnTo>
                    <a:pt x="106382" y="122756"/>
                  </a:lnTo>
                  <a:lnTo>
                    <a:pt x="111974" y="119927"/>
                  </a:lnTo>
                  <a:lnTo>
                    <a:pt x="116988" y="116518"/>
                  </a:lnTo>
                  <a:lnTo>
                    <a:pt x="121424" y="112531"/>
                  </a:lnTo>
                  <a:lnTo>
                    <a:pt x="125216" y="108159"/>
                  </a:lnTo>
                  <a:lnTo>
                    <a:pt x="128430" y="103465"/>
                  </a:lnTo>
                  <a:lnTo>
                    <a:pt x="131194" y="98770"/>
                  </a:lnTo>
                  <a:lnTo>
                    <a:pt x="133830" y="94076"/>
                  </a:lnTo>
                  <a:lnTo>
                    <a:pt x="136465" y="89511"/>
                  </a:lnTo>
                  <a:lnTo>
                    <a:pt x="139422" y="85010"/>
                  </a:lnTo>
                  <a:lnTo>
                    <a:pt x="142636" y="80444"/>
                  </a:lnTo>
                  <a:lnTo>
                    <a:pt x="146107" y="75621"/>
                  </a:lnTo>
                  <a:lnTo>
                    <a:pt x="149642" y="70413"/>
                  </a:lnTo>
                  <a:close/>
                </a:path>
              </a:pathLst>
            </a:custGeom>
            <a:solidFill>
              <a:srgbClr val="3E86C0"/>
            </a:solidFill>
            <a:ln w="6425" cap="flat">
              <a:solidFill>
                <a:srgbClr val="28608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2" name="Freeform 421">
              <a:extLst>
                <a:ext uri="{FF2B5EF4-FFF2-40B4-BE49-F238E27FC236}">
                  <a16:creationId xmlns:a16="http://schemas.microsoft.com/office/drawing/2014/main" id="{C3DADCF4-170E-F4FD-5CA2-91812CE5C693}"/>
                </a:ext>
              </a:extLst>
            </p:cNvPr>
            <p:cNvSpPr/>
            <p:nvPr/>
          </p:nvSpPr>
          <p:spPr>
            <a:xfrm>
              <a:off x="7773492" y="3745948"/>
              <a:ext cx="4082" cy="118833"/>
            </a:xfrm>
            <a:custGeom>
              <a:avLst/>
              <a:gdLst>
                <a:gd name="csX0" fmla="*/ 2041 w 4082"/>
                <a:gd name="csY0" fmla="*/ 0 h 118833"/>
                <a:gd name="csX1" fmla="*/ 2041 w 4082"/>
                <a:gd name="csY1" fmla="*/ 118834 h 118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082" h="118833">
                  <a:moveTo>
                    <a:pt x="2041" y="0"/>
                  </a:moveTo>
                  <a:cubicBezTo>
                    <a:pt x="9112" y="39611"/>
                    <a:pt x="-5029" y="82052"/>
                    <a:pt x="2041" y="118834"/>
                  </a:cubicBezTo>
                </a:path>
              </a:pathLst>
            </a:custGeom>
            <a:noFill/>
            <a:ln w="5462" cap="rnd">
              <a:solidFill>
                <a:srgbClr val="FFFFFF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3" name="Freeform 422">
              <a:extLst>
                <a:ext uri="{FF2B5EF4-FFF2-40B4-BE49-F238E27FC236}">
                  <a16:creationId xmlns:a16="http://schemas.microsoft.com/office/drawing/2014/main" id="{2CED8A23-80CA-8165-A98F-D5A36DA2405B}"/>
                </a:ext>
              </a:extLst>
            </p:cNvPr>
            <p:cNvSpPr/>
            <p:nvPr/>
          </p:nvSpPr>
          <p:spPr>
            <a:xfrm>
              <a:off x="7720382" y="3778485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1" y="-1886"/>
                    <a:pt x="21212" y="-1886"/>
                    <a:pt x="21212" y="5659"/>
                  </a:cubicBezTo>
                  <a:cubicBezTo>
                    <a:pt x="21212" y="13204"/>
                    <a:pt x="28282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4" name="Freeform 423">
              <a:extLst>
                <a:ext uri="{FF2B5EF4-FFF2-40B4-BE49-F238E27FC236}">
                  <a16:creationId xmlns:a16="http://schemas.microsoft.com/office/drawing/2014/main" id="{BF4098BF-47ED-72C2-4EF7-A816CEA9C089}"/>
                </a:ext>
              </a:extLst>
            </p:cNvPr>
            <p:cNvSpPr/>
            <p:nvPr/>
          </p:nvSpPr>
          <p:spPr>
            <a:xfrm>
              <a:off x="7724624" y="3817389"/>
              <a:ext cx="36768" cy="11150"/>
            </a:xfrm>
            <a:custGeom>
              <a:avLst/>
              <a:gdLst>
                <a:gd name="csX0" fmla="*/ 0 w 36768"/>
                <a:gd name="csY0" fmla="*/ 4951 h 11150"/>
                <a:gd name="csX1" fmla="*/ 18384 w 36768"/>
                <a:gd name="csY1" fmla="*/ 4951 h 11150"/>
                <a:gd name="csX2" fmla="*/ 36768 w 36768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8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5" name="Freeform 424">
              <a:extLst>
                <a:ext uri="{FF2B5EF4-FFF2-40B4-BE49-F238E27FC236}">
                  <a16:creationId xmlns:a16="http://schemas.microsoft.com/office/drawing/2014/main" id="{5836B324-433D-9213-480C-BA62B94B2256}"/>
                </a:ext>
              </a:extLst>
            </p:cNvPr>
            <p:cNvSpPr/>
            <p:nvPr/>
          </p:nvSpPr>
          <p:spPr>
            <a:xfrm>
              <a:off x="7788261" y="3779900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3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2" y="-1886"/>
                    <a:pt x="21213" y="-1886"/>
                    <a:pt x="21213" y="5659"/>
                  </a:cubicBezTo>
                  <a:cubicBezTo>
                    <a:pt x="21213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6" name="Freeform 425">
              <a:extLst>
                <a:ext uri="{FF2B5EF4-FFF2-40B4-BE49-F238E27FC236}">
                  <a16:creationId xmlns:a16="http://schemas.microsoft.com/office/drawing/2014/main" id="{AB7AD727-7D6D-3082-6E9E-763F6B72C7ED}"/>
                </a:ext>
              </a:extLst>
            </p:cNvPr>
            <p:cNvSpPr/>
            <p:nvPr/>
          </p:nvSpPr>
          <p:spPr>
            <a:xfrm>
              <a:off x="7789675" y="3818804"/>
              <a:ext cx="36768" cy="11150"/>
            </a:xfrm>
            <a:custGeom>
              <a:avLst/>
              <a:gdLst>
                <a:gd name="csX0" fmla="*/ 0 w 36768"/>
                <a:gd name="csY0" fmla="*/ 4951 h 11150"/>
                <a:gd name="csX1" fmla="*/ 18385 w 36768"/>
                <a:gd name="csY1" fmla="*/ 4951 h 11150"/>
                <a:gd name="csX2" fmla="*/ 36768 w 36768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8" h="11150">
                  <a:moveTo>
                    <a:pt x="0" y="4951"/>
                  </a:moveTo>
                  <a:cubicBezTo>
                    <a:pt x="12256" y="-1650"/>
                    <a:pt x="18385" y="-1650"/>
                    <a:pt x="18385" y="4951"/>
                  </a:cubicBezTo>
                  <a:cubicBezTo>
                    <a:pt x="18385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27" name="TextBox 426">
            <a:extLst>
              <a:ext uri="{FF2B5EF4-FFF2-40B4-BE49-F238E27FC236}">
                <a16:creationId xmlns:a16="http://schemas.microsoft.com/office/drawing/2014/main" id="{CD51B3C0-8F8D-1196-172A-9D9047FC2739}"/>
              </a:ext>
            </a:extLst>
          </p:cNvPr>
          <p:cNvSpPr txBox="1"/>
          <p:nvPr/>
        </p:nvSpPr>
        <p:spPr>
          <a:xfrm>
            <a:off x="7838364" y="3663398"/>
            <a:ext cx="1142331" cy="187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b="1" spc="0" baseline="0">
                <a:ln/>
                <a:solidFill>
                  <a:srgbClr val="22314A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Empathic care &amp; distress</a:t>
            </a:r>
          </a:p>
        </p:txBody>
      </p:sp>
      <p:sp>
        <p:nvSpPr>
          <p:cNvPr id="428" name="TextBox 427">
            <a:extLst>
              <a:ext uri="{FF2B5EF4-FFF2-40B4-BE49-F238E27FC236}">
                <a16:creationId xmlns:a16="http://schemas.microsoft.com/office/drawing/2014/main" id="{0DAF263E-01A3-9A98-40DE-E9267A528286}"/>
              </a:ext>
            </a:extLst>
          </p:cNvPr>
          <p:cNvSpPr txBox="1"/>
          <p:nvPr/>
        </p:nvSpPr>
        <p:spPr>
          <a:xfrm>
            <a:off x="7838364" y="3783392"/>
            <a:ext cx="579831" cy="174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25" i="1" spc="0" baseline="0">
                <a:ln/>
                <a:solidFill>
                  <a:srgbClr val="7C8598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Ashar · 2017</a:t>
            </a:r>
          </a:p>
        </p:txBody>
      </p:sp>
      <p:sp>
        <p:nvSpPr>
          <p:cNvPr id="429" name="Freeform 428">
            <a:extLst>
              <a:ext uri="{FF2B5EF4-FFF2-40B4-BE49-F238E27FC236}">
                <a16:creationId xmlns:a16="http://schemas.microsoft.com/office/drawing/2014/main" id="{06D0FCB4-47A9-F500-AE2F-7197724D32D6}"/>
              </a:ext>
            </a:extLst>
          </p:cNvPr>
          <p:cNvSpPr/>
          <p:nvPr/>
        </p:nvSpPr>
        <p:spPr>
          <a:xfrm>
            <a:off x="7479848" y="3183033"/>
            <a:ext cx="128558" cy="983846"/>
          </a:xfrm>
          <a:custGeom>
            <a:avLst/>
            <a:gdLst>
              <a:gd name="csX0" fmla="*/ 0 w 128558"/>
              <a:gd name="csY0" fmla="*/ 0 h 983846"/>
              <a:gd name="csX1" fmla="*/ 128559 w 128558"/>
              <a:gd name="csY1" fmla="*/ 983847 h 98384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8558" h="983846">
                <a:moveTo>
                  <a:pt x="0" y="0"/>
                </a:moveTo>
                <a:cubicBezTo>
                  <a:pt x="0" y="983847"/>
                  <a:pt x="64279" y="983847"/>
                  <a:pt x="128559" y="983847"/>
                </a:cubicBezTo>
              </a:path>
            </a:pathLst>
          </a:custGeom>
          <a:noFill/>
          <a:ln w="12851" cap="flat">
            <a:solidFill>
              <a:srgbClr val="3E86C0">
                <a:alpha val="4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30" name="Rounded Rectangle 429">
            <a:extLst>
              <a:ext uri="{FF2B5EF4-FFF2-40B4-BE49-F238E27FC236}">
                <a16:creationId xmlns:a16="http://schemas.microsoft.com/office/drawing/2014/main" id="{9B6196D3-424F-3E30-6ABD-EE4E509EC824}"/>
              </a:ext>
            </a:extLst>
          </p:cNvPr>
          <p:cNvSpPr/>
          <p:nvPr/>
        </p:nvSpPr>
        <p:spPr>
          <a:xfrm>
            <a:off x="7608407" y="4012551"/>
            <a:ext cx="1722690" cy="308657"/>
          </a:xfrm>
          <a:prstGeom prst="roundRect">
            <a:avLst>
              <a:gd name="adj" fmla="val 24990"/>
            </a:avLst>
          </a:prstGeom>
          <a:solidFill>
            <a:srgbClr val="FFFFFF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31" name="Rounded Rectangle 430">
            <a:extLst>
              <a:ext uri="{FF2B5EF4-FFF2-40B4-BE49-F238E27FC236}">
                <a16:creationId xmlns:a16="http://schemas.microsoft.com/office/drawing/2014/main" id="{3EAEB806-C7EA-ACBF-7656-E09FB836D433}"/>
              </a:ext>
            </a:extLst>
          </p:cNvPr>
          <p:cNvSpPr/>
          <p:nvPr/>
        </p:nvSpPr>
        <p:spPr>
          <a:xfrm>
            <a:off x="7608407" y="4012551"/>
            <a:ext cx="32139" cy="308657"/>
          </a:xfrm>
          <a:prstGeom prst="roundRect">
            <a:avLst>
              <a:gd name="adj" fmla="val 50000"/>
            </a:avLst>
          </a:prstGeom>
          <a:solidFill>
            <a:srgbClr val="3E86C0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32" name="Oval 431">
            <a:extLst>
              <a:ext uri="{FF2B5EF4-FFF2-40B4-BE49-F238E27FC236}">
                <a16:creationId xmlns:a16="http://schemas.microsoft.com/office/drawing/2014/main" id="{30CE1A17-192A-3D3B-D8A6-DB5F7961577E}"/>
              </a:ext>
            </a:extLst>
          </p:cNvPr>
          <p:cNvSpPr/>
          <p:nvPr/>
        </p:nvSpPr>
        <p:spPr>
          <a:xfrm>
            <a:off x="7679114" y="4070424"/>
            <a:ext cx="192838" cy="192911"/>
          </a:xfrm>
          <a:prstGeom prst="ellipse">
            <a:avLst/>
          </a:prstGeom>
          <a:solidFill>
            <a:srgbClr val="E5EFF8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433" name="Graphic 2">
            <a:extLst>
              <a:ext uri="{FF2B5EF4-FFF2-40B4-BE49-F238E27FC236}">
                <a16:creationId xmlns:a16="http://schemas.microsoft.com/office/drawing/2014/main" id="{20E75B02-3018-2610-B474-E9A4189FAFE7}"/>
              </a:ext>
            </a:extLst>
          </p:cNvPr>
          <p:cNvGrpSpPr/>
          <p:nvPr/>
        </p:nvGrpSpPr>
        <p:grpSpPr>
          <a:xfrm>
            <a:off x="7700263" y="4102126"/>
            <a:ext cx="156391" cy="131501"/>
            <a:chOff x="7700263" y="4102126"/>
            <a:chExt cx="156391" cy="131501"/>
          </a:xfrm>
        </p:grpSpPr>
        <p:sp>
          <p:nvSpPr>
            <p:cNvPr id="434" name="Freeform 433">
              <a:extLst>
                <a:ext uri="{FF2B5EF4-FFF2-40B4-BE49-F238E27FC236}">
                  <a16:creationId xmlns:a16="http://schemas.microsoft.com/office/drawing/2014/main" id="{5B05E532-DCCB-C749-5E54-788B76E0621D}"/>
                </a:ext>
              </a:extLst>
            </p:cNvPr>
            <p:cNvSpPr/>
            <p:nvPr/>
          </p:nvSpPr>
          <p:spPr>
            <a:xfrm>
              <a:off x="7700263" y="4102126"/>
              <a:ext cx="156391" cy="131501"/>
            </a:xfrm>
            <a:custGeom>
              <a:avLst/>
              <a:gdLst>
                <a:gd name="csX0" fmla="*/ 152792 w 156391"/>
                <a:gd name="csY0" fmla="*/ 64754 h 131501"/>
                <a:gd name="csX1" fmla="*/ 155171 w 156391"/>
                <a:gd name="csY1" fmla="*/ 58709 h 131501"/>
                <a:gd name="csX2" fmla="*/ 156392 w 156391"/>
                <a:gd name="csY2" fmla="*/ 52343 h 131501"/>
                <a:gd name="csX3" fmla="*/ 156199 w 156391"/>
                <a:gd name="csY3" fmla="*/ 45913 h 131501"/>
                <a:gd name="csX4" fmla="*/ 154399 w 156391"/>
                <a:gd name="csY4" fmla="*/ 39740 h 131501"/>
                <a:gd name="csX5" fmla="*/ 151121 w 156391"/>
                <a:gd name="csY5" fmla="*/ 34081 h 131501"/>
                <a:gd name="csX6" fmla="*/ 146557 w 156391"/>
                <a:gd name="csY6" fmla="*/ 29001 h 131501"/>
                <a:gd name="csX7" fmla="*/ 141029 w 156391"/>
                <a:gd name="csY7" fmla="*/ 24757 h 131501"/>
                <a:gd name="csX8" fmla="*/ 134987 w 156391"/>
                <a:gd name="csY8" fmla="*/ 21220 h 131501"/>
                <a:gd name="csX9" fmla="*/ 128751 w 156391"/>
                <a:gd name="csY9" fmla="*/ 18327 h 131501"/>
                <a:gd name="csX10" fmla="*/ 122645 w 156391"/>
                <a:gd name="csY10" fmla="*/ 15754 h 131501"/>
                <a:gd name="csX11" fmla="*/ 116667 w 156391"/>
                <a:gd name="csY11" fmla="*/ 13375 h 131501"/>
                <a:gd name="csX12" fmla="*/ 111011 w 156391"/>
                <a:gd name="csY12" fmla="*/ 11060 h 131501"/>
                <a:gd name="csX13" fmla="*/ 105418 w 156391"/>
                <a:gd name="csY13" fmla="*/ 8617 h 131501"/>
                <a:gd name="csX14" fmla="*/ 99825 w 156391"/>
                <a:gd name="csY14" fmla="*/ 6238 h 131501"/>
                <a:gd name="csX15" fmla="*/ 94041 w 156391"/>
                <a:gd name="csY15" fmla="*/ 3922 h 131501"/>
                <a:gd name="csX16" fmla="*/ 87998 w 156391"/>
                <a:gd name="csY16" fmla="*/ 1993 h 131501"/>
                <a:gd name="csX17" fmla="*/ 81763 w 156391"/>
                <a:gd name="csY17" fmla="*/ 643 h 131501"/>
                <a:gd name="csX18" fmla="*/ 75271 w 156391"/>
                <a:gd name="csY18" fmla="*/ 0 h 131501"/>
                <a:gd name="csX19" fmla="*/ 68779 w 156391"/>
                <a:gd name="csY19" fmla="*/ 129 h 131501"/>
                <a:gd name="csX20" fmla="*/ 62351 w 156391"/>
                <a:gd name="csY20" fmla="*/ 1157 h 131501"/>
                <a:gd name="csX21" fmla="*/ 56180 w 156391"/>
                <a:gd name="csY21" fmla="*/ 2829 h 131501"/>
                <a:gd name="csX22" fmla="*/ 50202 w 156391"/>
                <a:gd name="csY22" fmla="*/ 4952 h 131501"/>
                <a:gd name="csX23" fmla="*/ 44481 w 156391"/>
                <a:gd name="csY23" fmla="*/ 7459 h 131501"/>
                <a:gd name="csX24" fmla="*/ 38953 w 156391"/>
                <a:gd name="csY24" fmla="*/ 10160 h 131501"/>
                <a:gd name="csX25" fmla="*/ 33489 w 156391"/>
                <a:gd name="csY25" fmla="*/ 12925 h 131501"/>
                <a:gd name="csX26" fmla="*/ 27961 w 156391"/>
                <a:gd name="csY26" fmla="*/ 15819 h 131501"/>
                <a:gd name="csX27" fmla="*/ 22433 w 156391"/>
                <a:gd name="csY27" fmla="*/ 18841 h 131501"/>
                <a:gd name="csX28" fmla="*/ 16970 w 156391"/>
                <a:gd name="csY28" fmla="*/ 22314 h 131501"/>
                <a:gd name="csX29" fmla="*/ 11892 w 156391"/>
                <a:gd name="csY29" fmla="*/ 26236 h 131501"/>
                <a:gd name="csX30" fmla="*/ 7392 w 156391"/>
                <a:gd name="csY30" fmla="*/ 30737 h 131501"/>
                <a:gd name="csX31" fmla="*/ 3728 w 156391"/>
                <a:gd name="csY31" fmla="*/ 35817 h 131501"/>
                <a:gd name="csX32" fmla="*/ 1221 w 156391"/>
                <a:gd name="csY32" fmla="*/ 41347 h 131501"/>
                <a:gd name="csX33" fmla="*/ 0 w 156391"/>
                <a:gd name="csY33" fmla="*/ 47263 h 131501"/>
                <a:gd name="csX34" fmla="*/ 0 w 156391"/>
                <a:gd name="csY34" fmla="*/ 53244 h 131501"/>
                <a:gd name="csX35" fmla="*/ 1092 w 156391"/>
                <a:gd name="csY35" fmla="*/ 59095 h 131501"/>
                <a:gd name="csX36" fmla="*/ 2892 w 156391"/>
                <a:gd name="csY36" fmla="*/ 64754 h 131501"/>
                <a:gd name="csX37" fmla="*/ 5013 w 156391"/>
                <a:gd name="csY37" fmla="*/ 70091 h 131501"/>
                <a:gd name="csX38" fmla="*/ 7264 w 156391"/>
                <a:gd name="csY38" fmla="*/ 75171 h 131501"/>
                <a:gd name="csX39" fmla="*/ 9192 w 156391"/>
                <a:gd name="csY39" fmla="*/ 80123 h 131501"/>
                <a:gd name="csX40" fmla="*/ 10799 w 156391"/>
                <a:gd name="csY40" fmla="*/ 85138 h 131501"/>
                <a:gd name="csX41" fmla="*/ 12149 w 156391"/>
                <a:gd name="csY41" fmla="*/ 90347 h 131501"/>
                <a:gd name="csX42" fmla="*/ 13370 w 156391"/>
                <a:gd name="csY42" fmla="*/ 95813 h 131501"/>
                <a:gd name="csX43" fmla="*/ 14784 w 156391"/>
                <a:gd name="csY43" fmla="*/ 101535 h 131501"/>
                <a:gd name="csX44" fmla="*/ 16777 w 156391"/>
                <a:gd name="csY44" fmla="*/ 107387 h 131501"/>
                <a:gd name="csX45" fmla="*/ 19605 w 156391"/>
                <a:gd name="csY45" fmla="*/ 113110 h 131501"/>
                <a:gd name="csX46" fmla="*/ 23398 w 156391"/>
                <a:gd name="csY46" fmla="*/ 118383 h 131501"/>
                <a:gd name="csX47" fmla="*/ 28282 w 156391"/>
                <a:gd name="csY47" fmla="*/ 123013 h 131501"/>
                <a:gd name="csX48" fmla="*/ 34068 w 156391"/>
                <a:gd name="csY48" fmla="*/ 126678 h 131501"/>
                <a:gd name="csX49" fmla="*/ 40624 w 156391"/>
                <a:gd name="csY49" fmla="*/ 129315 h 131501"/>
                <a:gd name="csX50" fmla="*/ 47566 w 156391"/>
                <a:gd name="csY50" fmla="*/ 130858 h 131501"/>
                <a:gd name="csX51" fmla="*/ 54638 w 156391"/>
                <a:gd name="csY51" fmla="*/ 131501 h 131501"/>
                <a:gd name="csX52" fmla="*/ 61708 w 156391"/>
                <a:gd name="csY52" fmla="*/ 131501 h 131501"/>
                <a:gd name="csX53" fmla="*/ 68586 w 156391"/>
                <a:gd name="csY53" fmla="*/ 130922 h 131501"/>
                <a:gd name="csX54" fmla="*/ 75271 w 156391"/>
                <a:gd name="csY54" fmla="*/ 130151 h 131501"/>
                <a:gd name="csX55" fmla="*/ 81763 w 156391"/>
                <a:gd name="csY55" fmla="*/ 129122 h 131501"/>
                <a:gd name="csX56" fmla="*/ 88127 w 156391"/>
                <a:gd name="csY56" fmla="*/ 127965 h 131501"/>
                <a:gd name="csX57" fmla="*/ 94362 w 156391"/>
                <a:gd name="csY57" fmla="*/ 126614 h 131501"/>
                <a:gd name="csX58" fmla="*/ 100469 w 156391"/>
                <a:gd name="csY58" fmla="*/ 124942 h 131501"/>
                <a:gd name="csX59" fmla="*/ 106382 w 156391"/>
                <a:gd name="csY59" fmla="*/ 122756 h 131501"/>
                <a:gd name="csX60" fmla="*/ 111974 w 156391"/>
                <a:gd name="csY60" fmla="*/ 119927 h 131501"/>
                <a:gd name="csX61" fmla="*/ 116988 w 156391"/>
                <a:gd name="csY61" fmla="*/ 116518 h 131501"/>
                <a:gd name="csX62" fmla="*/ 121424 w 156391"/>
                <a:gd name="csY62" fmla="*/ 112531 h 131501"/>
                <a:gd name="csX63" fmla="*/ 125216 w 156391"/>
                <a:gd name="csY63" fmla="*/ 108159 h 131501"/>
                <a:gd name="csX64" fmla="*/ 128430 w 156391"/>
                <a:gd name="csY64" fmla="*/ 103465 h 131501"/>
                <a:gd name="csX65" fmla="*/ 131194 w 156391"/>
                <a:gd name="csY65" fmla="*/ 98770 h 131501"/>
                <a:gd name="csX66" fmla="*/ 133830 w 156391"/>
                <a:gd name="csY66" fmla="*/ 94076 h 131501"/>
                <a:gd name="csX67" fmla="*/ 136465 w 156391"/>
                <a:gd name="csY67" fmla="*/ 89511 h 131501"/>
                <a:gd name="csX68" fmla="*/ 139422 w 156391"/>
                <a:gd name="csY68" fmla="*/ 85010 h 131501"/>
                <a:gd name="csX69" fmla="*/ 142636 w 156391"/>
                <a:gd name="csY69" fmla="*/ 80444 h 131501"/>
                <a:gd name="csX70" fmla="*/ 146107 w 156391"/>
                <a:gd name="csY70" fmla="*/ 75621 h 131501"/>
                <a:gd name="csX71" fmla="*/ 149642 w 156391"/>
                <a:gd name="csY71" fmla="*/ 70413 h 131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156391" h="131501">
                  <a:moveTo>
                    <a:pt x="152792" y="64754"/>
                  </a:moveTo>
                  <a:lnTo>
                    <a:pt x="155171" y="58709"/>
                  </a:lnTo>
                  <a:lnTo>
                    <a:pt x="156392" y="52343"/>
                  </a:lnTo>
                  <a:lnTo>
                    <a:pt x="156199" y="45913"/>
                  </a:lnTo>
                  <a:lnTo>
                    <a:pt x="154399" y="39740"/>
                  </a:lnTo>
                  <a:lnTo>
                    <a:pt x="151121" y="34081"/>
                  </a:lnTo>
                  <a:lnTo>
                    <a:pt x="146557" y="29001"/>
                  </a:lnTo>
                  <a:lnTo>
                    <a:pt x="141029" y="24757"/>
                  </a:lnTo>
                  <a:lnTo>
                    <a:pt x="134987" y="21220"/>
                  </a:lnTo>
                  <a:lnTo>
                    <a:pt x="128751" y="18327"/>
                  </a:lnTo>
                  <a:lnTo>
                    <a:pt x="122645" y="15754"/>
                  </a:lnTo>
                  <a:lnTo>
                    <a:pt x="116667" y="13375"/>
                  </a:lnTo>
                  <a:lnTo>
                    <a:pt x="111011" y="11060"/>
                  </a:lnTo>
                  <a:lnTo>
                    <a:pt x="105418" y="8617"/>
                  </a:lnTo>
                  <a:lnTo>
                    <a:pt x="99825" y="6238"/>
                  </a:lnTo>
                  <a:lnTo>
                    <a:pt x="94041" y="3922"/>
                  </a:lnTo>
                  <a:lnTo>
                    <a:pt x="87998" y="1993"/>
                  </a:lnTo>
                  <a:lnTo>
                    <a:pt x="81763" y="643"/>
                  </a:lnTo>
                  <a:lnTo>
                    <a:pt x="75271" y="0"/>
                  </a:lnTo>
                  <a:lnTo>
                    <a:pt x="68779" y="129"/>
                  </a:lnTo>
                  <a:lnTo>
                    <a:pt x="62351" y="1157"/>
                  </a:lnTo>
                  <a:lnTo>
                    <a:pt x="56180" y="2829"/>
                  </a:lnTo>
                  <a:lnTo>
                    <a:pt x="50202" y="4952"/>
                  </a:lnTo>
                  <a:lnTo>
                    <a:pt x="44481" y="7459"/>
                  </a:lnTo>
                  <a:lnTo>
                    <a:pt x="38953" y="10160"/>
                  </a:lnTo>
                  <a:lnTo>
                    <a:pt x="33489" y="12925"/>
                  </a:lnTo>
                  <a:lnTo>
                    <a:pt x="27961" y="15819"/>
                  </a:lnTo>
                  <a:lnTo>
                    <a:pt x="22433" y="18841"/>
                  </a:lnTo>
                  <a:lnTo>
                    <a:pt x="16970" y="22314"/>
                  </a:lnTo>
                  <a:lnTo>
                    <a:pt x="11892" y="26236"/>
                  </a:lnTo>
                  <a:lnTo>
                    <a:pt x="7392" y="30737"/>
                  </a:lnTo>
                  <a:lnTo>
                    <a:pt x="3728" y="35817"/>
                  </a:lnTo>
                  <a:lnTo>
                    <a:pt x="1221" y="41347"/>
                  </a:lnTo>
                  <a:lnTo>
                    <a:pt x="0" y="47263"/>
                  </a:lnTo>
                  <a:lnTo>
                    <a:pt x="0" y="53244"/>
                  </a:lnTo>
                  <a:lnTo>
                    <a:pt x="1092" y="59095"/>
                  </a:lnTo>
                  <a:lnTo>
                    <a:pt x="2892" y="64754"/>
                  </a:lnTo>
                  <a:lnTo>
                    <a:pt x="5013" y="70091"/>
                  </a:lnTo>
                  <a:lnTo>
                    <a:pt x="7264" y="75171"/>
                  </a:lnTo>
                  <a:lnTo>
                    <a:pt x="9192" y="80123"/>
                  </a:lnTo>
                  <a:lnTo>
                    <a:pt x="10799" y="85138"/>
                  </a:lnTo>
                  <a:lnTo>
                    <a:pt x="12149" y="90347"/>
                  </a:lnTo>
                  <a:lnTo>
                    <a:pt x="13370" y="95813"/>
                  </a:lnTo>
                  <a:lnTo>
                    <a:pt x="14784" y="101535"/>
                  </a:lnTo>
                  <a:lnTo>
                    <a:pt x="16777" y="107387"/>
                  </a:lnTo>
                  <a:lnTo>
                    <a:pt x="19605" y="113110"/>
                  </a:lnTo>
                  <a:lnTo>
                    <a:pt x="23398" y="118383"/>
                  </a:lnTo>
                  <a:lnTo>
                    <a:pt x="28282" y="123013"/>
                  </a:lnTo>
                  <a:lnTo>
                    <a:pt x="34068" y="126678"/>
                  </a:lnTo>
                  <a:lnTo>
                    <a:pt x="40624" y="129315"/>
                  </a:lnTo>
                  <a:lnTo>
                    <a:pt x="47566" y="130858"/>
                  </a:lnTo>
                  <a:lnTo>
                    <a:pt x="54638" y="131501"/>
                  </a:lnTo>
                  <a:lnTo>
                    <a:pt x="61708" y="131501"/>
                  </a:lnTo>
                  <a:lnTo>
                    <a:pt x="68586" y="130922"/>
                  </a:lnTo>
                  <a:lnTo>
                    <a:pt x="75271" y="130151"/>
                  </a:lnTo>
                  <a:lnTo>
                    <a:pt x="81763" y="129122"/>
                  </a:lnTo>
                  <a:lnTo>
                    <a:pt x="88127" y="127965"/>
                  </a:lnTo>
                  <a:lnTo>
                    <a:pt x="94362" y="126614"/>
                  </a:lnTo>
                  <a:lnTo>
                    <a:pt x="100469" y="124942"/>
                  </a:lnTo>
                  <a:lnTo>
                    <a:pt x="106382" y="122756"/>
                  </a:lnTo>
                  <a:lnTo>
                    <a:pt x="111974" y="119927"/>
                  </a:lnTo>
                  <a:lnTo>
                    <a:pt x="116988" y="116518"/>
                  </a:lnTo>
                  <a:lnTo>
                    <a:pt x="121424" y="112531"/>
                  </a:lnTo>
                  <a:lnTo>
                    <a:pt x="125216" y="108159"/>
                  </a:lnTo>
                  <a:lnTo>
                    <a:pt x="128430" y="103465"/>
                  </a:lnTo>
                  <a:lnTo>
                    <a:pt x="131194" y="98770"/>
                  </a:lnTo>
                  <a:lnTo>
                    <a:pt x="133830" y="94076"/>
                  </a:lnTo>
                  <a:lnTo>
                    <a:pt x="136465" y="89511"/>
                  </a:lnTo>
                  <a:lnTo>
                    <a:pt x="139422" y="85010"/>
                  </a:lnTo>
                  <a:lnTo>
                    <a:pt x="142636" y="80444"/>
                  </a:lnTo>
                  <a:lnTo>
                    <a:pt x="146107" y="75621"/>
                  </a:lnTo>
                  <a:lnTo>
                    <a:pt x="149642" y="70413"/>
                  </a:lnTo>
                  <a:close/>
                </a:path>
              </a:pathLst>
            </a:custGeom>
            <a:solidFill>
              <a:srgbClr val="3E86C0"/>
            </a:solidFill>
            <a:ln w="6425" cap="flat">
              <a:solidFill>
                <a:srgbClr val="28608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5" name="Freeform 434">
              <a:extLst>
                <a:ext uri="{FF2B5EF4-FFF2-40B4-BE49-F238E27FC236}">
                  <a16:creationId xmlns:a16="http://schemas.microsoft.com/office/drawing/2014/main" id="{E20C2E37-5555-82F0-2E14-98FF02C9181E}"/>
                </a:ext>
              </a:extLst>
            </p:cNvPr>
            <p:cNvSpPr/>
            <p:nvPr/>
          </p:nvSpPr>
          <p:spPr>
            <a:xfrm>
              <a:off x="7773492" y="4106048"/>
              <a:ext cx="4082" cy="118833"/>
            </a:xfrm>
            <a:custGeom>
              <a:avLst/>
              <a:gdLst>
                <a:gd name="csX0" fmla="*/ 2041 w 4082"/>
                <a:gd name="csY0" fmla="*/ 0 h 118833"/>
                <a:gd name="csX1" fmla="*/ 2041 w 4082"/>
                <a:gd name="csY1" fmla="*/ 118834 h 118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082" h="118833">
                  <a:moveTo>
                    <a:pt x="2041" y="0"/>
                  </a:moveTo>
                  <a:cubicBezTo>
                    <a:pt x="9112" y="39611"/>
                    <a:pt x="-5029" y="82052"/>
                    <a:pt x="2041" y="118834"/>
                  </a:cubicBezTo>
                </a:path>
              </a:pathLst>
            </a:custGeom>
            <a:noFill/>
            <a:ln w="5462" cap="rnd">
              <a:solidFill>
                <a:srgbClr val="FFFFFF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6" name="Freeform 435">
              <a:extLst>
                <a:ext uri="{FF2B5EF4-FFF2-40B4-BE49-F238E27FC236}">
                  <a16:creationId xmlns:a16="http://schemas.microsoft.com/office/drawing/2014/main" id="{B32E99B9-522F-878B-FF78-53C47D6698D6}"/>
                </a:ext>
              </a:extLst>
            </p:cNvPr>
            <p:cNvSpPr/>
            <p:nvPr/>
          </p:nvSpPr>
          <p:spPr>
            <a:xfrm>
              <a:off x="7720382" y="4138586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1" y="-1886"/>
                    <a:pt x="21212" y="-1886"/>
                    <a:pt x="21212" y="5659"/>
                  </a:cubicBezTo>
                  <a:cubicBezTo>
                    <a:pt x="21212" y="13204"/>
                    <a:pt x="28282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7" name="Freeform 436">
              <a:extLst>
                <a:ext uri="{FF2B5EF4-FFF2-40B4-BE49-F238E27FC236}">
                  <a16:creationId xmlns:a16="http://schemas.microsoft.com/office/drawing/2014/main" id="{383266D3-20A4-0A2F-0B21-ADC43A6051AF}"/>
                </a:ext>
              </a:extLst>
            </p:cNvPr>
            <p:cNvSpPr/>
            <p:nvPr/>
          </p:nvSpPr>
          <p:spPr>
            <a:xfrm>
              <a:off x="7724624" y="4177490"/>
              <a:ext cx="36768" cy="11150"/>
            </a:xfrm>
            <a:custGeom>
              <a:avLst/>
              <a:gdLst>
                <a:gd name="csX0" fmla="*/ 0 w 36768"/>
                <a:gd name="csY0" fmla="*/ 4951 h 11150"/>
                <a:gd name="csX1" fmla="*/ 18384 w 36768"/>
                <a:gd name="csY1" fmla="*/ 4951 h 11150"/>
                <a:gd name="csX2" fmla="*/ 36768 w 36768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8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8" name="Freeform 437">
              <a:extLst>
                <a:ext uri="{FF2B5EF4-FFF2-40B4-BE49-F238E27FC236}">
                  <a16:creationId xmlns:a16="http://schemas.microsoft.com/office/drawing/2014/main" id="{81FA2238-0964-92D8-D948-93EBAA64DCF9}"/>
                </a:ext>
              </a:extLst>
            </p:cNvPr>
            <p:cNvSpPr/>
            <p:nvPr/>
          </p:nvSpPr>
          <p:spPr>
            <a:xfrm>
              <a:off x="7788261" y="4140001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3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2" y="-1886"/>
                    <a:pt x="21213" y="-1886"/>
                    <a:pt x="21213" y="5659"/>
                  </a:cubicBezTo>
                  <a:cubicBezTo>
                    <a:pt x="21213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9" name="Freeform 438">
              <a:extLst>
                <a:ext uri="{FF2B5EF4-FFF2-40B4-BE49-F238E27FC236}">
                  <a16:creationId xmlns:a16="http://schemas.microsoft.com/office/drawing/2014/main" id="{C872F49F-472E-FF5D-FFA9-4C70F7EB40CB}"/>
                </a:ext>
              </a:extLst>
            </p:cNvPr>
            <p:cNvSpPr/>
            <p:nvPr/>
          </p:nvSpPr>
          <p:spPr>
            <a:xfrm>
              <a:off x="7789675" y="4178905"/>
              <a:ext cx="36768" cy="11150"/>
            </a:xfrm>
            <a:custGeom>
              <a:avLst/>
              <a:gdLst>
                <a:gd name="csX0" fmla="*/ 0 w 36768"/>
                <a:gd name="csY0" fmla="*/ 4951 h 11150"/>
                <a:gd name="csX1" fmla="*/ 18385 w 36768"/>
                <a:gd name="csY1" fmla="*/ 4951 h 11150"/>
                <a:gd name="csX2" fmla="*/ 36768 w 36768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8" h="11150">
                  <a:moveTo>
                    <a:pt x="0" y="4951"/>
                  </a:moveTo>
                  <a:cubicBezTo>
                    <a:pt x="12256" y="-1650"/>
                    <a:pt x="18385" y="-1650"/>
                    <a:pt x="18385" y="4951"/>
                  </a:cubicBezTo>
                  <a:cubicBezTo>
                    <a:pt x="18385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40" name="TextBox 439">
            <a:extLst>
              <a:ext uri="{FF2B5EF4-FFF2-40B4-BE49-F238E27FC236}">
                <a16:creationId xmlns:a16="http://schemas.microsoft.com/office/drawing/2014/main" id="{05C06B64-DE77-D637-1E8D-E3E6EC64EE46}"/>
              </a:ext>
            </a:extLst>
          </p:cNvPr>
          <p:cNvSpPr txBox="1"/>
          <p:nvPr/>
        </p:nvSpPr>
        <p:spPr>
          <a:xfrm>
            <a:off x="7838364" y="4023499"/>
            <a:ext cx="881919" cy="187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b="1" spc="0" baseline="0">
                <a:ln/>
                <a:solidFill>
                  <a:srgbClr val="22314A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Interpersonal guilt</a:t>
            </a:r>
          </a:p>
        </p:txBody>
      </p:sp>
      <p:sp>
        <p:nvSpPr>
          <p:cNvPr id="441" name="TextBox 440">
            <a:extLst>
              <a:ext uri="{FF2B5EF4-FFF2-40B4-BE49-F238E27FC236}">
                <a16:creationId xmlns:a16="http://schemas.microsoft.com/office/drawing/2014/main" id="{99058CDA-7D67-E282-6A9A-F11F05E47E90}"/>
              </a:ext>
            </a:extLst>
          </p:cNvPr>
          <p:cNvSpPr txBox="1"/>
          <p:nvPr/>
        </p:nvSpPr>
        <p:spPr>
          <a:xfrm>
            <a:off x="7838364" y="4143493"/>
            <a:ext cx="481618" cy="174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25" i="1" spc="0" baseline="0">
                <a:ln/>
                <a:solidFill>
                  <a:srgbClr val="7C8598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Yu · 2019</a:t>
            </a:r>
          </a:p>
        </p:txBody>
      </p:sp>
      <p:sp>
        <p:nvSpPr>
          <p:cNvPr id="442" name="Freeform 441">
            <a:extLst>
              <a:ext uri="{FF2B5EF4-FFF2-40B4-BE49-F238E27FC236}">
                <a16:creationId xmlns:a16="http://schemas.microsoft.com/office/drawing/2014/main" id="{BD26C01C-7FCE-F81B-B8C8-61DB6A50F215}"/>
              </a:ext>
            </a:extLst>
          </p:cNvPr>
          <p:cNvSpPr/>
          <p:nvPr/>
        </p:nvSpPr>
        <p:spPr>
          <a:xfrm>
            <a:off x="7479848" y="3183033"/>
            <a:ext cx="128558" cy="1343947"/>
          </a:xfrm>
          <a:custGeom>
            <a:avLst/>
            <a:gdLst>
              <a:gd name="csX0" fmla="*/ 0 w 128558"/>
              <a:gd name="csY0" fmla="*/ 0 h 1343947"/>
              <a:gd name="csX1" fmla="*/ 128559 w 128558"/>
              <a:gd name="csY1" fmla="*/ 1343948 h 134394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8558" h="1343947">
                <a:moveTo>
                  <a:pt x="0" y="0"/>
                </a:moveTo>
                <a:cubicBezTo>
                  <a:pt x="0" y="1343948"/>
                  <a:pt x="64279" y="1343948"/>
                  <a:pt x="128559" y="1343948"/>
                </a:cubicBezTo>
              </a:path>
            </a:pathLst>
          </a:custGeom>
          <a:noFill/>
          <a:ln w="12851" cap="flat">
            <a:solidFill>
              <a:srgbClr val="3E86C0">
                <a:alpha val="4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43" name="Rounded Rectangle 442">
            <a:extLst>
              <a:ext uri="{FF2B5EF4-FFF2-40B4-BE49-F238E27FC236}">
                <a16:creationId xmlns:a16="http://schemas.microsoft.com/office/drawing/2014/main" id="{62D57011-5A82-B973-FB3C-DF5CD737F90E}"/>
              </a:ext>
            </a:extLst>
          </p:cNvPr>
          <p:cNvSpPr/>
          <p:nvPr/>
        </p:nvSpPr>
        <p:spPr>
          <a:xfrm>
            <a:off x="7608407" y="4372652"/>
            <a:ext cx="1722690" cy="308657"/>
          </a:xfrm>
          <a:prstGeom prst="roundRect">
            <a:avLst>
              <a:gd name="adj" fmla="val 24990"/>
            </a:avLst>
          </a:prstGeom>
          <a:solidFill>
            <a:srgbClr val="FFFFFF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44" name="Rounded Rectangle 443">
            <a:extLst>
              <a:ext uri="{FF2B5EF4-FFF2-40B4-BE49-F238E27FC236}">
                <a16:creationId xmlns:a16="http://schemas.microsoft.com/office/drawing/2014/main" id="{7E8552F9-E0C2-0FCF-651B-37803CF9838A}"/>
              </a:ext>
            </a:extLst>
          </p:cNvPr>
          <p:cNvSpPr/>
          <p:nvPr/>
        </p:nvSpPr>
        <p:spPr>
          <a:xfrm>
            <a:off x="7608407" y="4372652"/>
            <a:ext cx="32139" cy="308657"/>
          </a:xfrm>
          <a:prstGeom prst="roundRect">
            <a:avLst>
              <a:gd name="adj" fmla="val 50000"/>
            </a:avLst>
          </a:prstGeom>
          <a:solidFill>
            <a:srgbClr val="3E86C0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45" name="Oval 444">
            <a:extLst>
              <a:ext uri="{FF2B5EF4-FFF2-40B4-BE49-F238E27FC236}">
                <a16:creationId xmlns:a16="http://schemas.microsoft.com/office/drawing/2014/main" id="{41E57F1D-E81C-54EE-EC5F-C9AC87E28C40}"/>
              </a:ext>
            </a:extLst>
          </p:cNvPr>
          <p:cNvSpPr/>
          <p:nvPr/>
        </p:nvSpPr>
        <p:spPr>
          <a:xfrm>
            <a:off x="7679114" y="4430525"/>
            <a:ext cx="192838" cy="192911"/>
          </a:xfrm>
          <a:prstGeom prst="ellipse">
            <a:avLst/>
          </a:prstGeom>
          <a:solidFill>
            <a:srgbClr val="E5EFF8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446" name="Graphic 2">
            <a:extLst>
              <a:ext uri="{FF2B5EF4-FFF2-40B4-BE49-F238E27FC236}">
                <a16:creationId xmlns:a16="http://schemas.microsoft.com/office/drawing/2014/main" id="{7607BA70-87DD-94C9-0EE7-31476AFC82E4}"/>
              </a:ext>
            </a:extLst>
          </p:cNvPr>
          <p:cNvGrpSpPr/>
          <p:nvPr/>
        </p:nvGrpSpPr>
        <p:grpSpPr>
          <a:xfrm>
            <a:off x="7700263" y="4462227"/>
            <a:ext cx="156391" cy="131501"/>
            <a:chOff x="7700263" y="4462227"/>
            <a:chExt cx="156391" cy="131501"/>
          </a:xfrm>
        </p:grpSpPr>
        <p:sp>
          <p:nvSpPr>
            <p:cNvPr id="447" name="Freeform 446">
              <a:extLst>
                <a:ext uri="{FF2B5EF4-FFF2-40B4-BE49-F238E27FC236}">
                  <a16:creationId xmlns:a16="http://schemas.microsoft.com/office/drawing/2014/main" id="{6454A274-A217-787B-5D73-935C147406B2}"/>
                </a:ext>
              </a:extLst>
            </p:cNvPr>
            <p:cNvSpPr/>
            <p:nvPr/>
          </p:nvSpPr>
          <p:spPr>
            <a:xfrm>
              <a:off x="7700263" y="4462227"/>
              <a:ext cx="156391" cy="131501"/>
            </a:xfrm>
            <a:custGeom>
              <a:avLst/>
              <a:gdLst>
                <a:gd name="csX0" fmla="*/ 152792 w 156391"/>
                <a:gd name="csY0" fmla="*/ 64754 h 131501"/>
                <a:gd name="csX1" fmla="*/ 155171 w 156391"/>
                <a:gd name="csY1" fmla="*/ 58709 h 131501"/>
                <a:gd name="csX2" fmla="*/ 156392 w 156391"/>
                <a:gd name="csY2" fmla="*/ 52343 h 131501"/>
                <a:gd name="csX3" fmla="*/ 156199 w 156391"/>
                <a:gd name="csY3" fmla="*/ 45913 h 131501"/>
                <a:gd name="csX4" fmla="*/ 154399 w 156391"/>
                <a:gd name="csY4" fmla="*/ 39740 h 131501"/>
                <a:gd name="csX5" fmla="*/ 151121 w 156391"/>
                <a:gd name="csY5" fmla="*/ 34081 h 131501"/>
                <a:gd name="csX6" fmla="*/ 146557 w 156391"/>
                <a:gd name="csY6" fmla="*/ 29001 h 131501"/>
                <a:gd name="csX7" fmla="*/ 141029 w 156391"/>
                <a:gd name="csY7" fmla="*/ 24757 h 131501"/>
                <a:gd name="csX8" fmla="*/ 134987 w 156391"/>
                <a:gd name="csY8" fmla="*/ 21220 h 131501"/>
                <a:gd name="csX9" fmla="*/ 128751 w 156391"/>
                <a:gd name="csY9" fmla="*/ 18327 h 131501"/>
                <a:gd name="csX10" fmla="*/ 122645 w 156391"/>
                <a:gd name="csY10" fmla="*/ 15754 h 131501"/>
                <a:gd name="csX11" fmla="*/ 116667 w 156391"/>
                <a:gd name="csY11" fmla="*/ 13375 h 131501"/>
                <a:gd name="csX12" fmla="*/ 111011 w 156391"/>
                <a:gd name="csY12" fmla="*/ 11060 h 131501"/>
                <a:gd name="csX13" fmla="*/ 105418 w 156391"/>
                <a:gd name="csY13" fmla="*/ 8617 h 131501"/>
                <a:gd name="csX14" fmla="*/ 99825 w 156391"/>
                <a:gd name="csY14" fmla="*/ 6238 h 131501"/>
                <a:gd name="csX15" fmla="*/ 94041 w 156391"/>
                <a:gd name="csY15" fmla="*/ 3922 h 131501"/>
                <a:gd name="csX16" fmla="*/ 87998 w 156391"/>
                <a:gd name="csY16" fmla="*/ 1993 h 131501"/>
                <a:gd name="csX17" fmla="*/ 81763 w 156391"/>
                <a:gd name="csY17" fmla="*/ 643 h 131501"/>
                <a:gd name="csX18" fmla="*/ 75271 w 156391"/>
                <a:gd name="csY18" fmla="*/ 0 h 131501"/>
                <a:gd name="csX19" fmla="*/ 68779 w 156391"/>
                <a:gd name="csY19" fmla="*/ 129 h 131501"/>
                <a:gd name="csX20" fmla="*/ 62351 w 156391"/>
                <a:gd name="csY20" fmla="*/ 1157 h 131501"/>
                <a:gd name="csX21" fmla="*/ 56180 w 156391"/>
                <a:gd name="csY21" fmla="*/ 2829 h 131501"/>
                <a:gd name="csX22" fmla="*/ 50202 w 156391"/>
                <a:gd name="csY22" fmla="*/ 4952 h 131501"/>
                <a:gd name="csX23" fmla="*/ 44481 w 156391"/>
                <a:gd name="csY23" fmla="*/ 7459 h 131501"/>
                <a:gd name="csX24" fmla="*/ 38953 w 156391"/>
                <a:gd name="csY24" fmla="*/ 10160 h 131501"/>
                <a:gd name="csX25" fmla="*/ 33489 w 156391"/>
                <a:gd name="csY25" fmla="*/ 12925 h 131501"/>
                <a:gd name="csX26" fmla="*/ 27961 w 156391"/>
                <a:gd name="csY26" fmla="*/ 15819 h 131501"/>
                <a:gd name="csX27" fmla="*/ 22433 w 156391"/>
                <a:gd name="csY27" fmla="*/ 18841 h 131501"/>
                <a:gd name="csX28" fmla="*/ 16970 w 156391"/>
                <a:gd name="csY28" fmla="*/ 22314 h 131501"/>
                <a:gd name="csX29" fmla="*/ 11892 w 156391"/>
                <a:gd name="csY29" fmla="*/ 26236 h 131501"/>
                <a:gd name="csX30" fmla="*/ 7392 w 156391"/>
                <a:gd name="csY30" fmla="*/ 30737 h 131501"/>
                <a:gd name="csX31" fmla="*/ 3728 w 156391"/>
                <a:gd name="csY31" fmla="*/ 35817 h 131501"/>
                <a:gd name="csX32" fmla="*/ 1221 w 156391"/>
                <a:gd name="csY32" fmla="*/ 41347 h 131501"/>
                <a:gd name="csX33" fmla="*/ 0 w 156391"/>
                <a:gd name="csY33" fmla="*/ 47263 h 131501"/>
                <a:gd name="csX34" fmla="*/ 0 w 156391"/>
                <a:gd name="csY34" fmla="*/ 53244 h 131501"/>
                <a:gd name="csX35" fmla="*/ 1092 w 156391"/>
                <a:gd name="csY35" fmla="*/ 59095 h 131501"/>
                <a:gd name="csX36" fmla="*/ 2892 w 156391"/>
                <a:gd name="csY36" fmla="*/ 64754 h 131501"/>
                <a:gd name="csX37" fmla="*/ 5013 w 156391"/>
                <a:gd name="csY37" fmla="*/ 70091 h 131501"/>
                <a:gd name="csX38" fmla="*/ 7264 w 156391"/>
                <a:gd name="csY38" fmla="*/ 75171 h 131501"/>
                <a:gd name="csX39" fmla="*/ 9192 w 156391"/>
                <a:gd name="csY39" fmla="*/ 80123 h 131501"/>
                <a:gd name="csX40" fmla="*/ 10799 w 156391"/>
                <a:gd name="csY40" fmla="*/ 85138 h 131501"/>
                <a:gd name="csX41" fmla="*/ 12149 w 156391"/>
                <a:gd name="csY41" fmla="*/ 90347 h 131501"/>
                <a:gd name="csX42" fmla="*/ 13370 w 156391"/>
                <a:gd name="csY42" fmla="*/ 95813 h 131501"/>
                <a:gd name="csX43" fmla="*/ 14784 w 156391"/>
                <a:gd name="csY43" fmla="*/ 101535 h 131501"/>
                <a:gd name="csX44" fmla="*/ 16777 w 156391"/>
                <a:gd name="csY44" fmla="*/ 107387 h 131501"/>
                <a:gd name="csX45" fmla="*/ 19605 w 156391"/>
                <a:gd name="csY45" fmla="*/ 113110 h 131501"/>
                <a:gd name="csX46" fmla="*/ 23398 w 156391"/>
                <a:gd name="csY46" fmla="*/ 118383 h 131501"/>
                <a:gd name="csX47" fmla="*/ 28282 w 156391"/>
                <a:gd name="csY47" fmla="*/ 123013 h 131501"/>
                <a:gd name="csX48" fmla="*/ 34068 w 156391"/>
                <a:gd name="csY48" fmla="*/ 126678 h 131501"/>
                <a:gd name="csX49" fmla="*/ 40624 w 156391"/>
                <a:gd name="csY49" fmla="*/ 129315 h 131501"/>
                <a:gd name="csX50" fmla="*/ 47566 w 156391"/>
                <a:gd name="csY50" fmla="*/ 130858 h 131501"/>
                <a:gd name="csX51" fmla="*/ 54638 w 156391"/>
                <a:gd name="csY51" fmla="*/ 131501 h 131501"/>
                <a:gd name="csX52" fmla="*/ 61708 w 156391"/>
                <a:gd name="csY52" fmla="*/ 131501 h 131501"/>
                <a:gd name="csX53" fmla="*/ 68586 w 156391"/>
                <a:gd name="csY53" fmla="*/ 130922 h 131501"/>
                <a:gd name="csX54" fmla="*/ 75271 w 156391"/>
                <a:gd name="csY54" fmla="*/ 130151 h 131501"/>
                <a:gd name="csX55" fmla="*/ 81763 w 156391"/>
                <a:gd name="csY55" fmla="*/ 129122 h 131501"/>
                <a:gd name="csX56" fmla="*/ 88127 w 156391"/>
                <a:gd name="csY56" fmla="*/ 127965 h 131501"/>
                <a:gd name="csX57" fmla="*/ 94362 w 156391"/>
                <a:gd name="csY57" fmla="*/ 126614 h 131501"/>
                <a:gd name="csX58" fmla="*/ 100469 w 156391"/>
                <a:gd name="csY58" fmla="*/ 124942 h 131501"/>
                <a:gd name="csX59" fmla="*/ 106382 w 156391"/>
                <a:gd name="csY59" fmla="*/ 122756 h 131501"/>
                <a:gd name="csX60" fmla="*/ 111974 w 156391"/>
                <a:gd name="csY60" fmla="*/ 119927 h 131501"/>
                <a:gd name="csX61" fmla="*/ 116988 w 156391"/>
                <a:gd name="csY61" fmla="*/ 116518 h 131501"/>
                <a:gd name="csX62" fmla="*/ 121424 w 156391"/>
                <a:gd name="csY62" fmla="*/ 112531 h 131501"/>
                <a:gd name="csX63" fmla="*/ 125216 w 156391"/>
                <a:gd name="csY63" fmla="*/ 108159 h 131501"/>
                <a:gd name="csX64" fmla="*/ 128430 w 156391"/>
                <a:gd name="csY64" fmla="*/ 103465 h 131501"/>
                <a:gd name="csX65" fmla="*/ 131194 w 156391"/>
                <a:gd name="csY65" fmla="*/ 98770 h 131501"/>
                <a:gd name="csX66" fmla="*/ 133830 w 156391"/>
                <a:gd name="csY66" fmla="*/ 94076 h 131501"/>
                <a:gd name="csX67" fmla="*/ 136465 w 156391"/>
                <a:gd name="csY67" fmla="*/ 89511 h 131501"/>
                <a:gd name="csX68" fmla="*/ 139422 w 156391"/>
                <a:gd name="csY68" fmla="*/ 85010 h 131501"/>
                <a:gd name="csX69" fmla="*/ 142636 w 156391"/>
                <a:gd name="csY69" fmla="*/ 80444 h 131501"/>
                <a:gd name="csX70" fmla="*/ 146107 w 156391"/>
                <a:gd name="csY70" fmla="*/ 75621 h 131501"/>
                <a:gd name="csX71" fmla="*/ 149642 w 156391"/>
                <a:gd name="csY71" fmla="*/ 70413 h 131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156391" h="131501">
                  <a:moveTo>
                    <a:pt x="152792" y="64754"/>
                  </a:moveTo>
                  <a:lnTo>
                    <a:pt x="155171" y="58709"/>
                  </a:lnTo>
                  <a:lnTo>
                    <a:pt x="156392" y="52343"/>
                  </a:lnTo>
                  <a:lnTo>
                    <a:pt x="156199" y="45913"/>
                  </a:lnTo>
                  <a:lnTo>
                    <a:pt x="154399" y="39740"/>
                  </a:lnTo>
                  <a:lnTo>
                    <a:pt x="151121" y="34081"/>
                  </a:lnTo>
                  <a:lnTo>
                    <a:pt x="146557" y="29001"/>
                  </a:lnTo>
                  <a:lnTo>
                    <a:pt x="141029" y="24757"/>
                  </a:lnTo>
                  <a:lnTo>
                    <a:pt x="134987" y="21220"/>
                  </a:lnTo>
                  <a:lnTo>
                    <a:pt x="128751" y="18327"/>
                  </a:lnTo>
                  <a:lnTo>
                    <a:pt x="122645" y="15754"/>
                  </a:lnTo>
                  <a:lnTo>
                    <a:pt x="116667" y="13375"/>
                  </a:lnTo>
                  <a:lnTo>
                    <a:pt x="111011" y="11060"/>
                  </a:lnTo>
                  <a:lnTo>
                    <a:pt x="105418" y="8617"/>
                  </a:lnTo>
                  <a:lnTo>
                    <a:pt x="99825" y="6238"/>
                  </a:lnTo>
                  <a:lnTo>
                    <a:pt x="94041" y="3922"/>
                  </a:lnTo>
                  <a:lnTo>
                    <a:pt x="87998" y="1993"/>
                  </a:lnTo>
                  <a:lnTo>
                    <a:pt x="81763" y="643"/>
                  </a:lnTo>
                  <a:lnTo>
                    <a:pt x="75271" y="0"/>
                  </a:lnTo>
                  <a:lnTo>
                    <a:pt x="68779" y="129"/>
                  </a:lnTo>
                  <a:lnTo>
                    <a:pt x="62351" y="1157"/>
                  </a:lnTo>
                  <a:lnTo>
                    <a:pt x="56180" y="2829"/>
                  </a:lnTo>
                  <a:lnTo>
                    <a:pt x="50202" y="4952"/>
                  </a:lnTo>
                  <a:lnTo>
                    <a:pt x="44481" y="7459"/>
                  </a:lnTo>
                  <a:lnTo>
                    <a:pt x="38953" y="10160"/>
                  </a:lnTo>
                  <a:lnTo>
                    <a:pt x="33489" y="12925"/>
                  </a:lnTo>
                  <a:lnTo>
                    <a:pt x="27961" y="15819"/>
                  </a:lnTo>
                  <a:lnTo>
                    <a:pt x="22433" y="18841"/>
                  </a:lnTo>
                  <a:lnTo>
                    <a:pt x="16970" y="22314"/>
                  </a:lnTo>
                  <a:lnTo>
                    <a:pt x="11892" y="26236"/>
                  </a:lnTo>
                  <a:lnTo>
                    <a:pt x="7392" y="30737"/>
                  </a:lnTo>
                  <a:lnTo>
                    <a:pt x="3728" y="35817"/>
                  </a:lnTo>
                  <a:lnTo>
                    <a:pt x="1221" y="41347"/>
                  </a:lnTo>
                  <a:lnTo>
                    <a:pt x="0" y="47263"/>
                  </a:lnTo>
                  <a:lnTo>
                    <a:pt x="0" y="53244"/>
                  </a:lnTo>
                  <a:lnTo>
                    <a:pt x="1092" y="59095"/>
                  </a:lnTo>
                  <a:lnTo>
                    <a:pt x="2892" y="64754"/>
                  </a:lnTo>
                  <a:lnTo>
                    <a:pt x="5013" y="70091"/>
                  </a:lnTo>
                  <a:lnTo>
                    <a:pt x="7264" y="75171"/>
                  </a:lnTo>
                  <a:lnTo>
                    <a:pt x="9192" y="80123"/>
                  </a:lnTo>
                  <a:lnTo>
                    <a:pt x="10799" y="85138"/>
                  </a:lnTo>
                  <a:lnTo>
                    <a:pt x="12149" y="90347"/>
                  </a:lnTo>
                  <a:lnTo>
                    <a:pt x="13370" y="95813"/>
                  </a:lnTo>
                  <a:lnTo>
                    <a:pt x="14784" y="101535"/>
                  </a:lnTo>
                  <a:lnTo>
                    <a:pt x="16777" y="107387"/>
                  </a:lnTo>
                  <a:lnTo>
                    <a:pt x="19605" y="113110"/>
                  </a:lnTo>
                  <a:lnTo>
                    <a:pt x="23398" y="118383"/>
                  </a:lnTo>
                  <a:lnTo>
                    <a:pt x="28282" y="123013"/>
                  </a:lnTo>
                  <a:lnTo>
                    <a:pt x="34068" y="126678"/>
                  </a:lnTo>
                  <a:lnTo>
                    <a:pt x="40624" y="129315"/>
                  </a:lnTo>
                  <a:lnTo>
                    <a:pt x="47566" y="130858"/>
                  </a:lnTo>
                  <a:lnTo>
                    <a:pt x="54638" y="131501"/>
                  </a:lnTo>
                  <a:lnTo>
                    <a:pt x="61708" y="131501"/>
                  </a:lnTo>
                  <a:lnTo>
                    <a:pt x="68586" y="130922"/>
                  </a:lnTo>
                  <a:lnTo>
                    <a:pt x="75271" y="130151"/>
                  </a:lnTo>
                  <a:lnTo>
                    <a:pt x="81763" y="129122"/>
                  </a:lnTo>
                  <a:lnTo>
                    <a:pt x="88127" y="127965"/>
                  </a:lnTo>
                  <a:lnTo>
                    <a:pt x="94362" y="126614"/>
                  </a:lnTo>
                  <a:lnTo>
                    <a:pt x="100469" y="124942"/>
                  </a:lnTo>
                  <a:lnTo>
                    <a:pt x="106382" y="122756"/>
                  </a:lnTo>
                  <a:lnTo>
                    <a:pt x="111974" y="119927"/>
                  </a:lnTo>
                  <a:lnTo>
                    <a:pt x="116988" y="116518"/>
                  </a:lnTo>
                  <a:lnTo>
                    <a:pt x="121424" y="112531"/>
                  </a:lnTo>
                  <a:lnTo>
                    <a:pt x="125216" y="108159"/>
                  </a:lnTo>
                  <a:lnTo>
                    <a:pt x="128430" y="103465"/>
                  </a:lnTo>
                  <a:lnTo>
                    <a:pt x="131194" y="98770"/>
                  </a:lnTo>
                  <a:lnTo>
                    <a:pt x="133830" y="94076"/>
                  </a:lnTo>
                  <a:lnTo>
                    <a:pt x="136465" y="89511"/>
                  </a:lnTo>
                  <a:lnTo>
                    <a:pt x="139422" y="85010"/>
                  </a:lnTo>
                  <a:lnTo>
                    <a:pt x="142636" y="80444"/>
                  </a:lnTo>
                  <a:lnTo>
                    <a:pt x="146107" y="75621"/>
                  </a:lnTo>
                  <a:lnTo>
                    <a:pt x="149642" y="70413"/>
                  </a:lnTo>
                  <a:close/>
                </a:path>
              </a:pathLst>
            </a:custGeom>
            <a:solidFill>
              <a:srgbClr val="3E86C0"/>
            </a:solidFill>
            <a:ln w="6425" cap="flat">
              <a:solidFill>
                <a:srgbClr val="28608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8" name="Freeform 447">
              <a:extLst>
                <a:ext uri="{FF2B5EF4-FFF2-40B4-BE49-F238E27FC236}">
                  <a16:creationId xmlns:a16="http://schemas.microsoft.com/office/drawing/2014/main" id="{624DBD2E-DE71-A029-2BD4-00B766C91244}"/>
                </a:ext>
              </a:extLst>
            </p:cNvPr>
            <p:cNvSpPr/>
            <p:nvPr/>
          </p:nvSpPr>
          <p:spPr>
            <a:xfrm>
              <a:off x="7773492" y="4466149"/>
              <a:ext cx="4082" cy="118833"/>
            </a:xfrm>
            <a:custGeom>
              <a:avLst/>
              <a:gdLst>
                <a:gd name="csX0" fmla="*/ 2041 w 4082"/>
                <a:gd name="csY0" fmla="*/ 0 h 118833"/>
                <a:gd name="csX1" fmla="*/ 2041 w 4082"/>
                <a:gd name="csY1" fmla="*/ 118834 h 118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082" h="118833">
                  <a:moveTo>
                    <a:pt x="2041" y="0"/>
                  </a:moveTo>
                  <a:cubicBezTo>
                    <a:pt x="9112" y="39611"/>
                    <a:pt x="-5029" y="82052"/>
                    <a:pt x="2041" y="118834"/>
                  </a:cubicBezTo>
                </a:path>
              </a:pathLst>
            </a:custGeom>
            <a:noFill/>
            <a:ln w="5462" cap="rnd">
              <a:solidFill>
                <a:srgbClr val="FFFFFF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9" name="Freeform 448">
              <a:extLst>
                <a:ext uri="{FF2B5EF4-FFF2-40B4-BE49-F238E27FC236}">
                  <a16:creationId xmlns:a16="http://schemas.microsoft.com/office/drawing/2014/main" id="{7545B22C-7914-869B-78F3-3407269C4AE8}"/>
                </a:ext>
              </a:extLst>
            </p:cNvPr>
            <p:cNvSpPr/>
            <p:nvPr/>
          </p:nvSpPr>
          <p:spPr>
            <a:xfrm>
              <a:off x="7720382" y="4498687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1" y="-1886"/>
                    <a:pt x="21212" y="-1886"/>
                    <a:pt x="21212" y="5659"/>
                  </a:cubicBezTo>
                  <a:cubicBezTo>
                    <a:pt x="21212" y="13204"/>
                    <a:pt x="28282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0" name="Freeform 449">
              <a:extLst>
                <a:ext uri="{FF2B5EF4-FFF2-40B4-BE49-F238E27FC236}">
                  <a16:creationId xmlns:a16="http://schemas.microsoft.com/office/drawing/2014/main" id="{47116C11-4475-681D-3BE3-7312CCF20D4B}"/>
                </a:ext>
              </a:extLst>
            </p:cNvPr>
            <p:cNvSpPr/>
            <p:nvPr/>
          </p:nvSpPr>
          <p:spPr>
            <a:xfrm>
              <a:off x="7724624" y="4537591"/>
              <a:ext cx="36768" cy="11150"/>
            </a:xfrm>
            <a:custGeom>
              <a:avLst/>
              <a:gdLst>
                <a:gd name="csX0" fmla="*/ 0 w 36768"/>
                <a:gd name="csY0" fmla="*/ 4951 h 11150"/>
                <a:gd name="csX1" fmla="*/ 18384 w 36768"/>
                <a:gd name="csY1" fmla="*/ 4951 h 11150"/>
                <a:gd name="csX2" fmla="*/ 36768 w 36768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8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1" name="Freeform 450">
              <a:extLst>
                <a:ext uri="{FF2B5EF4-FFF2-40B4-BE49-F238E27FC236}">
                  <a16:creationId xmlns:a16="http://schemas.microsoft.com/office/drawing/2014/main" id="{BB32280F-4EFF-6895-A3D6-AE2289BC16B7}"/>
                </a:ext>
              </a:extLst>
            </p:cNvPr>
            <p:cNvSpPr/>
            <p:nvPr/>
          </p:nvSpPr>
          <p:spPr>
            <a:xfrm>
              <a:off x="7788261" y="4500102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3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2" y="-1886"/>
                    <a:pt x="21213" y="-1886"/>
                    <a:pt x="21213" y="5659"/>
                  </a:cubicBezTo>
                  <a:cubicBezTo>
                    <a:pt x="21213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2" name="Freeform 451">
              <a:extLst>
                <a:ext uri="{FF2B5EF4-FFF2-40B4-BE49-F238E27FC236}">
                  <a16:creationId xmlns:a16="http://schemas.microsoft.com/office/drawing/2014/main" id="{1C68A092-C284-E5B4-88B9-65575BFF75D7}"/>
                </a:ext>
              </a:extLst>
            </p:cNvPr>
            <p:cNvSpPr/>
            <p:nvPr/>
          </p:nvSpPr>
          <p:spPr>
            <a:xfrm>
              <a:off x="7789675" y="4539005"/>
              <a:ext cx="36768" cy="11150"/>
            </a:xfrm>
            <a:custGeom>
              <a:avLst/>
              <a:gdLst>
                <a:gd name="csX0" fmla="*/ 0 w 36768"/>
                <a:gd name="csY0" fmla="*/ 4951 h 11150"/>
                <a:gd name="csX1" fmla="*/ 18385 w 36768"/>
                <a:gd name="csY1" fmla="*/ 4951 h 11150"/>
                <a:gd name="csX2" fmla="*/ 36768 w 36768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8" h="11150">
                  <a:moveTo>
                    <a:pt x="0" y="4951"/>
                  </a:moveTo>
                  <a:cubicBezTo>
                    <a:pt x="12256" y="-1650"/>
                    <a:pt x="18385" y="-1650"/>
                    <a:pt x="18385" y="4951"/>
                  </a:cubicBezTo>
                  <a:cubicBezTo>
                    <a:pt x="18385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53" name="TextBox 452">
            <a:extLst>
              <a:ext uri="{FF2B5EF4-FFF2-40B4-BE49-F238E27FC236}">
                <a16:creationId xmlns:a16="http://schemas.microsoft.com/office/drawing/2014/main" id="{AE5290F9-38EE-226F-90A6-FD3CBC26433F}"/>
              </a:ext>
            </a:extLst>
          </p:cNvPr>
          <p:cNvSpPr txBox="1"/>
          <p:nvPr/>
        </p:nvSpPr>
        <p:spPr>
          <a:xfrm>
            <a:off x="7838364" y="4383599"/>
            <a:ext cx="1185560" cy="187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b="1" spc="0" baseline="0">
                <a:ln/>
                <a:solidFill>
                  <a:srgbClr val="22314A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Romantic rejection (dpSP)</a:t>
            </a:r>
          </a:p>
        </p:txBody>
      </p:sp>
      <p:sp>
        <p:nvSpPr>
          <p:cNvPr id="454" name="TextBox 453">
            <a:extLst>
              <a:ext uri="{FF2B5EF4-FFF2-40B4-BE49-F238E27FC236}">
                <a16:creationId xmlns:a16="http://schemas.microsoft.com/office/drawing/2014/main" id="{AD95AA9A-CD65-A22F-5129-93776FD351EB}"/>
              </a:ext>
            </a:extLst>
          </p:cNvPr>
          <p:cNvSpPr txBox="1"/>
          <p:nvPr/>
        </p:nvSpPr>
        <p:spPr>
          <a:xfrm>
            <a:off x="7838364" y="4503593"/>
            <a:ext cx="545750" cy="174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25" i="1" spc="0" baseline="0">
                <a:ln/>
                <a:solidFill>
                  <a:srgbClr val="7C8598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Woo · 2015</a:t>
            </a:r>
          </a:p>
        </p:txBody>
      </p:sp>
      <p:sp>
        <p:nvSpPr>
          <p:cNvPr id="455" name="Rounded Rectangle 454">
            <a:extLst>
              <a:ext uri="{FF2B5EF4-FFF2-40B4-BE49-F238E27FC236}">
                <a16:creationId xmlns:a16="http://schemas.microsoft.com/office/drawing/2014/main" id="{9111484C-9BD8-CDF2-92F0-2DD40C676794}"/>
              </a:ext>
            </a:extLst>
          </p:cNvPr>
          <p:cNvSpPr/>
          <p:nvPr/>
        </p:nvSpPr>
        <p:spPr>
          <a:xfrm>
            <a:off x="9549648" y="1376099"/>
            <a:ext cx="2069799" cy="398682"/>
          </a:xfrm>
          <a:prstGeom prst="roundRect">
            <a:avLst>
              <a:gd name="adj" fmla="val 25796"/>
            </a:avLst>
          </a:prstGeom>
          <a:solidFill>
            <a:srgbClr val="4FA88E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456" name="Graphic 2">
            <a:extLst>
              <a:ext uri="{FF2B5EF4-FFF2-40B4-BE49-F238E27FC236}">
                <a16:creationId xmlns:a16="http://schemas.microsoft.com/office/drawing/2014/main" id="{07625CD7-B426-E9D3-7EC8-5D5C7D551DB9}"/>
              </a:ext>
            </a:extLst>
          </p:cNvPr>
          <p:cNvGrpSpPr/>
          <p:nvPr/>
        </p:nvGrpSpPr>
        <p:grpSpPr>
          <a:xfrm>
            <a:off x="9631347" y="1457636"/>
            <a:ext cx="284308" cy="239209"/>
            <a:chOff x="9631347" y="1457636"/>
            <a:chExt cx="284308" cy="239209"/>
          </a:xfrm>
        </p:grpSpPr>
        <p:sp>
          <p:nvSpPr>
            <p:cNvPr id="457" name="Freeform 456">
              <a:extLst>
                <a:ext uri="{FF2B5EF4-FFF2-40B4-BE49-F238E27FC236}">
                  <a16:creationId xmlns:a16="http://schemas.microsoft.com/office/drawing/2014/main" id="{E8661591-8F3F-8ADB-50B4-9AD7CE428328}"/>
                </a:ext>
              </a:extLst>
            </p:cNvPr>
            <p:cNvSpPr/>
            <p:nvPr/>
          </p:nvSpPr>
          <p:spPr>
            <a:xfrm>
              <a:off x="9631347" y="1457636"/>
              <a:ext cx="284308" cy="239209"/>
            </a:xfrm>
            <a:custGeom>
              <a:avLst/>
              <a:gdLst>
                <a:gd name="csX0" fmla="*/ 277752 w 284308"/>
                <a:gd name="csY0" fmla="*/ 117804 h 239209"/>
                <a:gd name="csX1" fmla="*/ 282058 w 284308"/>
                <a:gd name="csY1" fmla="*/ 106744 h 239209"/>
                <a:gd name="csX2" fmla="*/ 284308 w 284308"/>
                <a:gd name="csY2" fmla="*/ 95234 h 239209"/>
                <a:gd name="csX3" fmla="*/ 283923 w 284308"/>
                <a:gd name="csY3" fmla="*/ 83595 h 239209"/>
                <a:gd name="csX4" fmla="*/ 280709 w 284308"/>
                <a:gd name="csY4" fmla="*/ 72342 h 239209"/>
                <a:gd name="csX5" fmla="*/ 274731 w 284308"/>
                <a:gd name="csY5" fmla="*/ 61989 h 239209"/>
                <a:gd name="csX6" fmla="*/ 266439 w 284308"/>
                <a:gd name="csY6" fmla="*/ 52858 h 239209"/>
                <a:gd name="csX7" fmla="*/ 256411 w 284308"/>
                <a:gd name="csY7" fmla="*/ 45141 h 239209"/>
                <a:gd name="csX8" fmla="*/ 245419 w 284308"/>
                <a:gd name="csY8" fmla="*/ 38711 h 239209"/>
                <a:gd name="csX9" fmla="*/ 234106 w 284308"/>
                <a:gd name="csY9" fmla="*/ 33374 h 239209"/>
                <a:gd name="csX10" fmla="*/ 222922 w 284308"/>
                <a:gd name="csY10" fmla="*/ 28744 h 239209"/>
                <a:gd name="csX11" fmla="*/ 212187 w 284308"/>
                <a:gd name="csY11" fmla="*/ 24435 h 239209"/>
                <a:gd name="csX12" fmla="*/ 201773 w 284308"/>
                <a:gd name="csY12" fmla="*/ 20127 h 239209"/>
                <a:gd name="csX13" fmla="*/ 191682 w 284308"/>
                <a:gd name="csY13" fmla="*/ 15754 h 239209"/>
                <a:gd name="csX14" fmla="*/ 181461 w 284308"/>
                <a:gd name="csY14" fmla="*/ 11382 h 239209"/>
                <a:gd name="csX15" fmla="*/ 170984 w 284308"/>
                <a:gd name="csY15" fmla="*/ 7202 h 239209"/>
                <a:gd name="csX16" fmla="*/ 160056 w 284308"/>
                <a:gd name="csY16" fmla="*/ 3665 h 239209"/>
                <a:gd name="csX17" fmla="*/ 148614 w 284308"/>
                <a:gd name="csY17" fmla="*/ 1158 h 239209"/>
                <a:gd name="csX18" fmla="*/ 136851 w 284308"/>
                <a:gd name="csY18" fmla="*/ 0 h 239209"/>
                <a:gd name="csX19" fmla="*/ 125024 w 284308"/>
                <a:gd name="csY19" fmla="*/ 322 h 239209"/>
                <a:gd name="csX20" fmla="*/ 113389 w 284308"/>
                <a:gd name="csY20" fmla="*/ 2122 h 239209"/>
                <a:gd name="csX21" fmla="*/ 102076 w 284308"/>
                <a:gd name="csY21" fmla="*/ 5144 h 239209"/>
                <a:gd name="csX22" fmla="*/ 91277 w 284308"/>
                <a:gd name="csY22" fmla="*/ 9131 h 239209"/>
                <a:gd name="csX23" fmla="*/ 80928 w 284308"/>
                <a:gd name="csY23" fmla="*/ 13697 h 239209"/>
                <a:gd name="csX24" fmla="*/ 70836 w 284308"/>
                <a:gd name="csY24" fmla="*/ 18520 h 239209"/>
                <a:gd name="csX25" fmla="*/ 60809 w 284308"/>
                <a:gd name="csY25" fmla="*/ 23535 h 239209"/>
                <a:gd name="csX26" fmla="*/ 50781 w 284308"/>
                <a:gd name="csY26" fmla="*/ 28744 h 239209"/>
                <a:gd name="csX27" fmla="*/ 40754 w 284308"/>
                <a:gd name="csY27" fmla="*/ 34403 h 239209"/>
                <a:gd name="csX28" fmla="*/ 30919 w 284308"/>
                <a:gd name="csY28" fmla="*/ 40640 h 239209"/>
                <a:gd name="csX29" fmla="*/ 21598 w 284308"/>
                <a:gd name="csY29" fmla="*/ 47713 h 239209"/>
                <a:gd name="csX30" fmla="*/ 13371 w 284308"/>
                <a:gd name="csY30" fmla="*/ 55944 h 239209"/>
                <a:gd name="csX31" fmla="*/ 6814 w 284308"/>
                <a:gd name="csY31" fmla="*/ 65140 h 239209"/>
                <a:gd name="csX32" fmla="*/ 2250 w 284308"/>
                <a:gd name="csY32" fmla="*/ 75300 h 239209"/>
                <a:gd name="csX33" fmla="*/ 0 w 284308"/>
                <a:gd name="csY33" fmla="*/ 85974 h 239209"/>
                <a:gd name="csX34" fmla="*/ 0 w 284308"/>
                <a:gd name="csY34" fmla="*/ 96841 h 239209"/>
                <a:gd name="csX35" fmla="*/ 1929 w 284308"/>
                <a:gd name="csY35" fmla="*/ 107580 h 239209"/>
                <a:gd name="csX36" fmla="*/ 5207 w 284308"/>
                <a:gd name="csY36" fmla="*/ 117804 h 239209"/>
                <a:gd name="csX37" fmla="*/ 9128 w 284308"/>
                <a:gd name="csY37" fmla="*/ 127514 h 239209"/>
                <a:gd name="csX38" fmla="*/ 13178 w 284308"/>
                <a:gd name="csY38" fmla="*/ 136710 h 239209"/>
                <a:gd name="csX39" fmla="*/ 16713 w 284308"/>
                <a:gd name="csY39" fmla="*/ 145777 h 239209"/>
                <a:gd name="csX40" fmla="*/ 19670 w 284308"/>
                <a:gd name="csY40" fmla="*/ 154843 h 239209"/>
                <a:gd name="csX41" fmla="*/ 22048 w 284308"/>
                <a:gd name="csY41" fmla="*/ 164296 h 239209"/>
                <a:gd name="csX42" fmla="*/ 24298 w 284308"/>
                <a:gd name="csY42" fmla="*/ 174263 h 239209"/>
                <a:gd name="csX43" fmla="*/ 26869 w 284308"/>
                <a:gd name="csY43" fmla="*/ 184680 h 239209"/>
                <a:gd name="csX44" fmla="*/ 30468 w 284308"/>
                <a:gd name="csY44" fmla="*/ 195290 h 239209"/>
                <a:gd name="csX45" fmla="*/ 35611 w 284308"/>
                <a:gd name="csY45" fmla="*/ 205708 h 239209"/>
                <a:gd name="csX46" fmla="*/ 42553 w 284308"/>
                <a:gd name="csY46" fmla="*/ 215353 h 239209"/>
                <a:gd name="csX47" fmla="*/ 51424 w 284308"/>
                <a:gd name="csY47" fmla="*/ 223713 h 239209"/>
                <a:gd name="csX48" fmla="*/ 61966 w 284308"/>
                <a:gd name="csY48" fmla="*/ 230400 h 239209"/>
                <a:gd name="csX49" fmla="*/ 73857 w 284308"/>
                <a:gd name="csY49" fmla="*/ 235159 h 239209"/>
                <a:gd name="csX50" fmla="*/ 86456 w 284308"/>
                <a:gd name="csY50" fmla="*/ 237988 h 239209"/>
                <a:gd name="csX51" fmla="*/ 99377 w 284308"/>
                <a:gd name="csY51" fmla="*/ 239210 h 239209"/>
                <a:gd name="csX52" fmla="*/ 112233 w 284308"/>
                <a:gd name="csY52" fmla="*/ 239146 h 239209"/>
                <a:gd name="csX53" fmla="*/ 124702 w 284308"/>
                <a:gd name="csY53" fmla="*/ 238181 h 239209"/>
                <a:gd name="csX54" fmla="*/ 136851 w 284308"/>
                <a:gd name="csY54" fmla="*/ 236638 h 239209"/>
                <a:gd name="csX55" fmla="*/ 148614 w 284308"/>
                <a:gd name="csY55" fmla="*/ 234837 h 239209"/>
                <a:gd name="csX56" fmla="*/ 160185 w 284308"/>
                <a:gd name="csY56" fmla="*/ 232780 h 239209"/>
                <a:gd name="csX57" fmla="*/ 171562 w 284308"/>
                <a:gd name="csY57" fmla="*/ 230336 h 239209"/>
                <a:gd name="csX58" fmla="*/ 182683 w 284308"/>
                <a:gd name="csY58" fmla="*/ 227185 h 239209"/>
                <a:gd name="csX59" fmla="*/ 193482 w 284308"/>
                <a:gd name="csY59" fmla="*/ 223198 h 239209"/>
                <a:gd name="csX60" fmla="*/ 203573 w 284308"/>
                <a:gd name="csY60" fmla="*/ 218118 h 239209"/>
                <a:gd name="csX61" fmla="*/ 212766 w 284308"/>
                <a:gd name="csY61" fmla="*/ 211945 h 239209"/>
                <a:gd name="csX62" fmla="*/ 220801 w 284308"/>
                <a:gd name="csY62" fmla="*/ 204679 h 239209"/>
                <a:gd name="csX63" fmla="*/ 227678 w 284308"/>
                <a:gd name="csY63" fmla="*/ 196705 h 239209"/>
                <a:gd name="csX64" fmla="*/ 233528 w 284308"/>
                <a:gd name="csY64" fmla="*/ 188217 h 239209"/>
                <a:gd name="csX65" fmla="*/ 238605 w 284308"/>
                <a:gd name="csY65" fmla="*/ 179665 h 239209"/>
                <a:gd name="csX66" fmla="*/ 243299 w 284308"/>
                <a:gd name="csY66" fmla="*/ 171177 h 239209"/>
                <a:gd name="csX67" fmla="*/ 248119 w 284308"/>
                <a:gd name="csY67" fmla="*/ 162881 h 239209"/>
                <a:gd name="csX68" fmla="*/ 253454 w 284308"/>
                <a:gd name="csY68" fmla="*/ 154650 h 239209"/>
                <a:gd name="csX69" fmla="*/ 259304 w 284308"/>
                <a:gd name="csY69" fmla="*/ 146291 h 239209"/>
                <a:gd name="csX70" fmla="*/ 265668 w 284308"/>
                <a:gd name="csY70" fmla="*/ 137546 h 239209"/>
                <a:gd name="csX71" fmla="*/ 272031 w 284308"/>
                <a:gd name="csY71" fmla="*/ 128093 h 2392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284308" h="239209">
                  <a:moveTo>
                    <a:pt x="277752" y="117804"/>
                  </a:moveTo>
                  <a:lnTo>
                    <a:pt x="282058" y="106744"/>
                  </a:lnTo>
                  <a:lnTo>
                    <a:pt x="284308" y="95234"/>
                  </a:lnTo>
                  <a:lnTo>
                    <a:pt x="283923" y="83595"/>
                  </a:lnTo>
                  <a:lnTo>
                    <a:pt x="280709" y="72342"/>
                  </a:lnTo>
                  <a:lnTo>
                    <a:pt x="274731" y="61989"/>
                  </a:lnTo>
                  <a:lnTo>
                    <a:pt x="266439" y="52858"/>
                  </a:lnTo>
                  <a:lnTo>
                    <a:pt x="256411" y="45141"/>
                  </a:lnTo>
                  <a:lnTo>
                    <a:pt x="245419" y="38711"/>
                  </a:lnTo>
                  <a:lnTo>
                    <a:pt x="234106" y="33374"/>
                  </a:lnTo>
                  <a:lnTo>
                    <a:pt x="222922" y="28744"/>
                  </a:lnTo>
                  <a:lnTo>
                    <a:pt x="212187" y="24435"/>
                  </a:lnTo>
                  <a:lnTo>
                    <a:pt x="201773" y="20127"/>
                  </a:lnTo>
                  <a:lnTo>
                    <a:pt x="191682" y="15754"/>
                  </a:lnTo>
                  <a:lnTo>
                    <a:pt x="181461" y="11382"/>
                  </a:lnTo>
                  <a:lnTo>
                    <a:pt x="170984" y="7202"/>
                  </a:lnTo>
                  <a:lnTo>
                    <a:pt x="160056" y="3665"/>
                  </a:lnTo>
                  <a:lnTo>
                    <a:pt x="148614" y="1158"/>
                  </a:lnTo>
                  <a:lnTo>
                    <a:pt x="136851" y="0"/>
                  </a:lnTo>
                  <a:lnTo>
                    <a:pt x="125024" y="322"/>
                  </a:lnTo>
                  <a:lnTo>
                    <a:pt x="113389" y="2122"/>
                  </a:lnTo>
                  <a:lnTo>
                    <a:pt x="102076" y="5144"/>
                  </a:lnTo>
                  <a:lnTo>
                    <a:pt x="91277" y="9131"/>
                  </a:lnTo>
                  <a:lnTo>
                    <a:pt x="80928" y="13697"/>
                  </a:lnTo>
                  <a:lnTo>
                    <a:pt x="70836" y="18520"/>
                  </a:lnTo>
                  <a:lnTo>
                    <a:pt x="60809" y="23535"/>
                  </a:lnTo>
                  <a:lnTo>
                    <a:pt x="50781" y="28744"/>
                  </a:lnTo>
                  <a:lnTo>
                    <a:pt x="40754" y="34403"/>
                  </a:lnTo>
                  <a:lnTo>
                    <a:pt x="30919" y="40640"/>
                  </a:lnTo>
                  <a:lnTo>
                    <a:pt x="21598" y="47713"/>
                  </a:lnTo>
                  <a:lnTo>
                    <a:pt x="13371" y="55944"/>
                  </a:lnTo>
                  <a:lnTo>
                    <a:pt x="6814" y="65140"/>
                  </a:lnTo>
                  <a:lnTo>
                    <a:pt x="2250" y="75300"/>
                  </a:lnTo>
                  <a:lnTo>
                    <a:pt x="0" y="85974"/>
                  </a:lnTo>
                  <a:lnTo>
                    <a:pt x="0" y="96841"/>
                  </a:lnTo>
                  <a:lnTo>
                    <a:pt x="1929" y="107580"/>
                  </a:lnTo>
                  <a:lnTo>
                    <a:pt x="5207" y="117804"/>
                  </a:lnTo>
                  <a:lnTo>
                    <a:pt x="9128" y="127514"/>
                  </a:lnTo>
                  <a:lnTo>
                    <a:pt x="13178" y="136710"/>
                  </a:lnTo>
                  <a:lnTo>
                    <a:pt x="16713" y="145777"/>
                  </a:lnTo>
                  <a:lnTo>
                    <a:pt x="19670" y="154843"/>
                  </a:lnTo>
                  <a:lnTo>
                    <a:pt x="22048" y="164296"/>
                  </a:lnTo>
                  <a:lnTo>
                    <a:pt x="24298" y="174263"/>
                  </a:lnTo>
                  <a:lnTo>
                    <a:pt x="26869" y="184680"/>
                  </a:lnTo>
                  <a:lnTo>
                    <a:pt x="30468" y="195290"/>
                  </a:lnTo>
                  <a:lnTo>
                    <a:pt x="35611" y="205708"/>
                  </a:lnTo>
                  <a:lnTo>
                    <a:pt x="42553" y="215353"/>
                  </a:lnTo>
                  <a:lnTo>
                    <a:pt x="51424" y="223713"/>
                  </a:lnTo>
                  <a:lnTo>
                    <a:pt x="61966" y="230400"/>
                  </a:lnTo>
                  <a:lnTo>
                    <a:pt x="73857" y="235159"/>
                  </a:lnTo>
                  <a:lnTo>
                    <a:pt x="86456" y="237988"/>
                  </a:lnTo>
                  <a:lnTo>
                    <a:pt x="99377" y="239210"/>
                  </a:lnTo>
                  <a:lnTo>
                    <a:pt x="112233" y="239146"/>
                  </a:lnTo>
                  <a:lnTo>
                    <a:pt x="124702" y="238181"/>
                  </a:lnTo>
                  <a:lnTo>
                    <a:pt x="136851" y="236638"/>
                  </a:lnTo>
                  <a:lnTo>
                    <a:pt x="148614" y="234837"/>
                  </a:lnTo>
                  <a:lnTo>
                    <a:pt x="160185" y="232780"/>
                  </a:lnTo>
                  <a:lnTo>
                    <a:pt x="171562" y="230336"/>
                  </a:lnTo>
                  <a:lnTo>
                    <a:pt x="182683" y="227185"/>
                  </a:lnTo>
                  <a:lnTo>
                    <a:pt x="193482" y="223198"/>
                  </a:lnTo>
                  <a:lnTo>
                    <a:pt x="203573" y="218118"/>
                  </a:lnTo>
                  <a:lnTo>
                    <a:pt x="212766" y="211945"/>
                  </a:lnTo>
                  <a:lnTo>
                    <a:pt x="220801" y="204679"/>
                  </a:lnTo>
                  <a:lnTo>
                    <a:pt x="227678" y="196705"/>
                  </a:lnTo>
                  <a:lnTo>
                    <a:pt x="233528" y="188217"/>
                  </a:lnTo>
                  <a:lnTo>
                    <a:pt x="238605" y="179665"/>
                  </a:lnTo>
                  <a:lnTo>
                    <a:pt x="243299" y="171177"/>
                  </a:lnTo>
                  <a:lnTo>
                    <a:pt x="248119" y="162881"/>
                  </a:lnTo>
                  <a:lnTo>
                    <a:pt x="253454" y="154650"/>
                  </a:lnTo>
                  <a:lnTo>
                    <a:pt x="259304" y="146291"/>
                  </a:lnTo>
                  <a:lnTo>
                    <a:pt x="265668" y="137546"/>
                  </a:lnTo>
                  <a:lnTo>
                    <a:pt x="272031" y="128093"/>
                  </a:lnTo>
                  <a:close/>
                </a:path>
              </a:pathLst>
            </a:custGeom>
            <a:solidFill>
              <a:srgbClr val="FFFFFF"/>
            </a:solidFill>
            <a:ln w="11566" cap="flat">
              <a:solidFill>
                <a:srgbClr val="2F7A6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8" name="Freeform 457">
              <a:extLst>
                <a:ext uri="{FF2B5EF4-FFF2-40B4-BE49-F238E27FC236}">
                  <a16:creationId xmlns:a16="http://schemas.microsoft.com/office/drawing/2014/main" id="{F6A2FEDD-3683-BAF2-DC0A-A10140E4E7BC}"/>
                </a:ext>
              </a:extLst>
            </p:cNvPr>
            <p:cNvSpPr/>
            <p:nvPr/>
          </p:nvSpPr>
          <p:spPr>
            <a:xfrm>
              <a:off x="9764487" y="1464838"/>
              <a:ext cx="7422" cy="216060"/>
            </a:xfrm>
            <a:custGeom>
              <a:avLst/>
              <a:gdLst>
                <a:gd name="csX0" fmla="*/ 3711 w 7422"/>
                <a:gd name="csY0" fmla="*/ 0 h 216060"/>
                <a:gd name="csX1" fmla="*/ 3711 w 7422"/>
                <a:gd name="csY1" fmla="*/ 216060 h 2160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422" h="216060">
                  <a:moveTo>
                    <a:pt x="3711" y="0"/>
                  </a:moveTo>
                  <a:cubicBezTo>
                    <a:pt x="16567" y="72020"/>
                    <a:pt x="-9145" y="149185"/>
                    <a:pt x="3711" y="216060"/>
                  </a:cubicBezTo>
                </a:path>
              </a:pathLst>
            </a:custGeom>
            <a:noFill/>
            <a:ln w="9831" cap="rnd">
              <a:solidFill>
                <a:srgbClr val="4FA88E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9" name="Freeform 458">
              <a:extLst>
                <a:ext uri="{FF2B5EF4-FFF2-40B4-BE49-F238E27FC236}">
                  <a16:creationId xmlns:a16="http://schemas.microsoft.com/office/drawing/2014/main" id="{C943DC89-1260-148F-6BF2-15D95CE60650}"/>
                </a:ext>
              </a:extLst>
            </p:cNvPr>
            <p:cNvSpPr/>
            <p:nvPr/>
          </p:nvSpPr>
          <p:spPr>
            <a:xfrm>
              <a:off x="9667922" y="1523997"/>
              <a:ext cx="77135" cy="23149"/>
            </a:xfrm>
            <a:custGeom>
              <a:avLst/>
              <a:gdLst>
                <a:gd name="csX0" fmla="*/ 0 w 77135"/>
                <a:gd name="csY0" fmla="*/ 10289 h 23149"/>
                <a:gd name="csX1" fmla="*/ 38568 w 77135"/>
                <a:gd name="csY1" fmla="*/ 10289 h 23149"/>
                <a:gd name="csX2" fmla="*/ 77135 w 77135"/>
                <a:gd name="csY2" fmla="*/ 18519 h 231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7135" h="23149">
                  <a:moveTo>
                    <a:pt x="0" y="10289"/>
                  </a:moveTo>
                  <a:cubicBezTo>
                    <a:pt x="25712" y="-3429"/>
                    <a:pt x="38568" y="-3430"/>
                    <a:pt x="38568" y="10289"/>
                  </a:cubicBezTo>
                  <a:cubicBezTo>
                    <a:pt x="38568" y="24007"/>
                    <a:pt x="51424" y="26750"/>
                    <a:pt x="77135" y="18519"/>
                  </a:cubicBezTo>
                </a:path>
              </a:pathLst>
            </a:custGeom>
            <a:noFill/>
            <a:ln w="8674" cap="rnd">
              <a:solidFill>
                <a:srgbClr val="4FA88E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0" name="Freeform 459">
              <a:extLst>
                <a:ext uri="{FF2B5EF4-FFF2-40B4-BE49-F238E27FC236}">
                  <a16:creationId xmlns:a16="http://schemas.microsoft.com/office/drawing/2014/main" id="{2B1A3D68-82BA-8706-73ED-66E83994A5DD}"/>
                </a:ext>
              </a:extLst>
            </p:cNvPr>
            <p:cNvSpPr/>
            <p:nvPr/>
          </p:nvSpPr>
          <p:spPr>
            <a:xfrm>
              <a:off x="9675635" y="1594731"/>
              <a:ext cx="66850" cy="20255"/>
            </a:xfrm>
            <a:custGeom>
              <a:avLst/>
              <a:gdLst>
                <a:gd name="csX0" fmla="*/ 0 w 66850"/>
                <a:gd name="csY0" fmla="*/ 9002 h 20255"/>
                <a:gd name="csX1" fmla="*/ 33426 w 66850"/>
                <a:gd name="csY1" fmla="*/ 9002 h 20255"/>
                <a:gd name="csX2" fmla="*/ 66851 w 66850"/>
                <a:gd name="csY2" fmla="*/ 16205 h 202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6850" h="20255">
                  <a:moveTo>
                    <a:pt x="0" y="9002"/>
                  </a:moveTo>
                  <a:cubicBezTo>
                    <a:pt x="22284" y="-3001"/>
                    <a:pt x="33426" y="-3001"/>
                    <a:pt x="33426" y="9002"/>
                  </a:cubicBezTo>
                  <a:cubicBezTo>
                    <a:pt x="33426" y="21006"/>
                    <a:pt x="44567" y="23407"/>
                    <a:pt x="66851" y="16205"/>
                  </a:cubicBezTo>
                </a:path>
              </a:pathLst>
            </a:custGeom>
            <a:noFill/>
            <a:ln w="8674" cap="rnd">
              <a:solidFill>
                <a:srgbClr val="4FA88E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1" name="Freeform 460">
              <a:extLst>
                <a:ext uri="{FF2B5EF4-FFF2-40B4-BE49-F238E27FC236}">
                  <a16:creationId xmlns:a16="http://schemas.microsoft.com/office/drawing/2014/main" id="{D1A942A1-804B-A901-6F45-3995D87845FA}"/>
                </a:ext>
              </a:extLst>
            </p:cNvPr>
            <p:cNvSpPr/>
            <p:nvPr/>
          </p:nvSpPr>
          <p:spPr>
            <a:xfrm>
              <a:off x="9791338" y="1526570"/>
              <a:ext cx="77135" cy="23149"/>
            </a:xfrm>
            <a:custGeom>
              <a:avLst/>
              <a:gdLst>
                <a:gd name="csX0" fmla="*/ 0 w 77135"/>
                <a:gd name="csY0" fmla="*/ 10289 h 23149"/>
                <a:gd name="csX1" fmla="*/ 38568 w 77135"/>
                <a:gd name="csY1" fmla="*/ 10289 h 23149"/>
                <a:gd name="csX2" fmla="*/ 77135 w 77135"/>
                <a:gd name="csY2" fmla="*/ 18519 h 231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7135" h="23149">
                  <a:moveTo>
                    <a:pt x="0" y="10289"/>
                  </a:moveTo>
                  <a:cubicBezTo>
                    <a:pt x="25712" y="-3430"/>
                    <a:pt x="38568" y="-3430"/>
                    <a:pt x="38568" y="10289"/>
                  </a:cubicBezTo>
                  <a:cubicBezTo>
                    <a:pt x="38568" y="24007"/>
                    <a:pt x="51424" y="26750"/>
                    <a:pt x="77135" y="18519"/>
                  </a:cubicBezTo>
                </a:path>
              </a:pathLst>
            </a:custGeom>
            <a:noFill/>
            <a:ln w="8674" cap="rnd">
              <a:solidFill>
                <a:srgbClr val="4FA88E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2" name="Freeform 461">
              <a:extLst>
                <a:ext uri="{FF2B5EF4-FFF2-40B4-BE49-F238E27FC236}">
                  <a16:creationId xmlns:a16="http://schemas.microsoft.com/office/drawing/2014/main" id="{4D7B09E8-2193-5DB3-7232-AEC6D798CC4C}"/>
                </a:ext>
              </a:extLst>
            </p:cNvPr>
            <p:cNvSpPr/>
            <p:nvPr/>
          </p:nvSpPr>
          <p:spPr>
            <a:xfrm>
              <a:off x="9793910" y="1597304"/>
              <a:ext cx="66850" cy="20255"/>
            </a:xfrm>
            <a:custGeom>
              <a:avLst/>
              <a:gdLst>
                <a:gd name="csX0" fmla="*/ 0 w 66850"/>
                <a:gd name="csY0" fmla="*/ 9003 h 20255"/>
                <a:gd name="csX1" fmla="*/ 33425 w 66850"/>
                <a:gd name="csY1" fmla="*/ 9003 h 20255"/>
                <a:gd name="csX2" fmla="*/ 66851 w 66850"/>
                <a:gd name="csY2" fmla="*/ 16205 h 202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6850" h="20255">
                  <a:moveTo>
                    <a:pt x="0" y="9003"/>
                  </a:moveTo>
                  <a:cubicBezTo>
                    <a:pt x="22284" y="-3001"/>
                    <a:pt x="33425" y="-3001"/>
                    <a:pt x="33425" y="9003"/>
                  </a:cubicBezTo>
                  <a:cubicBezTo>
                    <a:pt x="33425" y="21006"/>
                    <a:pt x="44567" y="23406"/>
                    <a:pt x="66851" y="16205"/>
                  </a:cubicBezTo>
                </a:path>
              </a:pathLst>
            </a:custGeom>
            <a:noFill/>
            <a:ln w="8674" cap="rnd">
              <a:solidFill>
                <a:srgbClr val="4FA88E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63" name="TextBox 462">
            <a:extLst>
              <a:ext uri="{FF2B5EF4-FFF2-40B4-BE49-F238E27FC236}">
                <a16:creationId xmlns:a16="http://schemas.microsoft.com/office/drawing/2014/main" id="{A42FE62F-E594-6A96-F957-51FB2152A03D}"/>
              </a:ext>
            </a:extLst>
          </p:cNvPr>
          <p:cNvSpPr txBox="1"/>
          <p:nvPr/>
        </p:nvSpPr>
        <p:spPr>
          <a:xfrm>
            <a:off x="9869596" y="1397415"/>
            <a:ext cx="566873" cy="221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75" b="1" spc="0" baseline="0">
                <a:ln/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Clinical</a:t>
            </a:r>
          </a:p>
        </p:txBody>
      </p:sp>
      <p:sp>
        <p:nvSpPr>
          <p:cNvPr id="464" name="TextBox 463">
            <a:extLst>
              <a:ext uri="{FF2B5EF4-FFF2-40B4-BE49-F238E27FC236}">
                <a16:creationId xmlns:a16="http://schemas.microsoft.com/office/drawing/2014/main" id="{90E39B3F-D28C-1F7A-75E8-3EFD2E48307A}"/>
              </a:ext>
            </a:extLst>
          </p:cNvPr>
          <p:cNvSpPr txBox="1"/>
          <p:nvPr/>
        </p:nvSpPr>
        <p:spPr>
          <a:xfrm>
            <a:off x="9869596" y="1565576"/>
            <a:ext cx="604347" cy="1813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00" spc="0" baseline="0">
                <a:ln/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3 signatures</a:t>
            </a:r>
          </a:p>
        </p:txBody>
      </p:sp>
      <p:sp>
        <p:nvSpPr>
          <p:cNvPr id="465" name="Freeform 464">
            <a:extLst>
              <a:ext uri="{FF2B5EF4-FFF2-40B4-BE49-F238E27FC236}">
                <a16:creationId xmlns:a16="http://schemas.microsoft.com/office/drawing/2014/main" id="{C80D1BDD-D795-C578-F20B-8FF4DBA535CA}"/>
              </a:ext>
            </a:extLst>
          </p:cNvPr>
          <p:cNvSpPr/>
          <p:nvPr/>
        </p:nvSpPr>
        <p:spPr>
          <a:xfrm>
            <a:off x="9678207" y="1800503"/>
            <a:ext cx="6427" cy="1273213"/>
          </a:xfrm>
          <a:custGeom>
            <a:avLst/>
            <a:gdLst>
              <a:gd name="csX0" fmla="*/ 0 w 6427"/>
              <a:gd name="csY0" fmla="*/ 0 h 1273213"/>
              <a:gd name="csX1" fmla="*/ 0 w 6427"/>
              <a:gd name="csY1" fmla="*/ 1273213 h 127321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427" h="1273213">
                <a:moveTo>
                  <a:pt x="0" y="0"/>
                </a:moveTo>
                <a:lnTo>
                  <a:pt x="0" y="1273213"/>
                </a:lnTo>
              </a:path>
            </a:pathLst>
          </a:custGeom>
          <a:ln w="16063" cap="flat">
            <a:solidFill>
              <a:srgbClr val="4FA88E">
                <a:alpha val="45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66" name="Oval 465">
            <a:extLst>
              <a:ext uri="{FF2B5EF4-FFF2-40B4-BE49-F238E27FC236}">
                <a16:creationId xmlns:a16="http://schemas.microsoft.com/office/drawing/2014/main" id="{3F2F60A4-6331-EB67-F31B-8514C0F69994}"/>
              </a:ext>
            </a:extLst>
          </p:cNvPr>
          <p:cNvSpPr/>
          <p:nvPr/>
        </p:nvSpPr>
        <p:spPr>
          <a:xfrm>
            <a:off x="9646067" y="2025566"/>
            <a:ext cx="64279" cy="64303"/>
          </a:xfrm>
          <a:prstGeom prst="ellipse">
            <a:avLst/>
          </a:prstGeom>
          <a:solidFill>
            <a:srgbClr val="4FA88E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A5C9B69A-0770-C2F7-5C4B-A2170B0CB486}"/>
              </a:ext>
            </a:extLst>
          </p:cNvPr>
          <p:cNvSpPr txBox="1"/>
          <p:nvPr/>
        </p:nvSpPr>
        <p:spPr>
          <a:xfrm>
            <a:off x="9689614" y="1965780"/>
            <a:ext cx="1710321" cy="187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b="1" spc="30" baseline="0">
                <a:ln/>
                <a:solidFill>
                  <a:srgbClr val="2F7A63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PATIENT &amp; CHRONIC-PAIN MARKERS</a:t>
            </a:r>
          </a:p>
        </p:txBody>
      </p:sp>
      <p:sp>
        <p:nvSpPr>
          <p:cNvPr id="468" name="Freeform 467">
            <a:extLst>
              <a:ext uri="{FF2B5EF4-FFF2-40B4-BE49-F238E27FC236}">
                <a16:creationId xmlns:a16="http://schemas.microsoft.com/office/drawing/2014/main" id="{6C8605DF-E547-363A-E2C1-1838613BEA25}"/>
              </a:ext>
            </a:extLst>
          </p:cNvPr>
          <p:cNvSpPr/>
          <p:nvPr/>
        </p:nvSpPr>
        <p:spPr>
          <a:xfrm>
            <a:off x="9678207" y="2089870"/>
            <a:ext cx="128558" cy="263645"/>
          </a:xfrm>
          <a:custGeom>
            <a:avLst/>
            <a:gdLst>
              <a:gd name="csX0" fmla="*/ 0 w 128558"/>
              <a:gd name="csY0" fmla="*/ 0 h 263645"/>
              <a:gd name="csX1" fmla="*/ 128559 w 128558"/>
              <a:gd name="csY1" fmla="*/ 263645 h 26364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8558" h="263645">
                <a:moveTo>
                  <a:pt x="0" y="0"/>
                </a:moveTo>
                <a:cubicBezTo>
                  <a:pt x="0" y="263645"/>
                  <a:pt x="64279" y="263645"/>
                  <a:pt x="128559" y="263645"/>
                </a:cubicBezTo>
              </a:path>
            </a:pathLst>
          </a:custGeom>
          <a:noFill/>
          <a:ln w="12851" cap="flat">
            <a:solidFill>
              <a:srgbClr val="4FA88E">
                <a:alpha val="4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69" name="Rounded Rectangle 468">
            <a:extLst>
              <a:ext uri="{FF2B5EF4-FFF2-40B4-BE49-F238E27FC236}">
                <a16:creationId xmlns:a16="http://schemas.microsoft.com/office/drawing/2014/main" id="{EDB5AE32-6957-B85C-30AB-C65AB3BD5CB2}"/>
              </a:ext>
            </a:extLst>
          </p:cNvPr>
          <p:cNvSpPr/>
          <p:nvPr/>
        </p:nvSpPr>
        <p:spPr>
          <a:xfrm>
            <a:off x="9806766" y="2199186"/>
            <a:ext cx="1722690" cy="308657"/>
          </a:xfrm>
          <a:prstGeom prst="roundRect">
            <a:avLst>
              <a:gd name="adj" fmla="val 24990"/>
            </a:avLst>
          </a:prstGeom>
          <a:solidFill>
            <a:srgbClr val="FFFFFF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70" name="Rounded Rectangle 469">
            <a:extLst>
              <a:ext uri="{FF2B5EF4-FFF2-40B4-BE49-F238E27FC236}">
                <a16:creationId xmlns:a16="http://schemas.microsoft.com/office/drawing/2014/main" id="{6887872E-A4E4-9D66-8D36-5AEA65856F13}"/>
              </a:ext>
            </a:extLst>
          </p:cNvPr>
          <p:cNvSpPr/>
          <p:nvPr/>
        </p:nvSpPr>
        <p:spPr>
          <a:xfrm>
            <a:off x="9806766" y="2199186"/>
            <a:ext cx="32139" cy="308657"/>
          </a:xfrm>
          <a:prstGeom prst="roundRect">
            <a:avLst>
              <a:gd name="adj" fmla="val 50000"/>
            </a:avLst>
          </a:prstGeom>
          <a:solidFill>
            <a:srgbClr val="4FA88E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71" name="Oval 470">
            <a:extLst>
              <a:ext uri="{FF2B5EF4-FFF2-40B4-BE49-F238E27FC236}">
                <a16:creationId xmlns:a16="http://schemas.microsoft.com/office/drawing/2014/main" id="{F6B1F070-BFAA-CD7C-7462-3DFCA6B3902A}"/>
              </a:ext>
            </a:extLst>
          </p:cNvPr>
          <p:cNvSpPr/>
          <p:nvPr/>
        </p:nvSpPr>
        <p:spPr>
          <a:xfrm>
            <a:off x="9877473" y="2257060"/>
            <a:ext cx="192838" cy="192911"/>
          </a:xfrm>
          <a:prstGeom prst="ellipse">
            <a:avLst/>
          </a:prstGeom>
          <a:solidFill>
            <a:srgbClr val="E4F2ED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472" name="Graphic 2">
            <a:extLst>
              <a:ext uri="{FF2B5EF4-FFF2-40B4-BE49-F238E27FC236}">
                <a16:creationId xmlns:a16="http://schemas.microsoft.com/office/drawing/2014/main" id="{93BA3DED-95CE-A44B-FF64-25A7A2724B61}"/>
              </a:ext>
            </a:extLst>
          </p:cNvPr>
          <p:cNvGrpSpPr/>
          <p:nvPr/>
        </p:nvGrpSpPr>
        <p:grpSpPr>
          <a:xfrm>
            <a:off x="9898621" y="2288761"/>
            <a:ext cx="156391" cy="131501"/>
            <a:chOff x="9898621" y="2288761"/>
            <a:chExt cx="156391" cy="131501"/>
          </a:xfrm>
        </p:grpSpPr>
        <p:sp>
          <p:nvSpPr>
            <p:cNvPr id="473" name="Freeform 472">
              <a:extLst>
                <a:ext uri="{FF2B5EF4-FFF2-40B4-BE49-F238E27FC236}">
                  <a16:creationId xmlns:a16="http://schemas.microsoft.com/office/drawing/2014/main" id="{C7E2E9F5-6F3D-DF82-A601-73009553FAAD}"/>
                </a:ext>
              </a:extLst>
            </p:cNvPr>
            <p:cNvSpPr/>
            <p:nvPr/>
          </p:nvSpPr>
          <p:spPr>
            <a:xfrm>
              <a:off x="9898621" y="2288761"/>
              <a:ext cx="156391" cy="131501"/>
            </a:xfrm>
            <a:custGeom>
              <a:avLst/>
              <a:gdLst>
                <a:gd name="csX0" fmla="*/ 152792 w 156391"/>
                <a:gd name="csY0" fmla="*/ 64754 h 131501"/>
                <a:gd name="csX1" fmla="*/ 155171 w 156391"/>
                <a:gd name="csY1" fmla="*/ 58709 h 131501"/>
                <a:gd name="csX2" fmla="*/ 156392 w 156391"/>
                <a:gd name="csY2" fmla="*/ 52343 h 131501"/>
                <a:gd name="csX3" fmla="*/ 156199 w 156391"/>
                <a:gd name="csY3" fmla="*/ 45913 h 131501"/>
                <a:gd name="csX4" fmla="*/ 154399 w 156391"/>
                <a:gd name="csY4" fmla="*/ 39740 h 131501"/>
                <a:gd name="csX5" fmla="*/ 151121 w 156391"/>
                <a:gd name="csY5" fmla="*/ 34081 h 131501"/>
                <a:gd name="csX6" fmla="*/ 146557 w 156391"/>
                <a:gd name="csY6" fmla="*/ 29001 h 131501"/>
                <a:gd name="csX7" fmla="*/ 141029 w 156391"/>
                <a:gd name="csY7" fmla="*/ 24757 h 131501"/>
                <a:gd name="csX8" fmla="*/ 134987 w 156391"/>
                <a:gd name="csY8" fmla="*/ 21220 h 131501"/>
                <a:gd name="csX9" fmla="*/ 128751 w 156391"/>
                <a:gd name="csY9" fmla="*/ 18327 h 131501"/>
                <a:gd name="csX10" fmla="*/ 122645 w 156391"/>
                <a:gd name="csY10" fmla="*/ 15754 h 131501"/>
                <a:gd name="csX11" fmla="*/ 116667 w 156391"/>
                <a:gd name="csY11" fmla="*/ 13375 h 131501"/>
                <a:gd name="csX12" fmla="*/ 111011 w 156391"/>
                <a:gd name="csY12" fmla="*/ 11060 h 131501"/>
                <a:gd name="csX13" fmla="*/ 105418 w 156391"/>
                <a:gd name="csY13" fmla="*/ 8617 h 131501"/>
                <a:gd name="csX14" fmla="*/ 99825 w 156391"/>
                <a:gd name="csY14" fmla="*/ 6237 h 131501"/>
                <a:gd name="csX15" fmla="*/ 94041 w 156391"/>
                <a:gd name="csY15" fmla="*/ 3923 h 131501"/>
                <a:gd name="csX16" fmla="*/ 87998 w 156391"/>
                <a:gd name="csY16" fmla="*/ 1993 h 131501"/>
                <a:gd name="csX17" fmla="*/ 81763 w 156391"/>
                <a:gd name="csY17" fmla="*/ 643 h 131501"/>
                <a:gd name="csX18" fmla="*/ 75271 w 156391"/>
                <a:gd name="csY18" fmla="*/ 0 h 131501"/>
                <a:gd name="csX19" fmla="*/ 68779 w 156391"/>
                <a:gd name="csY19" fmla="*/ 129 h 131501"/>
                <a:gd name="csX20" fmla="*/ 62351 w 156391"/>
                <a:gd name="csY20" fmla="*/ 1157 h 131501"/>
                <a:gd name="csX21" fmla="*/ 56180 w 156391"/>
                <a:gd name="csY21" fmla="*/ 2829 h 131501"/>
                <a:gd name="csX22" fmla="*/ 50202 w 156391"/>
                <a:gd name="csY22" fmla="*/ 4952 h 131501"/>
                <a:gd name="csX23" fmla="*/ 44481 w 156391"/>
                <a:gd name="csY23" fmla="*/ 7459 h 131501"/>
                <a:gd name="csX24" fmla="*/ 38953 w 156391"/>
                <a:gd name="csY24" fmla="*/ 10160 h 131501"/>
                <a:gd name="csX25" fmla="*/ 33489 w 156391"/>
                <a:gd name="csY25" fmla="*/ 12925 h 131501"/>
                <a:gd name="csX26" fmla="*/ 27961 w 156391"/>
                <a:gd name="csY26" fmla="*/ 15819 h 131501"/>
                <a:gd name="csX27" fmla="*/ 22433 w 156391"/>
                <a:gd name="csY27" fmla="*/ 18841 h 131501"/>
                <a:gd name="csX28" fmla="*/ 16970 w 156391"/>
                <a:gd name="csY28" fmla="*/ 22313 h 131501"/>
                <a:gd name="csX29" fmla="*/ 11892 w 156391"/>
                <a:gd name="csY29" fmla="*/ 26236 h 131501"/>
                <a:gd name="csX30" fmla="*/ 7392 w 156391"/>
                <a:gd name="csY30" fmla="*/ 30737 h 131501"/>
                <a:gd name="csX31" fmla="*/ 3728 w 156391"/>
                <a:gd name="csY31" fmla="*/ 35817 h 131501"/>
                <a:gd name="csX32" fmla="*/ 1221 w 156391"/>
                <a:gd name="csY32" fmla="*/ 41347 h 131501"/>
                <a:gd name="csX33" fmla="*/ 0 w 156391"/>
                <a:gd name="csY33" fmla="*/ 47263 h 131501"/>
                <a:gd name="csX34" fmla="*/ 0 w 156391"/>
                <a:gd name="csY34" fmla="*/ 53243 h 131501"/>
                <a:gd name="csX35" fmla="*/ 1092 w 156391"/>
                <a:gd name="csY35" fmla="*/ 59095 h 131501"/>
                <a:gd name="csX36" fmla="*/ 2892 w 156391"/>
                <a:gd name="csY36" fmla="*/ 64754 h 131501"/>
                <a:gd name="csX37" fmla="*/ 5013 w 156391"/>
                <a:gd name="csY37" fmla="*/ 70091 h 131501"/>
                <a:gd name="csX38" fmla="*/ 7264 w 156391"/>
                <a:gd name="csY38" fmla="*/ 75171 h 131501"/>
                <a:gd name="csX39" fmla="*/ 9192 w 156391"/>
                <a:gd name="csY39" fmla="*/ 80123 h 131501"/>
                <a:gd name="csX40" fmla="*/ 10799 w 156391"/>
                <a:gd name="csY40" fmla="*/ 85138 h 131501"/>
                <a:gd name="csX41" fmla="*/ 12149 w 156391"/>
                <a:gd name="csY41" fmla="*/ 90347 h 131501"/>
                <a:gd name="csX42" fmla="*/ 13370 w 156391"/>
                <a:gd name="csY42" fmla="*/ 95812 h 131501"/>
                <a:gd name="csX43" fmla="*/ 14784 w 156391"/>
                <a:gd name="csY43" fmla="*/ 101536 h 131501"/>
                <a:gd name="csX44" fmla="*/ 16777 w 156391"/>
                <a:gd name="csY44" fmla="*/ 107387 h 131501"/>
                <a:gd name="csX45" fmla="*/ 19605 w 156391"/>
                <a:gd name="csY45" fmla="*/ 113110 h 131501"/>
                <a:gd name="csX46" fmla="*/ 23398 w 156391"/>
                <a:gd name="csY46" fmla="*/ 118383 h 131501"/>
                <a:gd name="csX47" fmla="*/ 28282 w 156391"/>
                <a:gd name="csY47" fmla="*/ 123013 h 131501"/>
                <a:gd name="csX48" fmla="*/ 34068 w 156391"/>
                <a:gd name="csY48" fmla="*/ 126678 h 131501"/>
                <a:gd name="csX49" fmla="*/ 40624 w 156391"/>
                <a:gd name="csY49" fmla="*/ 129315 h 131501"/>
                <a:gd name="csX50" fmla="*/ 47566 w 156391"/>
                <a:gd name="csY50" fmla="*/ 130858 h 131501"/>
                <a:gd name="csX51" fmla="*/ 54638 w 156391"/>
                <a:gd name="csY51" fmla="*/ 131501 h 131501"/>
                <a:gd name="csX52" fmla="*/ 61708 w 156391"/>
                <a:gd name="csY52" fmla="*/ 131501 h 131501"/>
                <a:gd name="csX53" fmla="*/ 68586 w 156391"/>
                <a:gd name="csY53" fmla="*/ 130922 h 131501"/>
                <a:gd name="csX54" fmla="*/ 75271 w 156391"/>
                <a:gd name="csY54" fmla="*/ 130151 h 131501"/>
                <a:gd name="csX55" fmla="*/ 81763 w 156391"/>
                <a:gd name="csY55" fmla="*/ 129122 h 131501"/>
                <a:gd name="csX56" fmla="*/ 88127 w 156391"/>
                <a:gd name="csY56" fmla="*/ 127964 h 131501"/>
                <a:gd name="csX57" fmla="*/ 94362 w 156391"/>
                <a:gd name="csY57" fmla="*/ 126614 h 131501"/>
                <a:gd name="csX58" fmla="*/ 100469 w 156391"/>
                <a:gd name="csY58" fmla="*/ 124942 h 131501"/>
                <a:gd name="csX59" fmla="*/ 106382 w 156391"/>
                <a:gd name="csY59" fmla="*/ 122756 h 131501"/>
                <a:gd name="csX60" fmla="*/ 111974 w 156391"/>
                <a:gd name="csY60" fmla="*/ 119926 h 131501"/>
                <a:gd name="csX61" fmla="*/ 116988 w 156391"/>
                <a:gd name="csY61" fmla="*/ 116518 h 131501"/>
                <a:gd name="csX62" fmla="*/ 121424 w 156391"/>
                <a:gd name="csY62" fmla="*/ 112531 h 131501"/>
                <a:gd name="csX63" fmla="*/ 125216 w 156391"/>
                <a:gd name="csY63" fmla="*/ 108159 h 131501"/>
                <a:gd name="csX64" fmla="*/ 128430 w 156391"/>
                <a:gd name="csY64" fmla="*/ 103465 h 131501"/>
                <a:gd name="csX65" fmla="*/ 131194 w 156391"/>
                <a:gd name="csY65" fmla="*/ 98771 h 131501"/>
                <a:gd name="csX66" fmla="*/ 133830 w 156391"/>
                <a:gd name="csY66" fmla="*/ 94076 h 131501"/>
                <a:gd name="csX67" fmla="*/ 136465 w 156391"/>
                <a:gd name="csY67" fmla="*/ 89511 h 131501"/>
                <a:gd name="csX68" fmla="*/ 139422 w 156391"/>
                <a:gd name="csY68" fmla="*/ 85010 h 131501"/>
                <a:gd name="csX69" fmla="*/ 142636 w 156391"/>
                <a:gd name="csY69" fmla="*/ 80444 h 131501"/>
                <a:gd name="csX70" fmla="*/ 146107 w 156391"/>
                <a:gd name="csY70" fmla="*/ 75621 h 131501"/>
                <a:gd name="csX71" fmla="*/ 149642 w 156391"/>
                <a:gd name="csY71" fmla="*/ 70413 h 131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156391" h="131501">
                  <a:moveTo>
                    <a:pt x="152792" y="64754"/>
                  </a:moveTo>
                  <a:lnTo>
                    <a:pt x="155171" y="58709"/>
                  </a:lnTo>
                  <a:lnTo>
                    <a:pt x="156392" y="52343"/>
                  </a:lnTo>
                  <a:lnTo>
                    <a:pt x="156199" y="45913"/>
                  </a:lnTo>
                  <a:lnTo>
                    <a:pt x="154399" y="39740"/>
                  </a:lnTo>
                  <a:lnTo>
                    <a:pt x="151121" y="34081"/>
                  </a:lnTo>
                  <a:lnTo>
                    <a:pt x="146557" y="29001"/>
                  </a:lnTo>
                  <a:lnTo>
                    <a:pt x="141029" y="24757"/>
                  </a:lnTo>
                  <a:lnTo>
                    <a:pt x="134987" y="21220"/>
                  </a:lnTo>
                  <a:lnTo>
                    <a:pt x="128751" y="18327"/>
                  </a:lnTo>
                  <a:lnTo>
                    <a:pt x="122645" y="15754"/>
                  </a:lnTo>
                  <a:lnTo>
                    <a:pt x="116667" y="13375"/>
                  </a:lnTo>
                  <a:lnTo>
                    <a:pt x="111011" y="11060"/>
                  </a:lnTo>
                  <a:lnTo>
                    <a:pt x="105418" y="8617"/>
                  </a:lnTo>
                  <a:lnTo>
                    <a:pt x="99825" y="6237"/>
                  </a:lnTo>
                  <a:lnTo>
                    <a:pt x="94041" y="3923"/>
                  </a:lnTo>
                  <a:lnTo>
                    <a:pt x="87998" y="1993"/>
                  </a:lnTo>
                  <a:lnTo>
                    <a:pt x="81763" y="643"/>
                  </a:lnTo>
                  <a:lnTo>
                    <a:pt x="75271" y="0"/>
                  </a:lnTo>
                  <a:lnTo>
                    <a:pt x="68779" y="129"/>
                  </a:lnTo>
                  <a:lnTo>
                    <a:pt x="62351" y="1157"/>
                  </a:lnTo>
                  <a:lnTo>
                    <a:pt x="56180" y="2829"/>
                  </a:lnTo>
                  <a:lnTo>
                    <a:pt x="50202" y="4952"/>
                  </a:lnTo>
                  <a:lnTo>
                    <a:pt x="44481" y="7459"/>
                  </a:lnTo>
                  <a:lnTo>
                    <a:pt x="38953" y="10160"/>
                  </a:lnTo>
                  <a:lnTo>
                    <a:pt x="33489" y="12925"/>
                  </a:lnTo>
                  <a:lnTo>
                    <a:pt x="27961" y="15819"/>
                  </a:lnTo>
                  <a:lnTo>
                    <a:pt x="22433" y="18841"/>
                  </a:lnTo>
                  <a:lnTo>
                    <a:pt x="16970" y="22313"/>
                  </a:lnTo>
                  <a:lnTo>
                    <a:pt x="11892" y="26236"/>
                  </a:lnTo>
                  <a:lnTo>
                    <a:pt x="7392" y="30737"/>
                  </a:lnTo>
                  <a:lnTo>
                    <a:pt x="3728" y="35817"/>
                  </a:lnTo>
                  <a:lnTo>
                    <a:pt x="1221" y="41347"/>
                  </a:lnTo>
                  <a:lnTo>
                    <a:pt x="0" y="47263"/>
                  </a:lnTo>
                  <a:lnTo>
                    <a:pt x="0" y="53243"/>
                  </a:lnTo>
                  <a:lnTo>
                    <a:pt x="1092" y="59095"/>
                  </a:lnTo>
                  <a:lnTo>
                    <a:pt x="2892" y="64754"/>
                  </a:lnTo>
                  <a:lnTo>
                    <a:pt x="5013" y="70091"/>
                  </a:lnTo>
                  <a:lnTo>
                    <a:pt x="7264" y="75171"/>
                  </a:lnTo>
                  <a:lnTo>
                    <a:pt x="9192" y="80123"/>
                  </a:lnTo>
                  <a:lnTo>
                    <a:pt x="10799" y="85138"/>
                  </a:lnTo>
                  <a:lnTo>
                    <a:pt x="12149" y="90347"/>
                  </a:lnTo>
                  <a:lnTo>
                    <a:pt x="13370" y="95812"/>
                  </a:lnTo>
                  <a:lnTo>
                    <a:pt x="14784" y="101536"/>
                  </a:lnTo>
                  <a:lnTo>
                    <a:pt x="16777" y="107387"/>
                  </a:lnTo>
                  <a:lnTo>
                    <a:pt x="19605" y="113110"/>
                  </a:lnTo>
                  <a:lnTo>
                    <a:pt x="23398" y="118383"/>
                  </a:lnTo>
                  <a:lnTo>
                    <a:pt x="28282" y="123013"/>
                  </a:lnTo>
                  <a:lnTo>
                    <a:pt x="34068" y="126678"/>
                  </a:lnTo>
                  <a:lnTo>
                    <a:pt x="40624" y="129315"/>
                  </a:lnTo>
                  <a:lnTo>
                    <a:pt x="47566" y="130858"/>
                  </a:lnTo>
                  <a:lnTo>
                    <a:pt x="54638" y="131501"/>
                  </a:lnTo>
                  <a:lnTo>
                    <a:pt x="61708" y="131501"/>
                  </a:lnTo>
                  <a:lnTo>
                    <a:pt x="68586" y="130922"/>
                  </a:lnTo>
                  <a:lnTo>
                    <a:pt x="75271" y="130151"/>
                  </a:lnTo>
                  <a:lnTo>
                    <a:pt x="81763" y="129122"/>
                  </a:lnTo>
                  <a:lnTo>
                    <a:pt x="88127" y="127964"/>
                  </a:lnTo>
                  <a:lnTo>
                    <a:pt x="94362" y="126614"/>
                  </a:lnTo>
                  <a:lnTo>
                    <a:pt x="100469" y="124942"/>
                  </a:lnTo>
                  <a:lnTo>
                    <a:pt x="106382" y="122756"/>
                  </a:lnTo>
                  <a:lnTo>
                    <a:pt x="111974" y="119926"/>
                  </a:lnTo>
                  <a:lnTo>
                    <a:pt x="116988" y="116518"/>
                  </a:lnTo>
                  <a:lnTo>
                    <a:pt x="121424" y="112531"/>
                  </a:lnTo>
                  <a:lnTo>
                    <a:pt x="125216" y="108159"/>
                  </a:lnTo>
                  <a:lnTo>
                    <a:pt x="128430" y="103465"/>
                  </a:lnTo>
                  <a:lnTo>
                    <a:pt x="131194" y="98771"/>
                  </a:lnTo>
                  <a:lnTo>
                    <a:pt x="133830" y="94076"/>
                  </a:lnTo>
                  <a:lnTo>
                    <a:pt x="136465" y="89511"/>
                  </a:lnTo>
                  <a:lnTo>
                    <a:pt x="139422" y="85010"/>
                  </a:lnTo>
                  <a:lnTo>
                    <a:pt x="142636" y="80444"/>
                  </a:lnTo>
                  <a:lnTo>
                    <a:pt x="146107" y="75621"/>
                  </a:lnTo>
                  <a:lnTo>
                    <a:pt x="149642" y="70413"/>
                  </a:lnTo>
                  <a:close/>
                </a:path>
              </a:pathLst>
            </a:custGeom>
            <a:solidFill>
              <a:srgbClr val="4FA88E"/>
            </a:solidFill>
            <a:ln w="6425" cap="flat">
              <a:solidFill>
                <a:srgbClr val="2F7A6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4" name="Freeform 473">
              <a:extLst>
                <a:ext uri="{FF2B5EF4-FFF2-40B4-BE49-F238E27FC236}">
                  <a16:creationId xmlns:a16="http://schemas.microsoft.com/office/drawing/2014/main" id="{D32F8A50-F790-D7AA-6622-FBD45AA31972}"/>
                </a:ext>
              </a:extLst>
            </p:cNvPr>
            <p:cNvSpPr/>
            <p:nvPr/>
          </p:nvSpPr>
          <p:spPr>
            <a:xfrm>
              <a:off x="9971851" y="2292684"/>
              <a:ext cx="4082" cy="118833"/>
            </a:xfrm>
            <a:custGeom>
              <a:avLst/>
              <a:gdLst>
                <a:gd name="csX0" fmla="*/ 2041 w 4082"/>
                <a:gd name="csY0" fmla="*/ 0 h 118833"/>
                <a:gd name="csX1" fmla="*/ 2041 w 4082"/>
                <a:gd name="csY1" fmla="*/ 118833 h 118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082" h="118833">
                  <a:moveTo>
                    <a:pt x="2041" y="0"/>
                  </a:moveTo>
                  <a:cubicBezTo>
                    <a:pt x="9112" y="39611"/>
                    <a:pt x="-5029" y="82051"/>
                    <a:pt x="2041" y="118833"/>
                  </a:cubicBezTo>
                </a:path>
              </a:pathLst>
            </a:custGeom>
            <a:noFill/>
            <a:ln w="5462" cap="rnd">
              <a:solidFill>
                <a:srgbClr val="FFFFFF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5" name="Freeform 474">
              <a:extLst>
                <a:ext uri="{FF2B5EF4-FFF2-40B4-BE49-F238E27FC236}">
                  <a16:creationId xmlns:a16="http://schemas.microsoft.com/office/drawing/2014/main" id="{74145F4E-068E-CAE3-36BF-F63284F7ADD5}"/>
                </a:ext>
              </a:extLst>
            </p:cNvPr>
            <p:cNvSpPr/>
            <p:nvPr/>
          </p:nvSpPr>
          <p:spPr>
            <a:xfrm>
              <a:off x="9918741" y="2325222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1" y="-1886"/>
                    <a:pt x="21212" y="-1886"/>
                    <a:pt x="21212" y="5659"/>
                  </a:cubicBezTo>
                  <a:cubicBezTo>
                    <a:pt x="21212" y="13204"/>
                    <a:pt x="28282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6" name="Freeform 475">
              <a:extLst>
                <a:ext uri="{FF2B5EF4-FFF2-40B4-BE49-F238E27FC236}">
                  <a16:creationId xmlns:a16="http://schemas.microsoft.com/office/drawing/2014/main" id="{B3E93FDC-A8B0-F28F-6FB0-B9F8E66D267E}"/>
                </a:ext>
              </a:extLst>
            </p:cNvPr>
            <p:cNvSpPr/>
            <p:nvPr/>
          </p:nvSpPr>
          <p:spPr>
            <a:xfrm>
              <a:off x="9922983" y="2364125"/>
              <a:ext cx="36768" cy="11150"/>
            </a:xfrm>
            <a:custGeom>
              <a:avLst/>
              <a:gdLst>
                <a:gd name="csX0" fmla="*/ 0 w 36768"/>
                <a:gd name="csY0" fmla="*/ 4951 h 11150"/>
                <a:gd name="csX1" fmla="*/ 18384 w 36768"/>
                <a:gd name="csY1" fmla="*/ 4951 h 11150"/>
                <a:gd name="csX2" fmla="*/ 36768 w 36768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8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7" name="Freeform 476">
              <a:extLst>
                <a:ext uri="{FF2B5EF4-FFF2-40B4-BE49-F238E27FC236}">
                  <a16:creationId xmlns:a16="http://schemas.microsoft.com/office/drawing/2014/main" id="{82554B4B-9069-46FF-1063-046E1BCD5928}"/>
                </a:ext>
              </a:extLst>
            </p:cNvPr>
            <p:cNvSpPr/>
            <p:nvPr/>
          </p:nvSpPr>
          <p:spPr>
            <a:xfrm>
              <a:off x="9986620" y="2326636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3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2" y="-1886"/>
                    <a:pt x="21213" y="-1886"/>
                    <a:pt x="21213" y="5659"/>
                  </a:cubicBezTo>
                  <a:cubicBezTo>
                    <a:pt x="21213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8" name="Freeform 477">
              <a:extLst>
                <a:ext uri="{FF2B5EF4-FFF2-40B4-BE49-F238E27FC236}">
                  <a16:creationId xmlns:a16="http://schemas.microsoft.com/office/drawing/2014/main" id="{7711A288-FCD4-4972-DC3A-028C9FABB1C5}"/>
                </a:ext>
              </a:extLst>
            </p:cNvPr>
            <p:cNvSpPr/>
            <p:nvPr/>
          </p:nvSpPr>
          <p:spPr>
            <a:xfrm>
              <a:off x="9988034" y="2365540"/>
              <a:ext cx="36768" cy="11150"/>
            </a:xfrm>
            <a:custGeom>
              <a:avLst/>
              <a:gdLst>
                <a:gd name="csX0" fmla="*/ 0 w 36768"/>
                <a:gd name="csY0" fmla="*/ 4951 h 11150"/>
                <a:gd name="csX1" fmla="*/ 18385 w 36768"/>
                <a:gd name="csY1" fmla="*/ 4951 h 11150"/>
                <a:gd name="csX2" fmla="*/ 36768 w 36768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8" h="11150">
                  <a:moveTo>
                    <a:pt x="0" y="4951"/>
                  </a:moveTo>
                  <a:cubicBezTo>
                    <a:pt x="12256" y="-1650"/>
                    <a:pt x="18385" y="-1650"/>
                    <a:pt x="18385" y="4951"/>
                  </a:cubicBezTo>
                  <a:cubicBezTo>
                    <a:pt x="18385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9" name="TextBox 478">
            <a:extLst>
              <a:ext uri="{FF2B5EF4-FFF2-40B4-BE49-F238E27FC236}">
                <a16:creationId xmlns:a16="http://schemas.microsoft.com/office/drawing/2014/main" id="{60F077F9-4B63-ACD0-7377-42A8D37FFEAB}"/>
              </a:ext>
            </a:extLst>
          </p:cNvPr>
          <p:cNvSpPr txBox="1"/>
          <p:nvPr/>
        </p:nvSpPr>
        <p:spPr>
          <a:xfrm>
            <a:off x="10036723" y="2210134"/>
            <a:ext cx="1558622" cy="187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b="1" spc="0" baseline="0">
                <a:ln/>
                <a:solidFill>
                  <a:srgbClr val="22314A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Fibromyalgia — pain &amp; multisensory</a:t>
            </a:r>
          </a:p>
        </p:txBody>
      </p:sp>
      <p:sp>
        <p:nvSpPr>
          <p:cNvPr id="480" name="TextBox 479">
            <a:extLst>
              <a:ext uri="{FF2B5EF4-FFF2-40B4-BE49-F238E27FC236}">
                <a16:creationId xmlns:a16="http://schemas.microsoft.com/office/drawing/2014/main" id="{E6155837-163E-4F43-C12F-CF5D5D412C79}"/>
              </a:ext>
            </a:extLst>
          </p:cNvPr>
          <p:cNvSpPr txBox="1"/>
          <p:nvPr/>
        </p:nvSpPr>
        <p:spPr>
          <a:xfrm>
            <a:off x="10036723" y="2330128"/>
            <a:ext cx="756600" cy="174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25" i="1" spc="0" baseline="0">
                <a:ln/>
                <a:solidFill>
                  <a:srgbClr val="7C8598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López-Solà · 2017</a:t>
            </a:r>
          </a:p>
        </p:txBody>
      </p:sp>
      <p:sp>
        <p:nvSpPr>
          <p:cNvPr id="481" name="Freeform 480">
            <a:extLst>
              <a:ext uri="{FF2B5EF4-FFF2-40B4-BE49-F238E27FC236}">
                <a16:creationId xmlns:a16="http://schemas.microsoft.com/office/drawing/2014/main" id="{6A272C0D-382E-DF81-1E19-687987E3C25E}"/>
              </a:ext>
            </a:extLst>
          </p:cNvPr>
          <p:cNvSpPr/>
          <p:nvPr/>
        </p:nvSpPr>
        <p:spPr>
          <a:xfrm>
            <a:off x="9678207" y="2089870"/>
            <a:ext cx="128558" cy="623745"/>
          </a:xfrm>
          <a:custGeom>
            <a:avLst/>
            <a:gdLst>
              <a:gd name="csX0" fmla="*/ 0 w 128558"/>
              <a:gd name="csY0" fmla="*/ 0 h 623745"/>
              <a:gd name="csX1" fmla="*/ 128559 w 128558"/>
              <a:gd name="csY1" fmla="*/ 623746 h 62374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8558" h="623745">
                <a:moveTo>
                  <a:pt x="0" y="0"/>
                </a:moveTo>
                <a:cubicBezTo>
                  <a:pt x="0" y="623746"/>
                  <a:pt x="64279" y="623746"/>
                  <a:pt x="128559" y="623746"/>
                </a:cubicBezTo>
              </a:path>
            </a:pathLst>
          </a:custGeom>
          <a:noFill/>
          <a:ln w="12851" cap="flat">
            <a:solidFill>
              <a:srgbClr val="4FA88E">
                <a:alpha val="4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82" name="Rounded Rectangle 481">
            <a:extLst>
              <a:ext uri="{FF2B5EF4-FFF2-40B4-BE49-F238E27FC236}">
                <a16:creationId xmlns:a16="http://schemas.microsoft.com/office/drawing/2014/main" id="{152A6C30-2740-3241-ECAA-69C519AD45F9}"/>
              </a:ext>
            </a:extLst>
          </p:cNvPr>
          <p:cNvSpPr/>
          <p:nvPr/>
        </p:nvSpPr>
        <p:spPr>
          <a:xfrm>
            <a:off x="9806766" y="2559287"/>
            <a:ext cx="1722690" cy="308657"/>
          </a:xfrm>
          <a:prstGeom prst="roundRect">
            <a:avLst>
              <a:gd name="adj" fmla="val 24990"/>
            </a:avLst>
          </a:prstGeom>
          <a:solidFill>
            <a:srgbClr val="FFFFFF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83" name="Rounded Rectangle 482">
            <a:extLst>
              <a:ext uri="{FF2B5EF4-FFF2-40B4-BE49-F238E27FC236}">
                <a16:creationId xmlns:a16="http://schemas.microsoft.com/office/drawing/2014/main" id="{EA60DBF4-E412-F914-62B4-655AEC97A7E0}"/>
              </a:ext>
            </a:extLst>
          </p:cNvPr>
          <p:cNvSpPr/>
          <p:nvPr/>
        </p:nvSpPr>
        <p:spPr>
          <a:xfrm>
            <a:off x="9806766" y="2559287"/>
            <a:ext cx="32139" cy="308657"/>
          </a:xfrm>
          <a:prstGeom prst="roundRect">
            <a:avLst>
              <a:gd name="adj" fmla="val 50000"/>
            </a:avLst>
          </a:prstGeom>
          <a:solidFill>
            <a:srgbClr val="4FA88E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84" name="Oval 483">
            <a:extLst>
              <a:ext uri="{FF2B5EF4-FFF2-40B4-BE49-F238E27FC236}">
                <a16:creationId xmlns:a16="http://schemas.microsoft.com/office/drawing/2014/main" id="{6360A3A1-1B7D-FAD0-BEAC-70C99E6E6F80}"/>
              </a:ext>
            </a:extLst>
          </p:cNvPr>
          <p:cNvSpPr/>
          <p:nvPr/>
        </p:nvSpPr>
        <p:spPr>
          <a:xfrm>
            <a:off x="9877473" y="2617160"/>
            <a:ext cx="192838" cy="192911"/>
          </a:xfrm>
          <a:prstGeom prst="ellipse">
            <a:avLst/>
          </a:prstGeom>
          <a:solidFill>
            <a:srgbClr val="E4F2ED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485" name="Graphic 2">
            <a:extLst>
              <a:ext uri="{FF2B5EF4-FFF2-40B4-BE49-F238E27FC236}">
                <a16:creationId xmlns:a16="http://schemas.microsoft.com/office/drawing/2014/main" id="{F36E7A2B-E7DC-C921-5C1A-5EB5F5FA40B0}"/>
              </a:ext>
            </a:extLst>
          </p:cNvPr>
          <p:cNvGrpSpPr/>
          <p:nvPr/>
        </p:nvGrpSpPr>
        <p:grpSpPr>
          <a:xfrm>
            <a:off x="9898621" y="2648862"/>
            <a:ext cx="156391" cy="131501"/>
            <a:chOff x="9898621" y="2648862"/>
            <a:chExt cx="156391" cy="131501"/>
          </a:xfrm>
        </p:grpSpPr>
        <p:sp>
          <p:nvSpPr>
            <p:cNvPr id="486" name="Freeform 485">
              <a:extLst>
                <a:ext uri="{FF2B5EF4-FFF2-40B4-BE49-F238E27FC236}">
                  <a16:creationId xmlns:a16="http://schemas.microsoft.com/office/drawing/2014/main" id="{9B1FD088-9622-69D5-6DF1-268EBA45E98F}"/>
                </a:ext>
              </a:extLst>
            </p:cNvPr>
            <p:cNvSpPr/>
            <p:nvPr/>
          </p:nvSpPr>
          <p:spPr>
            <a:xfrm>
              <a:off x="9898621" y="2648862"/>
              <a:ext cx="156391" cy="131501"/>
            </a:xfrm>
            <a:custGeom>
              <a:avLst/>
              <a:gdLst>
                <a:gd name="csX0" fmla="*/ 152792 w 156391"/>
                <a:gd name="csY0" fmla="*/ 64754 h 131501"/>
                <a:gd name="csX1" fmla="*/ 155171 w 156391"/>
                <a:gd name="csY1" fmla="*/ 58709 h 131501"/>
                <a:gd name="csX2" fmla="*/ 156392 w 156391"/>
                <a:gd name="csY2" fmla="*/ 52343 h 131501"/>
                <a:gd name="csX3" fmla="*/ 156199 w 156391"/>
                <a:gd name="csY3" fmla="*/ 45913 h 131501"/>
                <a:gd name="csX4" fmla="*/ 154399 w 156391"/>
                <a:gd name="csY4" fmla="*/ 39740 h 131501"/>
                <a:gd name="csX5" fmla="*/ 151121 w 156391"/>
                <a:gd name="csY5" fmla="*/ 34081 h 131501"/>
                <a:gd name="csX6" fmla="*/ 146557 w 156391"/>
                <a:gd name="csY6" fmla="*/ 29001 h 131501"/>
                <a:gd name="csX7" fmla="*/ 141029 w 156391"/>
                <a:gd name="csY7" fmla="*/ 24757 h 131501"/>
                <a:gd name="csX8" fmla="*/ 134987 w 156391"/>
                <a:gd name="csY8" fmla="*/ 21220 h 131501"/>
                <a:gd name="csX9" fmla="*/ 128751 w 156391"/>
                <a:gd name="csY9" fmla="*/ 18327 h 131501"/>
                <a:gd name="csX10" fmla="*/ 122645 w 156391"/>
                <a:gd name="csY10" fmla="*/ 15754 h 131501"/>
                <a:gd name="csX11" fmla="*/ 116667 w 156391"/>
                <a:gd name="csY11" fmla="*/ 13375 h 131501"/>
                <a:gd name="csX12" fmla="*/ 111011 w 156391"/>
                <a:gd name="csY12" fmla="*/ 11060 h 131501"/>
                <a:gd name="csX13" fmla="*/ 105418 w 156391"/>
                <a:gd name="csY13" fmla="*/ 8617 h 131501"/>
                <a:gd name="csX14" fmla="*/ 99825 w 156391"/>
                <a:gd name="csY14" fmla="*/ 6237 h 131501"/>
                <a:gd name="csX15" fmla="*/ 94041 w 156391"/>
                <a:gd name="csY15" fmla="*/ 3923 h 131501"/>
                <a:gd name="csX16" fmla="*/ 87998 w 156391"/>
                <a:gd name="csY16" fmla="*/ 1993 h 131501"/>
                <a:gd name="csX17" fmla="*/ 81763 w 156391"/>
                <a:gd name="csY17" fmla="*/ 643 h 131501"/>
                <a:gd name="csX18" fmla="*/ 75271 w 156391"/>
                <a:gd name="csY18" fmla="*/ 0 h 131501"/>
                <a:gd name="csX19" fmla="*/ 68779 w 156391"/>
                <a:gd name="csY19" fmla="*/ 129 h 131501"/>
                <a:gd name="csX20" fmla="*/ 62351 w 156391"/>
                <a:gd name="csY20" fmla="*/ 1157 h 131501"/>
                <a:gd name="csX21" fmla="*/ 56180 w 156391"/>
                <a:gd name="csY21" fmla="*/ 2829 h 131501"/>
                <a:gd name="csX22" fmla="*/ 50202 w 156391"/>
                <a:gd name="csY22" fmla="*/ 4952 h 131501"/>
                <a:gd name="csX23" fmla="*/ 44481 w 156391"/>
                <a:gd name="csY23" fmla="*/ 7459 h 131501"/>
                <a:gd name="csX24" fmla="*/ 38953 w 156391"/>
                <a:gd name="csY24" fmla="*/ 10160 h 131501"/>
                <a:gd name="csX25" fmla="*/ 33489 w 156391"/>
                <a:gd name="csY25" fmla="*/ 12925 h 131501"/>
                <a:gd name="csX26" fmla="*/ 27961 w 156391"/>
                <a:gd name="csY26" fmla="*/ 15819 h 131501"/>
                <a:gd name="csX27" fmla="*/ 22433 w 156391"/>
                <a:gd name="csY27" fmla="*/ 18841 h 131501"/>
                <a:gd name="csX28" fmla="*/ 16970 w 156391"/>
                <a:gd name="csY28" fmla="*/ 22313 h 131501"/>
                <a:gd name="csX29" fmla="*/ 11892 w 156391"/>
                <a:gd name="csY29" fmla="*/ 26236 h 131501"/>
                <a:gd name="csX30" fmla="*/ 7392 w 156391"/>
                <a:gd name="csY30" fmla="*/ 30737 h 131501"/>
                <a:gd name="csX31" fmla="*/ 3728 w 156391"/>
                <a:gd name="csY31" fmla="*/ 35817 h 131501"/>
                <a:gd name="csX32" fmla="*/ 1221 w 156391"/>
                <a:gd name="csY32" fmla="*/ 41347 h 131501"/>
                <a:gd name="csX33" fmla="*/ 0 w 156391"/>
                <a:gd name="csY33" fmla="*/ 47263 h 131501"/>
                <a:gd name="csX34" fmla="*/ 0 w 156391"/>
                <a:gd name="csY34" fmla="*/ 53243 h 131501"/>
                <a:gd name="csX35" fmla="*/ 1092 w 156391"/>
                <a:gd name="csY35" fmla="*/ 59095 h 131501"/>
                <a:gd name="csX36" fmla="*/ 2892 w 156391"/>
                <a:gd name="csY36" fmla="*/ 64754 h 131501"/>
                <a:gd name="csX37" fmla="*/ 5013 w 156391"/>
                <a:gd name="csY37" fmla="*/ 70091 h 131501"/>
                <a:gd name="csX38" fmla="*/ 7264 w 156391"/>
                <a:gd name="csY38" fmla="*/ 75171 h 131501"/>
                <a:gd name="csX39" fmla="*/ 9192 w 156391"/>
                <a:gd name="csY39" fmla="*/ 80123 h 131501"/>
                <a:gd name="csX40" fmla="*/ 10799 w 156391"/>
                <a:gd name="csY40" fmla="*/ 85138 h 131501"/>
                <a:gd name="csX41" fmla="*/ 12149 w 156391"/>
                <a:gd name="csY41" fmla="*/ 90347 h 131501"/>
                <a:gd name="csX42" fmla="*/ 13370 w 156391"/>
                <a:gd name="csY42" fmla="*/ 95812 h 131501"/>
                <a:gd name="csX43" fmla="*/ 14784 w 156391"/>
                <a:gd name="csY43" fmla="*/ 101536 h 131501"/>
                <a:gd name="csX44" fmla="*/ 16777 w 156391"/>
                <a:gd name="csY44" fmla="*/ 107387 h 131501"/>
                <a:gd name="csX45" fmla="*/ 19605 w 156391"/>
                <a:gd name="csY45" fmla="*/ 113110 h 131501"/>
                <a:gd name="csX46" fmla="*/ 23398 w 156391"/>
                <a:gd name="csY46" fmla="*/ 118383 h 131501"/>
                <a:gd name="csX47" fmla="*/ 28282 w 156391"/>
                <a:gd name="csY47" fmla="*/ 123013 h 131501"/>
                <a:gd name="csX48" fmla="*/ 34068 w 156391"/>
                <a:gd name="csY48" fmla="*/ 126678 h 131501"/>
                <a:gd name="csX49" fmla="*/ 40624 w 156391"/>
                <a:gd name="csY49" fmla="*/ 129315 h 131501"/>
                <a:gd name="csX50" fmla="*/ 47566 w 156391"/>
                <a:gd name="csY50" fmla="*/ 130858 h 131501"/>
                <a:gd name="csX51" fmla="*/ 54638 w 156391"/>
                <a:gd name="csY51" fmla="*/ 131501 h 131501"/>
                <a:gd name="csX52" fmla="*/ 61708 w 156391"/>
                <a:gd name="csY52" fmla="*/ 131501 h 131501"/>
                <a:gd name="csX53" fmla="*/ 68586 w 156391"/>
                <a:gd name="csY53" fmla="*/ 130922 h 131501"/>
                <a:gd name="csX54" fmla="*/ 75271 w 156391"/>
                <a:gd name="csY54" fmla="*/ 130151 h 131501"/>
                <a:gd name="csX55" fmla="*/ 81763 w 156391"/>
                <a:gd name="csY55" fmla="*/ 129122 h 131501"/>
                <a:gd name="csX56" fmla="*/ 88127 w 156391"/>
                <a:gd name="csY56" fmla="*/ 127964 h 131501"/>
                <a:gd name="csX57" fmla="*/ 94362 w 156391"/>
                <a:gd name="csY57" fmla="*/ 126614 h 131501"/>
                <a:gd name="csX58" fmla="*/ 100469 w 156391"/>
                <a:gd name="csY58" fmla="*/ 124942 h 131501"/>
                <a:gd name="csX59" fmla="*/ 106382 w 156391"/>
                <a:gd name="csY59" fmla="*/ 122756 h 131501"/>
                <a:gd name="csX60" fmla="*/ 111974 w 156391"/>
                <a:gd name="csY60" fmla="*/ 119926 h 131501"/>
                <a:gd name="csX61" fmla="*/ 116988 w 156391"/>
                <a:gd name="csY61" fmla="*/ 116518 h 131501"/>
                <a:gd name="csX62" fmla="*/ 121424 w 156391"/>
                <a:gd name="csY62" fmla="*/ 112531 h 131501"/>
                <a:gd name="csX63" fmla="*/ 125216 w 156391"/>
                <a:gd name="csY63" fmla="*/ 108159 h 131501"/>
                <a:gd name="csX64" fmla="*/ 128430 w 156391"/>
                <a:gd name="csY64" fmla="*/ 103465 h 131501"/>
                <a:gd name="csX65" fmla="*/ 131194 w 156391"/>
                <a:gd name="csY65" fmla="*/ 98771 h 131501"/>
                <a:gd name="csX66" fmla="*/ 133830 w 156391"/>
                <a:gd name="csY66" fmla="*/ 94076 h 131501"/>
                <a:gd name="csX67" fmla="*/ 136465 w 156391"/>
                <a:gd name="csY67" fmla="*/ 89511 h 131501"/>
                <a:gd name="csX68" fmla="*/ 139422 w 156391"/>
                <a:gd name="csY68" fmla="*/ 85010 h 131501"/>
                <a:gd name="csX69" fmla="*/ 142636 w 156391"/>
                <a:gd name="csY69" fmla="*/ 80444 h 131501"/>
                <a:gd name="csX70" fmla="*/ 146107 w 156391"/>
                <a:gd name="csY70" fmla="*/ 75621 h 131501"/>
                <a:gd name="csX71" fmla="*/ 149642 w 156391"/>
                <a:gd name="csY71" fmla="*/ 70413 h 131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156391" h="131501">
                  <a:moveTo>
                    <a:pt x="152792" y="64754"/>
                  </a:moveTo>
                  <a:lnTo>
                    <a:pt x="155171" y="58709"/>
                  </a:lnTo>
                  <a:lnTo>
                    <a:pt x="156392" y="52343"/>
                  </a:lnTo>
                  <a:lnTo>
                    <a:pt x="156199" y="45913"/>
                  </a:lnTo>
                  <a:lnTo>
                    <a:pt x="154399" y="39740"/>
                  </a:lnTo>
                  <a:lnTo>
                    <a:pt x="151121" y="34081"/>
                  </a:lnTo>
                  <a:lnTo>
                    <a:pt x="146557" y="29001"/>
                  </a:lnTo>
                  <a:lnTo>
                    <a:pt x="141029" y="24757"/>
                  </a:lnTo>
                  <a:lnTo>
                    <a:pt x="134987" y="21220"/>
                  </a:lnTo>
                  <a:lnTo>
                    <a:pt x="128751" y="18327"/>
                  </a:lnTo>
                  <a:lnTo>
                    <a:pt x="122645" y="15754"/>
                  </a:lnTo>
                  <a:lnTo>
                    <a:pt x="116667" y="13375"/>
                  </a:lnTo>
                  <a:lnTo>
                    <a:pt x="111011" y="11060"/>
                  </a:lnTo>
                  <a:lnTo>
                    <a:pt x="105418" y="8617"/>
                  </a:lnTo>
                  <a:lnTo>
                    <a:pt x="99825" y="6237"/>
                  </a:lnTo>
                  <a:lnTo>
                    <a:pt x="94041" y="3923"/>
                  </a:lnTo>
                  <a:lnTo>
                    <a:pt x="87998" y="1993"/>
                  </a:lnTo>
                  <a:lnTo>
                    <a:pt x="81763" y="643"/>
                  </a:lnTo>
                  <a:lnTo>
                    <a:pt x="75271" y="0"/>
                  </a:lnTo>
                  <a:lnTo>
                    <a:pt x="68779" y="129"/>
                  </a:lnTo>
                  <a:lnTo>
                    <a:pt x="62351" y="1157"/>
                  </a:lnTo>
                  <a:lnTo>
                    <a:pt x="56180" y="2829"/>
                  </a:lnTo>
                  <a:lnTo>
                    <a:pt x="50202" y="4952"/>
                  </a:lnTo>
                  <a:lnTo>
                    <a:pt x="44481" y="7459"/>
                  </a:lnTo>
                  <a:lnTo>
                    <a:pt x="38953" y="10160"/>
                  </a:lnTo>
                  <a:lnTo>
                    <a:pt x="33489" y="12925"/>
                  </a:lnTo>
                  <a:lnTo>
                    <a:pt x="27961" y="15819"/>
                  </a:lnTo>
                  <a:lnTo>
                    <a:pt x="22433" y="18841"/>
                  </a:lnTo>
                  <a:lnTo>
                    <a:pt x="16970" y="22313"/>
                  </a:lnTo>
                  <a:lnTo>
                    <a:pt x="11892" y="26236"/>
                  </a:lnTo>
                  <a:lnTo>
                    <a:pt x="7392" y="30737"/>
                  </a:lnTo>
                  <a:lnTo>
                    <a:pt x="3728" y="35817"/>
                  </a:lnTo>
                  <a:lnTo>
                    <a:pt x="1221" y="41347"/>
                  </a:lnTo>
                  <a:lnTo>
                    <a:pt x="0" y="47263"/>
                  </a:lnTo>
                  <a:lnTo>
                    <a:pt x="0" y="53243"/>
                  </a:lnTo>
                  <a:lnTo>
                    <a:pt x="1092" y="59095"/>
                  </a:lnTo>
                  <a:lnTo>
                    <a:pt x="2892" y="64754"/>
                  </a:lnTo>
                  <a:lnTo>
                    <a:pt x="5013" y="70091"/>
                  </a:lnTo>
                  <a:lnTo>
                    <a:pt x="7264" y="75171"/>
                  </a:lnTo>
                  <a:lnTo>
                    <a:pt x="9192" y="80123"/>
                  </a:lnTo>
                  <a:lnTo>
                    <a:pt x="10799" y="85138"/>
                  </a:lnTo>
                  <a:lnTo>
                    <a:pt x="12149" y="90347"/>
                  </a:lnTo>
                  <a:lnTo>
                    <a:pt x="13370" y="95812"/>
                  </a:lnTo>
                  <a:lnTo>
                    <a:pt x="14784" y="101536"/>
                  </a:lnTo>
                  <a:lnTo>
                    <a:pt x="16777" y="107387"/>
                  </a:lnTo>
                  <a:lnTo>
                    <a:pt x="19605" y="113110"/>
                  </a:lnTo>
                  <a:lnTo>
                    <a:pt x="23398" y="118383"/>
                  </a:lnTo>
                  <a:lnTo>
                    <a:pt x="28282" y="123013"/>
                  </a:lnTo>
                  <a:lnTo>
                    <a:pt x="34068" y="126678"/>
                  </a:lnTo>
                  <a:lnTo>
                    <a:pt x="40624" y="129315"/>
                  </a:lnTo>
                  <a:lnTo>
                    <a:pt x="47566" y="130858"/>
                  </a:lnTo>
                  <a:lnTo>
                    <a:pt x="54638" y="131501"/>
                  </a:lnTo>
                  <a:lnTo>
                    <a:pt x="61708" y="131501"/>
                  </a:lnTo>
                  <a:lnTo>
                    <a:pt x="68586" y="130922"/>
                  </a:lnTo>
                  <a:lnTo>
                    <a:pt x="75271" y="130151"/>
                  </a:lnTo>
                  <a:lnTo>
                    <a:pt x="81763" y="129122"/>
                  </a:lnTo>
                  <a:lnTo>
                    <a:pt x="88127" y="127964"/>
                  </a:lnTo>
                  <a:lnTo>
                    <a:pt x="94362" y="126614"/>
                  </a:lnTo>
                  <a:lnTo>
                    <a:pt x="100469" y="124942"/>
                  </a:lnTo>
                  <a:lnTo>
                    <a:pt x="106382" y="122756"/>
                  </a:lnTo>
                  <a:lnTo>
                    <a:pt x="111974" y="119926"/>
                  </a:lnTo>
                  <a:lnTo>
                    <a:pt x="116988" y="116518"/>
                  </a:lnTo>
                  <a:lnTo>
                    <a:pt x="121424" y="112531"/>
                  </a:lnTo>
                  <a:lnTo>
                    <a:pt x="125216" y="108159"/>
                  </a:lnTo>
                  <a:lnTo>
                    <a:pt x="128430" y="103465"/>
                  </a:lnTo>
                  <a:lnTo>
                    <a:pt x="131194" y="98771"/>
                  </a:lnTo>
                  <a:lnTo>
                    <a:pt x="133830" y="94076"/>
                  </a:lnTo>
                  <a:lnTo>
                    <a:pt x="136465" y="89511"/>
                  </a:lnTo>
                  <a:lnTo>
                    <a:pt x="139422" y="85010"/>
                  </a:lnTo>
                  <a:lnTo>
                    <a:pt x="142636" y="80444"/>
                  </a:lnTo>
                  <a:lnTo>
                    <a:pt x="146107" y="75621"/>
                  </a:lnTo>
                  <a:lnTo>
                    <a:pt x="149642" y="70413"/>
                  </a:lnTo>
                  <a:close/>
                </a:path>
              </a:pathLst>
            </a:custGeom>
            <a:solidFill>
              <a:srgbClr val="4FA88E"/>
            </a:solidFill>
            <a:ln w="6425" cap="flat">
              <a:solidFill>
                <a:srgbClr val="2F7A6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7" name="Freeform 486">
              <a:extLst>
                <a:ext uri="{FF2B5EF4-FFF2-40B4-BE49-F238E27FC236}">
                  <a16:creationId xmlns:a16="http://schemas.microsoft.com/office/drawing/2014/main" id="{F9E9BE28-2C63-FAAD-EB12-6242B25E6D73}"/>
                </a:ext>
              </a:extLst>
            </p:cNvPr>
            <p:cNvSpPr/>
            <p:nvPr/>
          </p:nvSpPr>
          <p:spPr>
            <a:xfrm>
              <a:off x="9971851" y="2652785"/>
              <a:ext cx="4082" cy="118833"/>
            </a:xfrm>
            <a:custGeom>
              <a:avLst/>
              <a:gdLst>
                <a:gd name="csX0" fmla="*/ 2041 w 4082"/>
                <a:gd name="csY0" fmla="*/ 0 h 118833"/>
                <a:gd name="csX1" fmla="*/ 2041 w 4082"/>
                <a:gd name="csY1" fmla="*/ 118833 h 118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082" h="118833">
                  <a:moveTo>
                    <a:pt x="2041" y="0"/>
                  </a:moveTo>
                  <a:cubicBezTo>
                    <a:pt x="9112" y="39611"/>
                    <a:pt x="-5029" y="82051"/>
                    <a:pt x="2041" y="118833"/>
                  </a:cubicBezTo>
                </a:path>
              </a:pathLst>
            </a:custGeom>
            <a:noFill/>
            <a:ln w="5462" cap="rnd">
              <a:solidFill>
                <a:srgbClr val="FFFFFF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8" name="Freeform 487">
              <a:extLst>
                <a:ext uri="{FF2B5EF4-FFF2-40B4-BE49-F238E27FC236}">
                  <a16:creationId xmlns:a16="http://schemas.microsoft.com/office/drawing/2014/main" id="{DF230737-4027-81A9-4D75-6835B1D48B94}"/>
                </a:ext>
              </a:extLst>
            </p:cNvPr>
            <p:cNvSpPr/>
            <p:nvPr/>
          </p:nvSpPr>
          <p:spPr>
            <a:xfrm>
              <a:off x="9918741" y="2685322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1" y="-1886"/>
                    <a:pt x="21212" y="-1886"/>
                    <a:pt x="21212" y="5659"/>
                  </a:cubicBezTo>
                  <a:cubicBezTo>
                    <a:pt x="21212" y="13204"/>
                    <a:pt x="28282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9" name="Freeform 488">
              <a:extLst>
                <a:ext uri="{FF2B5EF4-FFF2-40B4-BE49-F238E27FC236}">
                  <a16:creationId xmlns:a16="http://schemas.microsoft.com/office/drawing/2014/main" id="{E2E49184-B6ED-D9A2-9127-76DE6AE0B788}"/>
                </a:ext>
              </a:extLst>
            </p:cNvPr>
            <p:cNvSpPr/>
            <p:nvPr/>
          </p:nvSpPr>
          <p:spPr>
            <a:xfrm>
              <a:off x="9922983" y="2724226"/>
              <a:ext cx="36768" cy="11150"/>
            </a:xfrm>
            <a:custGeom>
              <a:avLst/>
              <a:gdLst>
                <a:gd name="csX0" fmla="*/ 0 w 36768"/>
                <a:gd name="csY0" fmla="*/ 4951 h 11150"/>
                <a:gd name="csX1" fmla="*/ 18384 w 36768"/>
                <a:gd name="csY1" fmla="*/ 4951 h 11150"/>
                <a:gd name="csX2" fmla="*/ 36768 w 36768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8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0" name="Freeform 489">
              <a:extLst>
                <a:ext uri="{FF2B5EF4-FFF2-40B4-BE49-F238E27FC236}">
                  <a16:creationId xmlns:a16="http://schemas.microsoft.com/office/drawing/2014/main" id="{31035A34-B696-1602-2A50-9C41B9B7F02B}"/>
                </a:ext>
              </a:extLst>
            </p:cNvPr>
            <p:cNvSpPr/>
            <p:nvPr/>
          </p:nvSpPr>
          <p:spPr>
            <a:xfrm>
              <a:off x="9986620" y="2686737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3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2" y="-1886"/>
                    <a:pt x="21213" y="-1886"/>
                    <a:pt x="21213" y="5659"/>
                  </a:cubicBezTo>
                  <a:cubicBezTo>
                    <a:pt x="21213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1" name="Freeform 490">
              <a:extLst>
                <a:ext uri="{FF2B5EF4-FFF2-40B4-BE49-F238E27FC236}">
                  <a16:creationId xmlns:a16="http://schemas.microsoft.com/office/drawing/2014/main" id="{35C459B9-4F4C-4951-F7E5-1F9B53D4CD96}"/>
                </a:ext>
              </a:extLst>
            </p:cNvPr>
            <p:cNvSpPr/>
            <p:nvPr/>
          </p:nvSpPr>
          <p:spPr>
            <a:xfrm>
              <a:off x="9988034" y="2725641"/>
              <a:ext cx="36768" cy="11150"/>
            </a:xfrm>
            <a:custGeom>
              <a:avLst/>
              <a:gdLst>
                <a:gd name="csX0" fmla="*/ 0 w 36768"/>
                <a:gd name="csY0" fmla="*/ 4951 h 11150"/>
                <a:gd name="csX1" fmla="*/ 18385 w 36768"/>
                <a:gd name="csY1" fmla="*/ 4951 h 11150"/>
                <a:gd name="csX2" fmla="*/ 36768 w 36768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8" h="11150">
                  <a:moveTo>
                    <a:pt x="0" y="4951"/>
                  </a:moveTo>
                  <a:cubicBezTo>
                    <a:pt x="12256" y="-1650"/>
                    <a:pt x="18385" y="-1650"/>
                    <a:pt x="18385" y="4951"/>
                  </a:cubicBezTo>
                  <a:cubicBezTo>
                    <a:pt x="18385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92" name="TextBox 491">
            <a:extLst>
              <a:ext uri="{FF2B5EF4-FFF2-40B4-BE49-F238E27FC236}">
                <a16:creationId xmlns:a16="http://schemas.microsoft.com/office/drawing/2014/main" id="{D25B58CD-09A9-C31E-2BB2-F683D6C814EF}"/>
              </a:ext>
            </a:extLst>
          </p:cNvPr>
          <p:cNvSpPr txBox="1"/>
          <p:nvPr/>
        </p:nvSpPr>
        <p:spPr>
          <a:xfrm>
            <a:off x="10036723" y="2570235"/>
            <a:ext cx="1047359" cy="187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b="1" spc="0" baseline="0">
                <a:ln/>
                <a:solidFill>
                  <a:srgbClr val="22314A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Chronic back pain (S1)</a:t>
            </a:r>
          </a:p>
        </p:txBody>
      </p:sp>
      <p:sp>
        <p:nvSpPr>
          <p:cNvPr id="493" name="TextBox 492">
            <a:extLst>
              <a:ext uri="{FF2B5EF4-FFF2-40B4-BE49-F238E27FC236}">
                <a16:creationId xmlns:a16="http://schemas.microsoft.com/office/drawing/2014/main" id="{C879875D-E027-F17B-F542-20AA4AD0B1AF}"/>
              </a:ext>
            </a:extLst>
          </p:cNvPr>
          <p:cNvSpPr txBox="1"/>
          <p:nvPr/>
        </p:nvSpPr>
        <p:spPr>
          <a:xfrm>
            <a:off x="10036723" y="2690229"/>
            <a:ext cx="514356" cy="174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25" i="1" spc="0" baseline="0">
                <a:ln/>
                <a:solidFill>
                  <a:srgbClr val="7C8598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Lee · 2019</a:t>
            </a:r>
          </a:p>
        </p:txBody>
      </p:sp>
      <p:sp>
        <p:nvSpPr>
          <p:cNvPr id="494" name="Freeform 493">
            <a:extLst>
              <a:ext uri="{FF2B5EF4-FFF2-40B4-BE49-F238E27FC236}">
                <a16:creationId xmlns:a16="http://schemas.microsoft.com/office/drawing/2014/main" id="{C4CA0CEB-4BAF-2D15-F639-A94DF9590053}"/>
              </a:ext>
            </a:extLst>
          </p:cNvPr>
          <p:cNvSpPr/>
          <p:nvPr/>
        </p:nvSpPr>
        <p:spPr>
          <a:xfrm>
            <a:off x="9678207" y="2089870"/>
            <a:ext cx="128558" cy="983846"/>
          </a:xfrm>
          <a:custGeom>
            <a:avLst/>
            <a:gdLst>
              <a:gd name="csX0" fmla="*/ 0 w 128558"/>
              <a:gd name="csY0" fmla="*/ 0 h 983846"/>
              <a:gd name="csX1" fmla="*/ 128559 w 128558"/>
              <a:gd name="csY1" fmla="*/ 983847 h 98384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8558" h="983846">
                <a:moveTo>
                  <a:pt x="0" y="0"/>
                </a:moveTo>
                <a:cubicBezTo>
                  <a:pt x="0" y="983847"/>
                  <a:pt x="64279" y="983847"/>
                  <a:pt x="128559" y="983847"/>
                </a:cubicBezTo>
              </a:path>
            </a:pathLst>
          </a:custGeom>
          <a:noFill/>
          <a:ln w="12851" cap="flat">
            <a:solidFill>
              <a:srgbClr val="4FA88E">
                <a:alpha val="4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95" name="Rounded Rectangle 494">
            <a:extLst>
              <a:ext uri="{FF2B5EF4-FFF2-40B4-BE49-F238E27FC236}">
                <a16:creationId xmlns:a16="http://schemas.microsoft.com/office/drawing/2014/main" id="{D9D4AC14-86AC-8308-9609-35FA1433928B}"/>
              </a:ext>
            </a:extLst>
          </p:cNvPr>
          <p:cNvSpPr/>
          <p:nvPr/>
        </p:nvSpPr>
        <p:spPr>
          <a:xfrm>
            <a:off x="9806766" y="2919388"/>
            <a:ext cx="1722690" cy="308657"/>
          </a:xfrm>
          <a:prstGeom prst="roundRect">
            <a:avLst>
              <a:gd name="adj" fmla="val 24990"/>
            </a:avLst>
          </a:prstGeom>
          <a:solidFill>
            <a:srgbClr val="FFFFFF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96" name="Rounded Rectangle 495">
            <a:extLst>
              <a:ext uri="{FF2B5EF4-FFF2-40B4-BE49-F238E27FC236}">
                <a16:creationId xmlns:a16="http://schemas.microsoft.com/office/drawing/2014/main" id="{21828791-17B4-82A4-43CD-6214057419D7}"/>
              </a:ext>
            </a:extLst>
          </p:cNvPr>
          <p:cNvSpPr/>
          <p:nvPr/>
        </p:nvSpPr>
        <p:spPr>
          <a:xfrm>
            <a:off x="9806766" y="2919388"/>
            <a:ext cx="32139" cy="308657"/>
          </a:xfrm>
          <a:prstGeom prst="roundRect">
            <a:avLst>
              <a:gd name="adj" fmla="val 50000"/>
            </a:avLst>
          </a:prstGeom>
          <a:solidFill>
            <a:srgbClr val="4FA88E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97" name="Oval 496">
            <a:extLst>
              <a:ext uri="{FF2B5EF4-FFF2-40B4-BE49-F238E27FC236}">
                <a16:creationId xmlns:a16="http://schemas.microsoft.com/office/drawing/2014/main" id="{390B0DE8-41F8-3765-0C00-83AE9878710C}"/>
              </a:ext>
            </a:extLst>
          </p:cNvPr>
          <p:cNvSpPr/>
          <p:nvPr/>
        </p:nvSpPr>
        <p:spPr>
          <a:xfrm>
            <a:off x="9877473" y="2977261"/>
            <a:ext cx="192838" cy="192911"/>
          </a:xfrm>
          <a:prstGeom prst="ellipse">
            <a:avLst/>
          </a:prstGeom>
          <a:solidFill>
            <a:srgbClr val="E4F2ED"/>
          </a:solidFill>
          <a:ln w="64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498" name="Graphic 2">
            <a:extLst>
              <a:ext uri="{FF2B5EF4-FFF2-40B4-BE49-F238E27FC236}">
                <a16:creationId xmlns:a16="http://schemas.microsoft.com/office/drawing/2014/main" id="{6AD8545B-CF22-BDBE-C7A1-775852BE5E32}"/>
              </a:ext>
            </a:extLst>
          </p:cNvPr>
          <p:cNvGrpSpPr/>
          <p:nvPr/>
        </p:nvGrpSpPr>
        <p:grpSpPr>
          <a:xfrm>
            <a:off x="9898621" y="3008963"/>
            <a:ext cx="156391" cy="131501"/>
            <a:chOff x="9898621" y="3008963"/>
            <a:chExt cx="156391" cy="131501"/>
          </a:xfrm>
        </p:grpSpPr>
        <p:sp>
          <p:nvSpPr>
            <p:cNvPr id="499" name="Freeform 498">
              <a:extLst>
                <a:ext uri="{FF2B5EF4-FFF2-40B4-BE49-F238E27FC236}">
                  <a16:creationId xmlns:a16="http://schemas.microsoft.com/office/drawing/2014/main" id="{BDDA6543-C8EE-446F-86D1-2E130FA045D4}"/>
                </a:ext>
              </a:extLst>
            </p:cNvPr>
            <p:cNvSpPr/>
            <p:nvPr/>
          </p:nvSpPr>
          <p:spPr>
            <a:xfrm>
              <a:off x="9898621" y="3008963"/>
              <a:ext cx="156391" cy="131501"/>
            </a:xfrm>
            <a:custGeom>
              <a:avLst/>
              <a:gdLst>
                <a:gd name="csX0" fmla="*/ 152792 w 156391"/>
                <a:gd name="csY0" fmla="*/ 64754 h 131501"/>
                <a:gd name="csX1" fmla="*/ 155171 w 156391"/>
                <a:gd name="csY1" fmla="*/ 58709 h 131501"/>
                <a:gd name="csX2" fmla="*/ 156392 w 156391"/>
                <a:gd name="csY2" fmla="*/ 52343 h 131501"/>
                <a:gd name="csX3" fmla="*/ 156199 w 156391"/>
                <a:gd name="csY3" fmla="*/ 45913 h 131501"/>
                <a:gd name="csX4" fmla="*/ 154399 w 156391"/>
                <a:gd name="csY4" fmla="*/ 39740 h 131501"/>
                <a:gd name="csX5" fmla="*/ 151121 w 156391"/>
                <a:gd name="csY5" fmla="*/ 34081 h 131501"/>
                <a:gd name="csX6" fmla="*/ 146557 w 156391"/>
                <a:gd name="csY6" fmla="*/ 29001 h 131501"/>
                <a:gd name="csX7" fmla="*/ 141029 w 156391"/>
                <a:gd name="csY7" fmla="*/ 24757 h 131501"/>
                <a:gd name="csX8" fmla="*/ 134987 w 156391"/>
                <a:gd name="csY8" fmla="*/ 21220 h 131501"/>
                <a:gd name="csX9" fmla="*/ 128751 w 156391"/>
                <a:gd name="csY9" fmla="*/ 18327 h 131501"/>
                <a:gd name="csX10" fmla="*/ 122645 w 156391"/>
                <a:gd name="csY10" fmla="*/ 15754 h 131501"/>
                <a:gd name="csX11" fmla="*/ 116667 w 156391"/>
                <a:gd name="csY11" fmla="*/ 13375 h 131501"/>
                <a:gd name="csX12" fmla="*/ 111011 w 156391"/>
                <a:gd name="csY12" fmla="*/ 11060 h 131501"/>
                <a:gd name="csX13" fmla="*/ 105418 w 156391"/>
                <a:gd name="csY13" fmla="*/ 8617 h 131501"/>
                <a:gd name="csX14" fmla="*/ 99825 w 156391"/>
                <a:gd name="csY14" fmla="*/ 6237 h 131501"/>
                <a:gd name="csX15" fmla="*/ 94041 w 156391"/>
                <a:gd name="csY15" fmla="*/ 3923 h 131501"/>
                <a:gd name="csX16" fmla="*/ 87998 w 156391"/>
                <a:gd name="csY16" fmla="*/ 1993 h 131501"/>
                <a:gd name="csX17" fmla="*/ 81763 w 156391"/>
                <a:gd name="csY17" fmla="*/ 643 h 131501"/>
                <a:gd name="csX18" fmla="*/ 75271 w 156391"/>
                <a:gd name="csY18" fmla="*/ 0 h 131501"/>
                <a:gd name="csX19" fmla="*/ 68779 w 156391"/>
                <a:gd name="csY19" fmla="*/ 129 h 131501"/>
                <a:gd name="csX20" fmla="*/ 62351 w 156391"/>
                <a:gd name="csY20" fmla="*/ 1157 h 131501"/>
                <a:gd name="csX21" fmla="*/ 56180 w 156391"/>
                <a:gd name="csY21" fmla="*/ 2829 h 131501"/>
                <a:gd name="csX22" fmla="*/ 50202 w 156391"/>
                <a:gd name="csY22" fmla="*/ 4952 h 131501"/>
                <a:gd name="csX23" fmla="*/ 44481 w 156391"/>
                <a:gd name="csY23" fmla="*/ 7459 h 131501"/>
                <a:gd name="csX24" fmla="*/ 38953 w 156391"/>
                <a:gd name="csY24" fmla="*/ 10160 h 131501"/>
                <a:gd name="csX25" fmla="*/ 33489 w 156391"/>
                <a:gd name="csY25" fmla="*/ 12925 h 131501"/>
                <a:gd name="csX26" fmla="*/ 27961 w 156391"/>
                <a:gd name="csY26" fmla="*/ 15819 h 131501"/>
                <a:gd name="csX27" fmla="*/ 22433 w 156391"/>
                <a:gd name="csY27" fmla="*/ 18841 h 131501"/>
                <a:gd name="csX28" fmla="*/ 16970 w 156391"/>
                <a:gd name="csY28" fmla="*/ 22313 h 131501"/>
                <a:gd name="csX29" fmla="*/ 11892 w 156391"/>
                <a:gd name="csY29" fmla="*/ 26236 h 131501"/>
                <a:gd name="csX30" fmla="*/ 7392 w 156391"/>
                <a:gd name="csY30" fmla="*/ 30737 h 131501"/>
                <a:gd name="csX31" fmla="*/ 3728 w 156391"/>
                <a:gd name="csY31" fmla="*/ 35817 h 131501"/>
                <a:gd name="csX32" fmla="*/ 1221 w 156391"/>
                <a:gd name="csY32" fmla="*/ 41347 h 131501"/>
                <a:gd name="csX33" fmla="*/ 0 w 156391"/>
                <a:gd name="csY33" fmla="*/ 47263 h 131501"/>
                <a:gd name="csX34" fmla="*/ 0 w 156391"/>
                <a:gd name="csY34" fmla="*/ 53243 h 131501"/>
                <a:gd name="csX35" fmla="*/ 1092 w 156391"/>
                <a:gd name="csY35" fmla="*/ 59095 h 131501"/>
                <a:gd name="csX36" fmla="*/ 2892 w 156391"/>
                <a:gd name="csY36" fmla="*/ 64754 h 131501"/>
                <a:gd name="csX37" fmla="*/ 5013 w 156391"/>
                <a:gd name="csY37" fmla="*/ 70091 h 131501"/>
                <a:gd name="csX38" fmla="*/ 7264 w 156391"/>
                <a:gd name="csY38" fmla="*/ 75171 h 131501"/>
                <a:gd name="csX39" fmla="*/ 9192 w 156391"/>
                <a:gd name="csY39" fmla="*/ 80123 h 131501"/>
                <a:gd name="csX40" fmla="*/ 10799 w 156391"/>
                <a:gd name="csY40" fmla="*/ 85138 h 131501"/>
                <a:gd name="csX41" fmla="*/ 12149 w 156391"/>
                <a:gd name="csY41" fmla="*/ 90347 h 131501"/>
                <a:gd name="csX42" fmla="*/ 13370 w 156391"/>
                <a:gd name="csY42" fmla="*/ 95812 h 131501"/>
                <a:gd name="csX43" fmla="*/ 14784 w 156391"/>
                <a:gd name="csY43" fmla="*/ 101536 h 131501"/>
                <a:gd name="csX44" fmla="*/ 16777 w 156391"/>
                <a:gd name="csY44" fmla="*/ 107387 h 131501"/>
                <a:gd name="csX45" fmla="*/ 19605 w 156391"/>
                <a:gd name="csY45" fmla="*/ 113110 h 131501"/>
                <a:gd name="csX46" fmla="*/ 23398 w 156391"/>
                <a:gd name="csY46" fmla="*/ 118383 h 131501"/>
                <a:gd name="csX47" fmla="*/ 28282 w 156391"/>
                <a:gd name="csY47" fmla="*/ 123013 h 131501"/>
                <a:gd name="csX48" fmla="*/ 34068 w 156391"/>
                <a:gd name="csY48" fmla="*/ 126678 h 131501"/>
                <a:gd name="csX49" fmla="*/ 40624 w 156391"/>
                <a:gd name="csY49" fmla="*/ 129315 h 131501"/>
                <a:gd name="csX50" fmla="*/ 47566 w 156391"/>
                <a:gd name="csY50" fmla="*/ 130858 h 131501"/>
                <a:gd name="csX51" fmla="*/ 54638 w 156391"/>
                <a:gd name="csY51" fmla="*/ 131501 h 131501"/>
                <a:gd name="csX52" fmla="*/ 61708 w 156391"/>
                <a:gd name="csY52" fmla="*/ 131501 h 131501"/>
                <a:gd name="csX53" fmla="*/ 68586 w 156391"/>
                <a:gd name="csY53" fmla="*/ 130922 h 131501"/>
                <a:gd name="csX54" fmla="*/ 75271 w 156391"/>
                <a:gd name="csY54" fmla="*/ 130151 h 131501"/>
                <a:gd name="csX55" fmla="*/ 81763 w 156391"/>
                <a:gd name="csY55" fmla="*/ 129122 h 131501"/>
                <a:gd name="csX56" fmla="*/ 88127 w 156391"/>
                <a:gd name="csY56" fmla="*/ 127964 h 131501"/>
                <a:gd name="csX57" fmla="*/ 94362 w 156391"/>
                <a:gd name="csY57" fmla="*/ 126614 h 131501"/>
                <a:gd name="csX58" fmla="*/ 100469 w 156391"/>
                <a:gd name="csY58" fmla="*/ 124942 h 131501"/>
                <a:gd name="csX59" fmla="*/ 106382 w 156391"/>
                <a:gd name="csY59" fmla="*/ 122756 h 131501"/>
                <a:gd name="csX60" fmla="*/ 111974 w 156391"/>
                <a:gd name="csY60" fmla="*/ 119926 h 131501"/>
                <a:gd name="csX61" fmla="*/ 116988 w 156391"/>
                <a:gd name="csY61" fmla="*/ 116518 h 131501"/>
                <a:gd name="csX62" fmla="*/ 121424 w 156391"/>
                <a:gd name="csY62" fmla="*/ 112531 h 131501"/>
                <a:gd name="csX63" fmla="*/ 125216 w 156391"/>
                <a:gd name="csY63" fmla="*/ 108159 h 131501"/>
                <a:gd name="csX64" fmla="*/ 128430 w 156391"/>
                <a:gd name="csY64" fmla="*/ 103465 h 131501"/>
                <a:gd name="csX65" fmla="*/ 131194 w 156391"/>
                <a:gd name="csY65" fmla="*/ 98771 h 131501"/>
                <a:gd name="csX66" fmla="*/ 133830 w 156391"/>
                <a:gd name="csY66" fmla="*/ 94076 h 131501"/>
                <a:gd name="csX67" fmla="*/ 136465 w 156391"/>
                <a:gd name="csY67" fmla="*/ 89511 h 131501"/>
                <a:gd name="csX68" fmla="*/ 139422 w 156391"/>
                <a:gd name="csY68" fmla="*/ 85010 h 131501"/>
                <a:gd name="csX69" fmla="*/ 142636 w 156391"/>
                <a:gd name="csY69" fmla="*/ 80444 h 131501"/>
                <a:gd name="csX70" fmla="*/ 146107 w 156391"/>
                <a:gd name="csY70" fmla="*/ 75621 h 131501"/>
                <a:gd name="csX71" fmla="*/ 149642 w 156391"/>
                <a:gd name="csY71" fmla="*/ 70413 h 131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</a:cxnLst>
              <a:rect l="l" t="t" r="r" b="b"/>
              <a:pathLst>
                <a:path w="156391" h="131501">
                  <a:moveTo>
                    <a:pt x="152792" y="64754"/>
                  </a:moveTo>
                  <a:lnTo>
                    <a:pt x="155171" y="58709"/>
                  </a:lnTo>
                  <a:lnTo>
                    <a:pt x="156392" y="52343"/>
                  </a:lnTo>
                  <a:lnTo>
                    <a:pt x="156199" y="45913"/>
                  </a:lnTo>
                  <a:lnTo>
                    <a:pt x="154399" y="39740"/>
                  </a:lnTo>
                  <a:lnTo>
                    <a:pt x="151121" y="34081"/>
                  </a:lnTo>
                  <a:lnTo>
                    <a:pt x="146557" y="29001"/>
                  </a:lnTo>
                  <a:lnTo>
                    <a:pt x="141029" y="24757"/>
                  </a:lnTo>
                  <a:lnTo>
                    <a:pt x="134987" y="21220"/>
                  </a:lnTo>
                  <a:lnTo>
                    <a:pt x="128751" y="18327"/>
                  </a:lnTo>
                  <a:lnTo>
                    <a:pt x="122645" y="15754"/>
                  </a:lnTo>
                  <a:lnTo>
                    <a:pt x="116667" y="13375"/>
                  </a:lnTo>
                  <a:lnTo>
                    <a:pt x="111011" y="11060"/>
                  </a:lnTo>
                  <a:lnTo>
                    <a:pt x="105418" y="8617"/>
                  </a:lnTo>
                  <a:lnTo>
                    <a:pt x="99825" y="6237"/>
                  </a:lnTo>
                  <a:lnTo>
                    <a:pt x="94041" y="3923"/>
                  </a:lnTo>
                  <a:lnTo>
                    <a:pt x="87998" y="1993"/>
                  </a:lnTo>
                  <a:lnTo>
                    <a:pt x="81763" y="643"/>
                  </a:lnTo>
                  <a:lnTo>
                    <a:pt x="75271" y="0"/>
                  </a:lnTo>
                  <a:lnTo>
                    <a:pt x="68779" y="129"/>
                  </a:lnTo>
                  <a:lnTo>
                    <a:pt x="62351" y="1157"/>
                  </a:lnTo>
                  <a:lnTo>
                    <a:pt x="56180" y="2829"/>
                  </a:lnTo>
                  <a:lnTo>
                    <a:pt x="50202" y="4952"/>
                  </a:lnTo>
                  <a:lnTo>
                    <a:pt x="44481" y="7459"/>
                  </a:lnTo>
                  <a:lnTo>
                    <a:pt x="38953" y="10160"/>
                  </a:lnTo>
                  <a:lnTo>
                    <a:pt x="33489" y="12925"/>
                  </a:lnTo>
                  <a:lnTo>
                    <a:pt x="27961" y="15819"/>
                  </a:lnTo>
                  <a:lnTo>
                    <a:pt x="22433" y="18841"/>
                  </a:lnTo>
                  <a:lnTo>
                    <a:pt x="16970" y="22313"/>
                  </a:lnTo>
                  <a:lnTo>
                    <a:pt x="11892" y="26236"/>
                  </a:lnTo>
                  <a:lnTo>
                    <a:pt x="7392" y="30737"/>
                  </a:lnTo>
                  <a:lnTo>
                    <a:pt x="3728" y="35817"/>
                  </a:lnTo>
                  <a:lnTo>
                    <a:pt x="1221" y="41347"/>
                  </a:lnTo>
                  <a:lnTo>
                    <a:pt x="0" y="47263"/>
                  </a:lnTo>
                  <a:lnTo>
                    <a:pt x="0" y="53243"/>
                  </a:lnTo>
                  <a:lnTo>
                    <a:pt x="1092" y="59095"/>
                  </a:lnTo>
                  <a:lnTo>
                    <a:pt x="2892" y="64754"/>
                  </a:lnTo>
                  <a:lnTo>
                    <a:pt x="5013" y="70091"/>
                  </a:lnTo>
                  <a:lnTo>
                    <a:pt x="7264" y="75171"/>
                  </a:lnTo>
                  <a:lnTo>
                    <a:pt x="9192" y="80123"/>
                  </a:lnTo>
                  <a:lnTo>
                    <a:pt x="10799" y="85138"/>
                  </a:lnTo>
                  <a:lnTo>
                    <a:pt x="12149" y="90347"/>
                  </a:lnTo>
                  <a:lnTo>
                    <a:pt x="13370" y="95812"/>
                  </a:lnTo>
                  <a:lnTo>
                    <a:pt x="14784" y="101536"/>
                  </a:lnTo>
                  <a:lnTo>
                    <a:pt x="16777" y="107387"/>
                  </a:lnTo>
                  <a:lnTo>
                    <a:pt x="19605" y="113110"/>
                  </a:lnTo>
                  <a:lnTo>
                    <a:pt x="23398" y="118383"/>
                  </a:lnTo>
                  <a:lnTo>
                    <a:pt x="28282" y="123013"/>
                  </a:lnTo>
                  <a:lnTo>
                    <a:pt x="34068" y="126678"/>
                  </a:lnTo>
                  <a:lnTo>
                    <a:pt x="40624" y="129315"/>
                  </a:lnTo>
                  <a:lnTo>
                    <a:pt x="47566" y="130858"/>
                  </a:lnTo>
                  <a:lnTo>
                    <a:pt x="54638" y="131501"/>
                  </a:lnTo>
                  <a:lnTo>
                    <a:pt x="61708" y="131501"/>
                  </a:lnTo>
                  <a:lnTo>
                    <a:pt x="68586" y="130922"/>
                  </a:lnTo>
                  <a:lnTo>
                    <a:pt x="75271" y="130151"/>
                  </a:lnTo>
                  <a:lnTo>
                    <a:pt x="81763" y="129122"/>
                  </a:lnTo>
                  <a:lnTo>
                    <a:pt x="88127" y="127964"/>
                  </a:lnTo>
                  <a:lnTo>
                    <a:pt x="94362" y="126614"/>
                  </a:lnTo>
                  <a:lnTo>
                    <a:pt x="100469" y="124942"/>
                  </a:lnTo>
                  <a:lnTo>
                    <a:pt x="106382" y="122756"/>
                  </a:lnTo>
                  <a:lnTo>
                    <a:pt x="111974" y="119926"/>
                  </a:lnTo>
                  <a:lnTo>
                    <a:pt x="116988" y="116518"/>
                  </a:lnTo>
                  <a:lnTo>
                    <a:pt x="121424" y="112531"/>
                  </a:lnTo>
                  <a:lnTo>
                    <a:pt x="125216" y="108159"/>
                  </a:lnTo>
                  <a:lnTo>
                    <a:pt x="128430" y="103465"/>
                  </a:lnTo>
                  <a:lnTo>
                    <a:pt x="131194" y="98771"/>
                  </a:lnTo>
                  <a:lnTo>
                    <a:pt x="133830" y="94076"/>
                  </a:lnTo>
                  <a:lnTo>
                    <a:pt x="136465" y="89511"/>
                  </a:lnTo>
                  <a:lnTo>
                    <a:pt x="139422" y="85010"/>
                  </a:lnTo>
                  <a:lnTo>
                    <a:pt x="142636" y="80444"/>
                  </a:lnTo>
                  <a:lnTo>
                    <a:pt x="146107" y="75621"/>
                  </a:lnTo>
                  <a:lnTo>
                    <a:pt x="149642" y="70413"/>
                  </a:lnTo>
                  <a:close/>
                </a:path>
              </a:pathLst>
            </a:custGeom>
            <a:solidFill>
              <a:srgbClr val="4FA88E"/>
            </a:solidFill>
            <a:ln w="6425" cap="flat">
              <a:solidFill>
                <a:srgbClr val="2F7A6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0" name="Freeform 499">
              <a:extLst>
                <a:ext uri="{FF2B5EF4-FFF2-40B4-BE49-F238E27FC236}">
                  <a16:creationId xmlns:a16="http://schemas.microsoft.com/office/drawing/2014/main" id="{89649E8B-F34E-F197-EB76-ADC2E3FC522D}"/>
                </a:ext>
              </a:extLst>
            </p:cNvPr>
            <p:cNvSpPr/>
            <p:nvPr/>
          </p:nvSpPr>
          <p:spPr>
            <a:xfrm>
              <a:off x="9971851" y="3012886"/>
              <a:ext cx="4082" cy="118833"/>
            </a:xfrm>
            <a:custGeom>
              <a:avLst/>
              <a:gdLst>
                <a:gd name="csX0" fmla="*/ 2041 w 4082"/>
                <a:gd name="csY0" fmla="*/ 0 h 118833"/>
                <a:gd name="csX1" fmla="*/ 2041 w 4082"/>
                <a:gd name="csY1" fmla="*/ 118833 h 118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082" h="118833">
                  <a:moveTo>
                    <a:pt x="2041" y="0"/>
                  </a:moveTo>
                  <a:cubicBezTo>
                    <a:pt x="9112" y="39611"/>
                    <a:pt x="-5029" y="82051"/>
                    <a:pt x="2041" y="118833"/>
                  </a:cubicBezTo>
                </a:path>
              </a:pathLst>
            </a:custGeom>
            <a:noFill/>
            <a:ln w="5462" cap="rnd">
              <a:solidFill>
                <a:srgbClr val="FFFFFF">
                  <a:alpha val="85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1" name="Freeform 500">
              <a:extLst>
                <a:ext uri="{FF2B5EF4-FFF2-40B4-BE49-F238E27FC236}">
                  <a16:creationId xmlns:a16="http://schemas.microsoft.com/office/drawing/2014/main" id="{3B0FE4F8-3ECB-4D5F-8DBC-11258EE1DD31}"/>
                </a:ext>
              </a:extLst>
            </p:cNvPr>
            <p:cNvSpPr/>
            <p:nvPr/>
          </p:nvSpPr>
          <p:spPr>
            <a:xfrm>
              <a:off x="9918741" y="3045423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2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1" y="-1886"/>
                    <a:pt x="21212" y="-1886"/>
                    <a:pt x="21212" y="5659"/>
                  </a:cubicBezTo>
                  <a:cubicBezTo>
                    <a:pt x="21212" y="13204"/>
                    <a:pt x="28282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2" name="Freeform 501">
              <a:extLst>
                <a:ext uri="{FF2B5EF4-FFF2-40B4-BE49-F238E27FC236}">
                  <a16:creationId xmlns:a16="http://schemas.microsoft.com/office/drawing/2014/main" id="{E47C71C4-9D3B-53F7-465A-F79208C28D6C}"/>
                </a:ext>
              </a:extLst>
            </p:cNvPr>
            <p:cNvSpPr/>
            <p:nvPr/>
          </p:nvSpPr>
          <p:spPr>
            <a:xfrm>
              <a:off x="9922983" y="3084327"/>
              <a:ext cx="36768" cy="11150"/>
            </a:xfrm>
            <a:custGeom>
              <a:avLst/>
              <a:gdLst>
                <a:gd name="csX0" fmla="*/ 0 w 36768"/>
                <a:gd name="csY0" fmla="*/ 4951 h 11150"/>
                <a:gd name="csX1" fmla="*/ 18384 w 36768"/>
                <a:gd name="csY1" fmla="*/ 4951 h 11150"/>
                <a:gd name="csX2" fmla="*/ 36768 w 36768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8" h="11150">
                  <a:moveTo>
                    <a:pt x="0" y="4951"/>
                  </a:moveTo>
                  <a:cubicBezTo>
                    <a:pt x="12256" y="-1650"/>
                    <a:pt x="18384" y="-1650"/>
                    <a:pt x="18384" y="4951"/>
                  </a:cubicBezTo>
                  <a:cubicBezTo>
                    <a:pt x="18384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3" name="Freeform 502">
              <a:extLst>
                <a:ext uri="{FF2B5EF4-FFF2-40B4-BE49-F238E27FC236}">
                  <a16:creationId xmlns:a16="http://schemas.microsoft.com/office/drawing/2014/main" id="{98E2B8E5-1307-DA3D-F379-D09A64352298}"/>
                </a:ext>
              </a:extLst>
            </p:cNvPr>
            <p:cNvSpPr/>
            <p:nvPr/>
          </p:nvSpPr>
          <p:spPr>
            <a:xfrm>
              <a:off x="9986620" y="3046838"/>
              <a:ext cx="42424" cy="12722"/>
            </a:xfrm>
            <a:custGeom>
              <a:avLst/>
              <a:gdLst>
                <a:gd name="csX0" fmla="*/ 0 w 42424"/>
                <a:gd name="csY0" fmla="*/ 5659 h 12722"/>
                <a:gd name="csX1" fmla="*/ 21213 w 42424"/>
                <a:gd name="csY1" fmla="*/ 5659 h 12722"/>
                <a:gd name="csX2" fmla="*/ 42424 w 42424"/>
                <a:gd name="csY2" fmla="*/ 10160 h 127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2424" h="12722">
                  <a:moveTo>
                    <a:pt x="0" y="5659"/>
                  </a:moveTo>
                  <a:cubicBezTo>
                    <a:pt x="14142" y="-1886"/>
                    <a:pt x="21213" y="-1886"/>
                    <a:pt x="21213" y="5659"/>
                  </a:cubicBezTo>
                  <a:cubicBezTo>
                    <a:pt x="21213" y="13204"/>
                    <a:pt x="28283" y="14704"/>
                    <a:pt x="42424" y="10160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4" name="Freeform 503">
              <a:extLst>
                <a:ext uri="{FF2B5EF4-FFF2-40B4-BE49-F238E27FC236}">
                  <a16:creationId xmlns:a16="http://schemas.microsoft.com/office/drawing/2014/main" id="{41D690BC-5F9A-9D06-D111-C242E3C6C208}"/>
                </a:ext>
              </a:extLst>
            </p:cNvPr>
            <p:cNvSpPr/>
            <p:nvPr/>
          </p:nvSpPr>
          <p:spPr>
            <a:xfrm>
              <a:off x="9988034" y="3085742"/>
              <a:ext cx="36768" cy="11150"/>
            </a:xfrm>
            <a:custGeom>
              <a:avLst/>
              <a:gdLst>
                <a:gd name="csX0" fmla="*/ 0 w 36768"/>
                <a:gd name="csY0" fmla="*/ 4951 h 11150"/>
                <a:gd name="csX1" fmla="*/ 18385 w 36768"/>
                <a:gd name="csY1" fmla="*/ 4951 h 11150"/>
                <a:gd name="csX2" fmla="*/ 36768 w 36768"/>
                <a:gd name="csY2" fmla="*/ 8938 h 11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6768" h="11150">
                  <a:moveTo>
                    <a:pt x="0" y="4951"/>
                  </a:moveTo>
                  <a:cubicBezTo>
                    <a:pt x="12256" y="-1650"/>
                    <a:pt x="18385" y="-1650"/>
                    <a:pt x="18385" y="4951"/>
                  </a:cubicBezTo>
                  <a:cubicBezTo>
                    <a:pt x="18385" y="11553"/>
                    <a:pt x="24512" y="12882"/>
                    <a:pt x="36768" y="8938"/>
                  </a:cubicBezTo>
                </a:path>
              </a:pathLst>
            </a:custGeom>
            <a:noFill/>
            <a:ln w="4819" cap="rnd">
              <a:solidFill>
                <a:srgbClr val="FFFFFF">
                  <a:alpha val="7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05" name="TextBox 504">
            <a:extLst>
              <a:ext uri="{FF2B5EF4-FFF2-40B4-BE49-F238E27FC236}">
                <a16:creationId xmlns:a16="http://schemas.microsoft.com/office/drawing/2014/main" id="{76D9AD6F-2765-AABB-766A-9F191C34AA4F}"/>
              </a:ext>
            </a:extLst>
          </p:cNvPr>
          <p:cNvSpPr txBox="1"/>
          <p:nvPr/>
        </p:nvSpPr>
        <p:spPr>
          <a:xfrm>
            <a:off x="10036723" y="2930336"/>
            <a:ext cx="1495146" cy="1872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38" b="1" spc="0" baseline="0">
                <a:ln/>
                <a:solidFill>
                  <a:srgbClr val="22314A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Fear of neck movement (PiFoneM)</a:t>
            </a:r>
          </a:p>
        </p:txBody>
      </p:sp>
      <p:sp>
        <p:nvSpPr>
          <p:cNvPr id="506" name="TextBox 505">
            <a:extLst>
              <a:ext uri="{FF2B5EF4-FFF2-40B4-BE49-F238E27FC236}">
                <a16:creationId xmlns:a16="http://schemas.microsoft.com/office/drawing/2014/main" id="{FDB3E045-B41D-8BBC-32CA-A006CB6EBF62}"/>
              </a:ext>
            </a:extLst>
          </p:cNvPr>
          <p:cNvSpPr txBox="1"/>
          <p:nvPr/>
        </p:nvSpPr>
        <p:spPr>
          <a:xfrm>
            <a:off x="10036723" y="3050329"/>
            <a:ext cx="611154" cy="174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825" i="1" spc="0" baseline="0">
                <a:ln/>
                <a:solidFill>
                  <a:srgbClr val="7C8598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Murillo · 2026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BC1F25E7-F5FF-F4E9-9C19-DA49AD7E55B3}"/>
              </a:ext>
            </a:extLst>
          </p:cNvPr>
          <p:cNvSpPr txBox="1"/>
          <p:nvPr/>
        </p:nvSpPr>
        <p:spPr>
          <a:xfrm>
            <a:off x="716196" y="6678030"/>
            <a:ext cx="4738085" cy="18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975" spc="0" baseline="0">
                <a:ln/>
                <a:solidFill>
                  <a:srgbClr val="8A93A6"/>
                </a:solidFill>
                <a:latin typeface="Helvetica Neue"/>
                <a:ea typeface="Helvetica Neue"/>
                <a:cs typeface="Helvetica Neue"/>
                <a:sym typeface="Helvetica Neue"/>
                <a:rtl val="0"/>
              </a:rPr>
              <a:t>Some folders contribute signatures to more than one branch. · CANlab · github.com/canlab/Neuroimaging_Pattern_Masks</a:t>
            </a:r>
          </a:p>
        </p:txBody>
      </p:sp>
    </p:spTree>
    <p:extLst>
      <p:ext uri="{BB962C8B-B14F-4D97-AF65-F5344CB8AC3E}">
        <p14:creationId xmlns:p14="http://schemas.microsoft.com/office/powerpoint/2010/main" val="2610728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56" y="185439"/>
            <a:ext cx="11223715" cy="549308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Neuromarkers</a:t>
            </a:r>
            <a:r>
              <a:rPr lang="en-US" dirty="0"/>
              <a:t> for pain and affect:</a:t>
            </a:r>
            <a:br>
              <a:rPr lang="en-US" dirty="0"/>
            </a:br>
            <a:r>
              <a:rPr lang="en-US" dirty="0"/>
              <a:t>Different brain patterns for different experiences (and contexts)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963255" y="1275266"/>
            <a:ext cx="2668535" cy="911520"/>
            <a:chOff x="724886" y="1904881"/>
            <a:chExt cx="2668534" cy="911519"/>
          </a:xfrm>
        </p:grpSpPr>
        <p:sp>
          <p:nvSpPr>
            <p:cNvPr id="4" name="TextBox 3"/>
            <p:cNvSpPr txBox="1"/>
            <p:nvPr/>
          </p:nvSpPr>
          <p:spPr>
            <a:xfrm>
              <a:off x="1676546" y="1916748"/>
              <a:ext cx="1716874" cy="707885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1">
                      <a:lumMod val="75000"/>
                    </a:schemeClr>
                  </a:solidFill>
                  <a:latin typeface="Helvetica" charset="0"/>
                  <a:ea typeface="Helvetica" charset="0"/>
                  <a:cs typeface="Helvetica" charset="0"/>
                </a:rPr>
                <a:t>Evoked somatic pain</a:t>
              </a:r>
            </a:p>
          </p:txBody>
        </p:sp>
        <p:pic>
          <p:nvPicPr>
            <p:cNvPr id="16" name="Picture 15" descr="jen_rineer_thermode"/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4886" y="1904881"/>
              <a:ext cx="944640" cy="911519"/>
            </a:xfrm>
            <a:prstGeom prst="rect">
              <a:avLst/>
            </a:prstGeom>
            <a:noFill/>
            <a:ln w="38100" cmpd="sng">
              <a:noFill/>
              <a:miter lim="800000"/>
              <a:headEnd/>
              <a:tailEnd/>
            </a:ln>
          </p:spPr>
        </p:pic>
      </p:grpSp>
      <p:grpSp>
        <p:nvGrpSpPr>
          <p:cNvPr id="30" name="Group 29"/>
          <p:cNvGrpSpPr/>
          <p:nvPr/>
        </p:nvGrpSpPr>
        <p:grpSpPr>
          <a:xfrm>
            <a:off x="4536255" y="1323051"/>
            <a:ext cx="2669455" cy="815942"/>
            <a:chOff x="4559556" y="2223125"/>
            <a:chExt cx="2669453" cy="815943"/>
          </a:xfrm>
        </p:grpSpPr>
        <p:sp>
          <p:nvSpPr>
            <p:cNvPr id="7" name="TextBox 6"/>
            <p:cNvSpPr txBox="1"/>
            <p:nvPr/>
          </p:nvSpPr>
          <p:spPr>
            <a:xfrm>
              <a:off x="5849257" y="2288614"/>
              <a:ext cx="1379752" cy="707887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1">
                      <a:lumMod val="75000"/>
                    </a:schemeClr>
                  </a:solidFill>
                  <a:latin typeface="Helvetica" charset="0"/>
                  <a:ea typeface="Helvetica" charset="0"/>
                  <a:cs typeface="Helvetica" charset="0"/>
                </a:rPr>
                <a:t>Vicarious pain</a:t>
              </a:r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559556" y="2223125"/>
              <a:ext cx="1056470" cy="81594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</p:pic>
      </p:grpSp>
      <p:grpSp>
        <p:nvGrpSpPr>
          <p:cNvPr id="29" name="Group 28"/>
          <p:cNvGrpSpPr/>
          <p:nvPr/>
        </p:nvGrpSpPr>
        <p:grpSpPr>
          <a:xfrm>
            <a:off x="726079" y="5455288"/>
            <a:ext cx="2847637" cy="946388"/>
            <a:chOff x="5107513" y="1037019"/>
            <a:chExt cx="2847637" cy="946388"/>
          </a:xfrm>
        </p:grpSpPr>
        <p:sp>
          <p:nvSpPr>
            <p:cNvPr id="8" name="TextBox 7"/>
            <p:cNvSpPr txBox="1"/>
            <p:nvPr/>
          </p:nvSpPr>
          <p:spPr>
            <a:xfrm>
              <a:off x="6534911" y="1244743"/>
              <a:ext cx="1420239" cy="707886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1">
                      <a:lumMod val="75000"/>
                    </a:schemeClr>
                  </a:solidFill>
                  <a:latin typeface="Helvetica" charset="0"/>
                  <a:ea typeface="Helvetica" charset="0"/>
                  <a:cs typeface="Helvetica" charset="0"/>
                </a:rPr>
                <a:t>Social Rejection</a:t>
              </a:r>
            </a:p>
          </p:txBody>
        </p:sp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107513" y="1037019"/>
              <a:ext cx="1334851" cy="946388"/>
            </a:xfrm>
            <a:prstGeom prst="rect">
              <a:avLst/>
            </a:prstGeom>
          </p:spPr>
        </p:pic>
      </p:grpSp>
      <p:grpSp>
        <p:nvGrpSpPr>
          <p:cNvPr id="33" name="Group 32"/>
          <p:cNvGrpSpPr/>
          <p:nvPr/>
        </p:nvGrpSpPr>
        <p:grpSpPr>
          <a:xfrm>
            <a:off x="880669" y="2373908"/>
            <a:ext cx="2902720" cy="888509"/>
            <a:chOff x="-536632" y="3307867"/>
            <a:chExt cx="2902719" cy="888509"/>
          </a:xfrm>
        </p:grpSpPr>
        <p:sp>
          <p:nvSpPr>
            <p:cNvPr id="14" name="TextBox 13"/>
            <p:cNvSpPr txBox="1"/>
            <p:nvPr/>
          </p:nvSpPr>
          <p:spPr>
            <a:xfrm>
              <a:off x="649212" y="3476611"/>
              <a:ext cx="1716875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1">
                      <a:lumMod val="75000"/>
                    </a:schemeClr>
                  </a:solidFill>
                  <a:latin typeface="Helvetica" charset="0"/>
                  <a:ea typeface="Helvetica" charset="0"/>
                  <a:cs typeface="Helvetica" charset="0"/>
                </a:rPr>
                <a:t>fibromyalgia</a:t>
              </a:r>
            </a:p>
          </p:txBody>
        </p:sp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-536632" y="3307867"/>
              <a:ext cx="1133172" cy="888509"/>
            </a:xfrm>
            <a:prstGeom prst="rect">
              <a:avLst/>
            </a:prstGeom>
          </p:spPr>
        </p:pic>
      </p:grpSp>
      <p:grpSp>
        <p:nvGrpSpPr>
          <p:cNvPr id="32" name="Group 31"/>
          <p:cNvGrpSpPr/>
          <p:nvPr/>
        </p:nvGrpSpPr>
        <p:grpSpPr>
          <a:xfrm>
            <a:off x="4417124" y="2444967"/>
            <a:ext cx="3073658" cy="1201218"/>
            <a:chOff x="1566869" y="5103846"/>
            <a:chExt cx="3073657" cy="1201219"/>
          </a:xfrm>
        </p:grpSpPr>
        <p:grpSp>
          <p:nvGrpSpPr>
            <p:cNvPr id="15" name="Group 14"/>
            <p:cNvGrpSpPr/>
            <p:nvPr/>
          </p:nvGrpSpPr>
          <p:grpSpPr>
            <a:xfrm>
              <a:off x="2431268" y="5143759"/>
              <a:ext cx="2209258" cy="1090150"/>
              <a:chOff x="3055594" y="5489350"/>
              <a:chExt cx="2209258" cy="1090150"/>
            </a:xfrm>
          </p:grpSpPr>
          <p:sp>
            <p:nvSpPr>
              <p:cNvPr id="11" name="TextBox 10"/>
              <p:cNvSpPr txBox="1"/>
              <p:nvPr/>
            </p:nvSpPr>
            <p:spPr>
              <a:xfrm>
                <a:off x="3055594" y="5489350"/>
                <a:ext cx="1822934" cy="400110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  <a:latin typeface="Helvetica" charset="0"/>
                    <a:ea typeface="Helvetica" charset="0"/>
                    <a:cs typeface="Helvetica" charset="0"/>
                  </a:rPr>
                  <a:t>Stress-evoked</a:t>
                </a: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3055594" y="5856051"/>
                <a:ext cx="2209258" cy="400110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  <a:latin typeface="Helvetica" charset="0"/>
                    <a:ea typeface="Helvetica" charset="0"/>
                    <a:cs typeface="Helvetica" charset="0"/>
                  </a:rPr>
                  <a:t>Skin conductance</a:t>
                </a: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3055594" y="6179390"/>
                <a:ext cx="1322797" cy="400110"/>
              </a:xfrm>
              <a:prstGeom prst="rect">
                <a:avLst/>
              </a:prstGeom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schemeClr val="accent1">
                        <a:lumMod val="75000"/>
                      </a:schemeClr>
                    </a:solidFill>
                    <a:latin typeface="Helvetica" charset="0"/>
                    <a:ea typeface="Helvetica" charset="0"/>
                    <a:cs typeface="Helvetica" charset="0"/>
                  </a:rPr>
                  <a:t>Heart rate</a:t>
                </a:r>
              </a:p>
            </p:txBody>
          </p:sp>
        </p:grpSp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66869" y="5103846"/>
              <a:ext cx="939250" cy="1201219"/>
            </a:xfrm>
            <a:prstGeom prst="rect">
              <a:avLst/>
            </a:prstGeom>
          </p:spPr>
        </p:pic>
      </p:grpSp>
      <p:grpSp>
        <p:nvGrpSpPr>
          <p:cNvPr id="31" name="Group 30"/>
          <p:cNvGrpSpPr/>
          <p:nvPr/>
        </p:nvGrpSpPr>
        <p:grpSpPr>
          <a:xfrm>
            <a:off x="4370702" y="3672519"/>
            <a:ext cx="3959956" cy="827897"/>
            <a:chOff x="4592377" y="4631731"/>
            <a:chExt cx="3959956" cy="827897"/>
          </a:xfrm>
        </p:grpSpPr>
        <p:sp>
          <p:nvSpPr>
            <p:cNvPr id="9" name="TextBox 8"/>
            <p:cNvSpPr txBox="1"/>
            <p:nvPr/>
          </p:nvSpPr>
          <p:spPr>
            <a:xfrm>
              <a:off x="5246904" y="4631731"/>
              <a:ext cx="3305429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1">
                      <a:lumMod val="75000"/>
                    </a:schemeClr>
                  </a:solidFill>
                  <a:latin typeface="Helvetica" charset="0"/>
                  <a:ea typeface="Helvetica" charset="0"/>
                  <a:cs typeface="Helvetica" charset="0"/>
                </a:rPr>
                <a:t>Empathic distress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674461" y="5002275"/>
              <a:ext cx="2100679" cy="400110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1">
                      <a:lumMod val="75000"/>
                    </a:schemeClr>
                  </a:solidFill>
                  <a:latin typeface="Helvetica" charset="0"/>
                  <a:ea typeface="Helvetica" charset="0"/>
                  <a:cs typeface="Helvetica" charset="0"/>
                </a:rPr>
                <a:t>Empathic care</a:t>
              </a:r>
            </a:p>
          </p:txBody>
        </p:sp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92377" y="4691967"/>
              <a:ext cx="1174564" cy="767661"/>
            </a:xfrm>
            <a:prstGeom prst="rect">
              <a:avLst/>
            </a:prstGeom>
          </p:spPr>
        </p:pic>
      </p:grpSp>
      <p:sp>
        <p:nvSpPr>
          <p:cNvPr id="23" name="TextBox 22"/>
          <p:cNvSpPr txBox="1"/>
          <p:nvPr/>
        </p:nvSpPr>
        <p:spPr>
          <a:xfrm>
            <a:off x="11262661" y="-1473434"/>
            <a:ext cx="3007555" cy="1015663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Helvetica" charset="0"/>
                <a:ea typeface="Helvetica" charset="0"/>
                <a:cs typeface="Helvetica" charset="0"/>
              </a:rPr>
              <a:t>Different</a:t>
            </a:r>
            <a:r>
              <a:rPr lang="en-US" sz="2000" dirty="0">
                <a:latin typeface="Helvetica" charset="0"/>
                <a:ea typeface="Helvetica" charset="0"/>
                <a:cs typeface="Helvetica" charset="0"/>
              </a:rPr>
              <a:t>!</a:t>
            </a:r>
          </a:p>
          <a:p>
            <a:r>
              <a:rPr lang="en-US" sz="2000" dirty="0">
                <a:latin typeface="Helvetica" charset="0"/>
                <a:ea typeface="Helvetica" charset="0"/>
                <a:cs typeface="Helvetica" charset="0"/>
              </a:rPr>
              <a:t>Max: r = 0.22</a:t>
            </a:r>
          </a:p>
          <a:p>
            <a:r>
              <a:rPr lang="en-US" sz="2000" dirty="0">
                <a:latin typeface="Helvetica" charset="0"/>
                <a:ea typeface="Helvetica" charset="0"/>
                <a:cs typeface="Helvetica" charset="0"/>
              </a:rPr>
              <a:t>except ’general aversive’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71" y="6451768"/>
            <a:ext cx="7427033" cy="42056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sz="2133" i="1" dirty="0">
                <a:latin typeface="Helvetica" charset="0"/>
                <a:ea typeface="Helvetica" charset="0"/>
                <a:cs typeface="Helvetica" charset="0"/>
              </a:rPr>
              <a:t>References: </a:t>
            </a:r>
            <a:r>
              <a:rPr lang="en-US" sz="2133" i="1" dirty="0">
                <a:latin typeface="Helvetica" charset="0"/>
                <a:ea typeface="Helvetica" charset="0"/>
                <a:cs typeface="Helvetica" charset="0"/>
                <a:hlinkClick r:id="rId9"/>
              </a:rPr>
              <a:t>https://</a:t>
            </a:r>
            <a:r>
              <a:rPr lang="en-US" sz="2133" i="1" dirty="0" err="1">
                <a:latin typeface="Helvetica" charset="0"/>
                <a:ea typeface="Helvetica" charset="0"/>
                <a:cs typeface="Helvetica" charset="0"/>
                <a:hlinkClick r:id="rId9"/>
              </a:rPr>
              <a:t>sites.dartmouth.edu</a:t>
            </a:r>
            <a:r>
              <a:rPr lang="en-US" sz="2133" i="1" dirty="0">
                <a:latin typeface="Helvetica" charset="0"/>
                <a:ea typeface="Helvetica" charset="0"/>
                <a:cs typeface="Helvetica" charset="0"/>
                <a:hlinkClick r:id="rId9"/>
              </a:rPr>
              <a:t>/</a:t>
            </a:r>
            <a:r>
              <a:rPr lang="en-US" sz="2133" i="1" dirty="0" err="1">
                <a:latin typeface="Helvetica" charset="0"/>
                <a:ea typeface="Helvetica" charset="0"/>
                <a:cs typeface="Helvetica" charset="0"/>
                <a:hlinkClick r:id="rId9"/>
              </a:rPr>
              <a:t>canlab</a:t>
            </a:r>
            <a:r>
              <a:rPr lang="en-US" sz="2133" i="1" dirty="0">
                <a:latin typeface="Helvetica" charset="0"/>
                <a:ea typeface="Helvetica" charset="0"/>
                <a:cs typeface="Helvetica" charset="0"/>
                <a:hlinkClick r:id="rId9"/>
              </a:rPr>
              <a:t>/publications/</a:t>
            </a:r>
            <a:endParaRPr lang="en-US" sz="2133" i="1" dirty="0">
              <a:latin typeface="Helvetica" charset="0"/>
              <a:ea typeface="Helvetica" charset="0"/>
              <a:cs typeface="Helvetica" charset="0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1119814" y="4408852"/>
            <a:ext cx="2472956" cy="1015663"/>
            <a:chOff x="1852959" y="886067"/>
            <a:chExt cx="2472956" cy="1015664"/>
          </a:xfrm>
        </p:grpSpPr>
        <p:sp>
          <p:nvSpPr>
            <p:cNvPr id="24" name="TextBox 23"/>
            <p:cNvSpPr txBox="1"/>
            <p:nvPr/>
          </p:nvSpPr>
          <p:spPr>
            <a:xfrm>
              <a:off x="2858186" y="886067"/>
              <a:ext cx="1467729" cy="101566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1">
                      <a:lumMod val="75000"/>
                    </a:schemeClr>
                  </a:solidFill>
                  <a:latin typeface="Helvetica" charset="0"/>
                  <a:ea typeface="Helvetica" charset="0"/>
                  <a:cs typeface="Helvetica" charset="0"/>
                </a:rPr>
                <a:t>General</a:t>
              </a:r>
            </a:p>
            <a:p>
              <a:pPr algn="ctr"/>
              <a:r>
                <a:rPr lang="en-US" sz="2000" dirty="0">
                  <a:solidFill>
                    <a:schemeClr val="accent1">
                      <a:lumMod val="75000"/>
                    </a:schemeClr>
                  </a:solidFill>
                  <a:latin typeface="Helvetica" charset="0"/>
                  <a:ea typeface="Helvetica" charset="0"/>
                  <a:cs typeface="Helvetica" charset="0"/>
                </a:rPr>
                <a:t>Negative affect</a:t>
              </a:r>
            </a:p>
          </p:txBody>
        </p:sp>
        <p:pic>
          <p:nvPicPr>
            <p:cNvPr id="27" name="Picture 26" descr="9040_4_32.jpg"/>
            <p:cNvPicPr>
              <a:picLocks noChangeAspect="1"/>
            </p:cNvPicPr>
            <p:nvPr/>
          </p:nvPicPr>
          <p:blipFill rotWithShape="1">
            <a:blip r:embed="rId10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852959" y="1091762"/>
              <a:ext cx="782355" cy="581178"/>
            </a:xfrm>
            <a:prstGeom prst="rect">
              <a:avLst/>
            </a:prstGeom>
            <a:ln w="38100" cmpd="sng">
              <a:solidFill>
                <a:srgbClr val="4BACC6"/>
              </a:solidFill>
            </a:ln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C01ADD5-C09A-F14A-9206-059B2D5F3392}"/>
              </a:ext>
            </a:extLst>
          </p:cNvPr>
          <p:cNvGrpSpPr/>
          <p:nvPr/>
        </p:nvGrpSpPr>
        <p:grpSpPr>
          <a:xfrm>
            <a:off x="4452879" y="4577518"/>
            <a:ext cx="2587755" cy="1006108"/>
            <a:chOff x="4629387" y="2023277"/>
            <a:chExt cx="1940816" cy="754581"/>
          </a:xfrm>
        </p:grpSpPr>
        <p:pic>
          <p:nvPicPr>
            <p:cNvPr id="7170" name="Picture 2" descr="Along came a spider ... and it opened a door: A special arachnid is  emerging in the Northwest just in time for Halloween | The Spokesman-Review">
              <a:extLst>
                <a:ext uri="{FF2B5EF4-FFF2-40B4-BE49-F238E27FC236}">
                  <a16:creationId xmlns:a16="http://schemas.microsoft.com/office/drawing/2014/main" id="{3B04D0E0-ED6C-0F4E-9A99-DEAB8126F9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29387" y="2023277"/>
              <a:ext cx="943226" cy="754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061C9ED-CECD-DD4F-8D27-4C19FDE88F88}"/>
                </a:ext>
              </a:extLst>
            </p:cNvPr>
            <p:cNvSpPr txBox="1"/>
            <p:nvPr/>
          </p:nvSpPr>
          <p:spPr>
            <a:xfrm>
              <a:off x="5378734" y="2069084"/>
              <a:ext cx="1191469" cy="530915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1">
                      <a:lumMod val="75000"/>
                    </a:schemeClr>
                  </a:solidFill>
                  <a:latin typeface="Helvetica" charset="0"/>
                  <a:ea typeface="Helvetica" charset="0"/>
                  <a:cs typeface="Helvetica" charset="0"/>
                </a:rPr>
                <a:t>‘fear’ images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C624DE3-EE38-D046-99A0-7BB54D09198B}"/>
              </a:ext>
            </a:extLst>
          </p:cNvPr>
          <p:cNvGrpSpPr/>
          <p:nvPr/>
        </p:nvGrpSpPr>
        <p:grpSpPr>
          <a:xfrm>
            <a:off x="9402775" y="6175802"/>
            <a:ext cx="2035327" cy="480800"/>
            <a:chOff x="1657386" y="3628375"/>
            <a:chExt cx="1526495" cy="360600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09959CD-74BE-D142-A079-D9D9066FE831}"/>
                </a:ext>
              </a:extLst>
            </p:cNvPr>
            <p:cNvGrpSpPr/>
            <p:nvPr/>
          </p:nvGrpSpPr>
          <p:grpSpPr>
            <a:xfrm rot="2561976">
              <a:off x="1657386" y="3641744"/>
              <a:ext cx="324329" cy="347231"/>
              <a:chOff x="4648200" y="2234520"/>
              <a:chExt cx="870857" cy="1333046"/>
            </a:xfrm>
          </p:grpSpPr>
          <p:sp>
            <p:nvSpPr>
              <p:cNvPr id="36" name="Rounded Rectangle 35">
                <a:extLst>
                  <a:ext uri="{FF2B5EF4-FFF2-40B4-BE49-F238E27FC236}">
                    <a16:creationId xmlns:a16="http://schemas.microsoft.com/office/drawing/2014/main" id="{8DAB890F-F1FB-5746-8E9F-3CB87F7F3E2A}"/>
                  </a:ext>
                </a:extLst>
              </p:cNvPr>
              <p:cNvSpPr/>
              <p:nvPr/>
            </p:nvSpPr>
            <p:spPr>
              <a:xfrm>
                <a:off x="4648200" y="2234520"/>
                <a:ext cx="870857" cy="1333046"/>
              </a:xfrm>
              <a:prstGeom prst="roundRect">
                <a:avLst>
                  <a:gd name="adj" fmla="val 50000"/>
                </a:avLst>
              </a:prstGeom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endParaRPr lang="en-US" sz="1600" dirty="0">
                  <a:solidFill>
                    <a:prstClr val="black"/>
                  </a:solidFill>
                  <a:latin typeface="Helvetica Neue Light" charset="0"/>
                </a:endParaRPr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5EB8D17A-8CAA-784E-8BE7-6CD64E364FB8}"/>
                  </a:ext>
                </a:extLst>
              </p:cNvPr>
              <p:cNvCxnSpPr>
                <a:stCxn id="36" idx="1"/>
                <a:endCxn id="36" idx="3"/>
              </p:cNvCxnSpPr>
              <p:nvPr/>
            </p:nvCxnSpPr>
            <p:spPr>
              <a:xfrm rot="19038024">
                <a:off x="4763623" y="2478853"/>
                <a:ext cx="640010" cy="84438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251FF72-8E53-604D-8FA8-9182172B0A75}"/>
                </a:ext>
              </a:extLst>
            </p:cNvPr>
            <p:cNvSpPr txBox="1"/>
            <p:nvPr/>
          </p:nvSpPr>
          <p:spPr>
            <a:xfrm>
              <a:off x="1992412" y="3628375"/>
              <a:ext cx="1191469" cy="300083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1">
                      <a:lumMod val="75000"/>
                    </a:schemeClr>
                  </a:solidFill>
                  <a:latin typeface="Helvetica" charset="0"/>
                  <a:ea typeface="Helvetica" charset="0"/>
                  <a:cs typeface="Helvetica" charset="0"/>
                </a:rPr>
                <a:t>Placebo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6A3AD3C-E9B3-FC4F-A90F-0D469E0C93F0}"/>
              </a:ext>
            </a:extLst>
          </p:cNvPr>
          <p:cNvGrpSpPr/>
          <p:nvPr/>
        </p:nvGrpSpPr>
        <p:grpSpPr>
          <a:xfrm>
            <a:off x="8213943" y="2152358"/>
            <a:ext cx="3014803" cy="906682"/>
            <a:chOff x="7337000" y="3784938"/>
            <a:chExt cx="2261102" cy="680011"/>
          </a:xfrm>
        </p:grpSpPr>
        <p:pic>
          <p:nvPicPr>
            <p:cNvPr id="7178" name="Picture 10" descr="Sad Clipart | Free Download Clip Art | Free Clip Art | on Clipart Library">
              <a:extLst>
                <a:ext uri="{FF2B5EF4-FFF2-40B4-BE49-F238E27FC236}">
                  <a16:creationId xmlns:a16="http://schemas.microsoft.com/office/drawing/2014/main" id="{328AA459-11EE-A94E-9F22-2E44886A60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37000" y="3835510"/>
              <a:ext cx="626642" cy="6294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80" name="Picture 12" descr="Emotions Clipart - angry-girl-showing-her-anger-emotions-clipart -  Classroom Clipart">
              <a:extLst>
                <a:ext uri="{FF2B5EF4-FFF2-40B4-BE49-F238E27FC236}">
                  <a16:creationId xmlns:a16="http://schemas.microsoft.com/office/drawing/2014/main" id="{84FC2FFD-0E71-944A-8C97-6EC75BB3333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1" r="-1076"/>
            <a:stretch/>
          </p:blipFill>
          <p:spPr bwMode="auto">
            <a:xfrm>
              <a:off x="7972724" y="3784938"/>
              <a:ext cx="522035" cy="5759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C609845-5CDA-C143-B44E-EB282702851D}"/>
                </a:ext>
              </a:extLst>
            </p:cNvPr>
            <p:cNvSpPr txBox="1"/>
            <p:nvPr/>
          </p:nvSpPr>
          <p:spPr>
            <a:xfrm>
              <a:off x="8406633" y="3857329"/>
              <a:ext cx="1191469" cy="530914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1">
                      <a:lumMod val="75000"/>
                    </a:schemeClr>
                  </a:solidFill>
                  <a:latin typeface="Helvetica" charset="0"/>
                  <a:ea typeface="Helvetica" charset="0"/>
                  <a:cs typeface="Helvetica" charset="0"/>
                </a:rPr>
                <a:t>Emotion categories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080B8C1-6112-7D43-B4E9-7A2AA950E9BC}"/>
              </a:ext>
            </a:extLst>
          </p:cNvPr>
          <p:cNvGrpSpPr/>
          <p:nvPr/>
        </p:nvGrpSpPr>
        <p:grpSpPr>
          <a:xfrm>
            <a:off x="4499287" y="5541830"/>
            <a:ext cx="2673968" cy="924690"/>
            <a:chOff x="2757445" y="3307403"/>
            <a:chExt cx="2005476" cy="693518"/>
          </a:xfrm>
        </p:grpSpPr>
        <p:pic>
          <p:nvPicPr>
            <p:cNvPr id="7176" name="Picture 8" descr="23,837 Electric Shock Stock Vector Illustration and Royalty Free Electric  Shock Clipart">
              <a:extLst>
                <a:ext uri="{FF2B5EF4-FFF2-40B4-BE49-F238E27FC236}">
                  <a16:creationId xmlns:a16="http://schemas.microsoft.com/office/drawing/2014/main" id="{994F022A-5D83-0741-B76C-C0D4C7B7AE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7445" y="3307403"/>
              <a:ext cx="693518" cy="6935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1D0A68B-632B-724A-82F8-7F4F940B8494}"/>
                </a:ext>
              </a:extLst>
            </p:cNvPr>
            <p:cNvSpPr txBox="1"/>
            <p:nvPr/>
          </p:nvSpPr>
          <p:spPr>
            <a:xfrm>
              <a:off x="3571452" y="3434709"/>
              <a:ext cx="1191469" cy="300083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1">
                      <a:lumMod val="75000"/>
                    </a:schemeClr>
                  </a:solidFill>
                  <a:latin typeface="Helvetica" charset="0"/>
                  <a:ea typeface="Helvetica" charset="0"/>
                  <a:cs typeface="Helvetica" charset="0"/>
                </a:rPr>
                <a:t>Threat CS+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AE022DD-5549-A142-9687-E812CDEA8D71}"/>
              </a:ext>
            </a:extLst>
          </p:cNvPr>
          <p:cNvGrpSpPr/>
          <p:nvPr/>
        </p:nvGrpSpPr>
        <p:grpSpPr>
          <a:xfrm>
            <a:off x="8383427" y="3241760"/>
            <a:ext cx="2178920" cy="1034689"/>
            <a:chOff x="5256277" y="3919199"/>
            <a:chExt cx="1634190" cy="776017"/>
          </a:xfrm>
        </p:grpSpPr>
        <p:pic>
          <p:nvPicPr>
            <p:cNvPr id="7182" name="Picture 14" descr="Sexy woman sitting on man, intimate games on couch photo by NomadSoul1 on  Envato Elements">
              <a:extLst>
                <a:ext uri="{FF2B5EF4-FFF2-40B4-BE49-F238E27FC236}">
                  <a16:creationId xmlns:a16="http://schemas.microsoft.com/office/drawing/2014/main" id="{7682FFC9-9B65-A443-9CF0-2EFB87AC6F7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256277" y="3919199"/>
              <a:ext cx="626643" cy="7760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41B5DB0-8931-224F-AE0F-77C9F2FEBFB4}"/>
                </a:ext>
              </a:extLst>
            </p:cNvPr>
            <p:cNvSpPr txBox="1"/>
            <p:nvPr/>
          </p:nvSpPr>
          <p:spPr>
            <a:xfrm>
              <a:off x="5698998" y="4030209"/>
              <a:ext cx="1191469" cy="530915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1">
                      <a:lumMod val="75000"/>
                    </a:schemeClr>
                  </a:solidFill>
                  <a:latin typeface="Helvetica" charset="0"/>
                  <a:ea typeface="Helvetica" charset="0"/>
                  <a:cs typeface="Helvetica" charset="0"/>
                </a:rPr>
                <a:t>Sexual images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982644C-45BB-95F9-B994-EB952B058A88}"/>
              </a:ext>
            </a:extLst>
          </p:cNvPr>
          <p:cNvGrpSpPr/>
          <p:nvPr/>
        </p:nvGrpSpPr>
        <p:grpSpPr>
          <a:xfrm>
            <a:off x="8265951" y="4474370"/>
            <a:ext cx="2872116" cy="734408"/>
            <a:chOff x="6510087" y="3693468"/>
            <a:chExt cx="2154087" cy="550806"/>
          </a:xfrm>
        </p:grpSpPr>
        <p:pic>
          <p:nvPicPr>
            <p:cNvPr id="3" name="Picture 4" descr="007">
              <a:extLst>
                <a:ext uri="{FF2B5EF4-FFF2-40B4-BE49-F238E27FC236}">
                  <a16:creationId xmlns:a16="http://schemas.microsoft.com/office/drawing/2014/main" id="{56B8B96F-68A5-27DB-AC75-8E5113933F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0087" y="3697267"/>
              <a:ext cx="786899" cy="5470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92F48FD-8008-4B8A-B221-AB3C1C68C43C}"/>
                </a:ext>
              </a:extLst>
            </p:cNvPr>
            <p:cNvSpPr txBox="1"/>
            <p:nvPr/>
          </p:nvSpPr>
          <p:spPr>
            <a:xfrm>
              <a:off x="7208709" y="3693468"/>
              <a:ext cx="1455465" cy="530915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1">
                      <a:lumMod val="75000"/>
                    </a:schemeClr>
                  </a:solidFill>
                  <a:latin typeface="Helvetica" charset="0"/>
                  <a:ea typeface="Helvetica" charset="0"/>
                  <a:cs typeface="Helvetica" charset="0"/>
                </a:rPr>
                <a:t>Food &amp; Drug craving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EDEF0A1-2770-1B2F-303F-287ECB5896E6}"/>
              </a:ext>
            </a:extLst>
          </p:cNvPr>
          <p:cNvGrpSpPr/>
          <p:nvPr/>
        </p:nvGrpSpPr>
        <p:grpSpPr>
          <a:xfrm>
            <a:off x="931170" y="3262422"/>
            <a:ext cx="2834695" cy="1025881"/>
            <a:chOff x="724886" y="1790520"/>
            <a:chExt cx="2834694" cy="1025880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F74B7BA-C2B3-F6C0-71AD-93BFDA18ECA2}"/>
                </a:ext>
              </a:extLst>
            </p:cNvPr>
            <p:cNvSpPr txBox="1"/>
            <p:nvPr/>
          </p:nvSpPr>
          <p:spPr>
            <a:xfrm>
              <a:off x="1842706" y="1790520"/>
              <a:ext cx="1716874" cy="1015662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1">
                      <a:lumMod val="75000"/>
                    </a:schemeClr>
                  </a:solidFill>
                  <a:latin typeface="Helvetica" charset="0"/>
                  <a:ea typeface="Helvetica" charset="0"/>
                  <a:cs typeface="Helvetica" charset="0"/>
                </a:rPr>
                <a:t>Heat &amp;  Pressure-pain specific</a:t>
              </a:r>
            </a:p>
          </p:txBody>
        </p:sp>
        <p:pic>
          <p:nvPicPr>
            <p:cNvPr id="46" name="Picture 45" descr="jen_rineer_thermode">
              <a:extLst>
                <a:ext uri="{FF2B5EF4-FFF2-40B4-BE49-F238E27FC236}">
                  <a16:creationId xmlns:a16="http://schemas.microsoft.com/office/drawing/2014/main" id="{4AD92619-9635-9A9A-4EDF-43B27BCA3C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4886" y="1904881"/>
              <a:ext cx="944640" cy="911519"/>
            </a:xfrm>
            <a:prstGeom prst="rect">
              <a:avLst/>
            </a:prstGeom>
            <a:noFill/>
            <a:ln w="38100" cmpd="sng">
              <a:noFill/>
              <a:miter lim="800000"/>
              <a:headEnd/>
              <a:tailEnd/>
            </a:ln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45E294A-ED28-76DF-FB25-A36351765CBB}"/>
              </a:ext>
            </a:extLst>
          </p:cNvPr>
          <p:cNvGrpSpPr/>
          <p:nvPr/>
        </p:nvGrpSpPr>
        <p:grpSpPr>
          <a:xfrm>
            <a:off x="8381477" y="1306714"/>
            <a:ext cx="2673968" cy="924690"/>
            <a:chOff x="2757445" y="3307403"/>
            <a:chExt cx="2005476" cy="693518"/>
          </a:xfrm>
        </p:grpSpPr>
        <p:pic>
          <p:nvPicPr>
            <p:cNvPr id="52" name="Picture 8">
              <a:extLst>
                <a:ext uri="{FF2B5EF4-FFF2-40B4-BE49-F238E27FC236}">
                  <a16:creationId xmlns:a16="http://schemas.microsoft.com/office/drawing/2014/main" id="{6284176D-4069-95D2-D39E-A4BD591D4F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/>
            <a:srcRect/>
            <a:stretch/>
          </p:blipFill>
          <p:spPr bwMode="auto">
            <a:xfrm>
              <a:off x="2757445" y="3307403"/>
              <a:ext cx="693518" cy="6935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01D99EF-0BB5-B26E-C3C1-A759C9E16836}"/>
                </a:ext>
              </a:extLst>
            </p:cNvPr>
            <p:cNvSpPr txBox="1"/>
            <p:nvPr/>
          </p:nvSpPr>
          <p:spPr>
            <a:xfrm>
              <a:off x="3571452" y="3434709"/>
              <a:ext cx="1191469" cy="300083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1">
                      <a:lumMod val="75000"/>
                    </a:schemeClr>
                  </a:solidFill>
                  <a:latin typeface="Helvetica" charset="0"/>
                  <a:ea typeface="Helvetica" charset="0"/>
                  <a:cs typeface="Helvetica" charset="0"/>
                </a:rPr>
                <a:t>Threat CS+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BEBF521-A488-9ADC-F9C8-DE57FA7D32F6}"/>
              </a:ext>
            </a:extLst>
          </p:cNvPr>
          <p:cNvGrpSpPr/>
          <p:nvPr/>
        </p:nvGrpSpPr>
        <p:grpSpPr>
          <a:xfrm>
            <a:off x="8413384" y="5208778"/>
            <a:ext cx="2236816" cy="1077218"/>
            <a:chOff x="6310038" y="3906582"/>
            <a:chExt cx="1677612" cy="807913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C665225-9FAB-CADA-5000-CF3626F515B9}"/>
                </a:ext>
              </a:extLst>
            </p:cNvPr>
            <p:cNvSpPr txBox="1"/>
            <p:nvPr/>
          </p:nvSpPr>
          <p:spPr>
            <a:xfrm>
              <a:off x="6796181" y="4117446"/>
              <a:ext cx="1191469" cy="300082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accent1">
                      <a:lumMod val="75000"/>
                    </a:schemeClr>
                  </a:solidFill>
                  <a:latin typeface="Helvetica" charset="0"/>
                  <a:ea typeface="Helvetica" charset="0"/>
                  <a:cs typeface="Helvetica" charset="0"/>
                </a:rPr>
                <a:t>Reward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401DF1E-0B60-78E8-C72D-F362EC9D37F1}"/>
                </a:ext>
              </a:extLst>
            </p:cNvPr>
            <p:cNvSpPr txBox="1"/>
            <p:nvPr/>
          </p:nvSpPr>
          <p:spPr>
            <a:xfrm>
              <a:off x="6310038" y="3906582"/>
              <a:ext cx="481142" cy="807913"/>
            </a:xfrm>
            <a:prstGeom prst="rect">
              <a:avLst/>
            </a:prstGeom>
          </p:spPr>
          <p:txBody>
            <a:bodyPr wrap="none" rtlCol="0">
              <a:spAutoFit/>
            </a:bodyPr>
            <a:lstStyle/>
            <a:p>
              <a:pPr algn="l"/>
              <a:r>
                <a:rPr lang="en-US" sz="6400" dirty="0">
                  <a:solidFill>
                    <a:srgbClr val="00B050"/>
                  </a:solidFill>
                  <a:latin typeface="Helvetica Neue Light" panose="02000403000000020004" pitchFamily="2" charset="0"/>
                  <a:ea typeface="Helvetica Neue Light" panose="02000403000000020004" pitchFamily="2" charset="0"/>
                  <a:cs typeface="Helvetica" charset="0"/>
                </a:rPr>
                <a:t>$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88894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10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0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40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60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13859-EB21-F00D-35ED-696528BE0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86177-B468-0B31-6E1A-25402C536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077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877</Words>
  <Application>Microsoft Macintosh PowerPoint</Application>
  <PresentationFormat>Widescreen</PresentationFormat>
  <Paragraphs>247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Helvetica</vt:lpstr>
      <vt:lpstr>Helvetica Neue</vt:lpstr>
      <vt:lpstr>Helvetica Neue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Neuromarkers for pain and affect: Different brain patterns for different experiences (and contexts)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 D. Wager</dc:creator>
  <cp:lastModifiedBy>Tor D. Wager</cp:lastModifiedBy>
  <cp:revision>12</cp:revision>
  <dcterms:created xsi:type="dcterms:W3CDTF">2026-07-16T15:52:30Z</dcterms:created>
  <dcterms:modified xsi:type="dcterms:W3CDTF">2026-07-16T18:14:28Z</dcterms:modified>
</cp:coreProperties>
</file>